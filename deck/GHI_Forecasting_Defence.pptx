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one-sentence framing: this project forecasts global horizontal irradiance</a:t>
            </a:r>
          </a:p>
          <a:p>
            <a:r>
              <a:t>one to three hours ahead for Singapore by fusing geostationary satellite imagery with</a:t>
            </a:r>
          </a:p>
          <a:p>
            <a:r>
              <a:t>reanalysis weather, under a clear-sky physical prior.</a:t>
            </a:r>
          </a:p>
          <a:p/>
          <a:p>
            <a:r>
              <a:t>Say up front what the honest headline is, because it sets the tone for the whole defence:</a:t>
            </a:r>
          </a:p>
          <a:p>
            <a:r>
              <a:t>the system works, it beats the standard smart-persistence reference by 20–38% depending on</a:t>
            </a:r>
          </a:p>
          <a:p>
            <a:r>
              <a:t>horizon, but the satellite branch does not pay for itself — a weather-only sequence model</a:t>
            </a:r>
          </a:p>
          <a:p>
            <a:r>
              <a:t>and a gradient-boosted tree both match or beat the full fusion model. The project's real</a:t>
            </a:r>
          </a:p>
          <a:p>
            <a:r>
              <a:t>contribution is that this negative result is established carefully rather than hidden.</a:t>
            </a:r>
          </a:p>
          <a:p/>
          <a:p>
            <a:r>
              <a:t>Also flag early that I found and diagnosed a serious evaluation defect in my own committed</a:t>
            </a:r>
          </a:p>
          <a:p>
            <a:r>
              <a:t>results (an 18-sample test split) and that slide 10 deals with it head-on. Examiners</a:t>
            </a:r>
          </a:p>
          <a:p>
            <a:r>
              <a:t>respect finding your own bug more than they respect a clean-looking 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 the forecasting problem here is a volatility problem, not a resource problem.</a:t>
            </a:r>
          </a:p>
          <a:p/>
          <a:p>
            <a:r>
              <a:t>Numbers to have ready. Mean GHI 481 W/m2 with standard deviation 259 — that is more than</a:t>
            </a:r>
          </a:p>
          <a:p>
            <a:r>
              <a:t>half the mean, which is why a model can score a flattering R-squared just by tracking the</a:t>
            </a:r>
          </a:p>
          <a:p>
            <a:r>
              <a:t>diurnal cycle. That is exactly why every result in this deck is reported against smart</a:t>
            </a:r>
          </a:p>
          <a:p>
            <a:r>
              <a:t>persistence rather than against a naive mean.</a:t>
            </a:r>
          </a:p>
          <a:p/>
          <a:p>
            <a:r>
              <a:t>Explain smart persistence properly, because an examiner will ask. Naive persistence says</a:t>
            </a:r>
          </a:p>
          <a:p>
            <a:r>
              <a:t>GHI at t+h equals GHI at t. Smart persistence holds the clear-sky index k_t = GHI / GHI_clearsky</a:t>
            </a:r>
          </a:p>
          <a:p>
            <a:r>
              <a:t>constant and multiplies it by the known future clear-sky value, so it gets the sun's geometry</a:t>
            </a:r>
          </a:p>
          <a:p>
            <a:r>
              <a:t>right for free and only assumes the cloud state is unchanged. That is a much stronger</a:t>
            </a:r>
          </a:p>
          <a:p>
            <a:r>
              <a:t>reference: 78.9 versus 155.7 W/m2 at t+1h. Any model that cannot beat it has learned only</a:t>
            </a:r>
          </a:p>
          <a:p>
            <a:r>
              <a:t>the diurnal cycle.</a:t>
            </a:r>
          </a:p>
          <a:p/>
          <a:p>
            <a:r>
              <a:t>Note the degradation percentages: smart persistence loses 82% of its accuracy going from</a:t>
            </a:r>
          </a:p>
          <a:p>
            <a:r>
              <a:t>one to three hours. That decay is the space a real forecast has to work in, and slide 12</a:t>
            </a:r>
          </a:p>
          <a:p>
            <a:r>
              <a:t>shows the models fill more of it as the horizon grows.</a:t>
            </a:r>
          </a:p>
          <a:p/>
          <a:p>
            <a:r>
              <a:t>Likely question: "why only 08:00 to 17:00?" Answer: the dataset builder filters to those</a:t>
            </a:r>
          </a:p>
          <a:p>
            <a:r>
              <a:t>hours (combined_dataset.py, daylight_only), because outside them clear-sky GHI is near zero</a:t>
            </a:r>
          </a:p>
          <a:p>
            <a:r>
              <a:t>and the clear-sky index is undefined or numerically unstable. It also means the model has</a:t>
            </a:r>
          </a:p>
          <a:p>
            <a:r>
              <a:t>never seen a night hour — which becomes an important deployment issue on slide 17.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and unprompted about provenance here: the repository has no written proposal or</a:t>
            </a:r>
          </a:p>
          <a:p>
            <a:r>
              <a:t>objectives file, so these five research questions are my reconstruction from what the code</a:t>
            </a:r>
          </a:p>
          <a:p>
            <a:r>
              <a:t>actually tests. The ablation grid in notebook cell 25 defines RQ1 and RQ2; the baseline grid</a:t>
            </a:r>
          </a:p>
          <a:p>
            <a:r>
              <a:t>in cell 6 defines RQ3; the Gaussian negative-log-likelihood objective and the sigma head</a:t>
            </a:r>
          </a:p>
          <a:p>
            <a:r>
              <a:t>define RQ4; predict.py, verify.py and the cron script define RQ5. I label them as derived</a:t>
            </a:r>
          </a:p>
          <a:p>
            <a:r>
              <a:t>rather than documented — that distinction matters and examiners notice when you blur it.</a:t>
            </a:r>
          </a:p>
          <a:p/>
          <a:p>
            <a:r>
              <a:t>Emphasise the framing choice: RQ1 and RQ2 are written so that a negative answer is a</a:t>
            </a:r>
          </a:p>
          <a:p>
            <a:r>
              <a:t>result. I did not set out to prove imagery helps; I set out to measure whether it does.</a:t>
            </a:r>
          </a:p>
          <a:p>
            <a:r>
              <a:t>That is why the ablation grid includes an LSTM-only variant that never uses the image</a:t>
            </a:r>
          </a:p>
          <a:p>
            <a:r>
              <a:t>branch at all — if the imagery contributes nothing, that variant will say so.</a:t>
            </a:r>
          </a:p>
          <a:p/>
          <a:p>
            <a:r>
              <a:t>If asked "what would have made this a stronger experimental design?", the honest answer is</a:t>
            </a:r>
          </a:p>
          <a:p>
            <a:r>
              <a:t>multiple random seeds per variant and a rolling-origin cross-validation instead of a single</a:t>
            </a:r>
          </a:p>
          <a:p>
            <a:r>
              <a:t>chronological split. Both are on the limitations slide, and I can quantify why they matter:</a:t>
            </a:r>
          </a:p>
          <a:p>
            <a:r>
              <a:t>two runs of the identical configuration in this project differed by 4.5 W/m2 on validation</a:t>
            </a:r>
          </a:p>
          <a:p>
            <a:r>
              <a:t>MAE, which is larger than several of the gaps between variants.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purpose of this slide is to draw a hard line between what I used and what I made, before</a:t>
            </a:r>
          </a:p>
          <a:p>
            <a:r>
              <a:t>anyone has to ask. Nothing on the EXISTING rows is claimed as my work: the satellite feed,</a:t>
            </a:r>
          </a:p>
          <a:p>
            <a:r>
              <a:t>the reanalysis product, the clear-sky model, the CNN backbone, the segmentation dataset and</a:t>
            </a:r>
          </a:p>
          <a:p>
            <a:r>
              <a:t>the persistence baseline all predate the project.</a:t>
            </a:r>
          </a:p>
          <a:p/>
          <a:p>
            <a:r>
              <a:t>What is mine: the data assembly pipeline, the fusion architecture as assembled in model.py,</a:t>
            </a:r>
          </a:p>
          <a:p>
            <a:r>
              <a:t>the way SWIMSEG pretraining is wired into the forecaster, the optical-flow gate input, the</a:t>
            </a:r>
          </a:p>
          <a:p>
            <a:r>
              <a:t>evaluation protocol, and the live deployment.</a:t>
            </a:r>
          </a:p>
          <a:p/>
          <a:p>
            <a:r>
              <a:t>Be careful with the word novel. The architecture is an assembly of standard components —</a:t>
            </a:r>
          </a:p>
          <a:p>
            <a:r>
              <a:t>BiLSTM with attention pooling, a CNN encoder, multi-head cross-attention, a gating MLP, a</a:t>
            </a:r>
          </a:p>
          <a:p>
            <a:r>
              <a:t>heteroscedastic Gaussian head. None of those are new. What is new is this specific</a:t>
            </a:r>
          </a:p>
          <a:p>
            <a:r>
              <a:t>combination, conditioned on physical variables, evaluated with the rigour on slides 11 to 16</a:t>
            </a:r>
          </a:p>
          <a:p>
            <a:r>
              <a:t>for a site and data regime where nobody has reported it. I say that plainly rather than</a:t>
            </a:r>
          </a:p>
          <a:p>
            <a:r>
              <a:t>overselling it, and slide 20 states it the same way.</a:t>
            </a:r>
          </a:p>
          <a:p/>
          <a:p>
            <a:r>
              <a:t>Likely question: "why EfficientNet-B2 and not a vision transformer?" Answer: parameter</a:t>
            </a:r>
          </a:p>
          <a:p>
            <a:r>
              <a:t>efficiency at 224x224 with roughly seven thousand training samples. A ViT would need far</a:t>
            </a:r>
          </a:p>
          <a:p>
            <a:r>
              <a:t>more data or heavier pretraining, and the results on slide 11 show that even B2 was already</a:t>
            </a:r>
          </a:p>
          <a:p>
            <a:r>
              <a:t>too much capacity for this dataset.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left to right along the top lane, then left to right along the bottom lane.</a:t>
            </a:r>
          </a:p>
          <a:p/>
          <a:p>
            <a:r>
              <a:t>Top lane, offline. Three independent public feeds. Open-Meteo's ERA5 archive gives hourly</a:t>
            </a:r>
          </a:p>
          <a:p>
            <a:r>
              <a:t>weather and the shortwave radiation channel that becomes the GHI target. PVGIS plus a pvlib</a:t>
            </a:r>
          </a:p>
          <a:p>
            <a:r>
              <a:t>simulation gives a PV power reference column. NICT serves the Himawari tile. SWIMSEG is a</a:t>
            </a:r>
          </a:p>
          <a:p>
            <a:r>
              <a:t>one-off dataset used only to pretrain the image encoder. combined_dataset.py merges them on</a:t>
            </a:r>
          </a:p>
          <a:p>
            <a:r>
              <a:t>the floored hourly Singapore timestamp, filters to 08:00-17:00, and matches each row to the</a:t>
            </a:r>
          </a:p>
          <a:p>
            <a:r>
              <a:t>nearest satellite frame within 60 minutes — in practice the median offset is zero minutes</a:t>
            </a:r>
          </a:p>
          <a:p>
            <a:r>
              <a:t>because the archive is on the hour.</a:t>
            </a:r>
          </a:p>
          <a:p/>
          <a:p>
            <a:r>
              <a:t>Then the notebook does feature engineering, converts every PNG to a grayscale 224x224 tensor</a:t>
            </a:r>
          </a:p>
          <a:p>
            <a:r>
              <a:t>cached as .npy, precomputes Farneback optical flow between consecutive frames, splits</a:t>
            </a:r>
          </a:p>
          <a:p>
            <a:r>
              <a:t>chronologically 70/15/15 with no shuffling, and trains.</a:t>
            </a:r>
          </a:p>
          <a:p/>
          <a:p>
            <a:r>
              <a:t>Bottom lane, online. This runs unattended from cron. current_data.py fetches three frames —</a:t>
            </a:r>
          </a:p>
          <a:p>
            <a:r>
              <a:t>t, t minus one hour, t minus two hours — and validates each one for brightness and structure</a:t>
            </a:r>
          </a:p>
          <a:p>
            <a:r>
              <a:t>so a dead tile is rejected rather than fed to the network. The lookback window is topped up</a:t>
            </a:r>
          </a:p>
          <a:p>
            <a:r>
              <a:t>from the live Open-Meteo API because the archive lags about five days. load_model reads the</a:t>
            </a:r>
          </a:p>
          <a:p>
            <a:r>
              <a:t>config sidecar so the exact architecture is reconstructed. The physics cap limits the output</a:t>
            </a:r>
          </a:p>
          <a:p>
            <a:r>
              <a:t>to 1.15 times the hour-mean clear-sky value. Everything, including diagnostic flags, is</a:t>
            </a:r>
          </a:p>
          <a:p>
            <a:r>
              <a:t>written to forecast_latest.json, and verify.py re-fetches the target hours three and a half</a:t>
            </a:r>
          </a:p>
          <a:p>
            <a:r>
              <a:t>hours later to score it.</a:t>
            </a:r>
          </a:p>
          <a:p/>
          <a:p>
            <a:r>
              <a:t>The point to stress: model.py is imported by the notebook, by predict.py and by verify.py.</a:t>
            </a:r>
          </a:p>
          <a:p>
            <a:r>
              <a:t>There is one architecture definition, one tabular column order and one set of baselines in</a:t>
            </a:r>
          </a:p>
          <a:p>
            <a:r>
              <a:t>the project. That is what makes train-serve drift detectable at all, and slide 17 shows the</a:t>
            </a:r>
          </a:p>
          <a:p>
            <a:r>
              <a:t>divergences that remain despite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land here: what the pipeline does, and the coverage asymmetry.</a:t>
            </a:r>
          </a:p>
          <a:p/>
          <a:p>
            <a:r>
              <a:t>The pipeline first. Everything is keyed on the floored hourly Singapore timestamp. The</a:t>
            </a:r>
          </a:p>
          <a:p>
            <a:r>
              <a:t>daylight filter comes from the clear-sky model — rows where clear-sky GHI is zero are night</a:t>
            </a:r>
          </a:p>
          <a:p>
            <a:r>
              <a:t>and are dropped, then an explicit 08:00-17:00 filter leaves exactly ten rows per day. Images</a:t>
            </a:r>
          </a:p>
          <a:p>
            <a:r>
              <a:t>are matched by nearest neighbour within sixty minutes; because both the weather archive and</a:t>
            </a:r>
          </a:p>
          <a:p>
            <a:r>
              <a:t>the Himawari cache are on the hour, the median matching offset is zero minutes and the worst</a:t>
            </a:r>
          </a:p>
          <a:p>
            <a:r>
              <a:t>case is sixty.</a:t>
            </a:r>
          </a:p>
          <a:p/>
          <a:p>
            <a:r>
              <a:t>Normalisation statistics are computed on the training split only and written to</a:t>
            </a:r>
          </a:p>
          <a:p>
            <a:r>
              <a:t>train_stats.json. That file is what makes deployment possible: predict.py loads exactly the</a:t>
            </a:r>
          </a:p>
          <a:p>
            <a:r>
              <a:t>same mean and standard deviation vector, so a live lookback window is scaled the way the</a:t>
            </a:r>
          </a:p>
          <a:p>
            <a:r>
              <a:t>training data was. I verified that the statistics I recompute from the CSV match the</a:t>
            </a:r>
          </a:p>
          <a:p>
            <a:r>
              <a:t>committed train_stats.json exactly — that check is in Appendix A4.</a:t>
            </a:r>
          </a:p>
          <a:p/>
          <a:p>
            <a:r>
              <a:t>Now the asymmetry, which is the important half of this slide. Look at the figure: the light</a:t>
            </a:r>
          </a:p>
          <a:p>
            <a:r>
              <a:t>bars continue to August 2026 but the dark bars stop in June, and the imagery coverage</a:t>
            </a:r>
          </a:p>
          <a:p>
            <a:r>
              <a:t>collapses right after the validation boundary. The dataset was extended with new weather</a:t>
            </a:r>
          </a:p>
          <a:p>
            <a:r>
              <a:t>rows without backfilling the satellite archive. Because the split is positional over all</a:t>
            </a:r>
          </a:p>
          <a:p>
            <a:r>
              <a:t>rows and the image requirement is applied afterwards, the test split kept only eighteen</a:t>
            </a:r>
          </a:p>
          <a:p>
            <a:r>
              <a:t>imaged samples. Slide 10 is entirely about that.</a:t>
            </a:r>
          </a:p>
          <a:p/>
          <a:p>
            <a:r>
              <a:t>If asked why the images stopped: the historical bulk collector for satellite frames is no</a:t>
            </a:r>
          </a:p>
          <a:p>
            <a:r>
              <a:t>longer in the repository, so the weather feed kept updating and the image feed did not.</a:t>
            </a:r>
          </a:p>
          <a:p>
            <a:r>
              <a:t>That is recorded in the discrepancy log in Appendix A4.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this slide slowly; it is where the technical credibility is won or lost.</a:t>
            </a:r>
          </a:p>
          <a:p/>
          <a:p>
            <a:r>
              <a:t>Left column, the four inputs. The tabular sequence is twenty-four consecutive daylight rows</a:t>
            </a:r>
          </a:p>
          <a:p>
            <a:r>
              <a:t>of eleven features — note that is twenty-four daylight hours, roughly 2.4 calendar days, not</a:t>
            </a:r>
          </a:p>
          <a:p>
            <a:r>
              <a:t>twenty-four clock hours. The multi-frame tensor stacks three hourly frames channel-wise into</a:t>
            </a:r>
          </a:p>
          <a:p>
            <a:r>
              <a:t>nine channels. The RoI is the centre 112-by-112 crop of the current frame, upsampled back to</a:t>
            </a:r>
          </a:p>
          <a:p>
            <a:r>
              <a:t>224, which zooms in on roughly the inner two degrees around Singapore. future_clearsky is</a:t>
            </a:r>
          </a:p>
          <a:p>
            <a:r>
              <a:t>legitimate look-ahead information: clear-sky GHI depends only on solar geometry, so it is</a:t>
            </a:r>
          </a:p>
          <a:p>
            <a:r>
              <a:t>known perfectly in advance and using it is not leakage. The gate features are the clear-sky</a:t>
            </a:r>
          </a:p>
          <a:p>
            <a:r>
              <a:t>index, cloud cover, and the two optical-flow components.</a:t>
            </a:r>
          </a:p>
          <a:p/>
          <a:p>
            <a:r>
              <a:t>Middle, the encoders. The BiLSTM is two layers, 128 hidden per direction, so 256-dimensional</a:t>
            </a:r>
          </a:p>
          <a:p>
            <a:r>
              <a:t>output, pooled over the twenty-four steps by a small tanh attention module rather than by</a:t>
            </a:r>
          </a:p>
          <a:p>
            <a:r>
              <a:t>taking the last state — that lets the model weight the informative hours. The image side</a:t>
            </a:r>
          </a:p>
          <a:p>
            <a:r>
              <a:t>runs one EfficientNet-B2 over each of the three global frames with shared weights, and a</a:t>
            </a:r>
          </a:p>
          <a:p>
            <a:r>
              <a:t>second B2 over the RoI crop. Each produces a 352-channel 7-by-7 map, which flattens to</a:t>
            </a:r>
          </a:p>
          <a:p>
            <a:r>
              <a:t>forty-nine patches; four maps give 196 patch tokens.</a:t>
            </a:r>
          </a:p>
          <a:p/>
          <a:p>
            <a:r>
              <a:t>Cross-attention: a single query token, the BiLSTM state, attends over those 196 patches with</a:t>
            </a:r>
          </a:p>
          <a:p>
            <a:r>
              <a:t>eight heads. So the temporal state asks the image "what should I look at" and gets back a</a:t>
            </a:r>
          </a:p>
          <a:p>
            <a:r>
              <a:t>256-dimensional summary.</a:t>
            </a:r>
          </a:p>
          <a:p/>
          <a:p>
            <a:r>
              <a:t>The gate is the smallest and most interesting module: 193 parameters mapping four physical</a:t>
            </a:r>
          </a:p>
          <a:p>
            <a:r>
              <a:t>scalars to a single alpha through a sigmoid. The fusion is a convex combination — alpha times</a:t>
            </a:r>
          </a:p>
          <a:p>
            <a:r>
              <a:t>the temporal state plus one minus alpha times the attended image state. Slide 15 shows what</a:t>
            </a:r>
          </a:p>
          <a:p>
            <a:r>
              <a:t>alpha actually learned.</a:t>
            </a:r>
          </a:p>
          <a:p/>
          <a:p>
            <a:r>
              <a:t>Right, the head. Clear-sky values are concatenated onto the fused vector before enrich, so</a:t>
            </a:r>
          </a:p>
          <a:p>
            <a:r>
              <a:t>the network gets the geometry explicitly. The final layer emits six numbers: three means and</a:t>
            </a:r>
          </a:p>
          <a:p>
            <a:r>
              <a:t>three raw scale values passed through softplus to guarantee positivity.</a:t>
            </a:r>
          </a:p>
          <a:p/>
          <a:p>
            <a:r>
              <a:t>Parameter accounting, worth memorising: 15,505,804 total, of which 14,405,124 — 92.9 percent —</a:t>
            </a:r>
          </a:p>
          <a:p>
            <a:r>
              <a:t>are the two image encoders. Everything that actually fuses and predicts is about 1.1 million</a:t>
            </a:r>
          </a:p>
          <a:p>
            <a:r>
              <a:t>parameters. That imbalance is central to the results.</a:t>
            </a:r>
          </a:p>
          <a:p/>
          <a:p>
            <a:r>
              <a:t>The asterisk matters. The variant named CNN-only in the code is not image-only: the attention</a:t>
            </a:r>
          </a:p>
          <a:p>
            <a:r>
              <a:t>query is still the BiLSTM output, so the temporal branch is still trained and still drives the</a:t>
            </a:r>
          </a:p>
          <a:p>
            <a:r>
              <a:t>pooling. I found this while auditing and renamed it throughout the deck to "image + temporal</a:t>
            </a:r>
          </a:p>
          <a:p>
            <a:r>
              <a:t>query". If an examiner catches a mislabelled ablation you have lost the room; better to</a:t>
            </a:r>
          </a:p>
          <a:p>
            <a:r>
              <a:t>surface it yourself.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include an equation if you can defend every symbol — so be ready on all seven.</a:t>
            </a:r>
          </a:p>
          <a:p/>
          <a:p>
            <a:r>
              <a:t>Equation 1, the clear-sky index. This is the single most important modelling choice in the</a:t>
            </a:r>
          </a:p>
          <a:p>
            <a:r>
              <a:t>project. Raw GHI is dominated by a deterministic signal — where the sun is. Dividing by the</a:t>
            </a:r>
          </a:p>
          <a:p>
            <a:r>
              <a:t>clear-sky value removes it and leaves the stochastic part, cloud attenuation. It is also</a:t>
            </a:r>
          </a:p>
          <a:p>
            <a:r>
              <a:t>what makes the smart-persistence baseline strong, and it is the first input to the gate.</a:t>
            </a:r>
          </a:p>
          <a:p/>
          <a:p>
            <a:r>
              <a:t>Equation 2 and 3, the gate. Four physical scalars in, one alpha out, and the fusion is a</a:t>
            </a:r>
          </a:p>
          <a:p>
            <a:r>
              <a:t>convex combination. The design intent was that in clear conditions the model should lean on</a:t>
            </a:r>
          </a:p>
          <a:p>
            <a:r>
              <a:t>the weather history, and in cloudy or fast-advecting conditions it should lean on the</a:t>
            </a:r>
          </a:p>
          <a:p>
            <a:r>
              <a:t>imagery. Slide 15 shows the gate learned the right direction but with almost no dynamic</a:t>
            </a:r>
          </a:p>
          <a:p>
            <a:r>
              <a:t>range.</a:t>
            </a:r>
          </a:p>
          <a:p/>
          <a:p>
            <a:r>
              <a:t>Equation 4, cross-attention. Emphasise the shape: one query token, 196 key-value tokens.</a:t>
            </a:r>
          </a:p>
          <a:p>
            <a:r>
              <a:t>This is not self-attention over a sequence of images; it is a learned pooling of image</a:t>
            </a:r>
          </a:p>
          <a:p>
            <a:r>
              <a:t>patches conditioned on the temporal state. That is why the so-called CNN-only ablation still</a:t>
            </a:r>
          </a:p>
          <a:p>
            <a:r>
              <a:t>depends on the BiLSTM.</a:t>
            </a:r>
          </a:p>
          <a:p/>
          <a:p>
            <a:r>
              <a:t>Equation 5, the loss. If asked "why not MSE?", the answer is that MSE gives a point estimate</a:t>
            </a:r>
          </a:p>
          <a:p>
            <a:r>
              <a:t>and this application needs an interval — a grid operator sizing reserve needs to know how</a:t>
            </a:r>
          </a:p>
          <a:p>
            <a:r>
              <a:t>uncertain the forecast is. The Gaussian NLL learns mean and variance jointly. The known</a:t>
            </a:r>
          </a:p>
          <a:p>
            <a:r>
              <a:t>failure mode is variance collapse early in training, which is why sigma is softplus plus</a:t>
            </a:r>
          </a:p>
          <a:p>
            <a:r>
              <a:t>1e-4 and gradients are clipped at norm 1.</a:t>
            </a:r>
          </a:p>
          <a:p/>
          <a:p>
            <a:r>
              <a:t>Equation 6, skill. Insist on this as the currency: MAE alone is meaningless across</a:t>
            </a:r>
          </a:p>
          <a:p>
            <a:r>
              <a:t>different test periods, because an easier month gives a lower MAE for free. Skill against</a:t>
            </a:r>
          </a:p>
          <a:p>
            <a:r>
              <a:t>smart persistence is normalised by exactly that difficulty.</a:t>
            </a:r>
          </a:p>
          <a:p/>
          <a:p>
            <a:r>
              <a:t>Equation 7. PICP alone can be gamed — predict a huge sigma and coverage goes to 100 percent —</a:t>
            </a:r>
          </a:p>
          <a:p>
            <a:r>
              <a:t>so it is always reported next to PINAW, the width. CRPS is the proper score that resolves</a:t>
            </a:r>
          </a:p>
          <a:p>
            <a:r>
              <a:t>the tension, and it is reported for every variant on slide 14. Both CRPS and interval width</a:t>
            </a:r>
          </a:p>
          <a:p>
            <a:r>
              <a:t>were absent from the original committed results; I added them during this analysis.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two-phase schedule as a deliberate decision, not a default. With 6,675 training</a:t>
            </a:r>
          </a:p>
          <a:p>
            <a:r>
              <a:t>samples and 14.4 million CNN parameters, fine-tuning the encoders from step one destroys the</a:t>
            </a:r>
          </a:p>
          <a:p>
            <a:r>
              <a:t>pretrained features before the small fusion head has learned anything useful. So the CNN is</a:t>
            </a:r>
          </a:p>
          <a:p>
            <a:r>
              <a:t>frozen for twenty epochs — only 1.1 million parameters train — and then unfrozen at one tenth</a:t>
            </a:r>
          </a:p>
          <a:p>
            <a:r>
              <a:t>the learning rate.</a:t>
            </a:r>
          </a:p>
          <a:p/>
          <a:p>
            <a:r>
              <a:t>The curves show the schedule working and then the capacity problem asserting itself. Up to</a:t>
            </a:r>
          </a:p>
          <a:p>
            <a:r>
              <a:t>epoch 20 train and validation move together. After unfreezing, the training loss keeps</a:t>
            </a:r>
          </a:p>
          <a:p>
            <a:r>
              <a:t>falling and validation turns upward within four epochs. That divergence is the clearest</a:t>
            </a:r>
          </a:p>
          <a:p>
            <a:r>
              <a:t>single piece of evidence for the overfitting story that runs through the whole results</a:t>
            </a:r>
          </a:p>
          <a:p>
            <a:r>
              <a:t>section.</a:t>
            </a:r>
          </a:p>
          <a:p/>
          <a:p>
            <a:r>
              <a:t>Two design points worth defending. Weight decay is 0.1, which is high; that is a response to</a:t>
            </a:r>
          </a:p>
          <a:p>
            <a:r>
              <a:t>the same capacity problem. Checkpoint selection is on validation NLL rather than MAE, because</a:t>
            </a:r>
          </a:p>
          <a:p>
            <a:r>
              <a:t>the deliverable is a calibrated distribution — selecting on MAE would favour a confident,</a:t>
            </a:r>
          </a:p>
          <a:p>
            <a:r>
              <a:t>badly calibrated model.</a:t>
            </a:r>
          </a:p>
          <a:p/>
          <a:p>
            <a:r>
              <a:t>The variability number is the one to volunteer rather than hide. The same configuration</a:t>
            </a:r>
          </a:p>
          <a:p>
            <a:r>
              <a:t>trained twice gave best validation MAE of 74.0 and 78.5. Different points in the RNG stream</a:t>
            </a:r>
          </a:p>
          <a:p>
            <a:r>
              <a:t>and slightly different early-stopping patience. That 4.5 W/m2 is my empirical noise floor,</a:t>
            </a:r>
          </a:p>
          <a:p>
            <a:r>
              <a:t>and it is why on slide 13 I only claim differences that are both larger than this and</a:t>
            </a:r>
          </a:p>
          <a:p>
            <a:r>
              <a:t>statistically significant.</a:t>
            </a:r>
          </a:p>
          <a:p/>
          <a:p>
            <a:r>
              <a:t>Likely question: "why learning rate 3e-5, that is very low?" It is low because most of the</a:t>
            </a:r>
          </a:p>
          <a:p>
            <a:r>
              <a:t>network is a pretrained CNN being fine-tuned; a higher rate destabilised the sigma head under</a:t>
            </a:r>
          </a:p>
          <a:p>
            <a:r>
              <a:t>fp16 in early experiments. Related known weakness: batches producing non-finite loss are</a:t>
            </a:r>
          </a:p>
          <a:p>
            <a:r>
              <a:t>skipped silently in the training loop and never counted, so I cannot report how often it</a:t>
            </a:r>
          </a:p>
          <a:p>
            <a:r>
              <a:t>happened. That is on the limitations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variant table is built so that each row answers exactly one question, and I should be</a:t>
            </a:r>
          </a:p>
          <a:p>
            <a:r>
              <a:t>able to say which question without looking.</a:t>
            </a:r>
          </a:p>
          <a:p/>
          <a:p>
            <a:r>
              <a:t>LSTM-only versus the full model answers RQ1: does imagery help at all? Naive concat versus</a:t>
            </a:r>
          </a:p>
          <a:p>
            <a:r>
              <a:t>the full model answers RQ2: is the gate better than just concatenating? Image-plus-temporal-</a:t>
            </a:r>
          </a:p>
          <a:p>
            <a:r>
              <a:t>query isolates the attention path. The small preset tests whether the model is simply too</a:t>
            </a:r>
          </a:p>
          <a:p>
            <a:r>
              <a:t>large for the data. The no-lag variant removes ghi_lag1, the previous hour's irradiance,</a:t>
            </a:r>
          </a:p>
          <a:p>
            <a:r>
              <a:t>which is the strongest single predictor — it tells us how much of the performance is really</a:t>
            </a:r>
          </a:p>
          <a:p>
            <a:r>
              <a:t>just persistence dressed up.</a:t>
            </a:r>
          </a:p>
          <a:p/>
          <a:p>
            <a:r>
              <a:t>On the baselines: the tabular models get fourteen features including three lags of GHI. That</a:t>
            </a:r>
          </a:p>
          <a:p>
            <a:r>
              <a:t>is deliberately generous. If I gave them less, beating them would prove nothing.</a:t>
            </a:r>
          </a:p>
          <a:p/>
          <a:p>
            <a:r>
              <a:t>Be honest about cost when asked. The whole grid is under two hours of GPU time. That means</a:t>
            </a:r>
          </a:p>
          <a:p>
            <a:r>
              <a:t>running three seeds per variant would have cost about six hours, which I did not spend, and</a:t>
            </a:r>
          </a:p>
          <a:p>
            <a:r>
              <a:t>that is the single highest-value experiment left undone. I say so on the limitations slide</a:t>
            </a:r>
          </a:p>
          <a:p>
            <a:r>
              <a:t>rather than waiting to be asked.</a:t>
            </a:r>
          </a:p>
          <a:p/>
          <a:p>
            <a:r>
              <a:t>If challenged on epoch counts differing across variants — LSTM-only ran 150 epochs while the</a:t>
            </a:r>
          </a:p>
          <a:p>
            <a:r>
              <a:t>others stopped between 35 and 63 — the answer is that early stopping is on validation NLL</a:t>
            </a:r>
          </a:p>
          <a:p>
            <a:r>
              <a:t>with fixed patience, so the schedule is the same policy applied to different loss</a:t>
            </a:r>
          </a:p>
          <a:p>
            <a:r>
              <a:t>trajectories. LSTM-only simply kept improving, which is itself informative: the smallest</a:t>
            </a:r>
          </a:p>
          <a:p>
            <a:r>
              <a:t>effective model was the one that had not saturated.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will decide how the examiners read everything that follows, so do not</a:t>
            </a:r>
          </a:p>
          <a:p>
            <a:r>
              <a:t>soften it and do not rush it.</a:t>
            </a:r>
          </a:p>
          <a:p/>
          <a:p>
            <a:r>
              <a:t>State the defect first, in one sentence: the deep-model results in the committed CSV were</a:t>
            </a:r>
          </a:p>
          <a:p>
            <a:r>
              <a:t>computed on eighteen samples from two days, and they are not defensible. I found this by</a:t>
            </a:r>
          </a:p>
          <a:p>
            <a:r>
              <a:t>re-reading my own notebook output during preparation — the warning was printed, "Test: 18,</a:t>
            </a:r>
          </a:p>
          <a:p>
            <a:r>
              <a:t>Test batches: 1", and I had not acted on it.</a:t>
            </a:r>
          </a:p>
          <a:p/>
          <a:p>
            <a:r>
              <a:t>Then the mechanism, because that is the interesting part. The split is positional: take the</a:t>
            </a:r>
          </a:p>
          <a:p>
            <a:r>
              <a:t>first seventy percent of rows, then fifteen, then fifteen. The image requirement is applied</a:t>
            </a:r>
          </a:p>
          <a:p>
            <a:r>
              <a:t>later, inside the dataset class, when it builds valid_indices. Those two facts interact badly</a:t>
            </a:r>
          </a:p>
          <a:p>
            <a:r>
              <a:t>the moment image coverage becomes non-uniform in time. My weather table ran ahead to August</a:t>
            </a:r>
          </a:p>
          <a:p>
            <a:r>
              <a:t>2026 while the satellite archive stalled in June, so the image-less rows piled up at the end</a:t>
            </a:r>
          </a:p>
          <a:p>
            <a:r>
              <a:t>of the record — precisely the test split.</a:t>
            </a:r>
          </a:p>
          <a:p/>
          <a:p>
            <a:r>
              <a:t>The fix is one line — drop image-less rows before splitting — plus an assertion so it can</a:t>
            </a:r>
          </a:p>
          <a:p>
            <a:r>
              <a:t>never pass silently again. I verified what that fix yields on this dataset: about 1,123 test</a:t>
            </a:r>
          </a:p>
          <a:p>
            <a:r>
              <a:t>samples spanning seven months. I did not retrain, because that is a full grid re-run, and I</a:t>
            </a:r>
          </a:p>
          <a:p>
            <a:r>
              <a:t>say so plainly rather than presenting a fix I have not executed.</a:t>
            </a:r>
          </a:p>
          <a:p/>
          <a:p>
            <a:r>
              <a:t>What I did instead is the honest compromise: report everything on the 914 imaged validation</a:t>
            </a:r>
          </a:p>
          <a:p>
            <a:r>
              <a:t>samples. Be upfront about what that costs. The validation split was used for early stopping</a:t>
            </a:r>
          </a:p>
          <a:p>
            <a:r>
              <a:t>and checkpoint selection, so these numbers are optimistic and are not a clean held-out test.</a:t>
            </a:r>
          </a:p>
          <a:p>
            <a:r>
              <a:t>They are, however, sixty-six days across two months rather than two days, and — critically —</a:t>
            </a:r>
          </a:p>
          <a:p>
            <a:r>
              <a:t>every model in the comparison is scored on identical rows.</a:t>
            </a:r>
          </a:p>
          <a:p/>
          <a:p>
            <a:r>
              <a:t>The figure is the argument in one image. On eighteen samples the naive concat variant looks</a:t>
            </a:r>
          </a:p>
          <a:p>
            <a:r>
              <a:t>best and the weather-only model looks worst. On nine hundred and fourteen the order reverses.</a:t>
            </a:r>
          </a:p>
          <a:p>
            <a:r>
              <a:t>Same checkpoints, same weights. If an examiner takes one thing from this defence, this is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positive result, because it is real and it is the one that generalises: every</a:t>
            </a:r>
          </a:p>
          <a:p>
            <a:r>
              <a:t>learned model beats smart persistence, and the margin grows with horizon — from about twenty</a:t>
            </a:r>
          </a:p>
          <a:p>
            <a:r>
              <a:t>percent at t+1h to nearly forty percent at t+3h for the best models. That is the physically</a:t>
            </a:r>
          </a:p>
          <a:p>
            <a:r>
              <a:t>expected pattern. Persistence decays fast because cloud fields decorrelate; a learned model</a:t>
            </a:r>
          </a:p>
          <a:p>
            <a:r>
              <a:t>holds on longer.</a:t>
            </a:r>
          </a:p>
          <a:p/>
          <a:p>
            <a:r>
              <a:t>Then the finding that will get pushed back on: LightGBM at 77.7 W/m2 beats the full fusion</a:t>
            </a:r>
          </a:p>
          <a:p>
            <a:r>
              <a:t>network at 86.5, using roughly five thousand decision trees against fifteen and a half</a:t>
            </a:r>
          </a:p>
          <a:p>
            <a:r>
              <a:t>million parameters. Do not apologise for it and do not explain it away — quantify it. The gap</a:t>
            </a:r>
          </a:p>
          <a:p>
            <a:r>
              <a:t>is 8.8 W/m2 on the mean, and slide 13 shows it is statistically significant at t+1h and not</a:t>
            </a:r>
          </a:p>
          <a:p>
            <a:r>
              <a:t>significant at t+2h and t+3h. That nuance is the actual result.</a:t>
            </a:r>
          </a:p>
          <a:p/>
          <a:p>
            <a:r>
              <a:t>The internal ordering of the deep variants is the sharpest evidence. Weather-only is best.</a:t>
            </a:r>
          </a:p>
          <a:p>
            <a:r>
              <a:t>Adding concatenated image features costs about a watt. Adding cross-attention costs two.</a:t>
            </a:r>
          </a:p>
          <a:p>
            <a:r>
              <a:t>Adding the physics gate on top costs four. Performance degrades monotonically with the amount</a:t>
            </a:r>
          </a:p>
          <a:p>
            <a:r>
              <a:t>of image machinery in the fusion path. That is a coherent capacity story, not a random</a:t>
            </a:r>
          </a:p>
          <a:p>
            <a:r>
              <a:t>ordering.</a:t>
            </a:r>
          </a:p>
          <a:p/>
          <a:p>
            <a:r>
              <a:t>Keep the epistemic labels visible when you speak: what I observed, what I infer, and what is</a:t>
            </a:r>
          </a:p>
          <a:p>
            <a:r>
              <a:t>speculation. If asked whether more data would fix it, say clearly that nothing in this project</a:t>
            </a:r>
          </a:p>
          <a:p>
            <a:r>
              <a:t>tests that — it is a hypothesis, and I have marked it as one.</a:t>
            </a:r>
          </a:p>
          <a:p/>
          <a:p>
            <a:r>
              <a:t>Have the parameter comparison ready as a soundbite: the gate itself is 193 parameters, the</a:t>
            </a:r>
          </a:p>
          <a:p>
            <a:r>
              <a:t>whole fusion and prediction path is about 1.1 million, and the image encoders are 14.4</a:t>
            </a:r>
          </a:p>
          <a:p>
            <a:r>
              <a:t>million — ninety-three percent of the model, for a branch that makes the forecast worse.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lead with if I only get to show one result.</a:t>
            </a:r>
          </a:p>
          <a:p/>
          <a:p>
            <a:r>
              <a:t>The message: every learned model beats the operational reference, and the advantage grows</a:t>
            </a:r>
          </a:p>
          <a:p>
            <a:r>
              <a:t>with horizon. LightGBM removes about twenty percent of smart persistence's error at one hour</a:t>
            </a:r>
          </a:p>
          <a:p>
            <a:r>
              <a:t>and nearly thirty-eight percent at three. The best deep model tracks the same curve a few</a:t>
            </a:r>
          </a:p>
          <a:p>
            <a:r>
              <a:t>points lower.</a:t>
            </a:r>
          </a:p>
          <a:p/>
          <a:p>
            <a:r>
              <a:t>Explain why the curve rises, because that is the physics check. Smart persistence assumes the</a:t>
            </a:r>
          </a:p>
          <a:p>
            <a:r>
              <a:t>cloud state is frozen and only the sun moves. Over one hour in Singapore that is nearly true —</a:t>
            </a:r>
          </a:p>
          <a:p>
            <a:r>
              <a:t>the cloud field has barely decorrelated, so persistence is genuinely hard to beat, and the</a:t>
            </a:r>
          </a:p>
          <a:p>
            <a:r>
              <a:t>physics-gated model only matches it, plus half a percent. Over three hours the frozen-cloud</a:t>
            </a:r>
          </a:p>
          <a:p>
            <a:r>
              <a:t>assumption falls apart, while a model that has learned diurnal and seasonal structure and</a:t>
            </a:r>
          </a:p>
          <a:p>
            <a:r>
              <a:t>autocorrelation degrades much more slowly. A model whose skill curve went the other way would</a:t>
            </a:r>
          </a:p>
          <a:p>
            <a:r>
              <a:t>be a red flag that something is leaking.</a:t>
            </a:r>
          </a:p>
          <a:p/>
          <a:p>
            <a:r>
              <a:t>Stress why I report skill rather than raw MAE as the headline. My own results show why: the</a:t>
            </a:r>
          </a:p>
          <a:p>
            <a:r>
              <a:t>same random forest scores MAE 61.7 on the full test window and 78.3 on the validation window.</a:t>
            </a:r>
          </a:p>
          <a:p>
            <a:r>
              <a:t>Same model, same training data, different period difficulty. Skill normalises that away, which</a:t>
            </a:r>
          </a:p>
          <a:p>
            <a:r>
              <a:t>is why it is the standard in the solar forecasting literature and why every comparison here</a:t>
            </a:r>
          </a:p>
          <a:p>
            <a:r>
              <a:t>carries it.</a:t>
            </a:r>
          </a:p>
          <a:p/>
          <a:p>
            <a:r>
              <a:t>If asked which number to quote as the project's result, my answer is: about thirty percent</a:t>
            </a:r>
          </a:p>
          <a:p>
            <a:r>
              <a:t>mean skill against smart persistence at one to three hours ahead on a single equatorial site,</a:t>
            </a:r>
          </a:p>
          <a:p>
            <a:r>
              <a:t>achieved by a gradient-boosted tree, with the deep fusion model a few points behind.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converts orderings into claims, so be precise about what the test does and does</a:t>
            </a:r>
          </a:p>
          <a:p>
            <a:r>
              <a:t>not do.</a:t>
            </a:r>
          </a:p>
          <a:p/>
          <a:p>
            <a:r>
              <a:t>The Diebold-Mariano test is the standard tool for comparing two forecast series on the same</a:t>
            </a:r>
          </a:p>
          <a:p>
            <a:r>
              <a:t>observations. It works on the loss differential — here the difference in absolute errors,</a:t>
            </a:r>
          </a:p>
          <a:p>
            <a:r>
              <a:t>sample by sample — and asks whether its mean is distinguishable from zero, accounting for</a:t>
            </a:r>
          </a:p>
          <a:p>
            <a:r>
              <a:t>autocorrelation, which matters because multi-step forecast errors are serially correlated. I</a:t>
            </a:r>
          </a:p>
          <a:p>
            <a:r>
              <a:t>use the Newey-West variance with lag h minus one and the Harvey-Leybourne-Newbold small-sample</a:t>
            </a:r>
          </a:p>
          <a:p>
            <a:r>
              <a:t>correction. Neither the original notebook nor the committed results contained any significance</a:t>
            </a:r>
          </a:p>
          <a:p>
            <a:r>
              <a:t>test; I added this during preparation.</a:t>
            </a:r>
          </a:p>
          <a:p/>
          <a:p>
            <a:r>
              <a:t>Read the three blocks. First: the weather-only model is significantly better than the full</a:t>
            </a:r>
          </a:p>
          <a:p>
            <a:r>
              <a:t>physics-gated model at one and two hours. So the answer to research question one is a</a:t>
            </a:r>
          </a:p>
          <a:p>
            <a:r>
              <a:t>statistically supported no. Second: LightGBM beats the deep model significantly at one hour</a:t>
            </a:r>
          </a:p>
          <a:p>
            <a:r>
              <a:t>but not at two or three — the honest statement is "trees win clearly at short horizon, and</a:t>
            </a:r>
          </a:p>
          <a:p>
            <a:r>
              <a:t>the models are indistinguishable further out." Third: the physics-gated model does not beat</a:t>
            </a:r>
          </a:p>
          <a:p>
            <a:r>
              <a:t>smart persistence at one hour at all, p equals 0.87, but crushes it at two and three hours.</a:t>
            </a:r>
          </a:p>
          <a:p/>
          <a:p>
            <a:r>
              <a:t>Volunteer the limitation before it is asked. The DM test controls for randomness in which</a:t>
            </a:r>
          </a:p>
          <a:p>
            <a:r>
              <a:t>samples I evaluated on. It does not control for randomness in training. With one seed per</a:t>
            </a:r>
          </a:p>
          <a:p>
            <a:r>
              <a:t>variant I cannot separate an architecture effect from an initialisation effect for</a:t>
            </a:r>
          </a:p>
          <a:p>
            <a:r>
              <a:t>differences of a few watts. That is why I state the direction of the imagery result — which is</a:t>
            </a:r>
          </a:p>
          <a:p>
            <a:r>
              <a:t>consistent across every comparison and every horizon — rather than defending its exact</a:t>
            </a:r>
          </a:p>
          <a:p>
            <a:r>
              <a:t>magnitude.</a:t>
            </a:r>
          </a:p>
          <a:p/>
          <a:p>
            <a:r>
              <a:t>If asked what would settle it: three to five seeds per variant, mean and standard deviation</a:t>
            </a:r>
          </a:p>
          <a:p>
            <a:r>
              <a:t>reported, and the DM test run on seed-averaged errors. About six GPU-hours. It is the first</a:t>
            </a:r>
          </a:p>
          <a:p>
            <a:r>
              <a:t>item on my future work list.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this is where the design choice paid off. The model was trained to emit a mean</a:t>
            </a:r>
          </a:p>
          <a:p>
            <a:r>
              <a:t>and a standard deviation per horizon under a Gaussian negative-log-likelihood, and the result</a:t>
            </a:r>
          </a:p>
          <a:p>
            <a:r>
              <a:t>is that ninety percent intervals contain the truth ninety to ninety-two percent of the time</a:t>
            </a:r>
          </a:p>
          <a:p>
            <a:r>
              <a:t>across every variant, with no post-hoc recalibration, no conformal wrapper, nothing.</a:t>
            </a:r>
          </a:p>
          <a:p/>
          <a:p>
            <a:r>
              <a:t>Point at the time series and describe the behaviour, not just the number. The band is narrow</a:t>
            </a:r>
          </a:p>
          <a:p>
            <a:r>
              <a:t>on clear mornings and widens on broken-cloud afternoons. That is conditional uncertainty —</a:t>
            </a:r>
          </a:p>
          <a:p>
            <a:r>
              <a:t>exactly what a heteroscedastic model is supposed to produce and what a fixed-width interval</a:t>
            </a:r>
          </a:p>
          <a:p>
            <a:r>
              <a:t>cannot.</a:t>
            </a:r>
          </a:p>
          <a:p/>
          <a:p>
            <a:r>
              <a:t>Then immediately undercut it, because an examiner will otherwise do it for you. Coverage on</a:t>
            </a:r>
          </a:p>
          <a:p>
            <a:r>
              <a:t>its own is trivially gameable: predict an enormous sigma and coverage goes to one hundred</a:t>
            </a:r>
          </a:p>
          <a:p>
            <a:r>
              <a:t>percent. So width is reported next to it, and the width is 372 W/m2, which is seventy-eight</a:t>
            </a:r>
          </a:p>
          <a:p>
            <a:r>
              <a:t>percent of mean irradiance. Calibrated but blunt. For an operator sizing reserve, a band</a:t>
            </a:r>
          </a:p>
          <a:p>
            <a:r>
              <a:t>that wide is honest but not very actionable at three hours.</a:t>
            </a:r>
          </a:p>
          <a:p/>
          <a:p>
            <a:r>
              <a:t>CRPS is the resolution of that tension — it is a proper scoring rule, so it penalises both</a:t>
            </a:r>
          </a:p>
          <a:p>
            <a:r>
              <a:t>miscalibration and unnecessary width. It ranks the variants in the same order as MAE, which</a:t>
            </a:r>
          </a:p>
          <a:p>
            <a:r>
              <a:t>tells us none of the variants is buying accuracy by being over-confident.</a:t>
            </a:r>
          </a:p>
          <a:p/>
          <a:p>
            <a:r>
              <a:t>Finally, connect back to slide 10. The committed results show coverage of fifty-five to</a:t>
            </a:r>
          </a:p>
          <a:p>
            <a:r>
              <a:t>seventy-six percent, which looks like a calibration failure, and I could easily have written</a:t>
            </a:r>
          </a:p>
          <a:p>
            <a:r>
              <a:t>a slide explaining that failure. It was not real. On 914 samples the same checkpoints are</a:t>
            </a:r>
          </a:p>
          <a:p>
            <a:r>
              <a:t>calibrated. An eighteen-sample coverage estimate has a standard error of about seven</a:t>
            </a:r>
          </a:p>
          <a:p>
            <a:r>
              <a:t>percentage points — it could not have detected anything.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mechanistic explanation for the negative result on slides 11 and 13, and it is</a:t>
            </a:r>
          </a:p>
          <a:p>
            <a:r>
              <a:t>where I show I understand my own model rather than just reporting its scores.</a:t>
            </a:r>
          </a:p>
          <a:p/>
          <a:p>
            <a:r>
              <a:t>First, the good news, and it is genuinely good: the gate learned the physically correct</a:t>
            </a:r>
          </a:p>
          <a:p>
            <a:r>
              <a:t>policy without ever being told to. Alpha correlates plus 0.90 with the clear-sky index and</a:t>
            </a:r>
          </a:p>
          <a:p>
            <a:r>
              <a:t>minus 0.61 with cloud cover. In clear conditions it shifts weight toward the weather history;</a:t>
            </a:r>
          </a:p>
          <a:p>
            <a:r>
              <a:t>in cloudy conditions toward the imagery. That is exactly the design intent, and it emerged</a:t>
            </a:r>
          </a:p>
          <a:p>
            <a:r>
              <a:t>purely from the negative-log-likelihood objective.</a:t>
            </a:r>
          </a:p>
          <a:p/>
          <a:p>
            <a:r>
              <a:t>Now the problem, which the left panel makes visually undeniable — and note I deliberately</a:t>
            </a:r>
          </a:p>
          <a:p>
            <a:r>
              <a:t>plotted the full zero-to-one range rather than autoscaling, because autoscaling would have</a:t>
            </a:r>
          </a:p>
          <a:p>
            <a:r>
              <a:t>made a flat line look like a strong trend. Alpha never leaves 0.43 to 0.56. Its standard</a:t>
            </a:r>
          </a:p>
          <a:p>
            <a:r>
              <a:t>deviation is 0.027. Under every condition in sixty-six days of data, the fusion is within</a:t>
            </a:r>
          </a:p>
          <a:p>
            <a:r>
              <a:t>seven percent of a fixed fifty-fifty average.</a:t>
            </a:r>
          </a:p>
          <a:p/>
          <a:p>
            <a:r>
              <a:t>So the interpretation: the gate is directionally correct and operationally inert. It is a</a:t>
            </a:r>
          </a:p>
          <a:p>
            <a:r>
              <a:t>constant with a very slight tilt. That explains why the gated variant is slightly worse than</a:t>
            </a:r>
          </a:p>
          <a:p>
            <a:r>
              <a:t>naive concatenation — concatenation hands the head all 512 dimensions and lets it learn its</a:t>
            </a:r>
          </a:p>
          <a:p>
            <a:r>
              <a:t>own weighting, while the gate collapses them into a near-fixed average first, destroying</a:t>
            </a:r>
          </a:p>
          <a:p>
            <a:r>
              <a:t>information.</a:t>
            </a:r>
          </a:p>
          <a:p/>
          <a:p>
            <a:r>
              <a:t>Why did it collapse? Nothing in the loss rewards decisiveness. If the image branch carries</a:t>
            </a:r>
          </a:p>
          <a:p>
            <a:r>
              <a:t>little signal, a constant blend is the risk-minimising solution, and gradient descent finds</a:t>
            </a:r>
          </a:p>
          <a:p>
            <a:r>
              <a:t>it. A sharper gate would only pay off if the image branch were sometimes much better than the</a:t>
            </a:r>
          </a:p>
          <a:p>
            <a:r>
              <a:t>temporal branch — and slide 16 shows it only is, marginally, in the most overcast conditions.</a:t>
            </a:r>
          </a:p>
          <a:p/>
          <a:p>
            <a:r>
              <a:t>If asked how to fix it: an entropy penalty on alpha, or a temperature parameter on the</a:t>
            </a:r>
          </a:p>
          <a:p>
            <a:r>
              <a:t>sigmoid, or supervising alpha directly against a cloud-regime label. I mark that as</a:t>
            </a:r>
          </a:p>
          <a:p>
            <a:r>
              <a:t>speculation because I did not run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convey: where the error lives, why it lives there, and one structural defect</a:t>
            </a:r>
          </a:p>
          <a:p>
            <a:r>
              <a:t>I found in my own target construction.</a:t>
            </a:r>
          </a:p>
          <a:p/>
          <a:p>
            <a:r>
              <a:t>Where. Stratifying by the clear-sky index at issue time shows a clear inverted-U. Near-clear</a:t>
            </a:r>
          </a:p>
          <a:p>
            <a:r>
              <a:t>conditions are easy, about 52 W/m2 for the weather-only model. Overcast is also relatively</a:t>
            </a:r>
          </a:p>
          <a:p>
            <a:r>
              <a:t>easy — if it is thoroughly dark it will probably stay dark. The hard band is in between, 0.3</a:t>
            </a:r>
          </a:p>
          <a:p>
            <a:r>
              <a:t>to 0.7, broken cloud, where a single convective cell decides whether the next hour is 300 or</a:t>
            </a:r>
          </a:p>
          <a:p>
            <a:r>
              <a:t>800 W/m2. Physically that is exactly right: the error is highest where the outcome variance</a:t>
            </a:r>
          </a:p>
          <a:p>
            <a:r>
              <a:t>is highest.</a:t>
            </a:r>
          </a:p>
          <a:p/>
          <a:p>
            <a:r>
              <a:t>The hour-of-day panel says the same thing in the time domain. Error more than doubles from</a:t>
            </a:r>
          </a:p>
          <a:p>
            <a:r>
              <a:t>mid-morning to two in the afternoon, tracking Singapore's diurnal convective build-up. If a</a:t>
            </a:r>
          </a:p>
          <a:p>
            <a:r>
              <a:t>future version were to be improved anywhere, it would be here.</a:t>
            </a:r>
          </a:p>
          <a:p/>
          <a:p>
            <a:r>
              <a:t>Now the one place the imagery earns its keep. In the most overcast bin the physics-gated model</a:t>
            </a:r>
          </a:p>
          <a:p>
            <a:r>
              <a:t>beats the weather-only model by eight W/m2. That is the only regime where it wins, and it is</a:t>
            </a:r>
          </a:p>
          <a:p>
            <a:r>
              <a:t>consistent with the mechanism: when the current cloud state is unambiguous and thick, an</a:t>
            </a:r>
          </a:p>
          <a:p>
            <a:r>
              <a:t>upstream view carries information a point time series does not. I state it carefully — n is</a:t>
            </a:r>
          </a:p>
          <a:p>
            <a:r>
              <a:t>fifty-seven, so it is suggestive and not established. It is also the most useful lead for</a:t>
            </a:r>
          </a:p>
          <a:p>
            <a:r>
              <a:t>future work: gate on regime, and only invoke the image branch when it is likely to help.</a:t>
            </a:r>
          </a:p>
          <a:p/>
          <a:p>
            <a:r>
              <a:t>Finally, the structural defect, which I found by checking timestamp differences rather than</a:t>
            </a:r>
          </a:p>
          <a:p>
            <a:r>
              <a:t>row positions. Targets are built with a positional shift by one, two and three rows, but the</a:t>
            </a:r>
          </a:p>
          <a:p>
            <a:r>
              <a:t>dataset only contains 08:00 to 17:00. So for the last rows of each day the shift crosses the</a:t>
            </a:r>
          </a:p>
          <a:p>
            <a:r>
              <a:t>overnight gap: ten percent of t+1h targets, twenty percent at t+2h, thirty percent at t+3h are</a:t>
            </a:r>
          </a:p>
          <a:p>
            <a:r>
              <a:t>actually the next morning. Those are easier to predict than a true one-hour-ahead value,</a:t>
            </a:r>
          </a:p>
          <a:p>
            <a:r>
              <a:t>because the model can lean on the diurnal pattern. Restricting to genuine same-day pairs</a:t>
            </a:r>
          </a:p>
          <a:p>
            <a:r>
              <a:t>raises every MAE by roughly eight percent. Crucially the ranking is unchanged — it affects</a:t>
            </a:r>
          </a:p>
          <a:p>
            <a:r>
              <a:t>every model equally — but the absolute numbers are optimistic and I say so. The same</a:t>
            </a:r>
          </a:p>
          <a:p>
            <a:r>
              <a:t>positional shift also corrupts the lag features and the frame offsets, which is a further</a:t>
            </a:r>
          </a:p>
          <a:p>
            <a:r>
              <a:t>reason the image branch underperformed.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what the deployment does well, and what is still wrong with it. Do not let the</a:t>
            </a:r>
          </a:p>
          <a:p>
            <a:r>
              <a:t>first half sound like a claim of live accuracy.</a:t>
            </a:r>
          </a:p>
          <a:p/>
          <a:p>
            <a:r>
              <a:t>What it does well. The satellite fetch is defensive by design: every tile is validated for</a:t>
            </a:r>
          </a:p>
          <a:p>
            <a:r>
              <a:t>mean brightness and standard deviation, with the thresholds derived from the training images</a:t>
            </a:r>
          </a:p>
          <a:p>
            <a:r>
              <a:t>themselves, and a failed tile triggers a walk back in ten-minute steps across up to four</a:t>
            </a:r>
          </a:p>
          <a:p>
            <a:r>
              <a:t>sources. That guard exists because an earlier version of this system was silently forecasting</a:t>
            </a:r>
          </a:p>
          <a:p>
            <a:r>
              <a:t>from a black "No Image" placeholder that the provider served with HTTP 200 — the status code</a:t>
            </a:r>
          </a:p>
          <a:p>
            <a:r>
              <a:t>was fine, the pixels were not. Fourteen point four million parameters were being fed a</a:t>
            </a:r>
          </a:p>
          <a:p>
            <a:r>
              <a:t>constant black square. That was the single worst defect in the project and it is fixed.</a:t>
            </a:r>
          </a:p>
          <a:p/>
          <a:p>
            <a:r>
              <a:t>The config sidecar matters too: head count cannot be recovered from tensor shapes, so loading</a:t>
            </a:r>
          </a:p>
          <a:p>
            <a:r>
              <a:t>a checkpoint with the wrong head count would silently produce garbage rather than raising an</a:t>
            </a:r>
          </a:p>
          <a:p>
            <a:r>
              <a:t>error. Writing the sidecar makes the failure impossible.</a:t>
            </a:r>
          </a:p>
          <a:p/>
          <a:p>
            <a:r>
              <a:t>The physics cap deserves a word because it contains a subtlety I got wrong first time. It</a:t>
            </a:r>
          </a:p>
          <a:p>
            <a:r>
              <a:t>clamps the mean to 1.15 times the preceding-hour-mean clear-sky value — hour-mean, not</a:t>
            </a:r>
          </a:p>
          <a:p>
            <a:r>
              <a:t>instantaneous, because Open-Meteo labels each hourly value with the end of its averaging</a:t>
            </a:r>
          </a:p>
          <a:p>
            <a:r>
              <a:t>window. And it rebuilds the interval around the clamped mean rather than clipping mean, lower</a:t>
            </a:r>
          </a:p>
          <a:p>
            <a:r>
              <a:t>and upper independently, which would collapse the interval to a point whenever the cap binds.</a:t>
            </a:r>
          </a:p>
          <a:p/>
          <a:p>
            <a:r>
              <a:t>Now the divergences, and this is the part to present as a strength. Number one: at training</a:t>
            </a:r>
          </a:p>
          <a:p>
            <a:r>
              <a:t>time the gate's second input is the real ERA5 cloud fraction; at serving time it is computed</a:t>
            </a:r>
          </a:p>
          <a:p>
            <a:r>
              <a:t>as one minus the clear-sky index. So in deployment two of the four gate inputs are</a:t>
            </a:r>
          </a:p>
          <a:p>
            <a:r>
              <a:t>deterministically related, which is not the function the gate was trained on. Number two is</a:t>
            </a:r>
          </a:p>
          <a:p>
            <a:r>
              <a:t>probably worse: training used twenty-four consecutive daylight rows, spanning about two and a</a:t>
            </a:r>
          </a:p>
          <a:p>
            <a:r>
              <a:t>half days; serving takes twenty-four clock hours, so at a ten in the morning issue time</a:t>
            </a:r>
          </a:p>
          <a:p>
            <a:r>
              <a:t>roughly fourteen of the twenty-four rows are night, with irradiance near zero — a regime that</a:t>
            </a:r>
          </a:p>
          <a:p>
            <a:r>
              <a:t>appears nowhere in training.</a:t>
            </a:r>
          </a:p>
          <a:p/>
          <a:p>
            <a:r>
              <a:t>Both are one-line fixes and both are still open.</a:t>
            </a:r>
          </a:p>
          <a:p/>
          <a:p>
            <a:r>
              <a:t>Now the live evidence table, which is the most interesting thing on the slide. The left block</a:t>
            </a:r>
          </a:p>
          <a:p>
            <a:r>
              <a:t>is eight daily forecasts from the twelfth to the nineteenth of August, verified over</a:t>
            </a:r>
          </a:p>
          <a:p>
            <a:r>
              <a:t>twenty-four hours, all issued before the tile-validation and three-frame fixes landed on the</a:t>
            </a:r>
          </a:p>
          <a:p>
            <a:r>
              <a:t>twentieth. The mean absolute error is 79.4 W/m2, which sounds respectable — and it is</a:t>
            </a:r>
          </a:p>
          <a:p>
            <a:r>
              <a:t>completely misleading. Look at the two standard-deviation columns: the forecast varied by</a:t>
            </a:r>
          </a:p>
          <a:p>
            <a:r>
              <a:t>about twenty-five W/m2 while the outcome varied by about seventy. The model was emitting a</a:t>
            </a:r>
          </a:p>
          <a:p>
            <a:r>
              <a:t>nearly constant number. And the correlation between forecast and outcome is negative at every</a:t>
            </a:r>
          </a:p>
          <a:p>
            <a:r>
              <a:t>horizon, minus 0.66, minus 0.74, minus 0.49. A forecast that moves opposite to the outcome has</a:t>
            </a:r>
          </a:p>
          <a:p>
            <a:r>
              <a:t>no skill at all; the low MAE came from a calm week, not from accuracy. Coverage was one</a:t>
            </a:r>
          </a:p>
          <a:p>
            <a:r>
              <a:t>hundred percent, but with a band about 540 W/m2 wide — roughly the mean signal itself.</a:t>
            </a:r>
          </a:p>
          <a:p/>
          <a:p>
            <a:r>
              <a:t>That is what a broken deployment looks like from the outside, and it is why I insist on</a:t>
            </a:r>
          </a:p>
          <a:p>
            <a:r>
              <a:t>reporting interval width next to coverage and correlation next to MAE.</a:t>
            </a:r>
          </a:p>
          <a:p/>
          <a:p>
            <a:r>
              <a:t>The right block is the first post-fix issue time, this morning at eight. All three horizons</a:t>
            </a:r>
          </a:p>
          <a:p>
            <a:r>
              <a:t>landed inside the ninety percent band, and all three were low by seventy-seven to a hundred</a:t>
            </a:r>
          </a:p>
          <a:p>
            <a:r>
              <a:t>and twenty-three W/m2. Three verified hours. I will not draw a conclusion from that, and I say</a:t>
            </a:r>
          </a:p>
          <a:p>
            <a:r>
              <a:t>so on the slide. What I will say is that the diagnosis is complete and the instrumentation is</a:t>
            </a:r>
          </a:p>
          <a:p>
            <a:r>
              <a:t>now in place to measure the fix — a fortnight of corrected forecasts is the first item of</a:t>
            </a:r>
          </a:p>
          <a:p>
            <a:r>
              <a:t>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parameter table is the argument, so walk down it rather than reading it out. Fifteen and</a:t>
            </a:r>
          </a:p>
          <a:p>
            <a:r>
              <a:t>a half million parameters, of which ninety-three percent are the two image encoders. The</a:t>
            </a:r>
          </a:p>
          <a:p>
            <a:r>
              <a:t>physics gate — the conceptual centrepiece of the architecture — is one hundred and ninety-three</a:t>
            </a:r>
          </a:p>
          <a:p>
            <a:r>
              <a:t>parameters. The entire fusion and prediction path is about 1.1 million. So the model is,</a:t>
            </a:r>
          </a:p>
          <a:p>
            <a:r>
              <a:t>by mass, almost entirely an image feature extractor for a branch that slide 13 shows makes</a:t>
            </a:r>
          </a:p>
          <a:p>
            <a:r>
              <a:t>the forecast worse.</a:t>
            </a:r>
          </a:p>
          <a:p/>
          <a:p>
            <a:r>
              <a:t>On timing: I measured 755 milliseconds per forecast on CPU at batch one, in float32, on this</a:t>
            </a:r>
          </a:p>
          <a:p>
            <a:r>
              <a:t>machine — that is a measurement I took for this deck, not a repository number, and I label it</a:t>
            </a:r>
          </a:p>
          <a:p>
            <a:r>
              <a:t>that way. LightGBM does the same job in under five milliseconds. For an hourly forecast</a:t>
            </a:r>
          </a:p>
          <a:p>
            <a:r>
              <a:t>neither latency is a constraint; nobody cares about 750 milliseconds once an hour. The</a:t>
            </a:r>
          </a:p>
          <a:p>
            <a:r>
              <a:t>meaningful trade-off is not latency, it is accuracy per parameter, and there the trees win</a:t>
            </a:r>
          </a:p>
          <a:p>
            <a:r>
              <a:t>outright.</a:t>
            </a:r>
          </a:p>
          <a:p/>
          <a:p>
            <a:r>
              <a:t>On reproducibility, make the strong claim precisely. I did not simply assert that the results</a:t>
            </a:r>
          </a:p>
          <a:p>
            <a:r>
              <a:t>reproduce — I re-derived the entire pipeline independently from the CSV and the committed</a:t>
            </a:r>
          </a:p>
          <a:p>
            <a:r>
              <a:t>checkpoints, and recovered the split sizes exactly, the normalisation statistics exactly, and</a:t>
            </a:r>
          </a:p>
          <a:p>
            <a:r>
              <a:t>all six test MAEs to within one percent. The residual difference is that training and the</a:t>
            </a:r>
          </a:p>
          <a:p>
            <a:r>
              <a:t>original evaluation ran under fp16 autocast while my reproduction ran fp32. That is in</a:t>
            </a:r>
          </a:p>
          <a:p>
            <a:r>
              <a:t>appendix A4 with the numbers side by side.</a:t>
            </a:r>
          </a:p>
          <a:p/>
          <a:p>
            <a:r>
              <a:t>Then be equally precise about what does not reproduce. Seeds are set, but cuDNN benchmark mode</a:t>
            </a:r>
          </a:p>
          <a:p>
            <a:r>
              <a:t>and TF32 are on and dataloader workers are not seeded, so runs are not bit-identical — worth</a:t>
            </a:r>
          </a:p>
          <a:p>
            <a:r>
              <a:t>about 4.5 W/m2. And the data directory is gitignored, so the exact CSV behind the checkpoints</a:t>
            </a:r>
          </a:p>
          <a:p>
            <a:r>
              <a:t>is not tracked. Both are stated as defects with named fixes rather than glossed over.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soften anything here, and do not let the tone become apologetic either. The correct</a:t>
            </a:r>
          </a:p>
          <a:p>
            <a:r>
              <a:t>register is: I know exactly what this project does and does not establish.</a:t>
            </a:r>
          </a:p>
          <a:p/>
          <a:p>
            <a:r>
              <a:t>The first three are the ones that could sink a defence if an examiner raised them before I</a:t>
            </a:r>
          </a:p>
          <a:p>
            <a:r>
              <a:t>did, so I raise them. One: there is no clean held-out test set — the reported one collapsed</a:t>
            </a:r>
          </a:p>
          <a:p>
            <a:r>
              <a:t>and I am reporting on validation rows that also drove early stopping, which makes the numbers</a:t>
            </a:r>
          </a:p>
          <a:p>
            <a:r>
              <a:t>optimistic. Two: one seed per variant, and my measured run-to-run noise is 4.5 W/m2, which is</a:t>
            </a:r>
          </a:p>
          <a:p>
            <a:r>
              <a:t>the same order as several of the differences I discuss. Three: the evaluation window is a</a:t>
            </a:r>
          </a:p>
          <a:p>
            <a:r>
              <a:t>single monsoon season.</a:t>
            </a:r>
          </a:p>
          <a:p/>
          <a:p>
            <a:r>
              <a:t>If asked "so which of your conclusions survive all that?" — I have a prepared answer. The</a:t>
            </a:r>
          </a:p>
          <a:p>
            <a:r>
              <a:t>skill-against-persistence result survives: it is large, consistent across every model and</a:t>
            </a:r>
          </a:p>
          <a:p>
            <a:r>
              <a:t>every horizon, and robust to the eight percent optimism from the overnight-gap defect. The</a:t>
            </a:r>
          </a:p>
          <a:p>
            <a:r>
              <a:t>direction of the imagery result survives: it is consistent across four architectures, three</a:t>
            </a:r>
          </a:p>
          <a:p>
            <a:r>
              <a:t>horizons, two sample sizes and a paired significance test. What does not survive is any</a:t>
            </a:r>
          </a:p>
          <a:p>
            <a:r>
              <a:t>precise magnitude — I will not defend "the image branch costs 3.9 W/m2", only "the image</a:t>
            </a:r>
          </a:p>
          <a:p>
            <a:r>
              <a:t>branch does not help in this data regime."</a:t>
            </a:r>
          </a:p>
          <a:p/>
          <a:p>
            <a:r>
              <a:t>The clear-sky convention item is worth dwelling on if there is time, because it is a genuine</a:t>
            </a:r>
          </a:p>
          <a:p>
            <a:r>
              <a:t>physics bug and finding it required looking at the data rather than the code. The maximum</a:t>
            </a:r>
          </a:p>
          <a:p>
            <a:r>
              <a:t>observed clear-sky index should cap near one at every hour. Instead it drifts from 0.69 in the</a:t>
            </a:r>
          </a:p>
          <a:p>
            <a:r>
              <a:t>morning to 1.43 in the late afternoon. That monotone drift is the fingerprint of dividing an</a:t>
            </a:r>
          </a:p>
          <a:p>
            <a:r>
              <a:t>hourly-mean irradiance by an instantaneous clear-sky value: with the sun rising, the</a:t>
            </a:r>
          </a:p>
          <a:p>
            <a:r>
              <a:t>instantaneous value exceeds the hourly mean and the ratio is suppressed; with the sun setting,</a:t>
            </a:r>
          </a:p>
          <a:p>
            <a:r>
              <a:t>the reverse. The corrected hour-mean function exists in the codebase and is used for the</a:t>
            </a:r>
          </a:p>
          <a:p>
            <a:r>
              <a:t>deployment cap, but the dataset column was never rebuilt with it — so the clear-sky index</a:t>
            </a:r>
          </a:p>
          <a:p>
            <a:r>
              <a:t>feature and the gate's first input both carry the bias. Fixing it means rebuilding the dataset</a:t>
            </a:r>
          </a:p>
          <a:p>
            <a:r>
              <a:t>and retraining everything, which is exactly why it is future work rather than a quick patch.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separating what I built from what I discovered, and by being precise about novelty.</a:t>
            </a:r>
          </a:p>
          <a:p/>
          <a:p>
            <a:r>
              <a:t>On contributions, the honest framing is: no new algorithm. Every component — BiLSTM with</a:t>
            </a:r>
          </a:p>
          <a:p>
            <a:r>
              <a:t>attention pooling, EfficientNet encoders, multi-head cross-attention, a gating MLP, a Gaussian</a:t>
            </a:r>
          </a:p>
          <a:p>
            <a:r>
              <a:t>NLL head — is standard and cited. What is mine is the assembly, the physical conditioning of</a:t>
            </a:r>
          </a:p>
          <a:p>
            <a:r>
              <a:t>the gate, the evaluation protocol, the deployment, and the analysis of why the assembly did</a:t>
            </a:r>
          </a:p>
          <a:p>
            <a:r>
              <a:t>not work. If an examiner asks "what is novel here?", I answer that directly rather than</a:t>
            </a:r>
          </a:p>
          <a:p>
            <a:r>
              <a:t>inflating it: the novelty is modest and lies in the integration and the rigour, and the most</a:t>
            </a:r>
          </a:p>
          <a:p>
            <a:r>
              <a:t>valuable output is a carefully established negative result plus a mechanistic explanation for</a:t>
            </a:r>
          </a:p>
          <a:p>
            <a:r>
              <a:t>it.</a:t>
            </a:r>
          </a:p>
          <a:p/>
          <a:p>
            <a:r>
              <a:t>Conclusion six is the one I would most want them to remember, because it is the transferable</a:t>
            </a:r>
          </a:p>
          <a:p>
            <a:r>
              <a:t>lesson: the evaluation design mattered more than any architectural decision I made. Changing</a:t>
            </a:r>
          </a:p>
          <a:p>
            <a:r>
              <a:t>the sample size from eighteen to nine hundred and fourteen reordered the model ranking</a:t>
            </a:r>
          </a:p>
          <a:p>
            <a:r>
              <a:t>completely; no architectural change in the whole grid moved performance nearly as much.</a:t>
            </a:r>
          </a:p>
          <a:p/>
          <a:p>
            <a:r>
              <a:t>On future work, be concrete about cost so it reads as a plan rather than a wish list. Fixing</a:t>
            </a:r>
          </a:p>
          <a:p>
            <a:r>
              <a:t>the split is one line plus about an hour of GPU. Seed replication is six GPU-hours. The dataset</a:t>
            </a:r>
          </a:p>
          <a:p>
            <a:r>
              <a:t>rebuild with the corrected clear-sky convention is the expensive one because it invalidates</a:t>
            </a:r>
          </a:p>
          <a:p>
            <a:r>
              <a:t>every number and requires a full retrain, which is exactly why it should be done once and</a:t>
            </a:r>
          </a:p>
          <a:p>
            <a:r>
              <a:t>deliberately rather than piecemeal.</a:t>
            </a:r>
          </a:p>
          <a:p/>
          <a:p>
            <a:r>
              <a:t>If asked the classic closing question — what would you do with another six months — my answer</a:t>
            </a:r>
          </a:p>
          <a:p>
            <a:r>
              <a:t>is: not a bigger model. I would fix the evaluation, add seeds, rebuild the dataset on a</a:t>
            </a:r>
          </a:p>
          <a:p>
            <a:r>
              <a:t>continuous hourly index, and then test the one hypothesis this project actually generated,</a:t>
            </a:r>
          </a:p>
          <a:p>
            <a:r>
              <a:t>which is that imagery helps only in the overcast regime and should be gated on that regime</a:t>
            </a:r>
          </a:p>
          <a:p>
            <a:r>
              <a:t>rather than blended in everywhere.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cite what the implementation actually uses. Every method reference on this slide</a:t>
            </a:r>
          </a:p>
          <a:p>
            <a:r>
              <a:t>corresponds to a component that is in the code: timm's EfficientNet, PyTorch's</a:t>
            </a:r>
          </a:p>
          <a:p>
            <a:r>
              <a:t>MultiheadAttention and LSTM, OpenCV's Farneback implementation, pvlib's Ineichen clear-sky</a:t>
            </a:r>
          </a:p>
          <a:p>
            <a:r>
              <a:t>model, LightGBM and scikit-learn's random forest, AdamW.</a:t>
            </a:r>
          </a:p>
          <a:p/>
          <a:p>
            <a:r>
              <a:t>Be ready to distinguish two categories if asked. External background: the papers that define</a:t>
            </a:r>
          </a:p>
          <a:p>
            <a:r>
              <a:t>the methods I used. Project implementation: how they are wired together in model.py. I do not</a:t>
            </a:r>
          </a:p>
          <a:p>
            <a:r>
              <a:t>claim to have implemented the papers — I used the library implementations, and the SWIMSEG</a:t>
            </a:r>
          </a:p>
          <a:p>
            <a:r>
              <a:t>pretraining stage is the one place where I built something on top of a published dataset</a:t>
            </a:r>
          </a:p>
          <a:p>
            <a:r>
              <a:t>rather than just calling a library.</a:t>
            </a:r>
          </a:p>
          <a:p/>
          <a:p>
            <a:r>
              <a:t>The evaluation references matter more than they look. Diebold-Mariano with the</a:t>
            </a:r>
          </a:p>
          <a:p>
            <a:r>
              <a:t>Harvey-Leybourne-Newbold correction is what licenses the significance claims on slide 13, and</a:t>
            </a:r>
          </a:p>
          <a:p>
            <a:r>
              <a:t>Marquez and Coimbra is the standard reference for how skill scores should be reported in solar</a:t>
            </a:r>
          </a:p>
          <a:p>
            <a:r>
              <a:t>forecasting — that is why skill against smart persistence, not against a naive mean, is the</a:t>
            </a:r>
          </a:p>
          <a:p>
            <a:r>
              <a:t>headline metric throughout.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exists so that any technical claim in the deck can be traced to a file, a class</a:t>
            </a:r>
          </a:p>
          <a:p>
            <a:r>
              <a:t>and a function in under ten seconds. If an examiner asks "where is that in the code?", turn to</a:t>
            </a:r>
          </a:p>
          <a:p>
            <a:r>
              <a:t>this slide rather than describing from memory.</a:t>
            </a:r>
          </a:p>
          <a:p/>
          <a:p>
            <a:r>
              <a:t>The rows most likely to be probed: model.py lines 262 to 399 for the architecture and the</a:t>
            </a:r>
          </a:p>
          <a:p>
            <a:r>
              <a:t>ablation switches; cell 19 of the notebook for the dataset class, where valid_indices is</a:t>
            </a:r>
          </a:p>
          <a:p>
            <a:r>
              <a:t>built and where the split defect on slide 10 originates; cell 23 for the training loop and the</a:t>
            </a:r>
          </a:p>
          <a:p>
            <a:r>
              <a:t>epoch-20 unfreeze; cell 25 for the experiment grid.</a:t>
            </a:r>
          </a:p>
          <a:p/>
          <a:p>
            <a:r>
              <a:t>The last row is worth knowing cold. save_checkpoint writes a .config.json sidecar alongside</a:t>
            </a:r>
          </a:p>
          <a:p>
            <a:r>
              <a:t>every checkpoint because the number of attention heads cannot be recovered from tensor shapes —</a:t>
            </a:r>
          </a:p>
          <a:p>
            <a:r>
              <a:t>a model loaded with the wrong head count produces silently wrong predictions rather than an</a:t>
            </a:r>
          </a:p>
          <a:p>
            <a:r>
              <a:t>error. That is the kind of failure mode that never shows up in a validation metric, which is</a:t>
            </a:r>
          </a:p>
          <a:p>
            <a:r>
              <a:t>why it is handled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Rehearse these until the answers are one breath each; a hesitant answer on the architecture</a:t>
            </a:r>
          </a:p>
          <a:p>
            <a:r>
              <a:t>reads worse than a wrong number.</a:t>
            </a:r>
          </a:p>
          <a:p/>
          <a:p>
            <a:r>
              <a:t>Two of these deserve extra care.</a:t>
            </a:r>
          </a:p>
          <a:p/>
          <a:p>
            <a:r>
              <a:t>The leakage question, because examiners always ask it and because there is a real partial</a:t>
            </a:r>
          </a:p>
          <a:p>
            <a:r>
              <a:t>answer here. Future clear-sky is not leakage: it is solar geometry, computable years in</a:t>
            </a:r>
          </a:p>
          <a:p>
            <a:r>
              <a:t>advance, and every operational solar forecast uses it. But I volunteer the genuine caveat</a:t>
            </a:r>
          </a:p>
          <a:p>
            <a:r>
              <a:t>rather than claiming perfection: the 24-step lookback window at the very start of the</a:t>
            </a:r>
          </a:p>
          <a:p>
            <a:r>
              <a:t>validation split reaches back across the boundary into training rows. That affects the first</a:t>
            </a:r>
          </a:p>
          <a:p>
            <a:r>
              <a:t>twenty-four validation samples — 2.6 percent of the split — and I would fix it with a</a:t>
            </a:r>
          </a:p>
          <a:p>
            <a:r>
              <a:t>guard band of twenty-four rows at each boundary. Volunteering that buys far more credibility</a:t>
            </a:r>
          </a:p>
          <a:p>
            <a:r>
              <a:t>than a flat "no leakage."</a:t>
            </a:r>
          </a:p>
          <a:p/>
          <a:p>
            <a:r>
              <a:t>The query-design question, because it exposes an architectural consequence I had to correct.</a:t>
            </a:r>
          </a:p>
          <a:p>
            <a:r>
              <a:t>Making the BiLSTM state the attention query means the image branch cannot be evaluated</a:t>
            </a:r>
          </a:p>
          <a:p>
            <a:r>
              <a:t>independently — there is no configuration of this model that uses imagery alone. That is why</a:t>
            </a:r>
          </a:p>
          <a:p>
            <a:r>
              <a:t>the ablation labelled CNN-only in the code is mislabelled, and why I renamed it throughout the</a:t>
            </a:r>
          </a:p>
          <a:p>
            <a:r>
              <a:t>deck. If I wanted a true image-only variant I would pool the patches with a learned constant</a:t>
            </a:r>
          </a:p>
          <a:p>
            <a:r>
              <a:t>query.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questions here that can turn hostile are the validation-split question and the</a:t>
            </a:r>
          </a:p>
          <a:p>
            <a:r>
              <a:t>fairness question. Answer both with the same posture: acknowledge the weakness precisely, then</a:t>
            </a:r>
          </a:p>
          <a:p>
            <a:r>
              <a:t>show the reasoning.</a:t>
            </a:r>
          </a:p>
          <a:p/>
          <a:p>
            <a:r>
              <a:t>On reporting validation rather than test: do not be defensive. The choice is between a clean</a:t>
            </a:r>
          </a:p>
          <a:p>
            <a:r>
              <a:t>estimate on eighteen samples and a contaminated estimate on nine hundred and fourteen. An</a:t>
            </a:r>
          </a:p>
          <a:p>
            <a:r>
              <a:t>eighteen-sample MAE has a confidence interval so wide it cannot distinguish any two models in</a:t>
            </a:r>
          </a:p>
          <a:p>
            <a:r>
              <a:t>the grid — I can show that the ranking literally inverts. The contamination in the validation</a:t>
            </a:r>
          </a:p>
          <a:p>
            <a:r>
              <a:t>set is early stopping and checkpoint selection, which biases the absolute numbers optimistically</a:t>
            </a:r>
          </a:p>
          <a:p>
            <a:r>
              <a:t>but applies equally to every deep variant, so the comparison between them remains meaningful.</a:t>
            </a:r>
          </a:p>
          <a:p>
            <a:r>
              <a:t>And note it does not apply at all to the tabular baselines, which never saw those rows in any</a:t>
            </a:r>
          </a:p>
          <a:p>
            <a:r>
              <a:t>form — if anything that biases the comparison against my own deep models, which makes the</a:t>
            </a:r>
          </a:p>
          <a:p>
            <a:r>
              <a:t>LightGBM result conservative.</a:t>
            </a:r>
          </a:p>
          <a:p/>
          <a:p>
            <a:r>
              <a:t>On fairness to LightGBM: the honest position is that the comparison favours the deep models on</a:t>
            </a:r>
          </a:p>
          <a:p>
            <a:r>
              <a:t>information. LightGBM gets fourteen features at a single time step. The deep models get</a:t>
            </a:r>
          </a:p>
          <a:p>
            <a:r>
              <a:t>twenty-four hours of history plus four image tensors plus the same clear-sky information. They</a:t>
            </a:r>
          </a:p>
          <a:p>
            <a:r>
              <a:t>still lose at t+1h. That is not an unfair comparison; it is a decisive one.</a:t>
            </a:r>
          </a:p>
          <a:p/>
          <a:p>
            <a:r>
              <a:t>On hyperparameters, do not pretend there was a search. There was not. Say it plainly and name</a:t>
            </a:r>
          </a:p>
          <a:p>
            <a:r>
              <a:t>it as a limitation.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is the answer to "how do I know any of this is true?" and to "did you check</a:t>
            </a:r>
          </a:p>
          <a:p>
            <a:r>
              <a:t>your own documentation against your own code?".</a:t>
            </a:r>
          </a:p>
          <a:p/>
          <a:p>
            <a:r>
              <a:t>On reproduction, state the method before the result: I re-implemented the notebook's data</a:t>
            </a:r>
          </a:p>
          <a:p>
            <a:r>
              <a:t>pipeline independently from the committed CSV and checkpoints, ran it in float32, and compared.</a:t>
            </a:r>
          </a:p>
          <a:p>
            <a:r>
              <a:t>The split sizes came out identical — 6,675, 914 and 18 — the normalisation statistics matched</a:t>
            </a:r>
          </a:p>
          <a:p>
            <a:r>
              <a:t>train_stats.json, and all six test MAEs landed within one percent of the committed values. The</a:t>
            </a:r>
          </a:p>
          <a:p>
            <a:r>
              <a:t>gap is fp16 autocast in the original evaluation versus fp32 in mine.</a:t>
            </a:r>
          </a:p>
          <a:p/>
          <a:p>
            <a:r>
              <a:t>The trap in the middle of that slide is worth mentioning aloud because it is a good story</a:t>
            </a:r>
          </a:p>
          <a:p>
            <a:r>
              <a:t>about silent failure. My first reproduction attempt gave the weather-only model exactly right</a:t>
            </a:r>
          </a:p>
          <a:p>
            <a:r>
              <a:t>and every image-using model wrong by up to forty-six W/m2. The reason: the notebook converts</a:t>
            </a:r>
          </a:p>
          <a:p>
            <a:r>
              <a:t>its cached image tensors to grayscale, but the cache on this machine still held the older RGB</a:t>
            </a:r>
          </a:p>
          <a:p>
            <a:r>
              <a:t>version. The weather-only variant matched because it never touches the image branch — which is</a:t>
            </a:r>
          </a:p>
          <a:p>
            <a:r>
              <a:t>how I localised the problem in one step. It is a small illustration of the same theme as slide</a:t>
            </a:r>
          </a:p>
          <a:p>
            <a:r>
              <a:t>17: image inputs fail silently, and only a differential test catches it.</a:t>
            </a:r>
          </a:p>
          <a:p/>
          <a:p>
            <a:r>
              <a:t>The right-hand column is deliberate. I went looking for places where my own comments and</a:t>
            </a:r>
          </a:p>
          <a:p>
            <a:r>
              <a:t>docstrings disagree with my own code, and I found six. The rule I applied is that the</a:t>
            </a:r>
          </a:p>
          <a:p>
            <a:r>
              <a:t>implementation is the source of truth and the documentation is the thing that is wrong. The</a:t>
            </a:r>
          </a:p>
          <a:p>
            <a:r>
              <a:t>most important one is the stale docstring claiming version one is deployed when all six</a:t>
            </a:r>
          </a:p>
          <a:p>
            <a:r>
              <a:t>checkpoints are version two. None of these change a result; all of them would embarrass me if</a:t>
            </a:r>
          </a:p>
          <a:p>
            <a:r>
              <a:t>an examiner found them first.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this appendix out if anyone asks about the clear-sky model, about feature engineering,</a:t>
            </a:r>
          </a:p>
          <a:p>
            <a:r>
              <a:t>or about what I found that a code review would not.</a:t>
            </a:r>
          </a:p>
          <a:p/>
          <a:p>
            <a:r>
              <a:t>This one was found by interrogating the data, not the code. The clear-sky index is bounded</a:t>
            </a:r>
          </a:p>
          <a:p>
            <a:r>
              <a:t>above by roughly one — a little above one under cloud-edge enhancement, which is a real</a:t>
            </a:r>
          </a:p>
          <a:p>
            <a:r>
              <a:t>physical effect. So I tabulated the maximum observed value by hour, expecting a flat line just</a:t>
            </a:r>
          </a:p>
          <a:p>
            <a:r>
              <a:t>above one. Instead it ramps monotonically from 0.69 in the morning to 1.43 in the late</a:t>
            </a:r>
          </a:p>
          <a:p>
            <a:r>
              <a:t>afternoon. Monotone structure like that is never a physical effect; it is a convention error.</a:t>
            </a:r>
          </a:p>
          <a:p/>
          <a:p>
            <a:r>
              <a:t>The explanation is a timestamp-convention mismatch. Open-Meteo stamps each hourly average with</a:t>
            </a:r>
          </a:p>
          <a:p>
            <a:r>
              <a:t>the end of its window, so the value at 14:00 is the mean over the preceding hour. pvlib's</a:t>
            </a:r>
          </a:p>
          <a:p>
            <a:r>
              <a:t>clear-sky function returns the instantaneous value at 14:00. In the morning, when the sun is</a:t>
            </a:r>
          </a:p>
          <a:p>
            <a:r>
              <a:t>climbing, the instantaneous value is larger than the preceding-hour mean, so the ratio is</a:t>
            </a:r>
          </a:p>
          <a:p>
            <a:r>
              <a:t>pushed down. In the afternoon it is smaller, so the ratio is pushed up. That is exactly the</a:t>
            </a:r>
          </a:p>
          <a:p>
            <a:r>
              <a:t>shape in the figure.</a:t>
            </a:r>
          </a:p>
          <a:p/>
          <a:p>
            <a:r>
              <a:t>What makes this worth a slide is where it propagates. The clear-sky index is tabular feature</a:t>
            </a:r>
          </a:p>
          <a:p>
            <a:r>
              <a:t>number one and gate input number one. The clear-sky value itself is another feature, and the</a:t>
            </a:r>
          </a:p>
          <a:p>
            <a:r>
              <a:t>future clear-sky values feed the enrich layer. The smart-persistence baseline is built from</a:t>
            </a:r>
          </a:p>
          <a:p>
            <a:r>
              <a:t>the same ratio. So the bias is everywhere — though, importantly, it is in the baseline too,</a:t>
            </a:r>
          </a:p>
          <a:p>
            <a:r>
              <a:t>which is part of why the skill comparison is more robust than the absolute MAEs.</a:t>
            </a:r>
          </a:p>
          <a:p/>
          <a:p>
            <a:r>
              <a:t>And the sting: the correct function already exists in the codebase. It was written to fix the</a:t>
            </a:r>
          </a:p>
          <a:p>
            <a:r>
              <a:t>deployment physics cap, where the error was most visible near sunrise and sunset, but the</a:t>
            </a:r>
          </a:p>
          <a:p>
            <a:r>
              <a:t>dataset column was never rebuilt with it. Fixing it properly means rebuilding the dataset and</a:t>
            </a:r>
          </a:p>
          <a:p>
            <a:r>
              <a:t>retraining everything, which is why it sits in future work as a deliberate one-time change</a:t>
            </a:r>
          </a:p>
          <a:p>
            <a:r>
              <a:t>rather than a quick patch.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92608" cy="6858000"/>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1005840" y="1234440"/>
            <a:ext cx="10332720" cy="274320"/>
          </a:xfrm>
          <a:prstGeom prst="rect">
            <a:avLst/>
          </a:prstGeom>
          <a:noFill/>
        </p:spPr>
        <p:txBody>
          <a:bodyPr wrap="square" anchor="t" lIns="0" rIns="0" tIns="0" bIns="0">
            <a:spAutoFit/>
          </a:bodyPr>
          <a:lstStyle/>
          <a:p>
            <a:pPr algn="l">
              <a:lnSpc>
                <a:spcPct val="100000"/>
              </a:lnSpc>
            </a:pPr>
            <a:r>
              <a:rPr sz="1200" b="1" i="0">
                <a:solidFill>
                  <a:srgbClr val="C4622D"/>
                </a:solidFill>
                <a:latin typeface="Calibri"/>
              </a:rPr>
              <a:t>MASTER'S PROJECT  ·  COMPUTER ENGINEERING</a:t>
            </a:r>
          </a:p>
        </p:txBody>
      </p:sp>
      <p:sp>
        <p:nvSpPr>
          <p:cNvPr id="4" name="TextBox 3"/>
          <p:cNvSpPr txBox="1"/>
          <p:nvPr/>
        </p:nvSpPr>
        <p:spPr>
          <a:xfrm>
            <a:off x="1005840" y="1691640"/>
            <a:ext cx="10241280" cy="1463040"/>
          </a:xfrm>
          <a:prstGeom prst="rect">
            <a:avLst/>
          </a:prstGeom>
          <a:noFill/>
        </p:spPr>
        <p:txBody>
          <a:bodyPr wrap="square" anchor="t" lIns="0" rIns="0" tIns="0" bIns="0">
            <a:spAutoFit/>
          </a:bodyPr>
          <a:lstStyle/>
          <a:p>
            <a:pPr algn="l">
              <a:lnSpc>
                <a:spcPct val="106000"/>
              </a:lnSpc>
            </a:pPr>
            <a:r>
              <a:rPr sz="3400" b="1" i="0">
                <a:solidFill>
                  <a:srgbClr val="1F3B63"/>
                </a:solidFill>
                <a:latin typeface="Calibri"/>
              </a:rPr>
              <a:t>Physics-Gated Satellite–Weather Fusion for
Short-Horizon Solar Irradiance Forecasting</a:t>
            </a:r>
          </a:p>
        </p:txBody>
      </p:sp>
      <p:cxnSp>
        <p:nvCxnSpPr>
          <p:cNvPr id="5" name="Connector 4"/>
          <p:cNvCxnSpPr/>
          <p:nvPr/>
        </p:nvCxnSpPr>
        <p:spPr>
          <a:xfrm>
            <a:off x="1005840" y="3310128"/>
            <a:ext cx="374904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 y="3520440"/>
            <a:ext cx="10058400" cy="822960"/>
          </a:xfrm>
          <a:prstGeom prst="rect">
            <a:avLst/>
          </a:prstGeom>
          <a:noFill/>
        </p:spPr>
        <p:txBody>
          <a:bodyPr wrap="square" anchor="t" lIns="0" rIns="0" tIns="0" bIns="0">
            <a:spAutoFit/>
          </a:bodyPr>
          <a:lstStyle/>
          <a:p>
            <a:pPr algn="l">
              <a:lnSpc>
                <a:spcPct val="115000"/>
              </a:lnSpc>
            </a:pPr>
            <a:r>
              <a:rPr sz="1450" b="0" i="0">
                <a:solidFill>
                  <a:srgbClr val="252F3D"/>
                </a:solidFill>
                <a:latin typeface="Calibri"/>
              </a:rPr>
              <a:t>Hourly GHI at t+1 h, t+2 h and t+3 h for Singapore, from Himawari-8/9 imagery, ERA5 reanalysis weather and a clear-sky physical prior — trained, ablated, statistically tested and deployed as an automated daily forecast.</a:t>
            </a:r>
          </a:p>
        </p:txBody>
      </p:sp>
      <p:sp>
        <p:nvSpPr>
          <p:cNvPr id="7" name="Rectangle 6"/>
          <p:cNvSpPr/>
          <p:nvPr/>
        </p:nvSpPr>
        <p:spPr>
          <a:xfrm>
            <a:off x="1005840" y="4617720"/>
            <a:ext cx="2331720" cy="310896"/>
          </a:xfrm>
          <a:prstGeom prst="rect">
            <a:avLst/>
          </a:prstGeom>
          <a:solidFill>
            <a:srgbClr val="ECEF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1F3B63"/>
                </a:solidFill>
                <a:latin typeface="Calibri"/>
              </a:rPr>
              <a:t>15.5 M-parameter model</a:t>
            </a:r>
          </a:p>
        </p:txBody>
      </p:sp>
      <p:sp>
        <p:nvSpPr>
          <p:cNvPr id="8" name="Rectangle 7"/>
          <p:cNvSpPr/>
          <p:nvPr/>
        </p:nvSpPr>
        <p:spPr>
          <a:xfrm>
            <a:off x="3456432" y="4617720"/>
            <a:ext cx="2148840" cy="310896"/>
          </a:xfrm>
          <a:prstGeom prst="rect">
            <a:avLst/>
          </a:prstGeom>
          <a:solidFill>
            <a:srgbClr val="ECEF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1F3B63"/>
                </a:solidFill>
                <a:latin typeface="Calibri"/>
              </a:rPr>
              <a:t>9,590 hourly rows</a:t>
            </a:r>
          </a:p>
        </p:txBody>
      </p:sp>
      <p:sp>
        <p:nvSpPr>
          <p:cNvPr id="9" name="Rectangle 8"/>
          <p:cNvSpPr/>
          <p:nvPr/>
        </p:nvSpPr>
        <p:spPr>
          <a:xfrm>
            <a:off x="5724144" y="4617720"/>
            <a:ext cx="2286000" cy="310896"/>
          </a:xfrm>
          <a:prstGeom prst="rect">
            <a:avLst/>
          </a:prstGeom>
          <a:solidFill>
            <a:srgbClr val="ECEF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1F3B63"/>
                </a:solidFill>
                <a:latin typeface="Calibri"/>
              </a:rPr>
              <a:t>7,659 satellite frames</a:t>
            </a:r>
          </a:p>
        </p:txBody>
      </p:sp>
      <p:sp>
        <p:nvSpPr>
          <p:cNvPr id="10" name="Rectangle 9"/>
          <p:cNvSpPr/>
          <p:nvPr/>
        </p:nvSpPr>
        <p:spPr>
          <a:xfrm>
            <a:off x="8129016" y="4617720"/>
            <a:ext cx="2651760" cy="310896"/>
          </a:xfrm>
          <a:prstGeom prst="rect">
            <a:avLst/>
          </a:prstGeom>
          <a:solidFill>
            <a:srgbClr val="ECEF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1F3B63"/>
                </a:solidFill>
                <a:latin typeface="Calibri"/>
              </a:rPr>
              <a:t>6 trained variants + 5 baselines</a:t>
            </a:r>
          </a:p>
        </p:txBody>
      </p:sp>
      <p:sp>
        <p:nvSpPr>
          <p:cNvPr id="11" name="TextBox 10"/>
          <p:cNvSpPr txBox="1"/>
          <p:nvPr/>
        </p:nvSpPr>
        <p:spPr>
          <a:xfrm>
            <a:off x="1005840" y="5349240"/>
            <a:ext cx="10058400" cy="548640"/>
          </a:xfrm>
          <a:prstGeom prst="rect">
            <a:avLst/>
          </a:prstGeom>
          <a:noFill/>
        </p:spPr>
        <p:txBody>
          <a:bodyPr wrap="square" anchor="t" lIns="0" rIns="0" tIns="0" bIns="0">
            <a:spAutoFit/>
          </a:bodyPr>
          <a:lstStyle/>
          <a:p>
            <a:pPr algn="l">
              <a:lnSpc>
                <a:spcPct val="100000"/>
              </a:lnSpc>
            </a:pPr>
            <a:r>
              <a:rPr sz="1300" b="0" i="0">
                <a:solidFill>
                  <a:srgbClr val="252F3D"/>
                </a:solidFill>
                <a:latin typeface="Calibri"/>
              </a:rPr>
              <a:t>Presented for the M.Eng. project viva  ·  21 August 2026</a:t>
            </a:r>
          </a:p>
        </p:txBody>
      </p:sp>
      <p:sp>
        <p:nvSpPr>
          <p:cNvPr id="12" name="TextBox 11"/>
          <p:cNvSpPr txBox="1"/>
          <p:nvPr/>
        </p:nvSpPr>
        <p:spPr>
          <a:xfrm>
            <a:off x="1005840" y="5806440"/>
            <a:ext cx="10058400" cy="548640"/>
          </a:xfrm>
          <a:prstGeom prst="rect">
            <a:avLst/>
          </a:prstGeom>
          <a:noFill/>
        </p:spPr>
        <p:txBody>
          <a:bodyPr wrap="square" anchor="t" lIns="0" rIns="0" tIns="0" bIns="0">
            <a:spAutoFit/>
          </a:bodyPr>
          <a:lstStyle/>
          <a:p>
            <a:pPr algn="l">
              <a:lnSpc>
                <a:spcPct val="100000"/>
              </a:lnSpc>
            </a:pPr>
            <a:r>
              <a:rPr sz="1050" b="0" i="1">
                <a:solidFill>
                  <a:srgbClr val="6B7280"/>
                </a:solidFill>
                <a:latin typeface="Calibri"/>
              </a:rPr>
              <a:t>Every figure and table in this deck was regenerated from the repository during preparation; the reproduction procedure and its agreement with the committed results are documented in Appendix A4.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PROBLEM &amp; MOTIVATION</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Forecasting irradiance where clouds move faster than the grid</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a:t>
            </a:r>
          </a:p>
        </p:txBody>
      </p:sp>
      <p:sp>
        <p:nvSpPr>
          <p:cNvPr id="8" name="TextBox 7"/>
          <p:cNvSpPr txBox="1"/>
          <p:nvPr/>
        </p:nvSpPr>
        <p:spPr>
          <a:xfrm>
            <a:off x="502920" y="1298448"/>
            <a:ext cx="6720840" cy="4754880"/>
          </a:xfrm>
          <a:prstGeom prst="rect">
            <a:avLst/>
          </a:prstGeom>
          <a:noFill/>
        </p:spPr>
        <p:txBody>
          <a:bodyPr wrap="square" lIns="0" rIns="0" tIns="0" bIns="0">
            <a:spAutoFit/>
          </a:bodyPr>
          <a:lstStyle/>
          <a:p>
            <a:pPr>
              <a:lnSpc>
                <a:spcPct val="106000"/>
              </a:lnSpc>
              <a:spcBef>
                <a:spcPts val="0"/>
              </a:spcBef>
              <a:spcAft>
                <a:spcPts val="700"/>
              </a:spcAft>
            </a:pPr>
            <a:r>
              <a:rPr sz="1320" b="1" i="0">
                <a:solidFill>
                  <a:srgbClr val="1F3B63"/>
                </a:solidFill>
                <a:latin typeface="Calibri"/>
              </a:rPr>
              <a:t>The problem.  </a:t>
            </a:r>
            <a:r>
              <a:rPr sz="1320" b="0" i="0">
                <a:solidFill>
                  <a:srgbClr val="252F3D"/>
                </a:solidFill>
                <a:latin typeface="Calibri"/>
              </a:rPr>
              <a:t>Predict global horizontal irradiance (GHI, W/m²) over Singapore at t+1 h, t+2 h and t+3 h from data available at issue time — the horizon that matters for unit commitment, reserve sizing and storage dispatch.</a:t>
            </a:r>
          </a:p>
          <a:p>
            <a:pPr>
              <a:lnSpc>
                <a:spcPct val="106000"/>
              </a:lnSpc>
              <a:spcBef>
                <a:spcPts val="0"/>
              </a:spcBef>
              <a:spcAft>
                <a:spcPts val="700"/>
              </a:spcAft>
            </a:pPr>
            <a:r>
              <a:rPr sz="1320" b="1" i="0">
                <a:solidFill>
                  <a:srgbClr val="1F3B63"/>
                </a:solidFill>
                <a:latin typeface="Calibri"/>
              </a:rPr>
              <a:t>Why it is hard here.  </a:t>
            </a:r>
            <a:r>
              <a:rPr sz="1320" b="0" i="0">
                <a:solidFill>
                  <a:srgbClr val="252F3D"/>
                </a:solidFill>
                <a:latin typeface="Calibri"/>
              </a:rPr>
              <a:t>Singapore is equatorial and convective. In the assembled dataset the mean cloud cover is 85.6% and 54% of daylight hours record rain, yet mean GHI is still 481 W/m². Irradiance is not low — it is volatile.</a:t>
            </a:r>
          </a:p>
          <a:p>
            <a:pPr>
              <a:lnSpc>
                <a:spcPct val="106000"/>
              </a:lnSpc>
              <a:spcBef>
                <a:spcPts val="0"/>
              </a:spcBef>
              <a:spcAft>
                <a:spcPts val="400"/>
              </a:spcAft>
            </a:pPr>
            <a:r>
              <a:rPr sz="1320" b="1" i="0">
                <a:solidFill>
                  <a:srgbClr val="1F3B63"/>
                </a:solidFill>
                <a:latin typeface="Calibri"/>
              </a:rPr>
              <a:t>Why persistence is not enough.  </a:t>
            </a:r>
            <a:r>
              <a:rPr sz="1320" b="0" i="0">
                <a:solidFill>
                  <a:srgbClr val="252F3D"/>
                </a:solidFill>
                <a:latin typeface="Calibri"/>
              </a:rPr>
              <a:t>Clear-sky persistence — the standard operational reference — degrades quickly with horizon because it assumes today's cloud state simply follows the sun:</a:t>
            </a:r>
          </a:p>
        </p:txBody>
      </p:sp>
      <p:graphicFrame>
        <p:nvGraphicFramePr>
          <p:cNvPr id="9" name="Table 8"/>
          <p:cNvGraphicFramePr>
            <a:graphicFrameLocks noGrp="1"/>
          </p:cNvGraphicFramePr>
          <p:nvPr/>
        </p:nvGraphicFramePr>
        <p:xfrm>
          <a:off x="658368" y="3401568"/>
          <a:ext cx="6309360" cy="749808"/>
        </p:xfrm>
        <a:graphic>
          <a:graphicData uri="http://schemas.openxmlformats.org/drawingml/2006/table">
            <a:tbl>
              <a:tblPr bandRow="1"/>
              <a:tblGrid>
                <a:gridCol w="2628900"/>
                <a:gridCol w="876300"/>
                <a:gridCol w="876300"/>
                <a:gridCol w="876300"/>
                <a:gridCol w="1051560"/>
              </a:tblGrid>
              <a:tr h="274320">
                <a:tc>
                  <a:txBody>
                    <a:bodyPr/>
                    <a:lstStyle/>
                    <a:p>
                      <a:pPr algn="l"/>
                      <a:r>
                        <a:rPr sz="1050" b="1">
                          <a:solidFill>
                            <a:srgbClr val="FFFFFF"/>
                          </a:solidFill>
                          <a:latin typeface="Calibri"/>
                        </a:rPr>
                        <a:t>Reference forecast</a:t>
                      </a:r>
                    </a:p>
                  </a:txBody>
                  <a:tcPr marL="54864" marR="54864" marT="18288" marB="18288" anchor="ctr">
                    <a:solidFill>
                      <a:srgbClr val="1F3B63"/>
                    </a:solidFill>
                  </a:tcPr>
                </a:tc>
                <a:tc>
                  <a:txBody>
                    <a:bodyPr/>
                    <a:lstStyle/>
                    <a:p>
                      <a:pPr algn="ctr"/>
                      <a:r>
                        <a:rPr sz="1050" b="1">
                          <a:solidFill>
                            <a:srgbClr val="FFFFFF"/>
                          </a:solidFill>
                          <a:latin typeface="Calibri"/>
                        </a:rPr>
                        <a:t>t+1 h</a:t>
                      </a:r>
                    </a:p>
                  </a:txBody>
                  <a:tcPr marL="54864" marR="54864" marT="18288" marB="18288" anchor="ctr">
                    <a:solidFill>
                      <a:srgbClr val="1F3B63"/>
                    </a:solidFill>
                  </a:tcPr>
                </a:tc>
                <a:tc>
                  <a:txBody>
                    <a:bodyPr/>
                    <a:lstStyle/>
                    <a:p>
                      <a:pPr algn="ctr"/>
                      <a:r>
                        <a:rPr sz="1050" b="1">
                          <a:solidFill>
                            <a:srgbClr val="FFFFFF"/>
                          </a:solidFill>
                          <a:latin typeface="Calibri"/>
                        </a:rPr>
                        <a:t>t+2 h</a:t>
                      </a:r>
                    </a:p>
                  </a:txBody>
                  <a:tcPr marL="54864" marR="54864" marT="18288" marB="18288" anchor="ctr">
                    <a:solidFill>
                      <a:srgbClr val="1F3B63"/>
                    </a:solidFill>
                  </a:tcPr>
                </a:tc>
                <a:tc>
                  <a:txBody>
                    <a:bodyPr/>
                    <a:lstStyle/>
                    <a:p>
                      <a:pPr algn="ctr"/>
                      <a:r>
                        <a:rPr sz="1050" b="1">
                          <a:solidFill>
                            <a:srgbClr val="FFFFFF"/>
                          </a:solidFill>
                          <a:latin typeface="Calibri"/>
                        </a:rPr>
                        <a:t>t+3 h</a:t>
                      </a:r>
                    </a:p>
                  </a:txBody>
                  <a:tcPr marL="54864" marR="54864" marT="18288" marB="18288" anchor="ctr">
                    <a:solidFill>
                      <a:srgbClr val="1F3B63"/>
                    </a:solidFill>
                  </a:tcPr>
                </a:tc>
                <a:tc>
                  <a:txBody>
                    <a:bodyPr/>
                    <a:lstStyle/>
                    <a:p>
                      <a:pPr algn="ctr"/>
                      <a:r>
                        <a:rPr sz="1050" b="1">
                          <a:solidFill>
                            <a:srgbClr val="FFFFFF"/>
                          </a:solidFill>
                          <a:latin typeface="Calibri"/>
                        </a:rPr>
                        <a:t>degradation</a:t>
                      </a:r>
                    </a:p>
                  </a:txBody>
                  <a:tcPr marL="54864" marR="54864" marT="18288" marB="18288" anchor="ctr">
                    <a:solidFill>
                      <a:srgbClr val="1F3B63"/>
                    </a:solidFill>
                  </a:tcPr>
                </a:tc>
              </a:tr>
              <a:tr h="237744">
                <a:tc>
                  <a:txBody>
                    <a:bodyPr/>
                    <a:lstStyle/>
                    <a:p>
                      <a:pPr algn="l"/>
                      <a:r>
                        <a:rPr sz="1050" b="0">
                          <a:solidFill>
                            <a:srgbClr val="252F3D"/>
                          </a:solidFill>
                          <a:latin typeface="Calibri"/>
                        </a:rPr>
                        <a:t>Persistence  (GHI held constant)</a:t>
                      </a:r>
                    </a:p>
                  </a:txBody>
                  <a:tcPr marL="54864" marR="54864" marT="9144" marB="9144" anchor="ctr">
                    <a:solidFill>
                      <a:srgbClr val="F3F5F9"/>
                    </a:solidFill>
                  </a:tcPr>
                </a:tc>
                <a:tc>
                  <a:txBody>
                    <a:bodyPr/>
                    <a:lstStyle/>
                    <a:p>
                      <a:pPr algn="ctr"/>
                      <a:r>
                        <a:rPr sz="1050" b="0">
                          <a:solidFill>
                            <a:srgbClr val="252F3D"/>
                          </a:solidFill>
                          <a:latin typeface="Calibri"/>
                        </a:rPr>
                        <a:t>155.7</a:t>
                      </a:r>
                    </a:p>
                  </a:txBody>
                  <a:tcPr marL="54864" marR="54864" marT="9144" marB="9144" anchor="ctr">
                    <a:solidFill>
                      <a:srgbClr val="F3F5F9"/>
                    </a:solidFill>
                  </a:tcPr>
                </a:tc>
                <a:tc>
                  <a:txBody>
                    <a:bodyPr/>
                    <a:lstStyle/>
                    <a:p>
                      <a:pPr algn="ctr"/>
                      <a:r>
                        <a:rPr sz="1050" b="0">
                          <a:solidFill>
                            <a:srgbClr val="252F3D"/>
                          </a:solidFill>
                          <a:latin typeface="Calibri"/>
                        </a:rPr>
                        <a:t>253.9</a:t>
                      </a:r>
                    </a:p>
                  </a:txBody>
                  <a:tcPr marL="54864" marR="54864" marT="9144" marB="9144" anchor="ctr">
                    <a:solidFill>
                      <a:srgbClr val="F3F5F9"/>
                    </a:solidFill>
                  </a:tcPr>
                </a:tc>
                <a:tc>
                  <a:txBody>
                    <a:bodyPr/>
                    <a:lstStyle/>
                    <a:p>
                      <a:pPr algn="ctr"/>
                      <a:r>
                        <a:rPr sz="1050" b="0">
                          <a:solidFill>
                            <a:srgbClr val="252F3D"/>
                          </a:solidFill>
                          <a:latin typeface="Calibri"/>
                        </a:rPr>
                        <a:t>316.5</a:t>
                      </a:r>
                    </a:p>
                  </a:txBody>
                  <a:tcPr marL="54864" marR="54864" marT="9144" marB="9144" anchor="ctr">
                    <a:solidFill>
                      <a:srgbClr val="F3F5F9"/>
                    </a:solidFill>
                  </a:tcPr>
                </a:tc>
                <a:tc>
                  <a:txBody>
                    <a:bodyPr/>
                    <a:lstStyle/>
                    <a:p>
                      <a:pPr algn="ctr"/>
                      <a:r>
                        <a:rPr sz="1050" b="0">
                          <a:solidFill>
                            <a:srgbClr val="252F3D"/>
                          </a:solidFill>
                          <a:latin typeface="Calibri"/>
                        </a:rPr>
                        <a:t>+103%</a:t>
                      </a:r>
                    </a:p>
                  </a:txBody>
                  <a:tcPr marL="54864" marR="54864" marT="9144" marB="9144" anchor="ctr">
                    <a:solidFill>
                      <a:srgbClr val="F3F5F9"/>
                    </a:solidFill>
                  </a:tcPr>
                </a:tc>
              </a:tr>
              <a:tr h="237744">
                <a:tc>
                  <a:txBody>
                    <a:bodyPr/>
                    <a:lstStyle/>
                    <a:p>
                      <a:pPr algn="l"/>
                      <a:r>
                        <a:rPr sz="1050" b="0">
                          <a:solidFill>
                            <a:srgbClr val="252F3D"/>
                          </a:solidFill>
                          <a:latin typeface="Calibri"/>
                        </a:rPr>
                        <a:t>Smart persistence  (kₜ held constant)</a:t>
                      </a:r>
                    </a:p>
                  </a:txBody>
                  <a:tcPr marL="54864" marR="54864" marT="9144" marB="9144" anchor="ctr">
                    <a:solidFill>
                      <a:srgbClr val="FFFFFF"/>
                    </a:solidFill>
                  </a:tcPr>
                </a:tc>
                <a:tc>
                  <a:txBody>
                    <a:bodyPr/>
                    <a:lstStyle/>
                    <a:p>
                      <a:pPr algn="ctr"/>
                      <a:r>
                        <a:rPr sz="1050" b="0">
                          <a:solidFill>
                            <a:srgbClr val="252F3D"/>
                          </a:solidFill>
                          <a:latin typeface="Calibri"/>
                        </a:rPr>
                        <a:t>78.9</a:t>
                      </a:r>
                    </a:p>
                  </a:txBody>
                  <a:tcPr marL="54864" marR="54864" marT="9144" marB="9144" anchor="ctr">
                    <a:solidFill>
                      <a:srgbClr val="FFFFFF"/>
                    </a:solidFill>
                  </a:tcPr>
                </a:tc>
                <a:tc>
                  <a:txBody>
                    <a:bodyPr/>
                    <a:lstStyle/>
                    <a:p>
                      <a:pPr algn="ctr"/>
                      <a:r>
                        <a:rPr sz="1050" b="0">
                          <a:solidFill>
                            <a:srgbClr val="252F3D"/>
                          </a:solidFill>
                          <a:latin typeface="Calibri"/>
                        </a:rPr>
                        <a:t>117.5</a:t>
                      </a:r>
                    </a:p>
                  </a:txBody>
                  <a:tcPr marL="54864" marR="54864" marT="9144" marB="9144" anchor="ctr">
                    <a:solidFill>
                      <a:srgbClr val="FFFFFF"/>
                    </a:solidFill>
                  </a:tcPr>
                </a:tc>
                <a:tc>
                  <a:txBody>
                    <a:bodyPr/>
                    <a:lstStyle/>
                    <a:p>
                      <a:pPr algn="ctr"/>
                      <a:r>
                        <a:rPr sz="1050" b="0">
                          <a:solidFill>
                            <a:srgbClr val="252F3D"/>
                          </a:solidFill>
                          <a:latin typeface="Calibri"/>
                        </a:rPr>
                        <a:t>143.9</a:t>
                      </a:r>
                    </a:p>
                  </a:txBody>
                  <a:tcPr marL="54864" marR="54864" marT="9144" marB="9144" anchor="ctr">
                    <a:solidFill>
                      <a:srgbClr val="FFFFFF"/>
                    </a:solidFill>
                  </a:tcPr>
                </a:tc>
                <a:tc>
                  <a:txBody>
                    <a:bodyPr/>
                    <a:lstStyle/>
                    <a:p>
                      <a:pPr algn="ctr"/>
                      <a:r>
                        <a:rPr sz="1050" b="0">
                          <a:solidFill>
                            <a:srgbClr val="252F3D"/>
                          </a:solidFill>
                          <a:latin typeface="Calibri"/>
                        </a:rPr>
                        <a:t>+82%</a:t>
                      </a:r>
                    </a:p>
                  </a:txBody>
                  <a:tcPr marL="54864" marR="54864" marT="9144" marB="9144" anchor="ctr">
                    <a:solidFill>
                      <a:srgbClr val="FFFFFF"/>
                    </a:solidFill>
                  </a:tcPr>
                </a:tc>
              </a:tr>
            </a:tbl>
          </a:graphicData>
        </a:graphic>
      </p:graphicFrame>
      <p:sp>
        <p:nvSpPr>
          <p:cNvPr id="10" name="TextBox 9"/>
          <p:cNvSpPr txBox="1"/>
          <p:nvPr/>
        </p:nvSpPr>
        <p:spPr>
          <a:xfrm>
            <a:off x="658368" y="4133087"/>
            <a:ext cx="630936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MAE in W/m², on the 914-sample evaluation set used throughout this deck.</a:t>
            </a:r>
          </a:p>
        </p:txBody>
      </p:sp>
      <p:sp>
        <p:nvSpPr>
          <p:cNvPr id="11" name="TextBox 10"/>
          <p:cNvSpPr txBox="1"/>
          <p:nvPr/>
        </p:nvSpPr>
        <p:spPr>
          <a:xfrm>
            <a:off x="502920" y="4443984"/>
            <a:ext cx="6720840" cy="1737360"/>
          </a:xfrm>
          <a:prstGeom prst="rect">
            <a:avLst/>
          </a:prstGeom>
          <a:noFill/>
        </p:spPr>
        <p:txBody>
          <a:bodyPr wrap="square" lIns="0" rIns="0" tIns="0" bIns="0">
            <a:spAutoFit/>
          </a:bodyPr>
          <a:lstStyle/>
          <a:p>
            <a:pPr>
              <a:lnSpc>
                <a:spcPct val="106000"/>
              </a:lnSpc>
              <a:spcBef>
                <a:spcPts val="0"/>
              </a:spcBef>
              <a:spcAft>
                <a:spcPts val="700"/>
              </a:spcAft>
            </a:pPr>
            <a:r>
              <a:rPr sz="1320" b="1" i="0">
                <a:solidFill>
                  <a:srgbClr val="1F3B63"/>
                </a:solidFill>
                <a:latin typeface="Calibri"/>
              </a:rPr>
              <a:t>The opportunity.  </a:t>
            </a:r>
            <a:r>
              <a:rPr sz="1320" b="0" i="0">
                <a:solidFill>
                  <a:srgbClr val="252F3D"/>
                </a:solidFill>
                <a:latin typeface="Calibri"/>
              </a:rPr>
              <a:t>A ground station cannot see the cloud field that will arrive in two hours. A geostationary satellite can: Himawari-8/9 delivers a full disc every 10 minutes, and at typical advection speeds the clouds that will shade Singapore in two hours are already inside the ~4°×4° tile at issue time.</a:t>
            </a:r>
          </a:p>
          <a:p>
            <a:pPr>
              <a:lnSpc>
                <a:spcPct val="106000"/>
              </a:lnSpc>
              <a:spcBef>
                <a:spcPts val="0"/>
              </a:spcBef>
              <a:spcAft>
                <a:spcPts val="700"/>
              </a:spcAft>
            </a:pPr>
            <a:r>
              <a:rPr sz="1320" b="1" i="0">
                <a:solidFill>
                  <a:srgbClr val="1F3B63"/>
                </a:solidFill>
                <a:latin typeface="Calibri"/>
              </a:rPr>
              <a:t>The engineering question.  </a:t>
            </a:r>
            <a:r>
              <a:rPr sz="1320" b="0" i="0">
                <a:solidFill>
                  <a:srgbClr val="252F3D"/>
                </a:solidFill>
                <a:latin typeface="Calibri"/>
              </a:rPr>
              <a:t>Does that upstream visual information actually survive the journey into a forecast — on a single site, with 6,675 daylight training samples?</a:t>
            </a:r>
          </a:p>
        </p:txBody>
      </p:sp>
      <p:sp>
        <p:nvSpPr>
          <p:cNvPr id="12" name="Rectangle 11"/>
          <p:cNvSpPr/>
          <p:nvPr/>
        </p:nvSpPr>
        <p:spPr>
          <a:xfrm>
            <a:off x="7498079" y="1298448"/>
            <a:ext cx="4206240" cy="4754880"/>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99248" y="1481328"/>
            <a:ext cx="3803904" cy="27432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SITE AND SIGNAL</a:t>
            </a:r>
          </a:p>
        </p:txBody>
      </p:sp>
      <p:sp>
        <p:nvSpPr>
          <p:cNvPr id="14" name="TextBox 13"/>
          <p:cNvSpPr txBox="1"/>
          <p:nvPr/>
        </p:nvSpPr>
        <p:spPr>
          <a:xfrm>
            <a:off x="7699248" y="1847088"/>
            <a:ext cx="1691640" cy="256032"/>
          </a:xfrm>
          <a:prstGeom prst="rect">
            <a:avLst/>
          </a:prstGeom>
          <a:noFill/>
        </p:spPr>
        <p:txBody>
          <a:bodyPr wrap="square" anchor="t" lIns="0" rIns="0" tIns="0" bIns="0">
            <a:spAutoFit/>
          </a:bodyPr>
          <a:lstStyle/>
          <a:p>
            <a:pPr algn="l">
              <a:lnSpc>
                <a:spcPct val="100000"/>
              </a:lnSpc>
            </a:pPr>
            <a:r>
              <a:rPr sz="1050" b="0" i="0">
                <a:solidFill>
                  <a:srgbClr val="6B7280"/>
                </a:solidFill>
                <a:latin typeface="Calibri"/>
              </a:rPr>
              <a:t>Location</a:t>
            </a:r>
          </a:p>
        </p:txBody>
      </p:sp>
      <p:sp>
        <p:nvSpPr>
          <p:cNvPr id="15" name="TextBox 14"/>
          <p:cNvSpPr txBox="1"/>
          <p:nvPr/>
        </p:nvSpPr>
        <p:spPr>
          <a:xfrm>
            <a:off x="9418320" y="1847088"/>
            <a:ext cx="2103120" cy="256032"/>
          </a:xfrm>
          <a:prstGeom prst="rect">
            <a:avLst/>
          </a:prstGeom>
          <a:noFill/>
        </p:spPr>
        <p:txBody>
          <a:bodyPr wrap="square" anchor="t" lIns="0" rIns="0" tIns="0" bIns="0">
            <a:spAutoFit/>
          </a:bodyPr>
          <a:lstStyle/>
          <a:p>
            <a:pPr algn="l">
              <a:lnSpc>
                <a:spcPct val="100000"/>
              </a:lnSpc>
            </a:pPr>
            <a:r>
              <a:rPr sz="1050" b="1" i="0">
                <a:solidFill>
                  <a:srgbClr val="252F3D"/>
                </a:solidFill>
                <a:latin typeface="Calibri"/>
              </a:rPr>
              <a:t>Singapore, 1.3521° N 103.8198° E</a:t>
            </a:r>
          </a:p>
        </p:txBody>
      </p:sp>
      <p:sp>
        <p:nvSpPr>
          <p:cNvPr id="16" name="TextBox 15"/>
          <p:cNvSpPr txBox="1"/>
          <p:nvPr/>
        </p:nvSpPr>
        <p:spPr>
          <a:xfrm>
            <a:off x="7699248" y="2249424"/>
            <a:ext cx="1691640" cy="256032"/>
          </a:xfrm>
          <a:prstGeom prst="rect">
            <a:avLst/>
          </a:prstGeom>
          <a:noFill/>
        </p:spPr>
        <p:txBody>
          <a:bodyPr wrap="square" anchor="t" lIns="0" rIns="0" tIns="0" bIns="0">
            <a:spAutoFit/>
          </a:bodyPr>
          <a:lstStyle/>
          <a:p>
            <a:pPr algn="l">
              <a:lnSpc>
                <a:spcPct val="100000"/>
              </a:lnSpc>
            </a:pPr>
            <a:r>
              <a:rPr sz="1050" b="0" i="0">
                <a:solidFill>
                  <a:srgbClr val="6B7280"/>
                </a:solidFill>
                <a:latin typeface="Calibri"/>
              </a:rPr>
              <a:t>Modelled hours</a:t>
            </a:r>
          </a:p>
        </p:txBody>
      </p:sp>
      <p:sp>
        <p:nvSpPr>
          <p:cNvPr id="17" name="TextBox 16"/>
          <p:cNvSpPr txBox="1"/>
          <p:nvPr/>
        </p:nvSpPr>
        <p:spPr>
          <a:xfrm>
            <a:off x="9418320" y="2249424"/>
            <a:ext cx="2103120" cy="256032"/>
          </a:xfrm>
          <a:prstGeom prst="rect">
            <a:avLst/>
          </a:prstGeom>
          <a:noFill/>
        </p:spPr>
        <p:txBody>
          <a:bodyPr wrap="square" anchor="t" lIns="0" rIns="0" tIns="0" bIns="0">
            <a:spAutoFit/>
          </a:bodyPr>
          <a:lstStyle/>
          <a:p>
            <a:pPr algn="l">
              <a:lnSpc>
                <a:spcPct val="100000"/>
              </a:lnSpc>
            </a:pPr>
            <a:r>
              <a:rPr sz="1050" b="1" i="0">
                <a:solidFill>
                  <a:srgbClr val="252F3D"/>
                </a:solidFill>
                <a:latin typeface="Calibri"/>
              </a:rPr>
              <a:t>08:00–17:00 SGT (daylight only)</a:t>
            </a:r>
          </a:p>
        </p:txBody>
      </p:sp>
      <p:sp>
        <p:nvSpPr>
          <p:cNvPr id="18" name="TextBox 17"/>
          <p:cNvSpPr txBox="1"/>
          <p:nvPr/>
        </p:nvSpPr>
        <p:spPr>
          <a:xfrm>
            <a:off x="7699248" y="2651760"/>
            <a:ext cx="1691640" cy="256032"/>
          </a:xfrm>
          <a:prstGeom prst="rect">
            <a:avLst/>
          </a:prstGeom>
          <a:noFill/>
        </p:spPr>
        <p:txBody>
          <a:bodyPr wrap="square" anchor="t" lIns="0" rIns="0" tIns="0" bIns="0">
            <a:spAutoFit/>
          </a:bodyPr>
          <a:lstStyle/>
          <a:p>
            <a:pPr algn="l">
              <a:lnSpc>
                <a:spcPct val="100000"/>
              </a:lnSpc>
            </a:pPr>
            <a:r>
              <a:rPr sz="1050" b="0" i="0">
                <a:solidFill>
                  <a:srgbClr val="6B7280"/>
                </a:solidFill>
                <a:latin typeface="Calibri"/>
              </a:rPr>
              <a:t>Target</a:t>
            </a:r>
          </a:p>
        </p:txBody>
      </p:sp>
      <p:sp>
        <p:nvSpPr>
          <p:cNvPr id="19" name="TextBox 18"/>
          <p:cNvSpPr txBox="1"/>
          <p:nvPr/>
        </p:nvSpPr>
        <p:spPr>
          <a:xfrm>
            <a:off x="9418320" y="2651760"/>
            <a:ext cx="2103120" cy="256032"/>
          </a:xfrm>
          <a:prstGeom prst="rect">
            <a:avLst/>
          </a:prstGeom>
          <a:noFill/>
        </p:spPr>
        <p:txBody>
          <a:bodyPr wrap="square" anchor="t" lIns="0" rIns="0" tIns="0" bIns="0">
            <a:spAutoFit/>
          </a:bodyPr>
          <a:lstStyle/>
          <a:p>
            <a:pPr algn="l">
              <a:lnSpc>
                <a:spcPct val="100000"/>
              </a:lnSpc>
            </a:pPr>
            <a:r>
              <a:rPr sz="1050" b="1" i="0">
                <a:solidFill>
                  <a:srgbClr val="252F3D"/>
                </a:solidFill>
                <a:latin typeface="Calibri"/>
              </a:rPr>
              <a:t>GHI at t+1 h, t+2 h, t+3 h</a:t>
            </a:r>
          </a:p>
        </p:txBody>
      </p:sp>
      <p:sp>
        <p:nvSpPr>
          <p:cNvPr id="20" name="TextBox 19"/>
          <p:cNvSpPr txBox="1"/>
          <p:nvPr/>
        </p:nvSpPr>
        <p:spPr>
          <a:xfrm>
            <a:off x="7699248" y="3054096"/>
            <a:ext cx="1691640" cy="256032"/>
          </a:xfrm>
          <a:prstGeom prst="rect">
            <a:avLst/>
          </a:prstGeom>
          <a:noFill/>
        </p:spPr>
        <p:txBody>
          <a:bodyPr wrap="square" anchor="t" lIns="0" rIns="0" tIns="0" bIns="0">
            <a:spAutoFit/>
          </a:bodyPr>
          <a:lstStyle/>
          <a:p>
            <a:pPr algn="l">
              <a:lnSpc>
                <a:spcPct val="100000"/>
              </a:lnSpc>
            </a:pPr>
            <a:r>
              <a:rPr sz="1050" b="0" i="0">
                <a:solidFill>
                  <a:srgbClr val="6B7280"/>
                </a:solidFill>
                <a:latin typeface="Calibri"/>
              </a:rPr>
              <a:t>Mean GHI</a:t>
            </a:r>
          </a:p>
        </p:txBody>
      </p:sp>
      <p:sp>
        <p:nvSpPr>
          <p:cNvPr id="21" name="TextBox 20"/>
          <p:cNvSpPr txBox="1"/>
          <p:nvPr/>
        </p:nvSpPr>
        <p:spPr>
          <a:xfrm>
            <a:off x="9418320" y="3054096"/>
            <a:ext cx="2103120" cy="256032"/>
          </a:xfrm>
          <a:prstGeom prst="rect">
            <a:avLst/>
          </a:prstGeom>
          <a:noFill/>
        </p:spPr>
        <p:txBody>
          <a:bodyPr wrap="square" anchor="t" lIns="0" rIns="0" tIns="0" bIns="0">
            <a:spAutoFit/>
          </a:bodyPr>
          <a:lstStyle/>
          <a:p>
            <a:pPr algn="l">
              <a:lnSpc>
                <a:spcPct val="100000"/>
              </a:lnSpc>
            </a:pPr>
            <a:r>
              <a:rPr sz="1050" b="1" i="0">
                <a:solidFill>
                  <a:srgbClr val="252F3D"/>
                </a:solidFill>
                <a:latin typeface="Calibri"/>
              </a:rPr>
              <a:t>481.1 W/m²  (sd 259.3)</a:t>
            </a:r>
          </a:p>
        </p:txBody>
      </p:sp>
      <p:sp>
        <p:nvSpPr>
          <p:cNvPr id="22" name="TextBox 21"/>
          <p:cNvSpPr txBox="1"/>
          <p:nvPr/>
        </p:nvSpPr>
        <p:spPr>
          <a:xfrm>
            <a:off x="7699248" y="3456432"/>
            <a:ext cx="1691640" cy="256032"/>
          </a:xfrm>
          <a:prstGeom prst="rect">
            <a:avLst/>
          </a:prstGeom>
          <a:noFill/>
        </p:spPr>
        <p:txBody>
          <a:bodyPr wrap="square" anchor="t" lIns="0" rIns="0" tIns="0" bIns="0">
            <a:spAutoFit/>
          </a:bodyPr>
          <a:lstStyle/>
          <a:p>
            <a:pPr algn="l">
              <a:lnSpc>
                <a:spcPct val="100000"/>
              </a:lnSpc>
            </a:pPr>
            <a:r>
              <a:rPr sz="1050" b="0" i="0">
                <a:solidFill>
                  <a:srgbClr val="6B7280"/>
                </a:solidFill>
                <a:latin typeface="Calibri"/>
              </a:rPr>
              <a:t>Max GHI</a:t>
            </a:r>
          </a:p>
        </p:txBody>
      </p:sp>
      <p:sp>
        <p:nvSpPr>
          <p:cNvPr id="23" name="TextBox 22"/>
          <p:cNvSpPr txBox="1"/>
          <p:nvPr/>
        </p:nvSpPr>
        <p:spPr>
          <a:xfrm>
            <a:off x="9418320" y="3456432"/>
            <a:ext cx="2103120" cy="256032"/>
          </a:xfrm>
          <a:prstGeom prst="rect">
            <a:avLst/>
          </a:prstGeom>
          <a:noFill/>
        </p:spPr>
        <p:txBody>
          <a:bodyPr wrap="square" anchor="t" lIns="0" rIns="0" tIns="0" bIns="0">
            <a:spAutoFit/>
          </a:bodyPr>
          <a:lstStyle/>
          <a:p>
            <a:pPr algn="l">
              <a:lnSpc>
                <a:spcPct val="100000"/>
              </a:lnSpc>
            </a:pPr>
            <a:r>
              <a:rPr sz="1050" b="1" i="0">
                <a:solidFill>
                  <a:srgbClr val="252F3D"/>
                </a:solidFill>
                <a:latin typeface="Calibri"/>
              </a:rPr>
              <a:t>1,016 W/m²</a:t>
            </a:r>
          </a:p>
        </p:txBody>
      </p:sp>
      <p:sp>
        <p:nvSpPr>
          <p:cNvPr id="24" name="TextBox 23"/>
          <p:cNvSpPr txBox="1"/>
          <p:nvPr/>
        </p:nvSpPr>
        <p:spPr>
          <a:xfrm>
            <a:off x="7699248" y="3858768"/>
            <a:ext cx="1691640" cy="256032"/>
          </a:xfrm>
          <a:prstGeom prst="rect">
            <a:avLst/>
          </a:prstGeom>
          <a:noFill/>
        </p:spPr>
        <p:txBody>
          <a:bodyPr wrap="square" anchor="t" lIns="0" rIns="0" tIns="0" bIns="0">
            <a:spAutoFit/>
          </a:bodyPr>
          <a:lstStyle/>
          <a:p>
            <a:pPr algn="l">
              <a:lnSpc>
                <a:spcPct val="100000"/>
              </a:lnSpc>
            </a:pPr>
            <a:r>
              <a:rPr sz="1050" b="0" i="0">
                <a:solidFill>
                  <a:srgbClr val="6B7280"/>
                </a:solidFill>
                <a:latin typeface="Calibri"/>
              </a:rPr>
              <a:t>Mean cloud cover</a:t>
            </a:r>
          </a:p>
        </p:txBody>
      </p:sp>
      <p:sp>
        <p:nvSpPr>
          <p:cNvPr id="25" name="TextBox 24"/>
          <p:cNvSpPr txBox="1"/>
          <p:nvPr/>
        </p:nvSpPr>
        <p:spPr>
          <a:xfrm>
            <a:off x="9418320" y="3858768"/>
            <a:ext cx="2103120" cy="256032"/>
          </a:xfrm>
          <a:prstGeom prst="rect">
            <a:avLst/>
          </a:prstGeom>
          <a:noFill/>
        </p:spPr>
        <p:txBody>
          <a:bodyPr wrap="square" anchor="t" lIns="0" rIns="0" tIns="0" bIns="0">
            <a:spAutoFit/>
          </a:bodyPr>
          <a:lstStyle/>
          <a:p>
            <a:pPr algn="l">
              <a:lnSpc>
                <a:spcPct val="100000"/>
              </a:lnSpc>
            </a:pPr>
            <a:r>
              <a:rPr sz="1050" b="1" i="0">
                <a:solidFill>
                  <a:srgbClr val="252F3D"/>
                </a:solidFill>
                <a:latin typeface="Calibri"/>
              </a:rPr>
              <a:t>85.6 %</a:t>
            </a:r>
          </a:p>
        </p:txBody>
      </p:sp>
      <p:sp>
        <p:nvSpPr>
          <p:cNvPr id="26" name="TextBox 25"/>
          <p:cNvSpPr txBox="1"/>
          <p:nvPr/>
        </p:nvSpPr>
        <p:spPr>
          <a:xfrm>
            <a:off x="7699248" y="4261104"/>
            <a:ext cx="1691640" cy="256032"/>
          </a:xfrm>
          <a:prstGeom prst="rect">
            <a:avLst/>
          </a:prstGeom>
          <a:noFill/>
        </p:spPr>
        <p:txBody>
          <a:bodyPr wrap="square" anchor="t" lIns="0" rIns="0" tIns="0" bIns="0">
            <a:spAutoFit/>
          </a:bodyPr>
          <a:lstStyle/>
          <a:p>
            <a:pPr algn="l">
              <a:lnSpc>
                <a:spcPct val="100000"/>
              </a:lnSpc>
            </a:pPr>
            <a:r>
              <a:rPr sz="1050" b="0" i="0">
                <a:solidFill>
                  <a:srgbClr val="6B7280"/>
                </a:solidFill>
                <a:latin typeface="Calibri"/>
              </a:rPr>
              <a:t>Hours with rain</a:t>
            </a:r>
          </a:p>
        </p:txBody>
      </p:sp>
      <p:sp>
        <p:nvSpPr>
          <p:cNvPr id="27" name="TextBox 26"/>
          <p:cNvSpPr txBox="1"/>
          <p:nvPr/>
        </p:nvSpPr>
        <p:spPr>
          <a:xfrm>
            <a:off x="9418320" y="4261104"/>
            <a:ext cx="2103120" cy="256032"/>
          </a:xfrm>
          <a:prstGeom prst="rect">
            <a:avLst/>
          </a:prstGeom>
          <a:noFill/>
        </p:spPr>
        <p:txBody>
          <a:bodyPr wrap="square" anchor="t" lIns="0" rIns="0" tIns="0" bIns="0">
            <a:spAutoFit/>
          </a:bodyPr>
          <a:lstStyle/>
          <a:p>
            <a:pPr algn="l">
              <a:lnSpc>
                <a:spcPct val="100000"/>
              </a:lnSpc>
            </a:pPr>
            <a:r>
              <a:rPr sz="1050" b="1" i="0">
                <a:solidFill>
                  <a:srgbClr val="252F3D"/>
                </a:solidFill>
                <a:latin typeface="Calibri"/>
              </a:rPr>
              <a:t>54.0 %</a:t>
            </a:r>
          </a:p>
        </p:txBody>
      </p:sp>
      <p:sp>
        <p:nvSpPr>
          <p:cNvPr id="28" name="TextBox 27"/>
          <p:cNvSpPr txBox="1"/>
          <p:nvPr/>
        </p:nvSpPr>
        <p:spPr>
          <a:xfrm>
            <a:off x="7699248" y="4663440"/>
            <a:ext cx="1691640" cy="256032"/>
          </a:xfrm>
          <a:prstGeom prst="rect">
            <a:avLst/>
          </a:prstGeom>
          <a:noFill/>
        </p:spPr>
        <p:txBody>
          <a:bodyPr wrap="square" anchor="t" lIns="0" rIns="0" tIns="0" bIns="0">
            <a:spAutoFit/>
          </a:bodyPr>
          <a:lstStyle/>
          <a:p>
            <a:pPr algn="l">
              <a:lnSpc>
                <a:spcPct val="100000"/>
              </a:lnSpc>
            </a:pPr>
            <a:r>
              <a:rPr sz="1050" b="0" i="0">
                <a:solidFill>
                  <a:srgbClr val="6B7280"/>
                </a:solidFill>
                <a:latin typeface="Calibri"/>
              </a:rPr>
              <a:t>Record length</a:t>
            </a:r>
          </a:p>
        </p:txBody>
      </p:sp>
      <p:sp>
        <p:nvSpPr>
          <p:cNvPr id="29" name="TextBox 28"/>
          <p:cNvSpPr txBox="1"/>
          <p:nvPr/>
        </p:nvSpPr>
        <p:spPr>
          <a:xfrm>
            <a:off x="9418320" y="4663440"/>
            <a:ext cx="2103120" cy="256032"/>
          </a:xfrm>
          <a:prstGeom prst="rect">
            <a:avLst/>
          </a:prstGeom>
          <a:noFill/>
        </p:spPr>
        <p:txBody>
          <a:bodyPr wrap="square" anchor="t" lIns="0" rIns="0" tIns="0" bIns="0">
            <a:spAutoFit/>
          </a:bodyPr>
          <a:lstStyle/>
          <a:p>
            <a:pPr algn="l">
              <a:lnSpc>
                <a:spcPct val="100000"/>
              </a:lnSpc>
            </a:pPr>
            <a:r>
              <a:rPr sz="1050" b="1" i="0">
                <a:solidFill>
                  <a:srgbClr val="252F3D"/>
                </a:solidFill>
                <a:latin typeface="Calibri"/>
              </a:rPr>
              <a:t>2024-01-01 → 2026-08-16</a:t>
            </a:r>
          </a:p>
        </p:txBody>
      </p:sp>
      <p:sp>
        <p:nvSpPr>
          <p:cNvPr id="30" name="TextBox 29"/>
          <p:cNvSpPr txBox="1"/>
          <p:nvPr/>
        </p:nvSpPr>
        <p:spPr>
          <a:xfrm>
            <a:off x="7699248" y="5065776"/>
            <a:ext cx="1691640" cy="256032"/>
          </a:xfrm>
          <a:prstGeom prst="rect">
            <a:avLst/>
          </a:prstGeom>
          <a:noFill/>
        </p:spPr>
        <p:txBody>
          <a:bodyPr wrap="square" anchor="t" lIns="0" rIns="0" tIns="0" bIns="0">
            <a:spAutoFit/>
          </a:bodyPr>
          <a:lstStyle/>
          <a:p>
            <a:pPr algn="l">
              <a:lnSpc>
                <a:spcPct val="100000"/>
              </a:lnSpc>
            </a:pPr>
            <a:r>
              <a:rPr sz="1050" b="0" i="0">
                <a:solidFill>
                  <a:srgbClr val="6B7280"/>
                </a:solidFill>
                <a:latin typeface="Calibri"/>
              </a:rPr>
              <a:t>Hourly rows</a:t>
            </a:r>
          </a:p>
        </p:txBody>
      </p:sp>
      <p:sp>
        <p:nvSpPr>
          <p:cNvPr id="31" name="TextBox 30"/>
          <p:cNvSpPr txBox="1"/>
          <p:nvPr/>
        </p:nvSpPr>
        <p:spPr>
          <a:xfrm>
            <a:off x="9418320" y="5065776"/>
            <a:ext cx="2103120" cy="256032"/>
          </a:xfrm>
          <a:prstGeom prst="rect">
            <a:avLst/>
          </a:prstGeom>
          <a:noFill/>
        </p:spPr>
        <p:txBody>
          <a:bodyPr wrap="square" anchor="t" lIns="0" rIns="0" tIns="0" bIns="0">
            <a:spAutoFit/>
          </a:bodyPr>
          <a:lstStyle/>
          <a:p>
            <a:pPr algn="l">
              <a:lnSpc>
                <a:spcPct val="100000"/>
              </a:lnSpc>
            </a:pPr>
            <a:r>
              <a:rPr sz="1050" b="1" i="0">
                <a:solidFill>
                  <a:srgbClr val="252F3D"/>
                </a:solidFill>
                <a:latin typeface="Calibri"/>
              </a:rPr>
              <a:t>9,590</a:t>
            </a:r>
          </a:p>
        </p:txBody>
      </p:sp>
      <p:sp>
        <p:nvSpPr>
          <p:cNvPr id="32" name="TextBox 31"/>
          <p:cNvSpPr txBox="1"/>
          <p:nvPr/>
        </p:nvSpPr>
        <p:spPr>
          <a:xfrm>
            <a:off x="7699248" y="5468112"/>
            <a:ext cx="1691640" cy="256032"/>
          </a:xfrm>
          <a:prstGeom prst="rect">
            <a:avLst/>
          </a:prstGeom>
          <a:noFill/>
        </p:spPr>
        <p:txBody>
          <a:bodyPr wrap="square" anchor="t" lIns="0" rIns="0" tIns="0" bIns="0">
            <a:spAutoFit/>
          </a:bodyPr>
          <a:lstStyle/>
          <a:p>
            <a:pPr algn="l">
              <a:lnSpc>
                <a:spcPct val="100000"/>
              </a:lnSpc>
            </a:pPr>
            <a:r>
              <a:rPr sz="1050" b="0" i="0">
                <a:solidFill>
                  <a:srgbClr val="6B7280"/>
                </a:solidFill>
                <a:latin typeface="Calibri"/>
              </a:rPr>
              <a:t>Rows with imagery</a:t>
            </a:r>
          </a:p>
        </p:txBody>
      </p:sp>
      <p:sp>
        <p:nvSpPr>
          <p:cNvPr id="33" name="TextBox 32"/>
          <p:cNvSpPr txBox="1"/>
          <p:nvPr/>
        </p:nvSpPr>
        <p:spPr>
          <a:xfrm>
            <a:off x="9418320" y="5468112"/>
            <a:ext cx="2103120" cy="256032"/>
          </a:xfrm>
          <a:prstGeom prst="rect">
            <a:avLst/>
          </a:prstGeom>
          <a:noFill/>
        </p:spPr>
        <p:txBody>
          <a:bodyPr wrap="square" anchor="t" lIns="0" rIns="0" tIns="0" bIns="0">
            <a:spAutoFit/>
          </a:bodyPr>
          <a:lstStyle/>
          <a:p>
            <a:pPr algn="l">
              <a:lnSpc>
                <a:spcPct val="100000"/>
              </a:lnSpc>
            </a:pPr>
            <a:r>
              <a:rPr sz="1050" b="1" i="0">
                <a:solidFill>
                  <a:srgbClr val="252F3D"/>
                </a:solidFill>
                <a:latin typeface="Calibri"/>
              </a:rPr>
              <a:t>7,659  (79.9 %)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OBJECTIVES &amp; RESEARCH QUESTIONS</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What the project set out to establish</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a:t>
            </a:r>
          </a:p>
        </p:txBody>
      </p:sp>
      <p:sp>
        <p:nvSpPr>
          <p:cNvPr id="8" name="TextBox 7"/>
          <p:cNvSpPr txBox="1"/>
          <p:nvPr/>
        </p:nvSpPr>
        <p:spPr>
          <a:xfrm>
            <a:off x="502920" y="1280160"/>
            <a:ext cx="11155680" cy="274320"/>
          </a:xfrm>
          <a:prstGeom prst="rect">
            <a:avLst/>
          </a:prstGeom>
          <a:noFill/>
        </p:spPr>
        <p:txBody>
          <a:bodyPr wrap="square" anchor="t" lIns="0" rIns="0" tIns="0" bIns="0">
            <a:spAutoFit/>
          </a:bodyPr>
          <a:lstStyle/>
          <a:p>
            <a:pPr algn="l">
              <a:lnSpc>
                <a:spcPct val="100000"/>
              </a:lnSpc>
            </a:pPr>
            <a:r>
              <a:rPr sz="1100" b="0" i="1">
                <a:solidFill>
                  <a:srgbClr val="6B7280"/>
                </a:solidFill>
                <a:latin typeface="Calibri"/>
              </a:rPr>
              <a:t>Project objective (derived from the implementation — the repository contains no written objectives document; see Appendix A4)</a:t>
            </a:r>
          </a:p>
        </p:txBody>
      </p:sp>
      <p:sp>
        <p:nvSpPr>
          <p:cNvPr id="9" name="Rectangle 8"/>
          <p:cNvSpPr/>
          <p:nvPr/>
        </p:nvSpPr>
        <p:spPr>
          <a:xfrm>
            <a:off x="502920" y="1572768"/>
            <a:ext cx="11183112" cy="658368"/>
          </a:xfrm>
          <a:prstGeom prst="rect">
            <a:avLst/>
          </a:prstGeom>
          <a:solidFill>
            <a:srgbClr val="ECF1F7"/>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1520" y="1700784"/>
            <a:ext cx="10789920" cy="457200"/>
          </a:xfrm>
          <a:prstGeom prst="rect">
            <a:avLst/>
          </a:prstGeom>
          <a:noFill/>
        </p:spPr>
        <p:txBody>
          <a:bodyPr wrap="square" anchor="t" lIns="0" rIns="0" tIns="0" bIns="0">
            <a:spAutoFit/>
          </a:bodyPr>
          <a:lstStyle/>
          <a:p>
            <a:pPr algn="l">
              <a:lnSpc>
                <a:spcPct val="106000"/>
              </a:lnSpc>
            </a:pPr>
            <a:r>
              <a:rPr sz="1350" b="1" i="0">
                <a:solidFill>
                  <a:srgbClr val="1F3B63"/>
                </a:solidFill>
                <a:latin typeface="Calibri"/>
              </a:rPr>
              <a:t>Build an end-to-end, reproducible and operationally deployed short-horizon GHI forecaster for Singapore that fuses geostationary imagery with reanalysis weather, and test honestly whether the imagery and the fusion mechanism earn their cost.</a:t>
            </a:r>
          </a:p>
        </p:txBody>
      </p:sp>
      <p:sp>
        <p:nvSpPr>
          <p:cNvPr id="11" name="Rectangle 10"/>
          <p:cNvSpPr/>
          <p:nvPr/>
        </p:nvSpPr>
        <p:spPr>
          <a:xfrm>
            <a:off x="502920" y="2523744"/>
            <a:ext cx="658368" cy="310896"/>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RQ1</a:t>
            </a:r>
          </a:p>
        </p:txBody>
      </p:sp>
      <p:sp>
        <p:nvSpPr>
          <p:cNvPr id="12" name="TextBox 11"/>
          <p:cNvSpPr txBox="1"/>
          <p:nvPr/>
        </p:nvSpPr>
        <p:spPr>
          <a:xfrm>
            <a:off x="1298448" y="2487168"/>
            <a:ext cx="7315200" cy="566928"/>
          </a:xfrm>
          <a:prstGeom prst="rect">
            <a:avLst/>
          </a:prstGeom>
          <a:noFill/>
        </p:spPr>
        <p:txBody>
          <a:bodyPr wrap="square" anchor="t" lIns="0" rIns="0" tIns="0" bIns="0">
            <a:spAutoFit/>
          </a:bodyPr>
          <a:lstStyle/>
          <a:p>
            <a:pPr algn="l">
              <a:lnSpc>
                <a:spcPct val="105000"/>
              </a:lnSpc>
            </a:pPr>
            <a:r>
              <a:rPr sz="1320" b="0" i="0">
                <a:solidFill>
                  <a:srgbClr val="252F3D"/>
                </a:solidFill>
                <a:latin typeface="Calibri"/>
              </a:rPr>
              <a:t>Does satellite imagery improve short-horizon GHI accuracy over a weather-only sequence model trained on identical data?</a:t>
            </a:r>
          </a:p>
        </p:txBody>
      </p:sp>
      <p:sp>
        <p:nvSpPr>
          <p:cNvPr id="13" name="TextBox 12"/>
          <p:cNvSpPr txBox="1"/>
          <p:nvPr/>
        </p:nvSpPr>
        <p:spPr>
          <a:xfrm>
            <a:off x="8732520" y="2532888"/>
            <a:ext cx="2971800" cy="457200"/>
          </a:xfrm>
          <a:prstGeom prst="rect">
            <a:avLst/>
          </a:prstGeom>
          <a:noFill/>
        </p:spPr>
        <p:txBody>
          <a:bodyPr wrap="square" anchor="t" lIns="0" rIns="0" tIns="0" bIns="0">
            <a:spAutoFit/>
          </a:bodyPr>
          <a:lstStyle/>
          <a:p>
            <a:pPr algn="l">
              <a:lnSpc>
                <a:spcPct val="102000"/>
              </a:lnSpc>
            </a:pPr>
            <a:r>
              <a:rPr sz="950" b="0" i="1">
                <a:solidFill>
                  <a:srgbClr val="6B7280"/>
                </a:solidFill>
                <a:latin typeface="Calibri"/>
              </a:rPr>
              <a:t>ablation grid, notebook cell 25  →  slides 11, 13</a:t>
            </a:r>
          </a:p>
        </p:txBody>
      </p:sp>
      <p:cxnSp>
        <p:nvCxnSpPr>
          <p:cNvPr id="14" name="Connector 13"/>
          <p:cNvCxnSpPr/>
          <p:nvPr/>
        </p:nvCxnSpPr>
        <p:spPr>
          <a:xfrm>
            <a:off x="502920" y="3145536"/>
            <a:ext cx="11183112" cy="0"/>
          </a:xfrm>
          <a:prstGeom prst="line">
            <a:avLst/>
          </a:prstGeom>
          <a:ln w="7620">
            <a:solidFill>
              <a:srgbClr val="D8DEE8"/>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02920" y="3310128"/>
            <a:ext cx="658368" cy="310896"/>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RQ2</a:t>
            </a:r>
          </a:p>
        </p:txBody>
      </p:sp>
      <p:sp>
        <p:nvSpPr>
          <p:cNvPr id="16" name="TextBox 15"/>
          <p:cNvSpPr txBox="1"/>
          <p:nvPr/>
        </p:nvSpPr>
        <p:spPr>
          <a:xfrm>
            <a:off x="1298448" y="3273552"/>
            <a:ext cx="7315200" cy="566928"/>
          </a:xfrm>
          <a:prstGeom prst="rect">
            <a:avLst/>
          </a:prstGeom>
          <a:noFill/>
        </p:spPr>
        <p:txBody>
          <a:bodyPr wrap="square" anchor="t" lIns="0" rIns="0" tIns="0" bIns="0">
            <a:spAutoFit/>
          </a:bodyPr>
          <a:lstStyle/>
          <a:p>
            <a:pPr algn="l">
              <a:lnSpc>
                <a:spcPct val="105000"/>
              </a:lnSpc>
            </a:pPr>
            <a:r>
              <a:rPr sz="1320" b="0" i="0">
                <a:solidFill>
                  <a:srgbClr val="252F3D"/>
                </a:solidFill>
                <a:latin typeface="Calibri"/>
              </a:rPr>
              <a:t>Does a physics-conditioned gate fuse the two modalities better than naive concatenation or a fixed blend?</a:t>
            </a:r>
          </a:p>
        </p:txBody>
      </p:sp>
      <p:sp>
        <p:nvSpPr>
          <p:cNvPr id="17" name="TextBox 16"/>
          <p:cNvSpPr txBox="1"/>
          <p:nvPr/>
        </p:nvSpPr>
        <p:spPr>
          <a:xfrm>
            <a:off x="8732520" y="3319272"/>
            <a:ext cx="2971800" cy="457200"/>
          </a:xfrm>
          <a:prstGeom prst="rect">
            <a:avLst/>
          </a:prstGeom>
          <a:noFill/>
        </p:spPr>
        <p:txBody>
          <a:bodyPr wrap="square" anchor="t" lIns="0" rIns="0" tIns="0" bIns="0">
            <a:spAutoFit/>
          </a:bodyPr>
          <a:lstStyle/>
          <a:p>
            <a:pPr algn="l">
              <a:lnSpc>
                <a:spcPct val="102000"/>
              </a:lnSpc>
            </a:pPr>
            <a:r>
              <a:rPr sz="950" b="0" i="1">
                <a:solidFill>
                  <a:srgbClr val="6B7280"/>
                </a:solidFill>
                <a:latin typeface="Calibri"/>
              </a:rPr>
              <a:t>gate module, model.py:326-329  →  slides 13, 15</a:t>
            </a:r>
          </a:p>
        </p:txBody>
      </p:sp>
      <p:cxnSp>
        <p:nvCxnSpPr>
          <p:cNvPr id="18" name="Connector 17"/>
          <p:cNvCxnSpPr/>
          <p:nvPr/>
        </p:nvCxnSpPr>
        <p:spPr>
          <a:xfrm>
            <a:off x="502920" y="3931920"/>
            <a:ext cx="11183112" cy="0"/>
          </a:xfrm>
          <a:prstGeom prst="line">
            <a:avLst/>
          </a:prstGeom>
          <a:ln w="7620">
            <a:solidFill>
              <a:srgbClr val="D8DEE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02920" y="4096512"/>
            <a:ext cx="658368" cy="310896"/>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RQ3</a:t>
            </a:r>
          </a:p>
        </p:txBody>
      </p:sp>
      <p:sp>
        <p:nvSpPr>
          <p:cNvPr id="20" name="TextBox 19"/>
          <p:cNvSpPr txBox="1"/>
          <p:nvPr/>
        </p:nvSpPr>
        <p:spPr>
          <a:xfrm>
            <a:off x="1298448" y="4059936"/>
            <a:ext cx="7315200" cy="566928"/>
          </a:xfrm>
          <a:prstGeom prst="rect">
            <a:avLst/>
          </a:prstGeom>
          <a:noFill/>
        </p:spPr>
        <p:txBody>
          <a:bodyPr wrap="square" anchor="t" lIns="0" rIns="0" tIns="0" bIns="0">
            <a:spAutoFit/>
          </a:bodyPr>
          <a:lstStyle/>
          <a:p>
            <a:pPr algn="l">
              <a:lnSpc>
                <a:spcPct val="105000"/>
              </a:lnSpc>
            </a:pPr>
            <a:r>
              <a:rPr sz="1320" b="0" i="0">
                <a:solidFill>
                  <a:srgbClr val="252F3D"/>
                </a:solidFill>
                <a:latin typeface="Calibri"/>
              </a:rPr>
              <a:t>Do 15.5 M-parameter deep models beat gradient-boosted trees when only ~6.7 k daylight training hours exist?</a:t>
            </a:r>
          </a:p>
        </p:txBody>
      </p:sp>
      <p:sp>
        <p:nvSpPr>
          <p:cNvPr id="21" name="TextBox 20"/>
          <p:cNvSpPr txBox="1"/>
          <p:nvPr/>
        </p:nvSpPr>
        <p:spPr>
          <a:xfrm>
            <a:off x="8732520" y="4105656"/>
            <a:ext cx="2971800" cy="457200"/>
          </a:xfrm>
          <a:prstGeom prst="rect">
            <a:avLst/>
          </a:prstGeom>
          <a:noFill/>
        </p:spPr>
        <p:txBody>
          <a:bodyPr wrap="square" anchor="t" lIns="0" rIns="0" tIns="0" bIns="0">
            <a:spAutoFit/>
          </a:bodyPr>
          <a:lstStyle/>
          <a:p>
            <a:pPr algn="l">
              <a:lnSpc>
                <a:spcPct val="102000"/>
              </a:lnSpc>
            </a:pPr>
            <a:r>
              <a:rPr sz="950" b="0" i="1">
                <a:solidFill>
                  <a:srgbClr val="6B7280"/>
                </a:solidFill>
                <a:latin typeface="Calibri"/>
              </a:rPr>
              <a:t>baseline grid, notebook cell 6  →  slides 11, 13</a:t>
            </a:r>
          </a:p>
        </p:txBody>
      </p:sp>
      <p:cxnSp>
        <p:nvCxnSpPr>
          <p:cNvPr id="22" name="Connector 21"/>
          <p:cNvCxnSpPr/>
          <p:nvPr/>
        </p:nvCxnSpPr>
        <p:spPr>
          <a:xfrm>
            <a:off x="502920" y="4718304"/>
            <a:ext cx="11183112" cy="0"/>
          </a:xfrm>
          <a:prstGeom prst="line">
            <a:avLst/>
          </a:prstGeom>
          <a:ln w="7620">
            <a:solidFill>
              <a:srgbClr val="D8DEE8"/>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02920" y="4882896"/>
            <a:ext cx="658368" cy="310896"/>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RQ4</a:t>
            </a:r>
          </a:p>
        </p:txBody>
      </p:sp>
      <p:sp>
        <p:nvSpPr>
          <p:cNvPr id="24" name="TextBox 23"/>
          <p:cNvSpPr txBox="1"/>
          <p:nvPr/>
        </p:nvSpPr>
        <p:spPr>
          <a:xfrm>
            <a:off x="1298448" y="4846320"/>
            <a:ext cx="7315200" cy="566928"/>
          </a:xfrm>
          <a:prstGeom prst="rect">
            <a:avLst/>
          </a:prstGeom>
          <a:noFill/>
        </p:spPr>
        <p:txBody>
          <a:bodyPr wrap="square" anchor="t" lIns="0" rIns="0" tIns="0" bIns="0">
            <a:spAutoFit/>
          </a:bodyPr>
          <a:lstStyle/>
          <a:p>
            <a:pPr algn="l">
              <a:lnSpc>
                <a:spcPct val="105000"/>
              </a:lnSpc>
            </a:pPr>
            <a:r>
              <a:rPr sz="1320" b="0" i="0">
                <a:solidFill>
                  <a:srgbClr val="252F3D"/>
                </a:solidFill>
                <a:latin typeface="Calibri"/>
              </a:rPr>
              <a:t>Are the predicted Gaussian intervals calibrated well enough to be used operationally?</a:t>
            </a:r>
          </a:p>
        </p:txBody>
      </p:sp>
      <p:sp>
        <p:nvSpPr>
          <p:cNvPr id="25" name="TextBox 24"/>
          <p:cNvSpPr txBox="1"/>
          <p:nvPr/>
        </p:nvSpPr>
        <p:spPr>
          <a:xfrm>
            <a:off x="8732520" y="4892040"/>
            <a:ext cx="2971800" cy="457200"/>
          </a:xfrm>
          <a:prstGeom prst="rect">
            <a:avLst/>
          </a:prstGeom>
          <a:noFill/>
        </p:spPr>
        <p:txBody>
          <a:bodyPr wrap="square" anchor="t" lIns="0" rIns="0" tIns="0" bIns="0">
            <a:spAutoFit/>
          </a:bodyPr>
          <a:lstStyle/>
          <a:p>
            <a:pPr algn="l">
              <a:lnSpc>
                <a:spcPct val="102000"/>
              </a:lnSpc>
            </a:pPr>
            <a:r>
              <a:rPr sz="950" b="0" i="1">
                <a:solidFill>
                  <a:srgbClr val="6B7280"/>
                </a:solidFill>
                <a:latin typeface="Calibri"/>
              </a:rPr>
              <a:t>σ head + NLL objective  →  slide 14</a:t>
            </a:r>
          </a:p>
        </p:txBody>
      </p:sp>
      <p:cxnSp>
        <p:nvCxnSpPr>
          <p:cNvPr id="26" name="Connector 25"/>
          <p:cNvCxnSpPr/>
          <p:nvPr/>
        </p:nvCxnSpPr>
        <p:spPr>
          <a:xfrm>
            <a:off x="502920" y="5504688"/>
            <a:ext cx="11183112" cy="0"/>
          </a:xfrm>
          <a:prstGeom prst="line">
            <a:avLst/>
          </a:prstGeom>
          <a:ln w="7620">
            <a:solidFill>
              <a:srgbClr val="D8DEE8"/>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02920" y="5669280"/>
            <a:ext cx="658368" cy="310896"/>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RQ5</a:t>
            </a:r>
          </a:p>
        </p:txBody>
      </p:sp>
      <p:sp>
        <p:nvSpPr>
          <p:cNvPr id="28" name="TextBox 27"/>
          <p:cNvSpPr txBox="1"/>
          <p:nvPr/>
        </p:nvSpPr>
        <p:spPr>
          <a:xfrm>
            <a:off x="1298448" y="5632704"/>
            <a:ext cx="7315200" cy="566928"/>
          </a:xfrm>
          <a:prstGeom prst="rect">
            <a:avLst/>
          </a:prstGeom>
          <a:noFill/>
        </p:spPr>
        <p:txBody>
          <a:bodyPr wrap="square" anchor="t" lIns="0" rIns="0" tIns="0" bIns="0">
            <a:spAutoFit/>
          </a:bodyPr>
          <a:lstStyle/>
          <a:p>
            <a:pPr algn="l">
              <a:lnSpc>
                <a:spcPct val="105000"/>
              </a:lnSpc>
            </a:pPr>
            <a:r>
              <a:rPr sz="1320" b="0" i="0">
                <a:solidFill>
                  <a:srgbClr val="252F3D"/>
                </a:solidFill>
                <a:latin typeface="Calibri"/>
              </a:rPr>
              <a:t>Does an offline-validated model survive deployment into an automated live pipeline?</a:t>
            </a:r>
          </a:p>
        </p:txBody>
      </p:sp>
      <p:sp>
        <p:nvSpPr>
          <p:cNvPr id="29" name="TextBox 28"/>
          <p:cNvSpPr txBox="1"/>
          <p:nvPr/>
        </p:nvSpPr>
        <p:spPr>
          <a:xfrm>
            <a:off x="8732520" y="5678424"/>
            <a:ext cx="2971800" cy="457200"/>
          </a:xfrm>
          <a:prstGeom prst="rect">
            <a:avLst/>
          </a:prstGeom>
          <a:noFill/>
        </p:spPr>
        <p:txBody>
          <a:bodyPr wrap="square" anchor="t" lIns="0" rIns="0" tIns="0" bIns="0">
            <a:spAutoFit/>
          </a:bodyPr>
          <a:lstStyle/>
          <a:p>
            <a:pPr algn="l">
              <a:lnSpc>
                <a:spcPct val="102000"/>
              </a:lnSpc>
            </a:pPr>
            <a:r>
              <a:rPr sz="950" b="0" i="1">
                <a:solidFill>
                  <a:srgbClr val="6B7280"/>
                </a:solidFill>
                <a:latin typeface="Calibri"/>
              </a:rPr>
              <a:t>predict.py / verify.py / cron  →  slide 17</a:t>
            </a:r>
          </a:p>
        </p:txBody>
      </p:sp>
      <p:cxnSp>
        <p:nvCxnSpPr>
          <p:cNvPr id="30" name="Connector 29"/>
          <p:cNvCxnSpPr/>
          <p:nvPr/>
        </p:nvCxnSpPr>
        <p:spPr>
          <a:xfrm>
            <a:off x="502920" y="6291072"/>
            <a:ext cx="11183112" cy="0"/>
          </a:xfrm>
          <a:prstGeom prst="line">
            <a:avLst/>
          </a:prstGeom>
          <a:ln w="7620">
            <a:solidFill>
              <a:srgbClr val="D8DE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2920" y="5797296"/>
            <a:ext cx="11155680" cy="457200"/>
          </a:xfrm>
          <a:prstGeom prst="rect">
            <a:avLst/>
          </a:prstGeom>
          <a:noFill/>
        </p:spPr>
        <p:txBody>
          <a:bodyPr wrap="square" anchor="t" lIns="0" rIns="0" tIns="0" bIns="0">
            <a:spAutoFit/>
          </a:bodyPr>
          <a:lstStyle/>
          <a:p>
            <a:pPr algn="l">
              <a:lnSpc>
                <a:spcPct val="105000"/>
              </a:lnSpc>
            </a:pPr>
            <a:r>
              <a:rPr sz="1150" b="0" i="1">
                <a:solidFill>
                  <a:srgbClr val="6B7280"/>
                </a:solidFill>
                <a:latin typeface="Calibri"/>
              </a:rPr>
              <a:t>Technical objectives that follow: a single model definition shared by training and inference (model.py), probabilistic rather than point outputs, and every comparison made against persistence baselines on identical rows.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BACKGROUND &amp; GAP ANALYSIS</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What already existed, what I built, and where the gap is</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a:t>
            </a:r>
          </a:p>
        </p:txBody>
      </p:sp>
      <p:graphicFrame>
        <p:nvGraphicFramePr>
          <p:cNvPr id="8" name="Table 7"/>
          <p:cNvGraphicFramePr>
            <a:graphicFrameLocks noGrp="1"/>
          </p:cNvGraphicFramePr>
          <p:nvPr/>
        </p:nvGraphicFramePr>
        <p:xfrm>
          <a:off x="502920" y="1325880"/>
          <a:ext cx="11183111" cy="3840480"/>
        </p:xfrm>
        <a:graphic>
          <a:graphicData uri="http://schemas.openxmlformats.org/drawingml/2006/table">
            <a:tbl>
              <a:tblPr bandRow="1"/>
              <a:tblGrid>
                <a:gridCol w="2738721"/>
                <a:gridCol w="1232424"/>
                <a:gridCol w="7211966"/>
              </a:tblGrid>
              <a:tr h="274320">
                <a:tc>
                  <a:txBody>
                    <a:bodyPr/>
                    <a:lstStyle/>
                    <a:p>
                      <a:pPr algn="l"/>
                      <a:r>
                        <a:rPr sz="1050" b="1">
                          <a:solidFill>
                            <a:srgbClr val="FFFFFF"/>
                          </a:solidFill>
                          <a:latin typeface="Calibri"/>
                        </a:rPr>
                        <a:t>Component</a:t>
                      </a:r>
                    </a:p>
                  </a:txBody>
                  <a:tcPr marL="54864" marR="54864" marT="18288" marB="18288" anchor="ctr">
                    <a:solidFill>
                      <a:srgbClr val="1F3B63"/>
                    </a:solidFill>
                  </a:tcPr>
                </a:tc>
                <a:tc>
                  <a:txBody>
                    <a:bodyPr/>
                    <a:lstStyle/>
                    <a:p>
                      <a:pPr algn="l"/>
                      <a:r>
                        <a:rPr sz="1050" b="1">
                          <a:solidFill>
                            <a:srgbClr val="FFFFFF"/>
                          </a:solidFill>
                          <a:latin typeface="Calibri"/>
                        </a:rPr>
                        <a:t>Status</a:t>
                      </a:r>
                    </a:p>
                  </a:txBody>
                  <a:tcPr marL="54864" marR="54864" marT="18288" marB="18288" anchor="ctr">
                    <a:solidFill>
                      <a:srgbClr val="1F3B63"/>
                    </a:solidFill>
                  </a:tcPr>
                </a:tc>
                <a:tc>
                  <a:txBody>
                    <a:bodyPr/>
                    <a:lstStyle/>
                    <a:p>
                      <a:pPr algn="l"/>
                      <a:r>
                        <a:rPr sz="1050" b="1">
                          <a:solidFill>
                            <a:srgbClr val="FFFFFF"/>
                          </a:solidFill>
                          <a:latin typeface="Calibri"/>
                        </a:rPr>
                        <a:t>What it is / what I did with it</a:t>
                      </a:r>
                    </a:p>
                  </a:txBody>
                  <a:tcPr marL="54864" marR="54864" marT="18288" marB="18288" anchor="ctr">
                    <a:solidFill>
                      <a:srgbClr val="1F3B63"/>
                    </a:solidFill>
                  </a:tcPr>
                </a:tc>
              </a:tr>
              <a:tr h="297180">
                <a:tc>
                  <a:txBody>
                    <a:bodyPr/>
                    <a:lstStyle/>
                    <a:p>
                      <a:pPr algn="l"/>
                      <a:r>
                        <a:rPr sz="1000" b="0">
                          <a:solidFill>
                            <a:srgbClr val="252F3D"/>
                          </a:solidFill>
                          <a:latin typeface="Calibri"/>
                        </a:rPr>
                        <a:t>Himawari-8/9 imagery (NICT)</a:t>
                      </a:r>
                    </a:p>
                  </a:txBody>
                  <a:tcPr marL="54864" marR="54864" marT="9144" marB="9144" anchor="ctr">
                    <a:solidFill>
                      <a:srgbClr val="F3F5F9"/>
                    </a:solidFill>
                  </a:tcPr>
                </a:tc>
                <a:tc>
                  <a:txBody>
                    <a:bodyPr/>
                    <a:lstStyle/>
                    <a:p>
                      <a:pPr algn="l"/>
                      <a:r>
                        <a:rPr sz="1000" b="0">
                          <a:solidFill>
                            <a:srgbClr val="6B7280"/>
                          </a:solidFill>
                          <a:latin typeface="Calibri"/>
                        </a:rPr>
                        <a:t>EXISTING</a:t>
                      </a:r>
                    </a:p>
                  </a:txBody>
                  <a:tcPr marL="54864" marR="54864" marT="9144" marB="9144" anchor="ctr">
                    <a:solidFill>
                      <a:srgbClr val="F3F5F9"/>
                    </a:solidFill>
                  </a:tcPr>
                </a:tc>
                <a:tc>
                  <a:txBody>
                    <a:bodyPr/>
                    <a:lstStyle/>
                    <a:p>
                      <a:pPr algn="l"/>
                      <a:r>
                        <a:rPr sz="1000" b="0">
                          <a:solidFill>
                            <a:srgbClr val="252F3D"/>
                          </a:solidFill>
                          <a:latin typeface="Calibri"/>
                        </a:rPr>
                        <a:t>Geostationary full disc, 10-min cadence. I use the 4d/550 px tile (1,1) that covers Singapore.</a:t>
                      </a:r>
                    </a:p>
                  </a:txBody>
                  <a:tcPr marL="54864" marR="54864" marT="9144" marB="9144" anchor="ctr">
                    <a:solidFill>
                      <a:srgbClr val="F3F5F9"/>
                    </a:solidFill>
                  </a:tcPr>
                </a:tc>
              </a:tr>
              <a:tr h="297180">
                <a:tc>
                  <a:txBody>
                    <a:bodyPr/>
                    <a:lstStyle/>
                    <a:p>
                      <a:pPr algn="l"/>
                      <a:r>
                        <a:rPr sz="1000" b="0">
                          <a:solidFill>
                            <a:srgbClr val="252F3D"/>
                          </a:solidFill>
                          <a:latin typeface="Calibri"/>
                        </a:rPr>
                        <a:t>Open-Meteo ERA5 archive</a:t>
                      </a:r>
                    </a:p>
                  </a:txBody>
                  <a:tcPr marL="54864" marR="54864" marT="9144" marB="9144" anchor="ctr">
                    <a:solidFill>
                      <a:srgbClr val="FFFFFF"/>
                    </a:solidFill>
                  </a:tcPr>
                </a:tc>
                <a:tc>
                  <a:txBody>
                    <a:bodyPr/>
                    <a:lstStyle/>
                    <a:p>
                      <a:pPr algn="l"/>
                      <a:r>
                        <a:rPr sz="1000" b="0">
                          <a:solidFill>
                            <a:srgbClr val="6B7280"/>
                          </a:solidFill>
                          <a:latin typeface="Calibri"/>
                        </a:rPr>
                        <a:t>EXISTING</a:t>
                      </a:r>
                    </a:p>
                  </a:txBody>
                  <a:tcPr marL="54864" marR="54864" marT="9144" marB="9144" anchor="ctr">
                    <a:solidFill>
                      <a:srgbClr val="FFFFFF"/>
                    </a:solidFill>
                  </a:tcPr>
                </a:tc>
                <a:tc>
                  <a:txBody>
                    <a:bodyPr/>
                    <a:lstStyle/>
                    <a:p>
                      <a:pPr algn="l"/>
                      <a:r>
                        <a:rPr sz="1000" b="0">
                          <a:solidFill>
                            <a:srgbClr val="252F3D"/>
                          </a:solidFill>
                          <a:latin typeface="Calibri"/>
                        </a:rPr>
                        <a:t>Hourly reanalysis weather and shortwave radiation — the GHI target and all weather features.</a:t>
                      </a:r>
                    </a:p>
                  </a:txBody>
                  <a:tcPr marL="54864" marR="54864" marT="9144" marB="9144" anchor="ctr">
                    <a:solidFill>
                      <a:srgbClr val="FFFFFF"/>
                    </a:solidFill>
                  </a:tcPr>
                </a:tc>
              </a:tr>
              <a:tr h="297180">
                <a:tc>
                  <a:txBody>
                    <a:bodyPr/>
                    <a:lstStyle/>
                    <a:p>
                      <a:pPr algn="l"/>
                      <a:r>
                        <a:rPr sz="1000" b="0">
                          <a:solidFill>
                            <a:srgbClr val="252F3D"/>
                          </a:solidFill>
                          <a:latin typeface="Calibri"/>
                        </a:rPr>
                        <a:t>pvlib Ineichen clear-sky model</a:t>
                      </a:r>
                    </a:p>
                  </a:txBody>
                  <a:tcPr marL="54864" marR="54864" marT="9144" marB="9144" anchor="ctr">
                    <a:solidFill>
                      <a:srgbClr val="F3F5F9"/>
                    </a:solidFill>
                  </a:tcPr>
                </a:tc>
                <a:tc>
                  <a:txBody>
                    <a:bodyPr/>
                    <a:lstStyle/>
                    <a:p>
                      <a:pPr algn="l"/>
                      <a:r>
                        <a:rPr sz="1000" b="0">
                          <a:solidFill>
                            <a:srgbClr val="6B7280"/>
                          </a:solidFill>
                          <a:latin typeface="Calibri"/>
                        </a:rPr>
                        <a:t>EXISTING</a:t>
                      </a:r>
                    </a:p>
                  </a:txBody>
                  <a:tcPr marL="54864" marR="54864" marT="9144" marB="9144" anchor="ctr">
                    <a:solidFill>
                      <a:srgbClr val="F3F5F9"/>
                    </a:solidFill>
                  </a:tcPr>
                </a:tc>
                <a:tc>
                  <a:txBody>
                    <a:bodyPr/>
                    <a:lstStyle/>
                    <a:p>
                      <a:pPr algn="l"/>
                      <a:r>
                        <a:rPr sz="1000" b="0">
                          <a:solidFill>
                            <a:srgbClr val="252F3D"/>
                          </a:solidFill>
                          <a:latin typeface="Calibri"/>
                        </a:rPr>
                        <a:t>Deterministic clear-sky GHI from solar geometry; the denominator of the clear-sky index.</a:t>
                      </a:r>
                    </a:p>
                  </a:txBody>
                  <a:tcPr marL="54864" marR="54864" marT="9144" marB="9144" anchor="ctr">
                    <a:solidFill>
                      <a:srgbClr val="F3F5F9"/>
                    </a:solidFill>
                  </a:tcPr>
                </a:tc>
              </a:tr>
              <a:tr h="297180">
                <a:tc>
                  <a:txBody>
                    <a:bodyPr/>
                    <a:lstStyle/>
                    <a:p>
                      <a:pPr algn="l"/>
                      <a:r>
                        <a:rPr sz="1000" b="0">
                          <a:solidFill>
                            <a:srgbClr val="252F3D"/>
                          </a:solidFill>
                          <a:latin typeface="Calibri"/>
                        </a:rPr>
                        <a:t>EfficientNet-B2 (Tan &amp; Le, 2019)</a:t>
                      </a:r>
                    </a:p>
                  </a:txBody>
                  <a:tcPr marL="54864" marR="54864" marT="9144" marB="9144" anchor="ctr">
                    <a:solidFill>
                      <a:srgbClr val="FFFFFF"/>
                    </a:solidFill>
                  </a:tcPr>
                </a:tc>
                <a:tc>
                  <a:txBody>
                    <a:bodyPr/>
                    <a:lstStyle/>
                    <a:p>
                      <a:pPr algn="l"/>
                      <a:r>
                        <a:rPr sz="1000" b="0">
                          <a:solidFill>
                            <a:srgbClr val="6B7280"/>
                          </a:solidFill>
                          <a:latin typeface="Calibri"/>
                        </a:rPr>
                        <a:t>EXISTING</a:t>
                      </a:r>
                    </a:p>
                  </a:txBody>
                  <a:tcPr marL="54864" marR="54864" marT="9144" marB="9144" anchor="ctr">
                    <a:solidFill>
                      <a:srgbClr val="FFFFFF"/>
                    </a:solidFill>
                  </a:tcPr>
                </a:tc>
                <a:tc>
                  <a:txBody>
                    <a:bodyPr/>
                    <a:lstStyle/>
                    <a:p>
                      <a:pPr algn="l"/>
                      <a:r>
                        <a:rPr sz="1000" b="0">
                          <a:solidFill>
                            <a:srgbClr val="252F3D"/>
                          </a:solidFill>
                          <a:latin typeface="Calibri"/>
                        </a:rPr>
                        <a:t>ImageNet-pretrained CNN backbone, used through timm as a frozen-then-fine-tuned encoder.</a:t>
                      </a:r>
                    </a:p>
                  </a:txBody>
                  <a:tcPr marL="54864" marR="54864" marT="9144" marB="9144" anchor="ctr">
                    <a:solidFill>
                      <a:srgbClr val="FFFFFF"/>
                    </a:solidFill>
                  </a:tcPr>
                </a:tc>
              </a:tr>
              <a:tr h="297180">
                <a:tc>
                  <a:txBody>
                    <a:bodyPr/>
                    <a:lstStyle/>
                    <a:p>
                      <a:pPr algn="l"/>
                      <a:r>
                        <a:rPr sz="1000" b="0">
                          <a:solidFill>
                            <a:srgbClr val="252F3D"/>
                          </a:solidFill>
                          <a:latin typeface="Calibri"/>
                        </a:rPr>
                        <a:t>SWIMSEG (Dev et al., 2017)</a:t>
                      </a:r>
                    </a:p>
                  </a:txBody>
                  <a:tcPr marL="54864" marR="54864" marT="9144" marB="9144" anchor="ctr">
                    <a:solidFill>
                      <a:srgbClr val="F3F5F9"/>
                    </a:solidFill>
                  </a:tcPr>
                </a:tc>
                <a:tc>
                  <a:txBody>
                    <a:bodyPr/>
                    <a:lstStyle/>
                    <a:p>
                      <a:pPr algn="l"/>
                      <a:r>
                        <a:rPr sz="1000" b="0">
                          <a:solidFill>
                            <a:srgbClr val="6B7280"/>
                          </a:solidFill>
                          <a:latin typeface="Calibri"/>
                        </a:rPr>
                        <a:t>EXISTING</a:t>
                      </a:r>
                    </a:p>
                  </a:txBody>
                  <a:tcPr marL="54864" marR="54864" marT="9144" marB="9144" anchor="ctr">
                    <a:solidFill>
                      <a:srgbClr val="F3F5F9"/>
                    </a:solidFill>
                  </a:tcPr>
                </a:tc>
                <a:tc>
                  <a:txBody>
                    <a:bodyPr/>
                    <a:lstStyle/>
                    <a:p>
                      <a:pPr algn="l"/>
                      <a:r>
                        <a:rPr sz="1000" b="0">
                          <a:solidFill>
                            <a:srgbClr val="252F3D"/>
                          </a:solidFill>
                          <a:latin typeface="Calibri"/>
                        </a:rPr>
                        <a:t>1,013 labelled Singapore sky/cloud images used to pretrain the encoder for cloud awareness.</a:t>
                      </a:r>
                    </a:p>
                  </a:txBody>
                  <a:tcPr marL="54864" marR="54864" marT="9144" marB="9144" anchor="ctr">
                    <a:solidFill>
                      <a:srgbClr val="F3F5F9"/>
                    </a:solidFill>
                  </a:tcPr>
                </a:tc>
              </a:tr>
              <a:tr h="297180">
                <a:tc>
                  <a:txBody>
                    <a:bodyPr/>
                    <a:lstStyle/>
                    <a:p>
                      <a:pPr algn="l"/>
                      <a:r>
                        <a:rPr sz="1000" b="0">
                          <a:solidFill>
                            <a:srgbClr val="252F3D"/>
                          </a:solidFill>
                          <a:latin typeface="Calibri"/>
                        </a:rPr>
                        <a:t>Smart-persistence baseline</a:t>
                      </a:r>
                    </a:p>
                  </a:txBody>
                  <a:tcPr marL="54864" marR="54864" marT="9144" marB="9144" anchor="ctr">
                    <a:solidFill>
                      <a:srgbClr val="FFFFFF"/>
                    </a:solidFill>
                  </a:tcPr>
                </a:tc>
                <a:tc>
                  <a:txBody>
                    <a:bodyPr/>
                    <a:lstStyle/>
                    <a:p>
                      <a:pPr algn="l"/>
                      <a:r>
                        <a:rPr sz="1000" b="0">
                          <a:solidFill>
                            <a:srgbClr val="6B7280"/>
                          </a:solidFill>
                          <a:latin typeface="Calibri"/>
                        </a:rPr>
                        <a:t>EXISTING</a:t>
                      </a:r>
                    </a:p>
                  </a:txBody>
                  <a:tcPr marL="54864" marR="54864" marT="9144" marB="9144" anchor="ctr">
                    <a:solidFill>
                      <a:srgbClr val="FFFFFF"/>
                    </a:solidFill>
                  </a:tcPr>
                </a:tc>
                <a:tc>
                  <a:txBody>
                    <a:bodyPr/>
                    <a:lstStyle/>
                    <a:p>
                      <a:pPr algn="l"/>
                      <a:r>
                        <a:rPr sz="1000" b="0">
                          <a:solidFill>
                            <a:srgbClr val="252F3D"/>
                          </a:solidFill>
                          <a:latin typeface="Calibri"/>
                        </a:rPr>
                        <a:t>The standard reference in solar forecasting; implemented in model.py:679 and used everywhere.</a:t>
                      </a:r>
                    </a:p>
                  </a:txBody>
                  <a:tcPr marL="54864" marR="54864" marT="9144" marB="9144" anchor="ctr">
                    <a:solidFill>
                      <a:srgbClr val="FFFFFF"/>
                    </a:solidFill>
                  </a:tcPr>
                </a:tc>
              </a:tr>
              <a:tr h="297180">
                <a:tc>
                  <a:txBody>
                    <a:bodyPr/>
                    <a:lstStyle/>
                    <a:p>
                      <a:pPr algn="l"/>
                      <a:r>
                        <a:rPr sz="1000" b="0">
                          <a:solidFill>
                            <a:srgbClr val="252F3D"/>
                          </a:solidFill>
                          <a:latin typeface="Calibri"/>
                        </a:rPr>
                        <a:t>Data assembly pipeline</a:t>
                      </a:r>
                    </a:p>
                  </a:txBody>
                  <a:tcPr marL="54864" marR="54864" marT="9144" marB="9144" anchor="ctr">
                    <a:solidFill>
                      <a:srgbClr val="F3F5F9"/>
                    </a:solidFill>
                  </a:tcPr>
                </a:tc>
                <a:tc>
                  <a:txBody>
                    <a:bodyPr/>
                    <a:lstStyle/>
                    <a:p>
                      <a:pPr algn="l"/>
                      <a:r>
                        <a:rPr sz="1000" b="0">
                          <a:solidFill>
                            <a:srgbClr val="2E7D74"/>
                          </a:solidFill>
                          <a:latin typeface="Calibri"/>
                        </a:rPr>
                        <a:t>IMPLEMENTED</a:t>
                      </a:r>
                    </a:p>
                  </a:txBody>
                  <a:tcPr marL="54864" marR="54864" marT="9144" marB="9144" anchor="ctr">
                    <a:solidFill>
                      <a:srgbClr val="F3F5F9"/>
                    </a:solidFill>
                  </a:tcPr>
                </a:tc>
                <a:tc>
                  <a:txBody>
                    <a:bodyPr/>
                    <a:lstStyle/>
                    <a:p>
                      <a:pPr algn="l"/>
                      <a:r>
                        <a:rPr sz="1000" b="0">
                          <a:solidFill>
                            <a:srgbClr val="252F3D"/>
                          </a:solidFill>
                          <a:latin typeface="Calibri"/>
                        </a:rPr>
                        <a:t>historical_data.py + fetch_solcast.py + combined_dataset.py: fetch, clear-sky, daylight filter, ±60 min image matching → 9,590-row table.</a:t>
                      </a:r>
                    </a:p>
                  </a:txBody>
                  <a:tcPr marL="54864" marR="54864" marT="9144" marB="9144" anchor="ctr">
                    <a:solidFill>
                      <a:srgbClr val="F3F5F9"/>
                    </a:solidFill>
                  </a:tcPr>
                </a:tc>
              </a:tr>
              <a:tr h="297180">
                <a:tc>
                  <a:txBody>
                    <a:bodyPr/>
                    <a:lstStyle/>
                    <a:p>
                      <a:pPr algn="l"/>
                      <a:r>
                        <a:rPr sz="1000" b="0">
                          <a:solidFill>
                            <a:srgbClr val="252F3D"/>
                          </a:solidFill>
                          <a:latin typeface="Calibri"/>
                        </a:rPr>
                        <a:t>Physics-gated fusion architecture</a:t>
                      </a:r>
                    </a:p>
                  </a:txBody>
                  <a:tcPr marL="54864" marR="54864" marT="9144" marB="9144" anchor="ctr">
                    <a:solidFill>
                      <a:srgbClr val="FFFFFF"/>
                    </a:solidFill>
                  </a:tcPr>
                </a:tc>
                <a:tc>
                  <a:txBody>
                    <a:bodyPr/>
                    <a:lstStyle/>
                    <a:p>
                      <a:pPr algn="l"/>
                      <a:r>
                        <a:rPr sz="1000" b="0">
                          <a:solidFill>
                            <a:srgbClr val="2E7D74"/>
                          </a:solidFill>
                          <a:latin typeface="Calibri"/>
                        </a:rPr>
                        <a:t>IMPLEMENTED</a:t>
                      </a:r>
                    </a:p>
                  </a:txBody>
                  <a:tcPr marL="54864" marR="54864" marT="9144" marB="9144" anchor="ctr">
                    <a:solidFill>
                      <a:srgbClr val="FFFFFF"/>
                    </a:solidFill>
                  </a:tcPr>
                </a:tc>
                <a:tc>
                  <a:txBody>
                    <a:bodyPr/>
                    <a:lstStyle/>
                    <a:p>
                      <a:pPr algn="l"/>
                      <a:r>
                        <a:rPr sz="1000" b="0">
                          <a:solidFill>
                            <a:srgbClr val="252F3D"/>
                          </a:solidFill>
                          <a:latin typeface="Calibri"/>
                        </a:rPr>
                        <a:t>model.py: dual CNN branches, 8-head cross-attention over 196 patches, 4-input gate, heteroscedastic 3-horizon head.</a:t>
                      </a:r>
                    </a:p>
                  </a:txBody>
                  <a:tcPr marL="54864" marR="54864" marT="9144" marB="9144" anchor="ctr">
                    <a:solidFill>
                      <a:srgbClr val="FFFFFF"/>
                    </a:solidFill>
                  </a:tcPr>
                </a:tc>
              </a:tr>
              <a:tr h="297180">
                <a:tc>
                  <a:txBody>
                    <a:bodyPr/>
                    <a:lstStyle/>
                    <a:p>
                      <a:pPr algn="l"/>
                      <a:r>
                        <a:rPr sz="1000" b="0">
                          <a:solidFill>
                            <a:srgbClr val="252F3D"/>
                          </a:solidFill>
                          <a:latin typeface="Calibri"/>
                        </a:rPr>
                        <a:t>SWIMSEG pretraining stage</a:t>
                      </a:r>
                    </a:p>
                  </a:txBody>
                  <a:tcPr marL="54864" marR="54864" marT="9144" marB="9144" anchor="ctr">
                    <a:solidFill>
                      <a:srgbClr val="F3F5F9"/>
                    </a:solidFill>
                  </a:tcPr>
                </a:tc>
                <a:tc>
                  <a:txBody>
                    <a:bodyPr/>
                    <a:lstStyle/>
                    <a:p>
                      <a:pPr algn="l"/>
                      <a:r>
                        <a:rPr sz="1000" b="0">
                          <a:solidFill>
                            <a:srgbClr val="C4622D"/>
                          </a:solidFill>
                          <a:latin typeface="Calibri"/>
                        </a:rPr>
                        <a:t>INTEGRATED</a:t>
                      </a:r>
                    </a:p>
                  </a:txBody>
                  <a:tcPr marL="54864" marR="54864" marT="9144" marB="9144" anchor="ctr">
                    <a:solidFill>
                      <a:srgbClr val="F3F5F9"/>
                    </a:solidFill>
                  </a:tcPr>
                </a:tc>
                <a:tc>
                  <a:txBody>
                    <a:bodyPr/>
                    <a:lstStyle/>
                    <a:p>
                      <a:pPr algn="l"/>
                      <a:r>
                        <a:rPr sz="1000" b="0">
                          <a:solidFill>
                            <a:srgbClr val="252F3D"/>
                          </a:solidFill>
                          <a:latin typeface="Calibri"/>
                        </a:rPr>
                        <a:t>FPN decoder + Dice/BCE + cloud-fraction auxiliary head wrapped around the B2 encoder (notebook §3.5); encoder weights carried into the forecaster.</a:t>
                      </a:r>
                    </a:p>
                  </a:txBody>
                  <a:tcPr marL="54864" marR="54864" marT="9144" marB="9144" anchor="ctr">
                    <a:solidFill>
                      <a:srgbClr val="F3F5F9"/>
                    </a:solidFill>
                  </a:tcPr>
                </a:tc>
              </a:tr>
              <a:tr h="297180">
                <a:tc>
                  <a:txBody>
                    <a:bodyPr/>
                    <a:lstStyle/>
                    <a:p>
                      <a:pPr algn="l"/>
                      <a:r>
                        <a:rPr sz="1000" b="0">
                          <a:solidFill>
                            <a:srgbClr val="252F3D"/>
                          </a:solidFill>
                          <a:latin typeface="Calibri"/>
                        </a:rPr>
                        <a:t>Optical-flow gate input</a:t>
                      </a:r>
                    </a:p>
                  </a:txBody>
                  <a:tcPr marL="54864" marR="54864" marT="9144" marB="9144" anchor="ctr">
                    <a:solidFill>
                      <a:srgbClr val="FFFFFF"/>
                    </a:solidFill>
                  </a:tcPr>
                </a:tc>
                <a:tc>
                  <a:txBody>
                    <a:bodyPr/>
                    <a:lstStyle/>
                    <a:p>
                      <a:pPr algn="l"/>
                      <a:r>
                        <a:rPr sz="1000" b="0">
                          <a:solidFill>
                            <a:srgbClr val="2E7D74"/>
                          </a:solidFill>
                          <a:latin typeface="Calibri"/>
                        </a:rPr>
                        <a:t>IMPLEMENTED</a:t>
                      </a:r>
                    </a:p>
                  </a:txBody>
                  <a:tcPr marL="54864" marR="54864" marT="9144" marB="9144" anchor="ctr">
                    <a:solidFill>
                      <a:srgbClr val="FFFFFF"/>
                    </a:solidFill>
                  </a:tcPr>
                </a:tc>
                <a:tc>
                  <a:txBody>
                    <a:bodyPr/>
                    <a:lstStyle/>
                    <a:p>
                      <a:pPr algn="l"/>
                      <a:r>
                        <a:rPr sz="1000" b="0">
                          <a:solidFill>
                            <a:srgbClr val="252F3D"/>
                          </a:solidFill>
                          <a:latin typeface="Calibri"/>
                        </a:rPr>
                        <a:t>Farnebäck flow between consecutive hourly frames, averaged over the Singapore RoI, fed to the gate as an advection prior.</a:t>
                      </a:r>
                    </a:p>
                  </a:txBody>
                  <a:tcPr marL="54864" marR="54864" marT="9144" marB="9144" anchor="ctr">
                    <a:solidFill>
                      <a:srgbClr val="FFFFFF"/>
                    </a:solidFill>
                  </a:tcPr>
                </a:tc>
              </a:tr>
              <a:tr h="297180">
                <a:tc>
                  <a:txBody>
                    <a:bodyPr/>
                    <a:lstStyle/>
                    <a:p>
                      <a:pPr algn="l"/>
                      <a:r>
                        <a:rPr sz="1000" b="0">
                          <a:solidFill>
                            <a:srgbClr val="252F3D"/>
                          </a:solidFill>
                          <a:latin typeface="Calibri"/>
                        </a:rPr>
                        <a:t>Ablation + baseline protocol</a:t>
                      </a:r>
                    </a:p>
                  </a:txBody>
                  <a:tcPr marL="54864" marR="54864" marT="9144" marB="9144" anchor="ctr">
                    <a:solidFill>
                      <a:srgbClr val="F3F5F9"/>
                    </a:solidFill>
                  </a:tcPr>
                </a:tc>
                <a:tc>
                  <a:txBody>
                    <a:bodyPr/>
                    <a:lstStyle/>
                    <a:p>
                      <a:pPr algn="l"/>
                      <a:r>
                        <a:rPr sz="1000" b="0">
                          <a:solidFill>
                            <a:srgbClr val="1F3B63"/>
                          </a:solidFill>
                          <a:latin typeface="Calibri"/>
                        </a:rPr>
                        <a:t>CONTRIBUTION</a:t>
                      </a:r>
                    </a:p>
                  </a:txBody>
                  <a:tcPr marL="54864" marR="54864" marT="9144" marB="9144" anchor="ctr">
                    <a:solidFill>
                      <a:srgbClr val="F3F5F9"/>
                    </a:solidFill>
                  </a:tcPr>
                </a:tc>
                <a:tc>
                  <a:txBody>
                    <a:bodyPr/>
                    <a:lstStyle/>
                    <a:p>
                      <a:pPr algn="l"/>
                      <a:r>
                        <a:rPr sz="1000" b="0">
                          <a:solidFill>
                            <a:srgbClr val="252F3D"/>
                          </a:solidFill>
                          <a:latin typeface="Calibri"/>
                        </a:rPr>
                        <a:t>Six trained variants and five baselines scored on identical rows, with skill scores, Diebold–Mariano tests, CRPS and interval width.</a:t>
                      </a:r>
                    </a:p>
                  </a:txBody>
                  <a:tcPr marL="54864" marR="54864" marT="9144" marB="9144" anchor="ctr">
                    <a:solidFill>
                      <a:srgbClr val="F3F5F9"/>
                    </a:solidFill>
                  </a:tcPr>
                </a:tc>
              </a:tr>
              <a:tr h="297180">
                <a:tc>
                  <a:txBody>
                    <a:bodyPr/>
                    <a:lstStyle/>
                    <a:p>
                      <a:pPr algn="l"/>
                      <a:r>
                        <a:rPr sz="1000" b="0">
                          <a:solidFill>
                            <a:srgbClr val="252F3D"/>
                          </a:solidFill>
                          <a:latin typeface="Calibri"/>
                        </a:rPr>
                        <a:t>Live deployment + verification</a:t>
                      </a:r>
                    </a:p>
                  </a:txBody>
                  <a:tcPr marL="54864" marR="54864" marT="9144" marB="9144" anchor="ctr">
                    <a:solidFill>
                      <a:srgbClr val="FFFFFF"/>
                    </a:solidFill>
                  </a:tcPr>
                </a:tc>
                <a:tc>
                  <a:txBody>
                    <a:bodyPr/>
                    <a:lstStyle/>
                    <a:p>
                      <a:pPr algn="l"/>
                      <a:r>
                        <a:rPr sz="1000" b="0">
                          <a:solidFill>
                            <a:srgbClr val="1F3B63"/>
                          </a:solidFill>
                          <a:latin typeface="Calibri"/>
                        </a:rPr>
                        <a:t>CONTRIBUTION</a:t>
                      </a:r>
                    </a:p>
                  </a:txBody>
                  <a:tcPr marL="54864" marR="54864" marT="9144" marB="9144" anchor="ctr">
                    <a:solidFill>
                      <a:srgbClr val="FFFFFF"/>
                    </a:solidFill>
                  </a:tcPr>
                </a:tc>
                <a:tc>
                  <a:txBody>
                    <a:bodyPr/>
                    <a:lstStyle/>
                    <a:p>
                      <a:pPr algn="l"/>
                      <a:r>
                        <a:rPr sz="1000" b="0">
                          <a:solidFill>
                            <a:srgbClr val="252F3D"/>
                          </a:solidFill>
                          <a:latin typeface="Calibri"/>
                        </a:rPr>
                        <a:t>predict.py / verify.py / cron: validated satellite fetch, 3-frame series, physics cap, diagnostics written into every forecast.</a:t>
                      </a:r>
                    </a:p>
                  </a:txBody>
                  <a:tcPr marL="54864" marR="54864" marT="9144" marB="9144" anchor="ctr">
                    <a:solidFill>
                      <a:srgbClr val="FFFFFF"/>
                    </a:solidFill>
                  </a:tcPr>
                </a:tc>
              </a:tr>
            </a:tbl>
          </a:graphicData>
        </a:graphic>
      </p:graphicFrame>
      <p:sp>
        <p:nvSpPr>
          <p:cNvPr id="9" name="TextBox 8"/>
          <p:cNvSpPr txBox="1"/>
          <p:nvPr/>
        </p:nvSpPr>
        <p:spPr>
          <a:xfrm>
            <a:off x="502920" y="5532120"/>
            <a:ext cx="11155680" cy="822960"/>
          </a:xfrm>
          <a:prstGeom prst="rect">
            <a:avLst/>
          </a:prstGeom>
          <a:noFill/>
        </p:spPr>
        <p:txBody>
          <a:bodyPr wrap="square" anchor="t" lIns="0" rIns="0" tIns="0" bIns="0">
            <a:spAutoFit/>
          </a:bodyPr>
          <a:lstStyle/>
          <a:p>
            <a:pPr algn="l">
              <a:lnSpc>
                <a:spcPct val="110000"/>
              </a:lnSpc>
            </a:pPr>
            <a:r>
              <a:rPr sz="1250" b="0" i="0">
                <a:solidFill>
                  <a:srgbClr val="1F3B63"/>
                </a:solidFill>
                <a:latin typeface="Calibri"/>
              </a:rPr>
              <a:t>The gap this project addresses:  published satellite-fusion results are usually reported on large multi-site archives, and the fusion mechanism is rarely ablated against a weather-only model or a gradient-boosted tree on the same rows. The open question for a single equatorial site with ~6.7 k training hours is not “can a fusion network be built” — it is “does the imagery pay for its 14.4 M parameters”.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SYSTEM ARCHITECTURE</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From three public feeds to a verified daily forecast</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4</a:t>
            </a:r>
          </a:p>
        </p:txBody>
      </p:sp>
      <p:sp>
        <p:nvSpPr>
          <p:cNvPr id="8" name="TextBox 7"/>
          <p:cNvSpPr txBox="1"/>
          <p:nvPr/>
        </p:nvSpPr>
        <p:spPr>
          <a:xfrm>
            <a:off x="502920" y="1325880"/>
            <a:ext cx="3657600" cy="219456"/>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OFFLINE  ·  data assembly and training</a:t>
            </a:r>
          </a:p>
        </p:txBody>
      </p:sp>
      <p:sp>
        <p:nvSpPr>
          <p:cNvPr id="9" name="TextBox 8"/>
          <p:cNvSpPr txBox="1"/>
          <p:nvPr/>
        </p:nvSpPr>
        <p:spPr>
          <a:xfrm>
            <a:off x="502920" y="3977639"/>
            <a:ext cx="3657600" cy="219456"/>
          </a:xfrm>
          <a:prstGeom prst="rect">
            <a:avLst/>
          </a:prstGeom>
          <a:noFill/>
        </p:spPr>
        <p:txBody>
          <a:bodyPr wrap="square" anchor="t" lIns="0" rIns="0" tIns="0" bIns="0">
            <a:spAutoFit/>
          </a:bodyPr>
          <a:lstStyle/>
          <a:p>
            <a:pPr algn="l">
              <a:lnSpc>
                <a:spcPct val="100000"/>
              </a:lnSpc>
            </a:pPr>
            <a:r>
              <a:rPr sz="1000" b="1" i="0">
                <a:solidFill>
                  <a:srgbClr val="C4622D"/>
                </a:solidFill>
                <a:latin typeface="Calibri"/>
              </a:rPr>
              <a:t>ONLINE  ·  daily automated forecast</a:t>
            </a:r>
          </a:p>
        </p:txBody>
      </p:sp>
      <p:sp>
        <p:nvSpPr>
          <p:cNvPr id="10" name="Rectangle 9"/>
          <p:cNvSpPr/>
          <p:nvPr/>
        </p:nvSpPr>
        <p:spPr>
          <a:xfrm>
            <a:off x="502920" y="1572768"/>
            <a:ext cx="11183112" cy="2212848"/>
          </a:xfrm>
          <a:prstGeom prst="rect">
            <a:avLst/>
          </a:prstGeom>
          <a:solidFill>
            <a:srgbClr val="F7F9FC"/>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02920" y="4224528"/>
            <a:ext cx="11183112" cy="1874519"/>
          </a:xfrm>
          <a:prstGeom prst="rect">
            <a:avLst/>
          </a:prstGeom>
          <a:solidFill>
            <a:srgbClr val="FDF7F2"/>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85800" y="1737360"/>
            <a:ext cx="1691640" cy="658368"/>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00" b="1">
                <a:solidFill>
                  <a:srgbClr val="1F3B63"/>
                </a:solidFill>
                <a:latin typeface="Calibri"/>
              </a:rPr>
              <a:t>Open-Meteo ERA5
archive API</a:t>
            </a:r>
          </a:p>
          <a:p>
            <a:pPr algn="ctr">
              <a:lnSpc>
                <a:spcPct val="95000"/>
              </a:lnSpc>
              <a:spcBef>
                <a:spcPts val="100"/>
              </a:spcBef>
            </a:pPr>
            <a:r>
              <a:rPr sz="800">
                <a:solidFill>
                  <a:srgbClr val="6B7280"/>
                </a:solidFill>
                <a:latin typeface="Calibri"/>
              </a:rPr>
              <a:t>hourly weather + GHI
historical_data.py</a:t>
            </a:r>
          </a:p>
        </p:txBody>
      </p:sp>
      <p:sp>
        <p:nvSpPr>
          <p:cNvPr id="13" name="Rectangle 12"/>
          <p:cNvSpPr/>
          <p:nvPr/>
        </p:nvSpPr>
        <p:spPr>
          <a:xfrm>
            <a:off x="2560320" y="1737360"/>
            <a:ext cx="1691640" cy="658368"/>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00" b="1">
                <a:solidFill>
                  <a:srgbClr val="1F3B63"/>
                </a:solidFill>
                <a:latin typeface="Calibri"/>
              </a:rPr>
              <a:t>PVGIS / pvlib
PV simulation</a:t>
            </a:r>
          </a:p>
          <a:p>
            <a:pPr algn="ctr">
              <a:lnSpc>
                <a:spcPct val="95000"/>
              </a:lnSpc>
              <a:spcBef>
                <a:spcPts val="100"/>
              </a:spcBef>
            </a:pPr>
            <a:r>
              <a:rPr sz="800">
                <a:solidFill>
                  <a:srgbClr val="6B7280"/>
                </a:solidFill>
                <a:latin typeface="Calibri"/>
              </a:rPr>
              <a:t>pv_actual reference
fetch_solcast.py</a:t>
            </a:r>
          </a:p>
        </p:txBody>
      </p:sp>
      <p:sp>
        <p:nvSpPr>
          <p:cNvPr id="14" name="Rectangle 13"/>
          <p:cNvSpPr/>
          <p:nvPr/>
        </p:nvSpPr>
        <p:spPr>
          <a:xfrm>
            <a:off x="4434840" y="1737360"/>
            <a:ext cx="1691640" cy="658368"/>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00" b="1">
                <a:solidFill>
                  <a:srgbClr val="1F3B63"/>
                </a:solidFill>
                <a:latin typeface="Calibri"/>
              </a:rPr>
              <a:t>Himawari-8/9
NICT tile server</a:t>
            </a:r>
          </a:p>
          <a:p>
            <a:pPr algn="ctr">
              <a:lnSpc>
                <a:spcPct val="95000"/>
              </a:lnSpc>
              <a:spcBef>
                <a:spcPts val="100"/>
              </a:spcBef>
            </a:pPr>
            <a:r>
              <a:rPr sz="800">
                <a:solidFill>
                  <a:srgbClr val="6B7280"/>
                </a:solidFill>
                <a:latin typeface="Calibri"/>
              </a:rPr>
              <a:t>550 px 4d tile, 10 min
9,186 PNG frames</a:t>
            </a:r>
          </a:p>
        </p:txBody>
      </p:sp>
      <p:sp>
        <p:nvSpPr>
          <p:cNvPr id="15" name="Rectangle 14"/>
          <p:cNvSpPr/>
          <p:nvPr/>
        </p:nvSpPr>
        <p:spPr>
          <a:xfrm>
            <a:off x="6309359" y="1737360"/>
            <a:ext cx="1691640" cy="658368"/>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00" b="1">
                <a:solidFill>
                  <a:srgbClr val="1F3B63"/>
                </a:solidFill>
                <a:latin typeface="Calibri"/>
              </a:rPr>
              <a:t>SWIMSEG
1,013 sky images</a:t>
            </a:r>
          </a:p>
          <a:p>
            <a:pPr algn="ctr">
              <a:lnSpc>
                <a:spcPct val="95000"/>
              </a:lnSpc>
              <a:spcBef>
                <a:spcPts val="100"/>
              </a:spcBef>
            </a:pPr>
            <a:r>
              <a:rPr sz="800">
                <a:solidFill>
                  <a:srgbClr val="6B7280"/>
                </a:solidFill>
                <a:latin typeface="Calibri"/>
              </a:rPr>
              <a:t>cloud/sky masks
encoder pretraining</a:t>
            </a:r>
          </a:p>
        </p:txBody>
      </p:sp>
      <p:sp>
        <p:nvSpPr>
          <p:cNvPr id="16" name="Rectangle 15"/>
          <p:cNvSpPr/>
          <p:nvPr/>
        </p:nvSpPr>
        <p:spPr>
          <a:xfrm>
            <a:off x="8366760" y="1737360"/>
            <a:ext cx="3108960" cy="658368"/>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00" b="1">
                <a:solidFill>
                  <a:srgbClr val="1F3B63"/>
                </a:solidFill>
                <a:latin typeface="Calibri"/>
              </a:rPr>
              <a:t>combined_dataset.py</a:t>
            </a:r>
          </a:p>
          <a:p>
            <a:pPr algn="ctr">
              <a:lnSpc>
                <a:spcPct val="95000"/>
              </a:lnSpc>
              <a:spcBef>
                <a:spcPts val="100"/>
              </a:spcBef>
            </a:pPr>
            <a:r>
              <a:rPr sz="800">
                <a:solidFill>
                  <a:srgbClr val="6B7280"/>
                </a:solidFill>
                <a:latin typeface="Calibri"/>
              </a:rPr>
              <a:t>merge on hourly SGT timestamp · daylight 08–17 filter</a:t>
            </a:r>
          </a:p>
          <a:p>
            <a:pPr algn="ctr">
              <a:lnSpc>
                <a:spcPct val="95000"/>
              </a:lnSpc>
              <a:spcBef>
                <a:spcPts val="100"/>
              </a:spcBef>
            </a:pPr>
            <a:r>
              <a:rPr sz="800">
                <a:solidFill>
                  <a:srgbClr val="6B7280"/>
                </a:solidFill>
                <a:latin typeface="Calibri"/>
              </a:rPr>
              <a:t>±60 min image matching  →  combined_dataset.csv (9,590 × 16)</a:t>
            </a:r>
          </a:p>
        </p:txBody>
      </p:sp>
      <p:cxnSp>
        <p:nvCxnSpPr>
          <p:cNvPr id="17" name="Connector 16"/>
          <p:cNvCxnSpPr/>
          <p:nvPr/>
        </p:nvCxnSpPr>
        <p:spPr>
          <a:xfrm>
            <a:off x="8028431" y="2066543"/>
            <a:ext cx="310896" cy="0"/>
          </a:xfrm>
          <a:prstGeom prst="line">
            <a:avLst/>
          </a:prstGeom>
          <a:ln w="13970">
            <a:solidFill>
              <a:srgbClr val="1F3B6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921240" y="2404872"/>
            <a:ext cx="0" cy="137160"/>
          </a:xfrm>
          <a:prstGeom prst="line">
            <a:avLst/>
          </a:prstGeom>
          <a:ln w="13970">
            <a:solidFill>
              <a:srgbClr val="1F3B6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68680" y="2542032"/>
            <a:ext cx="9052560" cy="0"/>
          </a:xfrm>
          <a:prstGeom prst="line">
            <a:avLst/>
          </a:prstGeom>
          <a:ln w="13970">
            <a:solidFill>
              <a:srgbClr val="1F3B6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 y="2542032"/>
            <a:ext cx="0" cy="137160"/>
          </a:xfrm>
          <a:prstGeom prst="line">
            <a:avLst/>
          </a:prstGeom>
          <a:ln w="13970">
            <a:solidFill>
              <a:srgbClr val="1F3B63"/>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5800" y="2697480"/>
            <a:ext cx="2011680" cy="658368"/>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00" b="1">
                <a:solidFill>
                  <a:srgbClr val="1F3B63"/>
                </a:solidFill>
                <a:latin typeface="Calibri"/>
              </a:rPr>
              <a:t>Feature engineering</a:t>
            </a:r>
          </a:p>
          <a:p>
            <a:pPr algn="ctr">
              <a:lnSpc>
                <a:spcPct val="95000"/>
              </a:lnSpc>
              <a:spcBef>
                <a:spcPts val="100"/>
              </a:spcBef>
            </a:pPr>
            <a:r>
              <a:rPr sz="800">
                <a:solidFill>
                  <a:srgbClr val="6B7280"/>
                </a:solidFill>
                <a:latin typeface="Calibri"/>
              </a:rPr>
              <a:t>k_t, sin/cos hour &amp; month,
ghi_lag1-3, targets t+1..3h</a:t>
            </a:r>
          </a:p>
        </p:txBody>
      </p:sp>
      <p:cxnSp>
        <p:nvCxnSpPr>
          <p:cNvPr id="22" name="Connector 21"/>
          <p:cNvCxnSpPr/>
          <p:nvPr/>
        </p:nvCxnSpPr>
        <p:spPr>
          <a:xfrm>
            <a:off x="2715768" y="3026664"/>
            <a:ext cx="164592" cy="0"/>
          </a:xfrm>
          <a:prstGeom prst="line">
            <a:avLst/>
          </a:prstGeom>
          <a:ln w="15875">
            <a:solidFill>
              <a:srgbClr val="1F3B63"/>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2898648" y="2697480"/>
            <a:ext cx="2011680" cy="658368"/>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00" b="1">
                <a:solidFill>
                  <a:srgbClr val="1F3B63"/>
                </a:solidFill>
                <a:latin typeface="Calibri"/>
              </a:rPr>
              <a:t>Image tensor cache</a:t>
            </a:r>
          </a:p>
          <a:p>
            <a:pPr algn="ctr">
              <a:lnSpc>
                <a:spcPct val="95000"/>
              </a:lnSpc>
              <a:spcBef>
                <a:spcPts val="100"/>
              </a:spcBef>
            </a:pPr>
            <a:r>
              <a:rPr sz="800">
                <a:solidFill>
                  <a:srgbClr val="6B7280"/>
                </a:solidFill>
                <a:latin typeface="Calibri"/>
              </a:rPr>
              <a:t>PNG → grayscale 224×224
→ .npy  (7,654 frames)</a:t>
            </a:r>
          </a:p>
        </p:txBody>
      </p:sp>
      <p:cxnSp>
        <p:nvCxnSpPr>
          <p:cNvPr id="24" name="Connector 23"/>
          <p:cNvCxnSpPr/>
          <p:nvPr/>
        </p:nvCxnSpPr>
        <p:spPr>
          <a:xfrm>
            <a:off x="4928616" y="3026664"/>
            <a:ext cx="164592" cy="0"/>
          </a:xfrm>
          <a:prstGeom prst="line">
            <a:avLst/>
          </a:prstGeom>
          <a:ln w="15875">
            <a:solidFill>
              <a:srgbClr val="1F3B63"/>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111496" y="2697480"/>
            <a:ext cx="2011680" cy="658368"/>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00" b="1">
                <a:solidFill>
                  <a:srgbClr val="1F3B63"/>
                </a:solidFill>
                <a:latin typeface="Calibri"/>
              </a:rPr>
              <a:t>Optical flow</a:t>
            </a:r>
          </a:p>
          <a:p>
            <a:pPr algn="ctr">
              <a:lnSpc>
                <a:spcPct val="95000"/>
              </a:lnSpc>
              <a:spcBef>
                <a:spcPts val="100"/>
              </a:spcBef>
            </a:pPr>
            <a:r>
              <a:rPr sz="800">
                <a:solidFill>
                  <a:srgbClr val="6B7280"/>
                </a:solidFill>
                <a:latin typeface="Calibri"/>
              </a:rPr>
              <a:t>Farnebäck between
consecutive frames → (vx,vy)</a:t>
            </a:r>
          </a:p>
        </p:txBody>
      </p:sp>
      <p:cxnSp>
        <p:nvCxnSpPr>
          <p:cNvPr id="26" name="Connector 25"/>
          <p:cNvCxnSpPr/>
          <p:nvPr/>
        </p:nvCxnSpPr>
        <p:spPr>
          <a:xfrm>
            <a:off x="7141464" y="3026664"/>
            <a:ext cx="164592" cy="0"/>
          </a:xfrm>
          <a:prstGeom prst="line">
            <a:avLst/>
          </a:prstGeom>
          <a:ln w="15875">
            <a:solidFill>
              <a:srgbClr val="1F3B63"/>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24344" y="2697480"/>
            <a:ext cx="2011680" cy="658368"/>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00" b="1">
                <a:solidFill>
                  <a:srgbClr val="1F3B63"/>
                </a:solidFill>
                <a:latin typeface="Calibri"/>
              </a:rPr>
              <a:t>Chronological split</a:t>
            </a:r>
          </a:p>
          <a:p>
            <a:pPr algn="ctr">
              <a:lnSpc>
                <a:spcPct val="95000"/>
              </a:lnSpc>
              <a:spcBef>
                <a:spcPts val="100"/>
              </a:spcBef>
            </a:pPr>
            <a:r>
              <a:rPr sz="800">
                <a:solidFill>
                  <a:srgbClr val="6B7280"/>
                </a:solidFill>
                <a:latin typeface="Calibri"/>
              </a:rPr>
              <a:t>70 / 15 / 15, no shuffle
6,675 / 914 / 18 imaged</a:t>
            </a:r>
          </a:p>
        </p:txBody>
      </p:sp>
      <p:cxnSp>
        <p:nvCxnSpPr>
          <p:cNvPr id="28" name="Connector 27"/>
          <p:cNvCxnSpPr/>
          <p:nvPr/>
        </p:nvCxnSpPr>
        <p:spPr>
          <a:xfrm>
            <a:off x="9354312" y="3026664"/>
            <a:ext cx="164592" cy="0"/>
          </a:xfrm>
          <a:prstGeom prst="line">
            <a:avLst/>
          </a:prstGeom>
          <a:ln w="15875">
            <a:solidFill>
              <a:srgbClr val="1F3B63"/>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537192" y="2697480"/>
            <a:ext cx="2011680" cy="658368"/>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00" b="1">
                <a:solidFill>
                  <a:srgbClr val="1F3B63"/>
                </a:solidFill>
                <a:latin typeface="Calibri"/>
              </a:rPr>
              <a:t>Training</a:t>
            </a:r>
          </a:p>
          <a:p>
            <a:pPr algn="ctr">
              <a:lnSpc>
                <a:spcPct val="95000"/>
              </a:lnSpc>
              <a:spcBef>
                <a:spcPts val="100"/>
              </a:spcBef>
            </a:pPr>
            <a:r>
              <a:rPr sz="800">
                <a:solidFill>
                  <a:srgbClr val="6B7280"/>
                </a:solidFill>
                <a:latin typeface="Calibri"/>
              </a:rPr>
              <a:t>Gaussian NLL, AdamW,
AMP, early stopping</a:t>
            </a:r>
          </a:p>
        </p:txBody>
      </p:sp>
      <p:sp>
        <p:nvSpPr>
          <p:cNvPr id="30" name="TextBox 29"/>
          <p:cNvSpPr txBox="1"/>
          <p:nvPr/>
        </p:nvSpPr>
        <p:spPr>
          <a:xfrm>
            <a:off x="685800" y="3493008"/>
            <a:ext cx="10972800" cy="237744"/>
          </a:xfrm>
          <a:prstGeom prst="rect">
            <a:avLst/>
          </a:prstGeom>
          <a:noFill/>
        </p:spPr>
        <p:txBody>
          <a:bodyPr wrap="square" anchor="t" lIns="0" rIns="0" tIns="0" bIns="0">
            <a:spAutoFit/>
          </a:bodyPr>
          <a:lstStyle/>
          <a:p>
            <a:pPr algn="l">
              <a:lnSpc>
                <a:spcPct val="100000"/>
              </a:lnSpc>
            </a:pPr>
            <a:r>
              <a:rPr sz="950" b="0" i="1">
                <a:solidFill>
                  <a:srgbClr val="1F3B63"/>
                </a:solidFill>
                <a:latin typeface="Calibri"/>
              </a:rPr>
              <a:t>artefacts  →  best_model*.pt (6 checkpoints + .config.json sidecars)   ·   train_stats.json (per-column mean/std, GHI mean/std)   ·   swimseg_encoder.pt</a:t>
            </a:r>
          </a:p>
        </p:txBody>
      </p:sp>
      <p:sp>
        <p:nvSpPr>
          <p:cNvPr id="31" name="Rectangle 30"/>
          <p:cNvSpPr/>
          <p:nvPr/>
        </p:nvSpPr>
        <p:spPr>
          <a:xfrm>
            <a:off x="658368" y="4434840"/>
            <a:ext cx="1691640" cy="658368"/>
          </a:xfrm>
          <a:prstGeom prst="rect">
            <a:avLst/>
          </a:prstGeom>
          <a:solidFill>
            <a:srgbClr val="FFFFFF"/>
          </a:solidFill>
          <a:ln w="12700">
            <a:solidFill>
              <a:srgbClr val="C4622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950" b="1">
                <a:solidFill>
                  <a:srgbClr val="C4622D"/>
                </a:solidFill>
                <a:latin typeface="Calibri"/>
              </a:rPr>
              <a:t>current_data.py</a:t>
            </a:r>
          </a:p>
          <a:p>
            <a:pPr algn="ctr">
              <a:lnSpc>
                <a:spcPct val="95000"/>
              </a:lnSpc>
              <a:spcBef>
                <a:spcPts val="100"/>
              </a:spcBef>
            </a:pPr>
            <a:r>
              <a:rPr sz="800">
                <a:solidFill>
                  <a:srgbClr val="6B7280"/>
                </a:solidFill>
                <a:latin typeface="Calibri"/>
              </a:rPr>
              <a:t>validated tile fetch:
3 frames t, t−1h, t−2h</a:t>
            </a:r>
          </a:p>
        </p:txBody>
      </p:sp>
      <p:cxnSp>
        <p:nvCxnSpPr>
          <p:cNvPr id="32" name="Connector 31"/>
          <p:cNvCxnSpPr/>
          <p:nvPr/>
        </p:nvCxnSpPr>
        <p:spPr>
          <a:xfrm>
            <a:off x="2368296" y="4764024"/>
            <a:ext cx="128016" cy="0"/>
          </a:xfrm>
          <a:prstGeom prst="line">
            <a:avLst/>
          </a:prstGeom>
          <a:ln w="15875">
            <a:solidFill>
              <a:srgbClr val="C4622D"/>
            </a:solidFill>
            <a:tailEnd type="triangle" w="sm" len="sm"/>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2514600" y="4434840"/>
            <a:ext cx="1691640" cy="658368"/>
          </a:xfrm>
          <a:prstGeom prst="rect">
            <a:avLst/>
          </a:prstGeom>
          <a:solidFill>
            <a:srgbClr val="FFFFFF"/>
          </a:solidFill>
          <a:ln w="12700">
            <a:solidFill>
              <a:srgbClr val="C4622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950" b="1">
                <a:solidFill>
                  <a:srgbClr val="C4622D"/>
                </a:solidFill>
                <a:latin typeface="Calibri"/>
              </a:rPr>
              <a:t>model.py helpers</a:t>
            </a:r>
          </a:p>
          <a:p>
            <a:pPr algn="ctr">
              <a:lnSpc>
                <a:spcPct val="95000"/>
              </a:lnSpc>
              <a:spcBef>
                <a:spcPts val="100"/>
              </a:spcBef>
            </a:pPr>
            <a:r>
              <a:rPr sz="800">
                <a:solidFill>
                  <a:srgbClr val="6B7280"/>
                </a:solidFill>
                <a:latin typeface="Calibri"/>
              </a:rPr>
              <a:t>extend_with_recent →
24-step lookback window</a:t>
            </a:r>
          </a:p>
        </p:txBody>
      </p:sp>
      <p:cxnSp>
        <p:nvCxnSpPr>
          <p:cNvPr id="34" name="Connector 33"/>
          <p:cNvCxnSpPr/>
          <p:nvPr/>
        </p:nvCxnSpPr>
        <p:spPr>
          <a:xfrm>
            <a:off x="4224528" y="4764024"/>
            <a:ext cx="128016" cy="0"/>
          </a:xfrm>
          <a:prstGeom prst="line">
            <a:avLst/>
          </a:prstGeom>
          <a:ln w="15875">
            <a:solidFill>
              <a:srgbClr val="C4622D"/>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4370831" y="4434840"/>
            <a:ext cx="1691640" cy="658368"/>
          </a:xfrm>
          <a:prstGeom prst="rect">
            <a:avLst/>
          </a:prstGeom>
          <a:solidFill>
            <a:srgbClr val="FFFFFF"/>
          </a:solidFill>
          <a:ln w="12700">
            <a:solidFill>
              <a:srgbClr val="C4622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950" b="1">
                <a:solidFill>
                  <a:srgbClr val="C4622D"/>
                </a:solidFill>
                <a:latin typeface="Calibri"/>
              </a:rPr>
              <a:t>load_model()</a:t>
            </a:r>
          </a:p>
          <a:p>
            <a:pPr algn="ctr">
              <a:lnSpc>
                <a:spcPct val="95000"/>
              </a:lnSpc>
              <a:spcBef>
                <a:spcPts val="100"/>
              </a:spcBef>
            </a:pPr>
            <a:r>
              <a:rPr sz="800">
                <a:solidFill>
                  <a:srgbClr val="6B7280"/>
                </a:solidFill>
                <a:latin typeface="Calibri"/>
              </a:rPr>
              <a:t>config sidecar →
exact architecture</a:t>
            </a:r>
          </a:p>
        </p:txBody>
      </p:sp>
      <p:cxnSp>
        <p:nvCxnSpPr>
          <p:cNvPr id="36" name="Connector 35"/>
          <p:cNvCxnSpPr/>
          <p:nvPr/>
        </p:nvCxnSpPr>
        <p:spPr>
          <a:xfrm>
            <a:off x="6080759" y="4764024"/>
            <a:ext cx="128017" cy="0"/>
          </a:xfrm>
          <a:prstGeom prst="line">
            <a:avLst/>
          </a:prstGeom>
          <a:ln w="15875">
            <a:solidFill>
              <a:srgbClr val="C4622D"/>
            </a:solidFill>
            <a:tailEnd type="triangle" w="sm" len="sm"/>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227064" y="4434840"/>
            <a:ext cx="1691640" cy="658368"/>
          </a:xfrm>
          <a:prstGeom prst="rect">
            <a:avLst/>
          </a:prstGeom>
          <a:solidFill>
            <a:srgbClr val="FFFFFF"/>
          </a:solidFill>
          <a:ln w="12700">
            <a:solidFill>
              <a:srgbClr val="C4622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950" b="1">
                <a:solidFill>
                  <a:srgbClr val="C4622D"/>
                </a:solidFill>
                <a:latin typeface="Calibri"/>
              </a:rPr>
              <a:t>PhysicsGatedFusionV2</a:t>
            </a:r>
          </a:p>
          <a:p>
            <a:pPr algn="ctr">
              <a:lnSpc>
                <a:spcPct val="95000"/>
              </a:lnSpc>
              <a:spcBef>
                <a:spcPts val="100"/>
              </a:spcBef>
            </a:pPr>
            <a:r>
              <a:rPr sz="800">
                <a:solidFill>
                  <a:srgbClr val="6B7280"/>
                </a:solidFill>
                <a:latin typeface="Calibri"/>
              </a:rPr>
              <a:t>μ, σ for 3 horizons
(normalised)</a:t>
            </a:r>
          </a:p>
        </p:txBody>
      </p:sp>
      <p:cxnSp>
        <p:nvCxnSpPr>
          <p:cNvPr id="38" name="Connector 37"/>
          <p:cNvCxnSpPr/>
          <p:nvPr/>
        </p:nvCxnSpPr>
        <p:spPr>
          <a:xfrm>
            <a:off x="7936992" y="4764024"/>
            <a:ext cx="128016" cy="0"/>
          </a:xfrm>
          <a:prstGeom prst="line">
            <a:avLst/>
          </a:prstGeom>
          <a:ln w="15875">
            <a:solidFill>
              <a:srgbClr val="C4622D"/>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083296" y="4434840"/>
            <a:ext cx="1691640" cy="658368"/>
          </a:xfrm>
          <a:prstGeom prst="rect">
            <a:avLst/>
          </a:prstGeom>
          <a:solidFill>
            <a:srgbClr val="FFFFFF"/>
          </a:solidFill>
          <a:ln w="12700">
            <a:solidFill>
              <a:srgbClr val="C4622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950" b="1">
                <a:solidFill>
                  <a:srgbClr val="C4622D"/>
                </a:solidFill>
                <a:latin typeface="Calibri"/>
              </a:rPr>
              <a:t>Physics cap</a:t>
            </a:r>
          </a:p>
          <a:p>
            <a:pPr algn="ctr">
              <a:lnSpc>
                <a:spcPct val="95000"/>
              </a:lnSpc>
              <a:spcBef>
                <a:spcPts val="100"/>
              </a:spcBef>
            </a:pPr>
            <a:r>
              <a:rPr sz="800">
                <a:solidFill>
                  <a:srgbClr val="6B7280"/>
                </a:solidFill>
                <a:latin typeface="Calibri"/>
              </a:rPr>
              <a:t>1.15 × hour-mean
clear-sky ceiling</a:t>
            </a:r>
          </a:p>
        </p:txBody>
      </p:sp>
      <p:cxnSp>
        <p:nvCxnSpPr>
          <p:cNvPr id="40" name="Connector 39"/>
          <p:cNvCxnSpPr/>
          <p:nvPr/>
        </p:nvCxnSpPr>
        <p:spPr>
          <a:xfrm>
            <a:off x="9793224" y="4764024"/>
            <a:ext cx="128016" cy="0"/>
          </a:xfrm>
          <a:prstGeom prst="line">
            <a:avLst/>
          </a:prstGeom>
          <a:ln w="15875">
            <a:solidFill>
              <a:srgbClr val="C4622D"/>
            </a:solidFill>
            <a:tailEnd type="triangle" w="sm" len="sm"/>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939528" y="4434840"/>
            <a:ext cx="1691640" cy="658368"/>
          </a:xfrm>
          <a:prstGeom prst="rect">
            <a:avLst/>
          </a:prstGeom>
          <a:solidFill>
            <a:srgbClr val="FFFFFF"/>
          </a:solidFill>
          <a:ln w="12700">
            <a:solidFill>
              <a:srgbClr val="C4622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950" b="1">
                <a:solidFill>
                  <a:srgbClr val="C4622D"/>
                </a:solidFill>
                <a:latin typeface="Calibri"/>
              </a:rPr>
              <a:t>forecast_latest.json</a:t>
            </a:r>
          </a:p>
          <a:p>
            <a:pPr algn="ctr">
              <a:lnSpc>
                <a:spcPct val="95000"/>
              </a:lnSpc>
              <a:spcBef>
                <a:spcPts val="100"/>
              </a:spcBef>
            </a:pPr>
            <a:r>
              <a:rPr sz="800">
                <a:solidFill>
                  <a:srgbClr val="6B7280"/>
                </a:solidFill>
                <a:latin typeface="Calibri"/>
              </a:rPr>
              <a:t>μ, 90% band, clear-sky,
diagnostics flags</a:t>
            </a:r>
          </a:p>
        </p:txBody>
      </p:sp>
      <p:sp>
        <p:nvSpPr>
          <p:cNvPr id="42" name="Rectangle 41"/>
          <p:cNvSpPr/>
          <p:nvPr/>
        </p:nvSpPr>
        <p:spPr>
          <a:xfrm>
            <a:off x="4160520" y="5349240"/>
            <a:ext cx="3840480" cy="548640"/>
          </a:xfrm>
          <a:prstGeom prst="rect">
            <a:avLst/>
          </a:prstGeom>
          <a:solidFill>
            <a:srgbClr val="FFFFFF"/>
          </a:solidFill>
          <a:ln w="12700">
            <a:solidFill>
              <a:srgbClr val="C4622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950" b="1">
                <a:solidFill>
                  <a:srgbClr val="C4622D"/>
                </a:solidFill>
                <a:latin typeface="Calibri"/>
              </a:rPr>
              <a:t>verify.py  (T + 3.5 h, cron)</a:t>
            </a:r>
          </a:p>
          <a:p>
            <a:pPr algn="ctr">
              <a:lnSpc>
                <a:spcPct val="95000"/>
              </a:lnSpc>
              <a:spcBef>
                <a:spcPts val="100"/>
              </a:spcBef>
            </a:pPr>
            <a:r>
              <a:rPr sz="800">
                <a:solidFill>
                  <a:srgbClr val="6B7280"/>
                </a:solidFill>
                <a:latin typeface="Calibri"/>
              </a:rPr>
              <a:t>re-fetches the three target hours and appends forecast vs outcome to verification_log.csv</a:t>
            </a:r>
          </a:p>
        </p:txBody>
      </p:sp>
      <p:cxnSp>
        <p:nvCxnSpPr>
          <p:cNvPr id="43" name="Connector 42"/>
          <p:cNvCxnSpPr/>
          <p:nvPr/>
        </p:nvCxnSpPr>
        <p:spPr>
          <a:xfrm flipH="1">
            <a:off x="8046720" y="5120640"/>
            <a:ext cx="2834640" cy="475488"/>
          </a:xfrm>
          <a:prstGeom prst="line">
            <a:avLst/>
          </a:prstGeom>
          <a:ln w="15875">
            <a:solidFill>
              <a:srgbClr val="C4622D"/>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02920" y="6053328"/>
            <a:ext cx="11155680" cy="274320"/>
          </a:xfrm>
          <a:prstGeom prst="rect">
            <a:avLst/>
          </a:prstGeom>
          <a:noFill/>
        </p:spPr>
        <p:txBody>
          <a:bodyPr wrap="square" anchor="t" lIns="0" rIns="0" tIns="0" bIns="0">
            <a:spAutoFit/>
          </a:bodyPr>
          <a:lstStyle/>
          <a:p>
            <a:pPr algn="l">
              <a:lnSpc>
                <a:spcPct val="100000"/>
              </a:lnSpc>
            </a:pPr>
            <a:r>
              <a:rPr sz="1000" b="0" i="1">
                <a:solidFill>
                  <a:srgbClr val="1F3B63"/>
                </a:solidFill>
                <a:latin typeface="Calibri"/>
              </a:rPr>
              <a:t>Single source of truth: model.py holds the architecture, the column order, the normalisation helpers and the baselines — so a checkpoint trained in the notebook loads unchanged at inference.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DATASET &amp; DATA PIPELINE</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Data lifecycle — and the coverage gap that shaped the results</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5</a:t>
            </a:r>
          </a:p>
        </p:txBody>
      </p:sp>
      <p:pic>
        <p:nvPicPr>
          <p:cNvPr id="8" name="Picture 7" descr="f1_coverage.png"/>
          <p:cNvPicPr>
            <a:picLocks noChangeAspect="1"/>
          </p:cNvPicPr>
          <p:nvPr/>
        </p:nvPicPr>
        <p:blipFill>
          <a:blip r:embed="rId2"/>
          <a:stretch>
            <a:fillRect/>
          </a:stretch>
        </p:blipFill>
        <p:spPr>
          <a:xfrm>
            <a:off x="502920" y="1280160"/>
            <a:ext cx="6903720" cy="2934378"/>
          </a:xfrm>
          <a:prstGeom prst="rect">
            <a:avLst/>
          </a:prstGeom>
        </p:spPr>
      </p:pic>
      <p:sp>
        <p:nvSpPr>
          <p:cNvPr id="9" name="TextBox 8"/>
          <p:cNvSpPr txBox="1"/>
          <p:nvPr/>
        </p:nvSpPr>
        <p:spPr>
          <a:xfrm>
            <a:off x="502920" y="4261104"/>
            <a:ext cx="690372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Figure 1 — monthly hourly rows (light) vs rows with a matched satellite frame (dark), with the split boundaries.</a:t>
            </a:r>
          </a:p>
        </p:txBody>
      </p:sp>
      <p:graphicFrame>
        <p:nvGraphicFramePr>
          <p:cNvPr id="10" name="Table 9"/>
          <p:cNvGraphicFramePr>
            <a:graphicFrameLocks noGrp="1"/>
          </p:cNvGraphicFramePr>
          <p:nvPr/>
        </p:nvGraphicFramePr>
        <p:xfrm>
          <a:off x="502920" y="4535424"/>
          <a:ext cx="6903717" cy="1042416"/>
        </p:xfrm>
        <a:graphic>
          <a:graphicData uri="http://schemas.openxmlformats.org/drawingml/2006/table">
            <a:tbl>
              <a:tblPr bandRow="1"/>
              <a:tblGrid>
                <a:gridCol w="1175101"/>
                <a:gridCol w="832363"/>
                <a:gridCol w="1321988"/>
                <a:gridCol w="2350202"/>
                <a:gridCol w="1224063"/>
              </a:tblGrid>
              <a:tr h="274320">
                <a:tc>
                  <a:txBody>
                    <a:bodyPr/>
                    <a:lstStyle/>
                    <a:p>
                      <a:pPr algn="l"/>
                      <a:r>
                        <a:rPr sz="1050" b="1">
                          <a:solidFill>
                            <a:srgbClr val="FFFFFF"/>
                          </a:solidFill>
                          <a:latin typeface="Calibri"/>
                        </a:rPr>
                        <a:t>Split</a:t>
                      </a:r>
                    </a:p>
                  </a:txBody>
                  <a:tcPr marL="54864" marR="54864" marT="18288" marB="18288" anchor="ctr">
                    <a:solidFill>
                      <a:srgbClr val="1F3B63"/>
                    </a:solidFill>
                  </a:tcPr>
                </a:tc>
                <a:tc>
                  <a:txBody>
                    <a:bodyPr/>
                    <a:lstStyle/>
                    <a:p>
                      <a:pPr algn="ctr"/>
                      <a:r>
                        <a:rPr sz="1050" b="1">
                          <a:solidFill>
                            <a:srgbClr val="FFFFFF"/>
                          </a:solidFill>
                          <a:latin typeface="Calibri"/>
                        </a:rPr>
                        <a:t>Rows</a:t>
                      </a:r>
                    </a:p>
                  </a:txBody>
                  <a:tcPr marL="54864" marR="54864" marT="18288" marB="18288" anchor="ctr">
                    <a:solidFill>
                      <a:srgbClr val="1F3B63"/>
                    </a:solidFill>
                  </a:tcPr>
                </a:tc>
                <a:tc>
                  <a:txBody>
                    <a:bodyPr/>
                    <a:lstStyle/>
                    <a:p>
                      <a:pPr algn="ctr"/>
                      <a:r>
                        <a:rPr sz="1050" b="1">
                          <a:solidFill>
                            <a:srgbClr val="FFFFFF"/>
                          </a:solidFill>
                          <a:latin typeface="Calibri"/>
                        </a:rPr>
                        <a:t>With image</a:t>
                      </a:r>
                    </a:p>
                  </a:txBody>
                  <a:tcPr marL="54864" marR="54864" marT="18288" marB="18288" anchor="ctr">
                    <a:solidFill>
                      <a:srgbClr val="1F3B63"/>
                    </a:solidFill>
                  </a:tcPr>
                </a:tc>
                <a:tc>
                  <a:txBody>
                    <a:bodyPr/>
                    <a:lstStyle/>
                    <a:p>
                      <a:pPr algn="l"/>
                      <a:r>
                        <a:rPr sz="1050" b="1">
                          <a:solidFill>
                            <a:srgbClr val="FFFFFF"/>
                          </a:solidFill>
                          <a:latin typeface="Calibri"/>
                        </a:rPr>
                        <a:t>Date range</a:t>
                      </a:r>
                    </a:p>
                  </a:txBody>
                  <a:tcPr marL="54864" marR="54864" marT="18288" marB="18288" anchor="ctr">
                    <a:solidFill>
                      <a:srgbClr val="1F3B63"/>
                    </a:solidFill>
                  </a:tcPr>
                </a:tc>
                <a:tc>
                  <a:txBody>
                    <a:bodyPr/>
                    <a:lstStyle/>
                    <a:p>
                      <a:pPr algn="ctr"/>
                      <a:r>
                        <a:rPr sz="1050" b="1">
                          <a:solidFill>
                            <a:srgbClr val="FFFFFF"/>
                          </a:solidFill>
                          <a:latin typeface="Calibri"/>
                        </a:rPr>
                        <a:t>Deep samples</a:t>
                      </a:r>
                    </a:p>
                  </a:txBody>
                  <a:tcPr marL="54864" marR="54864" marT="18288" marB="18288" anchor="ctr">
                    <a:solidFill>
                      <a:srgbClr val="1F3B63"/>
                    </a:solidFill>
                  </a:tcPr>
                </a:tc>
              </a:tr>
              <a:tr h="256032">
                <a:tc>
                  <a:txBody>
                    <a:bodyPr/>
                    <a:lstStyle/>
                    <a:p>
                      <a:pPr algn="l"/>
                      <a:r>
                        <a:rPr sz="1000" b="0">
                          <a:solidFill>
                            <a:srgbClr val="252F3D"/>
                          </a:solidFill>
                          <a:latin typeface="Calibri"/>
                        </a:rPr>
                        <a:t>train</a:t>
                      </a:r>
                    </a:p>
                  </a:txBody>
                  <a:tcPr marL="54864" marR="54864" marT="9144" marB="9144" anchor="ctr">
                    <a:solidFill>
                      <a:srgbClr val="F3F5F9"/>
                    </a:solidFill>
                  </a:tcPr>
                </a:tc>
                <a:tc>
                  <a:txBody>
                    <a:bodyPr/>
                    <a:lstStyle/>
                    <a:p>
                      <a:pPr algn="ctr"/>
                      <a:r>
                        <a:rPr sz="1000" b="0">
                          <a:solidFill>
                            <a:srgbClr val="252F3D"/>
                          </a:solidFill>
                          <a:latin typeface="Calibri"/>
                        </a:rPr>
                        <a:t>6,701</a:t>
                      </a:r>
                    </a:p>
                  </a:txBody>
                  <a:tcPr marL="54864" marR="54864" marT="9144" marB="9144" anchor="ctr">
                    <a:solidFill>
                      <a:srgbClr val="F3F5F9"/>
                    </a:solidFill>
                  </a:tcPr>
                </a:tc>
                <a:tc>
                  <a:txBody>
                    <a:bodyPr/>
                    <a:lstStyle/>
                    <a:p>
                      <a:pPr algn="ctr"/>
                      <a:r>
                        <a:rPr sz="1000" b="0">
                          <a:solidFill>
                            <a:srgbClr val="252F3D"/>
                          </a:solidFill>
                          <a:latin typeface="Calibri"/>
                        </a:rPr>
                        <a:t>6,701  (100%)</a:t>
                      </a:r>
                    </a:p>
                  </a:txBody>
                  <a:tcPr marL="54864" marR="54864" marT="9144" marB="9144" anchor="ctr">
                    <a:solidFill>
                      <a:srgbClr val="F3F5F9"/>
                    </a:solidFill>
                  </a:tcPr>
                </a:tc>
                <a:tc>
                  <a:txBody>
                    <a:bodyPr/>
                    <a:lstStyle/>
                    <a:p>
                      <a:pPr algn="l"/>
                      <a:r>
                        <a:rPr sz="1000" b="0">
                          <a:solidFill>
                            <a:srgbClr val="252F3D"/>
                          </a:solidFill>
                          <a:latin typeface="Calibri"/>
                        </a:rPr>
                        <a:t>2024-01-01 → 2025-11-02</a:t>
                      </a:r>
                    </a:p>
                  </a:txBody>
                  <a:tcPr marL="54864" marR="54864" marT="9144" marB="9144" anchor="ctr">
                    <a:solidFill>
                      <a:srgbClr val="F3F5F9"/>
                    </a:solidFill>
                  </a:tcPr>
                </a:tc>
                <a:tc>
                  <a:txBody>
                    <a:bodyPr/>
                    <a:lstStyle/>
                    <a:p>
                      <a:pPr algn="ctr"/>
                      <a:r>
                        <a:rPr sz="1000" b="0">
                          <a:solidFill>
                            <a:srgbClr val="252F3D"/>
                          </a:solidFill>
                          <a:latin typeface="Calibri"/>
                        </a:rPr>
                        <a:t>6,675</a:t>
                      </a:r>
                    </a:p>
                  </a:txBody>
                  <a:tcPr marL="54864" marR="54864" marT="9144" marB="9144" anchor="ctr">
                    <a:solidFill>
                      <a:srgbClr val="F3F5F9"/>
                    </a:solidFill>
                  </a:tcPr>
                </a:tc>
              </a:tr>
              <a:tr h="256032">
                <a:tc>
                  <a:txBody>
                    <a:bodyPr/>
                    <a:lstStyle/>
                    <a:p>
                      <a:pPr algn="l"/>
                      <a:r>
                        <a:rPr sz="1000" b="0">
                          <a:solidFill>
                            <a:srgbClr val="252F3D"/>
                          </a:solidFill>
                          <a:latin typeface="Calibri"/>
                        </a:rPr>
                        <a:t>validation</a:t>
                      </a:r>
                    </a:p>
                  </a:txBody>
                  <a:tcPr marL="54864" marR="54864" marT="9144" marB="9144" anchor="ctr">
                    <a:solidFill>
                      <a:srgbClr val="FFFFFF"/>
                    </a:solidFill>
                  </a:tcPr>
                </a:tc>
                <a:tc>
                  <a:txBody>
                    <a:bodyPr/>
                    <a:lstStyle/>
                    <a:p>
                      <a:pPr algn="ctr"/>
                      <a:r>
                        <a:rPr sz="1000" b="0">
                          <a:solidFill>
                            <a:srgbClr val="252F3D"/>
                          </a:solidFill>
                          <a:latin typeface="Calibri"/>
                        </a:rPr>
                        <a:t>1,436</a:t>
                      </a:r>
                    </a:p>
                  </a:txBody>
                  <a:tcPr marL="54864" marR="54864" marT="9144" marB="9144" anchor="ctr">
                    <a:solidFill>
                      <a:srgbClr val="FFFFFF"/>
                    </a:solidFill>
                  </a:tcPr>
                </a:tc>
                <a:tc>
                  <a:txBody>
                    <a:bodyPr/>
                    <a:lstStyle/>
                    <a:p>
                      <a:pPr algn="ctr"/>
                      <a:r>
                        <a:rPr sz="1000" b="0">
                          <a:solidFill>
                            <a:srgbClr val="252F3D"/>
                          </a:solidFill>
                          <a:latin typeface="Calibri"/>
                        </a:rPr>
                        <a:t>930  (64.7%)</a:t>
                      </a:r>
                    </a:p>
                  </a:txBody>
                  <a:tcPr marL="54864" marR="54864" marT="9144" marB="9144" anchor="ctr">
                    <a:solidFill>
                      <a:srgbClr val="FFFFFF"/>
                    </a:solidFill>
                  </a:tcPr>
                </a:tc>
                <a:tc>
                  <a:txBody>
                    <a:bodyPr/>
                    <a:lstStyle/>
                    <a:p>
                      <a:pPr algn="l"/>
                      <a:r>
                        <a:rPr sz="1000" b="0">
                          <a:solidFill>
                            <a:srgbClr val="252F3D"/>
                          </a:solidFill>
                          <a:latin typeface="Calibri"/>
                        </a:rPr>
                        <a:t>2025-11-02 → 2026-03-25</a:t>
                      </a:r>
                    </a:p>
                  </a:txBody>
                  <a:tcPr marL="54864" marR="54864" marT="9144" marB="9144" anchor="ctr">
                    <a:solidFill>
                      <a:srgbClr val="FFFFFF"/>
                    </a:solidFill>
                  </a:tcPr>
                </a:tc>
                <a:tc>
                  <a:txBody>
                    <a:bodyPr/>
                    <a:lstStyle/>
                    <a:p>
                      <a:pPr algn="ctr"/>
                      <a:r>
                        <a:rPr sz="1000" b="0">
                          <a:solidFill>
                            <a:srgbClr val="2E7D74"/>
                          </a:solidFill>
                          <a:latin typeface="Calibri"/>
                        </a:rPr>
                        <a:t>914</a:t>
                      </a:r>
                    </a:p>
                  </a:txBody>
                  <a:tcPr marL="54864" marR="54864" marT="9144" marB="9144" anchor="ctr">
                    <a:solidFill>
                      <a:srgbClr val="FFFFFF"/>
                    </a:solidFill>
                  </a:tcPr>
                </a:tc>
              </a:tr>
              <a:tr h="256032">
                <a:tc>
                  <a:txBody>
                    <a:bodyPr/>
                    <a:lstStyle/>
                    <a:p>
                      <a:pPr algn="l"/>
                      <a:r>
                        <a:rPr sz="1000" b="0">
                          <a:solidFill>
                            <a:srgbClr val="252F3D"/>
                          </a:solidFill>
                          <a:latin typeface="Calibri"/>
                        </a:rPr>
                        <a:t>test</a:t>
                      </a:r>
                    </a:p>
                  </a:txBody>
                  <a:tcPr marL="54864" marR="54864" marT="9144" marB="9144" anchor="ctr">
                    <a:solidFill>
                      <a:srgbClr val="F3F5F9"/>
                    </a:solidFill>
                  </a:tcPr>
                </a:tc>
                <a:tc>
                  <a:txBody>
                    <a:bodyPr/>
                    <a:lstStyle/>
                    <a:p>
                      <a:pPr algn="ctr"/>
                      <a:r>
                        <a:rPr sz="1000" b="0">
                          <a:solidFill>
                            <a:srgbClr val="252F3D"/>
                          </a:solidFill>
                          <a:latin typeface="Calibri"/>
                        </a:rPr>
                        <a:t>1,437</a:t>
                      </a:r>
                    </a:p>
                  </a:txBody>
                  <a:tcPr marL="54864" marR="54864" marT="9144" marB="9144" anchor="ctr">
                    <a:solidFill>
                      <a:srgbClr val="F3F5F9"/>
                    </a:solidFill>
                  </a:tcPr>
                </a:tc>
                <a:tc>
                  <a:txBody>
                    <a:bodyPr/>
                    <a:lstStyle/>
                    <a:p>
                      <a:pPr algn="ctr"/>
                      <a:r>
                        <a:rPr sz="1000" b="0">
                          <a:solidFill>
                            <a:srgbClr val="252F3D"/>
                          </a:solidFill>
                          <a:latin typeface="Calibri"/>
                        </a:rPr>
                        <a:t>18  (1.3%)</a:t>
                      </a:r>
                    </a:p>
                  </a:txBody>
                  <a:tcPr marL="54864" marR="54864" marT="9144" marB="9144" anchor="ctr">
                    <a:solidFill>
                      <a:srgbClr val="F3F5F9"/>
                    </a:solidFill>
                  </a:tcPr>
                </a:tc>
                <a:tc>
                  <a:txBody>
                    <a:bodyPr/>
                    <a:lstStyle/>
                    <a:p>
                      <a:pPr algn="l"/>
                      <a:r>
                        <a:rPr sz="1000" b="0">
                          <a:solidFill>
                            <a:srgbClr val="252F3D"/>
                          </a:solidFill>
                          <a:latin typeface="Calibri"/>
                        </a:rPr>
                        <a:t>2026-03-25 → 2026-08-16</a:t>
                      </a:r>
                    </a:p>
                  </a:txBody>
                  <a:tcPr marL="54864" marR="54864" marT="9144" marB="9144" anchor="ctr">
                    <a:solidFill>
                      <a:srgbClr val="F3F5F9"/>
                    </a:solidFill>
                  </a:tcPr>
                </a:tc>
                <a:tc>
                  <a:txBody>
                    <a:bodyPr/>
                    <a:lstStyle/>
                    <a:p>
                      <a:pPr algn="ctr"/>
                      <a:r>
                        <a:rPr sz="1000" b="0">
                          <a:solidFill>
                            <a:srgbClr val="B3282D"/>
                          </a:solidFill>
                          <a:latin typeface="Calibri"/>
                        </a:rPr>
                        <a:t>18</a:t>
                      </a:r>
                    </a:p>
                  </a:txBody>
                  <a:tcPr marL="54864" marR="54864" marT="9144" marB="9144" anchor="ctr">
                    <a:solidFill>
                      <a:srgbClr val="F3F5F9"/>
                    </a:solidFill>
                  </a:tcPr>
                </a:tc>
              </a:tr>
            </a:tbl>
          </a:graphicData>
        </a:graphic>
      </p:graphicFrame>
      <p:sp>
        <p:nvSpPr>
          <p:cNvPr id="11" name="TextBox 10"/>
          <p:cNvSpPr txBox="1"/>
          <p:nvPr/>
        </p:nvSpPr>
        <p:spPr>
          <a:xfrm>
            <a:off x="502920" y="5632704"/>
            <a:ext cx="690372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Deep samples = rows with an image at t plus a complete 24-step window and 3-hour horizon (valid_indices).</a:t>
            </a:r>
          </a:p>
        </p:txBody>
      </p:sp>
      <p:sp>
        <p:nvSpPr>
          <p:cNvPr id="12" name="TextBox 11"/>
          <p:cNvSpPr txBox="1"/>
          <p:nvPr/>
        </p:nvSpPr>
        <p:spPr>
          <a:xfrm>
            <a:off x="502920" y="5870448"/>
            <a:ext cx="6949440" cy="548640"/>
          </a:xfrm>
          <a:prstGeom prst="rect">
            <a:avLst/>
          </a:prstGeom>
          <a:noFill/>
        </p:spPr>
        <p:txBody>
          <a:bodyPr wrap="square" lIns="0" rIns="0" tIns="0" bIns="0">
            <a:spAutoFit/>
          </a:bodyPr>
          <a:lstStyle/>
          <a:p>
            <a:pPr>
              <a:lnSpc>
                <a:spcPct val="106000"/>
              </a:lnSpc>
              <a:spcBef>
                <a:spcPts val="0"/>
              </a:spcBef>
              <a:spcAft>
                <a:spcPts val="700"/>
              </a:spcAft>
            </a:pPr>
            <a:r>
              <a:rPr sz="1100" b="1" i="0">
                <a:solidFill>
                  <a:srgbClr val="B3282D"/>
                </a:solidFill>
                <a:latin typeface="Calibri"/>
              </a:rPr>
              <a:t>Consequence.  </a:t>
            </a:r>
            <a:r>
              <a:rPr sz="1100" b="0" i="0">
                <a:solidFill>
                  <a:srgbClr val="252F3D"/>
                </a:solidFill>
                <a:latin typeface="Calibri"/>
              </a:rPr>
              <a:t>The weather table reached August 2026 while the image archive stalled on 2026-06-07, so the image-less tail landed almost entirely in the test split — see slide 10.</a:t>
            </a:r>
          </a:p>
        </p:txBody>
      </p:sp>
      <p:sp>
        <p:nvSpPr>
          <p:cNvPr id="13" name="Rectangle 12"/>
          <p:cNvSpPr/>
          <p:nvPr/>
        </p:nvSpPr>
        <p:spPr>
          <a:xfrm>
            <a:off x="7589520" y="1280160"/>
            <a:ext cx="4096512" cy="5138928"/>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790688" y="1444752"/>
            <a:ext cx="3749039" cy="237744"/>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LIFECYCLE, STEP BY STEP</a:t>
            </a:r>
          </a:p>
        </p:txBody>
      </p:sp>
      <p:sp>
        <p:nvSpPr>
          <p:cNvPr id="15" name="TextBox 14"/>
          <p:cNvSpPr txBox="1"/>
          <p:nvPr/>
        </p:nvSpPr>
        <p:spPr>
          <a:xfrm>
            <a:off x="7790688" y="1755648"/>
            <a:ext cx="868680" cy="219456"/>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1  Fetch</a:t>
            </a:r>
          </a:p>
        </p:txBody>
      </p:sp>
      <p:sp>
        <p:nvSpPr>
          <p:cNvPr id="16" name="TextBox 15"/>
          <p:cNvSpPr txBox="1"/>
          <p:nvPr/>
        </p:nvSpPr>
        <p:spPr>
          <a:xfrm>
            <a:off x="8686800" y="1755648"/>
            <a:ext cx="2852928" cy="512064"/>
          </a:xfrm>
          <a:prstGeom prst="rect">
            <a:avLst/>
          </a:prstGeom>
          <a:noFill/>
        </p:spPr>
        <p:txBody>
          <a:bodyPr wrap="square" anchor="t" lIns="0" rIns="0" tIns="0" bIns="0">
            <a:spAutoFit/>
          </a:bodyPr>
          <a:lstStyle/>
          <a:p>
            <a:pPr algn="l">
              <a:lnSpc>
                <a:spcPct val="100000"/>
              </a:lnSpc>
            </a:pPr>
            <a:r>
              <a:rPr sz="950" b="0" i="0">
                <a:solidFill>
                  <a:srgbClr val="252F3D"/>
                </a:solidFill>
                <a:latin typeface="Calibri"/>
              </a:rPr>
              <a:t>Open-Meteo archive: temperature, RH, rain, wind, cloud cover, shortwave radiation (→ GHI), DNI, diffuse.</a:t>
            </a:r>
          </a:p>
        </p:txBody>
      </p:sp>
      <p:sp>
        <p:nvSpPr>
          <p:cNvPr id="17" name="TextBox 16"/>
          <p:cNvSpPr txBox="1"/>
          <p:nvPr/>
        </p:nvSpPr>
        <p:spPr>
          <a:xfrm>
            <a:off x="7790688" y="2267712"/>
            <a:ext cx="868680" cy="219456"/>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2  Physics</a:t>
            </a:r>
          </a:p>
        </p:txBody>
      </p:sp>
      <p:sp>
        <p:nvSpPr>
          <p:cNvPr id="18" name="TextBox 17"/>
          <p:cNvSpPr txBox="1"/>
          <p:nvPr/>
        </p:nvSpPr>
        <p:spPr>
          <a:xfrm>
            <a:off x="8686800" y="2267712"/>
            <a:ext cx="2852928" cy="512064"/>
          </a:xfrm>
          <a:prstGeom prst="rect">
            <a:avLst/>
          </a:prstGeom>
          <a:noFill/>
        </p:spPr>
        <p:txBody>
          <a:bodyPr wrap="square" anchor="t" lIns="0" rIns="0" tIns="0" bIns="0">
            <a:spAutoFit/>
          </a:bodyPr>
          <a:lstStyle/>
          <a:p>
            <a:pPr algn="l">
              <a:lnSpc>
                <a:spcPct val="100000"/>
              </a:lnSpc>
            </a:pPr>
            <a:r>
              <a:rPr sz="950" b="0" i="0">
                <a:solidFill>
                  <a:srgbClr val="252F3D"/>
                </a:solidFill>
                <a:latin typeface="Calibri"/>
              </a:rPr>
              <a:t>pvlib Ineichen clear-sky GHI per timestamp; rows with GHI_clear ≤ 0 dropped (night).</a:t>
            </a:r>
          </a:p>
        </p:txBody>
      </p:sp>
      <p:sp>
        <p:nvSpPr>
          <p:cNvPr id="19" name="TextBox 18"/>
          <p:cNvSpPr txBox="1"/>
          <p:nvPr/>
        </p:nvSpPr>
        <p:spPr>
          <a:xfrm>
            <a:off x="7790688" y="2779776"/>
            <a:ext cx="868680" cy="219456"/>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3  Filter</a:t>
            </a:r>
          </a:p>
        </p:txBody>
      </p:sp>
      <p:sp>
        <p:nvSpPr>
          <p:cNvPr id="20" name="TextBox 19"/>
          <p:cNvSpPr txBox="1"/>
          <p:nvPr/>
        </p:nvSpPr>
        <p:spPr>
          <a:xfrm>
            <a:off x="8686800" y="2779776"/>
            <a:ext cx="2852928" cy="512064"/>
          </a:xfrm>
          <a:prstGeom prst="rect">
            <a:avLst/>
          </a:prstGeom>
          <a:noFill/>
        </p:spPr>
        <p:txBody>
          <a:bodyPr wrap="square" anchor="t" lIns="0" rIns="0" tIns="0" bIns="0">
            <a:spAutoFit/>
          </a:bodyPr>
          <a:lstStyle/>
          <a:p>
            <a:pPr algn="l">
              <a:lnSpc>
                <a:spcPct val="100000"/>
              </a:lnSpc>
            </a:pPr>
            <a:r>
              <a:rPr sz="950" b="0" i="0">
                <a:solidFill>
                  <a:srgbClr val="252F3D"/>
                </a:solidFill>
                <a:latin typeface="Calibri"/>
              </a:rPr>
              <a:t>08:00–17:00 SGT retained — 10 rows per day.</a:t>
            </a:r>
          </a:p>
        </p:txBody>
      </p:sp>
      <p:sp>
        <p:nvSpPr>
          <p:cNvPr id="21" name="TextBox 20"/>
          <p:cNvSpPr txBox="1"/>
          <p:nvPr/>
        </p:nvSpPr>
        <p:spPr>
          <a:xfrm>
            <a:off x="7790688" y="3291840"/>
            <a:ext cx="868680" cy="219456"/>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4  Match</a:t>
            </a:r>
          </a:p>
        </p:txBody>
      </p:sp>
      <p:sp>
        <p:nvSpPr>
          <p:cNvPr id="22" name="TextBox 21"/>
          <p:cNvSpPr txBox="1"/>
          <p:nvPr/>
        </p:nvSpPr>
        <p:spPr>
          <a:xfrm>
            <a:off x="8686800" y="3291840"/>
            <a:ext cx="2852928" cy="512064"/>
          </a:xfrm>
          <a:prstGeom prst="rect">
            <a:avLst/>
          </a:prstGeom>
          <a:noFill/>
        </p:spPr>
        <p:txBody>
          <a:bodyPr wrap="square" anchor="t" lIns="0" rIns="0" tIns="0" bIns="0">
            <a:spAutoFit/>
          </a:bodyPr>
          <a:lstStyle/>
          <a:p>
            <a:pPr algn="l">
              <a:lnSpc>
                <a:spcPct val="100000"/>
              </a:lnSpc>
            </a:pPr>
            <a:r>
              <a:rPr sz="950" b="0" i="0">
                <a:solidFill>
                  <a:srgbClr val="252F3D"/>
                </a:solidFill>
                <a:latin typeface="Calibri"/>
              </a:rPr>
              <a:t>Nearest Himawari frame within ±60 min (median offset 0 min); 1,931 rows find none.</a:t>
            </a:r>
          </a:p>
        </p:txBody>
      </p:sp>
      <p:sp>
        <p:nvSpPr>
          <p:cNvPr id="23" name="TextBox 22"/>
          <p:cNvSpPr txBox="1"/>
          <p:nvPr/>
        </p:nvSpPr>
        <p:spPr>
          <a:xfrm>
            <a:off x="7790688" y="3803904"/>
            <a:ext cx="868680" cy="219456"/>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5  Engineer</a:t>
            </a:r>
          </a:p>
        </p:txBody>
      </p:sp>
      <p:sp>
        <p:nvSpPr>
          <p:cNvPr id="24" name="TextBox 23"/>
          <p:cNvSpPr txBox="1"/>
          <p:nvPr/>
        </p:nvSpPr>
        <p:spPr>
          <a:xfrm>
            <a:off x="8686800" y="3803904"/>
            <a:ext cx="2852928" cy="512064"/>
          </a:xfrm>
          <a:prstGeom prst="rect">
            <a:avLst/>
          </a:prstGeom>
          <a:noFill/>
        </p:spPr>
        <p:txBody>
          <a:bodyPr wrap="square" anchor="t" lIns="0" rIns="0" tIns="0" bIns="0">
            <a:spAutoFit/>
          </a:bodyPr>
          <a:lstStyle/>
          <a:p>
            <a:pPr algn="l">
              <a:lnSpc>
                <a:spcPct val="100000"/>
              </a:lnSpc>
            </a:pPr>
            <a:r>
              <a:rPr sz="950" b="0" i="0">
                <a:solidFill>
                  <a:srgbClr val="252F3D"/>
                </a:solidFill>
                <a:latin typeface="Calibri"/>
              </a:rPr>
              <a:t>k_t = GHI / GHI_clear; sin/cos of hour and month; ghi_lag1-3; targets by positional shift(−1,−2,−3).</a:t>
            </a:r>
          </a:p>
        </p:txBody>
      </p:sp>
      <p:sp>
        <p:nvSpPr>
          <p:cNvPr id="25" name="TextBox 24"/>
          <p:cNvSpPr txBox="1"/>
          <p:nvPr/>
        </p:nvSpPr>
        <p:spPr>
          <a:xfrm>
            <a:off x="7790688" y="4315968"/>
            <a:ext cx="868680" cy="219456"/>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6  Encode</a:t>
            </a:r>
          </a:p>
        </p:txBody>
      </p:sp>
      <p:sp>
        <p:nvSpPr>
          <p:cNvPr id="26" name="TextBox 25"/>
          <p:cNvSpPr txBox="1"/>
          <p:nvPr/>
        </p:nvSpPr>
        <p:spPr>
          <a:xfrm>
            <a:off x="8686800" y="4315968"/>
            <a:ext cx="2852928" cy="512064"/>
          </a:xfrm>
          <a:prstGeom prst="rect">
            <a:avLst/>
          </a:prstGeom>
          <a:noFill/>
        </p:spPr>
        <p:txBody>
          <a:bodyPr wrap="square" anchor="t" lIns="0" rIns="0" tIns="0" bIns="0">
            <a:spAutoFit/>
          </a:bodyPr>
          <a:lstStyle/>
          <a:p>
            <a:pPr algn="l">
              <a:lnSpc>
                <a:spcPct val="100000"/>
              </a:lnSpc>
            </a:pPr>
            <a:r>
              <a:rPr sz="950" b="0" i="0">
                <a:solidFill>
                  <a:srgbClr val="252F3D"/>
                </a:solidFill>
                <a:latin typeface="Calibri"/>
              </a:rPr>
              <a:t>PNG → grayscale → 224×224 → float32 [0,1] → 3 identical channels → ImageNet z-score.</a:t>
            </a:r>
          </a:p>
        </p:txBody>
      </p:sp>
      <p:sp>
        <p:nvSpPr>
          <p:cNvPr id="27" name="TextBox 26"/>
          <p:cNvSpPr txBox="1"/>
          <p:nvPr/>
        </p:nvSpPr>
        <p:spPr>
          <a:xfrm>
            <a:off x="7790688" y="4828032"/>
            <a:ext cx="868680" cy="219456"/>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7  Motion</a:t>
            </a:r>
          </a:p>
        </p:txBody>
      </p:sp>
      <p:sp>
        <p:nvSpPr>
          <p:cNvPr id="28" name="TextBox 27"/>
          <p:cNvSpPr txBox="1"/>
          <p:nvPr/>
        </p:nvSpPr>
        <p:spPr>
          <a:xfrm>
            <a:off x="8686800" y="4828032"/>
            <a:ext cx="2852928" cy="512064"/>
          </a:xfrm>
          <a:prstGeom prst="rect">
            <a:avLst/>
          </a:prstGeom>
          <a:noFill/>
        </p:spPr>
        <p:txBody>
          <a:bodyPr wrap="square" anchor="t" lIns="0" rIns="0" tIns="0" bIns="0">
            <a:spAutoFit/>
          </a:bodyPr>
          <a:lstStyle/>
          <a:p>
            <a:pPr algn="l">
              <a:lnSpc>
                <a:spcPct val="100000"/>
              </a:lnSpc>
            </a:pPr>
            <a:r>
              <a:rPr sz="950" b="0" i="0">
                <a:solidFill>
                  <a:srgbClr val="252F3D"/>
                </a:solidFill>
                <a:latin typeface="Calibri"/>
              </a:rPr>
              <a:t>Farnebäck flow at 64×64 between consecutive frames; mean (vx, vy) over the central 32 px RoI.</a:t>
            </a:r>
          </a:p>
        </p:txBody>
      </p:sp>
      <p:sp>
        <p:nvSpPr>
          <p:cNvPr id="29" name="TextBox 28"/>
          <p:cNvSpPr txBox="1"/>
          <p:nvPr/>
        </p:nvSpPr>
        <p:spPr>
          <a:xfrm>
            <a:off x="7790688" y="5340096"/>
            <a:ext cx="868680" cy="219456"/>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8  Normalise</a:t>
            </a:r>
          </a:p>
        </p:txBody>
      </p:sp>
      <p:sp>
        <p:nvSpPr>
          <p:cNvPr id="30" name="TextBox 29"/>
          <p:cNvSpPr txBox="1"/>
          <p:nvPr/>
        </p:nvSpPr>
        <p:spPr>
          <a:xfrm>
            <a:off x="8686800" y="5340096"/>
            <a:ext cx="2852928" cy="512064"/>
          </a:xfrm>
          <a:prstGeom prst="rect">
            <a:avLst/>
          </a:prstGeom>
          <a:noFill/>
        </p:spPr>
        <p:txBody>
          <a:bodyPr wrap="square" anchor="t" lIns="0" rIns="0" tIns="0" bIns="0">
            <a:spAutoFit/>
          </a:bodyPr>
          <a:lstStyle/>
          <a:p>
            <a:pPr algn="l">
              <a:lnSpc>
                <a:spcPct val="100000"/>
              </a:lnSpc>
            </a:pPr>
            <a:r>
              <a:rPr sz="950" b="0" i="0">
                <a:solidFill>
                  <a:srgbClr val="252F3D"/>
                </a:solidFill>
                <a:latin typeface="Calibri"/>
              </a:rPr>
              <a:t>Per-column z-scores and GHI mean/std computed on train only, persisted to train_stats.json.</a:t>
            </a:r>
          </a:p>
        </p:txBody>
      </p:sp>
      <p:sp>
        <p:nvSpPr>
          <p:cNvPr id="31" name="TextBox 30"/>
          <p:cNvSpPr txBox="1"/>
          <p:nvPr/>
        </p:nvSpPr>
        <p:spPr>
          <a:xfrm>
            <a:off x="7790688" y="5852160"/>
            <a:ext cx="868680" cy="219456"/>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9  Batch</a:t>
            </a:r>
          </a:p>
        </p:txBody>
      </p:sp>
      <p:sp>
        <p:nvSpPr>
          <p:cNvPr id="32" name="TextBox 31"/>
          <p:cNvSpPr txBox="1"/>
          <p:nvPr/>
        </p:nvSpPr>
        <p:spPr>
          <a:xfrm>
            <a:off x="8686800" y="5852160"/>
            <a:ext cx="2852928" cy="512064"/>
          </a:xfrm>
          <a:prstGeom prst="rect">
            <a:avLst/>
          </a:prstGeom>
          <a:noFill/>
        </p:spPr>
        <p:txBody>
          <a:bodyPr wrap="square" anchor="t" lIns="0" rIns="0" tIns="0" bIns="0">
            <a:spAutoFit/>
          </a:bodyPr>
          <a:lstStyle/>
          <a:p>
            <a:pPr algn="l">
              <a:lnSpc>
                <a:spcPct val="100000"/>
              </a:lnSpc>
            </a:pPr>
            <a:r>
              <a:rPr sz="950" b="0" i="0">
                <a:solidFill>
                  <a:srgbClr val="252F3D"/>
                </a:solidFill>
                <a:latin typeface="Calibri"/>
              </a:rPr>
              <a:t>24-step windows, batch 128, chronological order preserved — no shuffling across the split boundaries.</a:t>
            </a:r>
          </a:p>
        </p:txBody>
      </p:sp>
      <p:sp>
        <p:nvSpPr>
          <p:cNvPr id="33" name="TextBox 32"/>
          <p:cNvSpPr txBox="1"/>
          <p:nvPr/>
        </p:nvSpPr>
        <p:spPr>
          <a:xfrm>
            <a:off x="7790688" y="5989320"/>
            <a:ext cx="3749039" cy="365760"/>
          </a:xfrm>
          <a:prstGeom prst="rect">
            <a:avLst/>
          </a:prstGeom>
          <a:noFill/>
        </p:spPr>
        <p:txBody>
          <a:bodyPr wrap="square" anchor="t" lIns="0" rIns="0" tIns="0" bIns="0">
            <a:spAutoFit/>
          </a:bodyPr>
          <a:lstStyle/>
          <a:p>
            <a:pPr algn="l">
              <a:lnSpc>
                <a:spcPct val="105000"/>
              </a:lnSpc>
            </a:pPr>
            <a:r>
              <a:rPr sz="950" b="1" i="0">
                <a:solidFill>
                  <a:srgbClr val="1F3B63"/>
                </a:solidFill>
                <a:latin typeface="Calibri"/>
              </a:rPr>
              <a:t>11 tabular features × 24 steps  +  4 image tensors  +  3 clear-sky values  +  4 gate inputs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MODEL ARCHITECTURE</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150" b="1" i="0">
                <a:solidFill>
                  <a:srgbClr val="1F3B63"/>
                </a:solidFill>
                <a:latin typeface="Calibri"/>
              </a:rPr>
              <a:t>PhysicsGatedFusionModelV2 — 15.5 M parameters, four inputs, six outputs</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6</a:t>
            </a:r>
          </a:p>
        </p:txBody>
      </p:sp>
      <p:sp>
        <p:nvSpPr>
          <p:cNvPr id="8" name="TextBox 7"/>
          <p:cNvSpPr txBox="1"/>
          <p:nvPr/>
        </p:nvSpPr>
        <p:spPr>
          <a:xfrm>
            <a:off x="502920" y="1298448"/>
            <a:ext cx="2286000" cy="219456"/>
          </a:xfrm>
          <a:prstGeom prst="rect">
            <a:avLst/>
          </a:prstGeom>
          <a:noFill/>
        </p:spPr>
        <p:txBody>
          <a:bodyPr wrap="square" anchor="t" lIns="0" rIns="0" tIns="0" bIns="0">
            <a:spAutoFit/>
          </a:bodyPr>
          <a:lstStyle/>
          <a:p>
            <a:pPr algn="l">
              <a:lnSpc>
                <a:spcPct val="100000"/>
              </a:lnSpc>
            </a:pPr>
            <a:r>
              <a:rPr sz="1000" b="1" i="0">
                <a:solidFill>
                  <a:srgbClr val="C4622D"/>
                </a:solidFill>
                <a:latin typeface="Calibri"/>
              </a:rPr>
              <a:t>INPUTS</a:t>
            </a:r>
          </a:p>
        </p:txBody>
      </p:sp>
      <p:sp>
        <p:nvSpPr>
          <p:cNvPr id="9" name="Rectangle 8"/>
          <p:cNvSpPr/>
          <p:nvPr/>
        </p:nvSpPr>
        <p:spPr>
          <a:xfrm>
            <a:off x="502920" y="1554480"/>
            <a:ext cx="2377440" cy="566928"/>
          </a:xfrm>
          <a:prstGeom prst="rect">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l">
              <a:lnSpc>
                <a:spcPct val="95000"/>
              </a:lnSpc>
            </a:pPr>
            <a:r>
              <a:rPr sz="950" b="1">
                <a:solidFill>
                  <a:srgbClr val="1F3B63"/>
                </a:solidFill>
                <a:latin typeface="Calibri"/>
              </a:rPr>
              <a:t>tabular_seq</a:t>
            </a:r>
          </a:p>
          <a:p>
            <a:pPr algn="l">
              <a:lnSpc>
                <a:spcPct val="95000"/>
              </a:lnSpc>
              <a:spcBef>
                <a:spcPts val="100"/>
              </a:spcBef>
            </a:pPr>
            <a:r>
              <a:rPr sz="800">
                <a:solidFill>
                  <a:srgbClr val="6B7280"/>
                </a:solidFill>
                <a:latin typeface="Calibri"/>
              </a:rPr>
              <a:t>(B, 24, 11)</a:t>
            </a:r>
          </a:p>
          <a:p>
            <a:pPr algn="l">
              <a:lnSpc>
                <a:spcPct val="95000"/>
              </a:lnSpc>
              <a:spcBef>
                <a:spcPts val="100"/>
              </a:spcBef>
            </a:pPr>
            <a:r>
              <a:rPr sz="800">
                <a:solidFill>
                  <a:srgbClr val="6B7280"/>
                </a:solidFill>
                <a:latin typeface="Calibri"/>
              </a:rPr>
              <a:t>24 daylight hours × 11 features</a:t>
            </a:r>
          </a:p>
        </p:txBody>
      </p:sp>
      <p:sp>
        <p:nvSpPr>
          <p:cNvPr id="10" name="Rectangle 9"/>
          <p:cNvSpPr/>
          <p:nvPr/>
        </p:nvSpPr>
        <p:spPr>
          <a:xfrm>
            <a:off x="502920" y="2176272"/>
            <a:ext cx="2377440" cy="566928"/>
          </a:xfrm>
          <a:prstGeom prst="rect">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l">
              <a:lnSpc>
                <a:spcPct val="95000"/>
              </a:lnSpc>
            </a:pPr>
            <a:r>
              <a:rPr sz="950" b="1">
                <a:solidFill>
                  <a:srgbClr val="1F3B63"/>
                </a:solidFill>
                <a:latin typeface="Calibri"/>
              </a:rPr>
              <a:t>multi_frame</a:t>
            </a:r>
          </a:p>
          <a:p>
            <a:pPr algn="l">
              <a:lnSpc>
                <a:spcPct val="95000"/>
              </a:lnSpc>
              <a:spcBef>
                <a:spcPts val="100"/>
              </a:spcBef>
            </a:pPr>
            <a:r>
              <a:rPr sz="800">
                <a:solidFill>
                  <a:srgbClr val="6B7280"/>
                </a:solidFill>
                <a:latin typeface="Calibri"/>
              </a:rPr>
              <a:t>(B, 9, 224, 224)</a:t>
            </a:r>
          </a:p>
          <a:p>
            <a:pPr algn="l">
              <a:lnSpc>
                <a:spcPct val="95000"/>
              </a:lnSpc>
              <a:spcBef>
                <a:spcPts val="100"/>
              </a:spcBef>
            </a:pPr>
            <a:r>
              <a:rPr sz="800">
                <a:solidFill>
                  <a:srgbClr val="6B7280"/>
                </a:solidFill>
                <a:latin typeface="Calibri"/>
              </a:rPr>
              <a:t>frames t, t−1h, t−2h stacked</a:t>
            </a:r>
          </a:p>
        </p:txBody>
      </p:sp>
      <p:sp>
        <p:nvSpPr>
          <p:cNvPr id="11" name="Rectangle 10"/>
          <p:cNvSpPr/>
          <p:nvPr/>
        </p:nvSpPr>
        <p:spPr>
          <a:xfrm>
            <a:off x="502920" y="2798064"/>
            <a:ext cx="2377440" cy="566928"/>
          </a:xfrm>
          <a:prstGeom prst="rect">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l">
              <a:lnSpc>
                <a:spcPct val="95000"/>
              </a:lnSpc>
            </a:pPr>
            <a:r>
              <a:rPr sz="950" b="1">
                <a:solidFill>
                  <a:srgbClr val="1F3B63"/>
                </a:solidFill>
                <a:latin typeface="Calibri"/>
              </a:rPr>
              <a:t>roi_image</a:t>
            </a:r>
          </a:p>
          <a:p>
            <a:pPr algn="l">
              <a:lnSpc>
                <a:spcPct val="95000"/>
              </a:lnSpc>
              <a:spcBef>
                <a:spcPts val="100"/>
              </a:spcBef>
            </a:pPr>
            <a:r>
              <a:rPr sz="800">
                <a:solidFill>
                  <a:srgbClr val="6B7280"/>
                </a:solidFill>
                <a:latin typeface="Calibri"/>
              </a:rPr>
              <a:t>(B, 3, 224, 224)</a:t>
            </a:r>
          </a:p>
          <a:p>
            <a:pPr algn="l">
              <a:lnSpc>
                <a:spcPct val="95000"/>
              </a:lnSpc>
              <a:spcBef>
                <a:spcPts val="100"/>
              </a:spcBef>
            </a:pPr>
            <a:r>
              <a:rPr sz="800">
                <a:solidFill>
                  <a:srgbClr val="6B7280"/>
                </a:solidFill>
                <a:latin typeface="Calibri"/>
              </a:rPr>
              <a:t>centre 112² crop, bilinear ↑224</a:t>
            </a:r>
          </a:p>
        </p:txBody>
      </p:sp>
      <p:sp>
        <p:nvSpPr>
          <p:cNvPr id="12" name="Rectangle 11"/>
          <p:cNvSpPr/>
          <p:nvPr/>
        </p:nvSpPr>
        <p:spPr>
          <a:xfrm>
            <a:off x="502920" y="3419856"/>
            <a:ext cx="2377440" cy="566928"/>
          </a:xfrm>
          <a:prstGeom prst="rect">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l">
              <a:lnSpc>
                <a:spcPct val="95000"/>
              </a:lnSpc>
            </a:pPr>
            <a:r>
              <a:rPr sz="950" b="1">
                <a:solidFill>
                  <a:srgbClr val="1F3B63"/>
                </a:solidFill>
                <a:latin typeface="Calibri"/>
              </a:rPr>
              <a:t>future_clearsky</a:t>
            </a:r>
          </a:p>
          <a:p>
            <a:pPr algn="l">
              <a:lnSpc>
                <a:spcPct val="95000"/>
              </a:lnSpc>
              <a:spcBef>
                <a:spcPts val="100"/>
              </a:spcBef>
            </a:pPr>
            <a:r>
              <a:rPr sz="800">
                <a:solidFill>
                  <a:srgbClr val="6B7280"/>
                </a:solidFill>
                <a:latin typeface="Calibri"/>
              </a:rPr>
              <a:t>(B, 3)</a:t>
            </a:r>
          </a:p>
          <a:p>
            <a:pPr algn="l">
              <a:lnSpc>
                <a:spcPct val="95000"/>
              </a:lnSpc>
              <a:spcBef>
                <a:spcPts val="100"/>
              </a:spcBef>
            </a:pPr>
            <a:r>
              <a:rPr sz="800">
                <a:solidFill>
                  <a:srgbClr val="6B7280"/>
                </a:solidFill>
                <a:latin typeface="Calibri"/>
              </a:rPr>
              <a:t>pvlib GHI at t+1..t+3 (known)</a:t>
            </a:r>
          </a:p>
        </p:txBody>
      </p:sp>
      <p:sp>
        <p:nvSpPr>
          <p:cNvPr id="13" name="Rectangle 12"/>
          <p:cNvSpPr/>
          <p:nvPr/>
        </p:nvSpPr>
        <p:spPr>
          <a:xfrm>
            <a:off x="502920" y="4041648"/>
            <a:ext cx="2377440" cy="566928"/>
          </a:xfrm>
          <a:prstGeom prst="rect">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l">
              <a:lnSpc>
                <a:spcPct val="95000"/>
              </a:lnSpc>
            </a:pPr>
            <a:r>
              <a:rPr sz="950" b="1">
                <a:solidFill>
                  <a:srgbClr val="1F3B63"/>
                </a:solidFill>
                <a:latin typeface="Calibri"/>
              </a:rPr>
              <a:t>gate_features</a:t>
            </a:r>
          </a:p>
          <a:p>
            <a:pPr algn="l">
              <a:lnSpc>
                <a:spcPct val="95000"/>
              </a:lnSpc>
              <a:spcBef>
                <a:spcPts val="100"/>
              </a:spcBef>
            </a:pPr>
            <a:r>
              <a:rPr sz="800">
                <a:solidFill>
                  <a:srgbClr val="6B7280"/>
                </a:solidFill>
                <a:latin typeface="Calibri"/>
              </a:rPr>
              <a:t>(B, 4)</a:t>
            </a:r>
          </a:p>
          <a:p>
            <a:pPr algn="l">
              <a:lnSpc>
                <a:spcPct val="95000"/>
              </a:lnSpc>
              <a:spcBef>
                <a:spcPts val="100"/>
              </a:spcBef>
            </a:pPr>
            <a:r>
              <a:rPr sz="800">
                <a:solidFill>
                  <a:srgbClr val="6B7280"/>
                </a:solidFill>
                <a:latin typeface="Calibri"/>
              </a:rPr>
              <a:t>k_t, cloud/100, flow vx, flow vy</a:t>
            </a:r>
          </a:p>
        </p:txBody>
      </p:sp>
      <p:sp>
        <p:nvSpPr>
          <p:cNvPr id="14" name="TextBox 13"/>
          <p:cNvSpPr txBox="1"/>
          <p:nvPr/>
        </p:nvSpPr>
        <p:spPr>
          <a:xfrm>
            <a:off x="3154680" y="1298448"/>
            <a:ext cx="4754880" cy="219456"/>
          </a:xfrm>
          <a:prstGeom prst="rect">
            <a:avLst/>
          </a:prstGeom>
          <a:noFill/>
        </p:spPr>
        <p:txBody>
          <a:bodyPr wrap="square" anchor="t" lIns="0" rIns="0" tIns="0" bIns="0">
            <a:spAutoFit/>
          </a:bodyPr>
          <a:lstStyle/>
          <a:p>
            <a:pPr algn="l">
              <a:lnSpc>
                <a:spcPct val="100000"/>
              </a:lnSpc>
            </a:pPr>
            <a:r>
              <a:rPr sz="1000" b="1" i="0">
                <a:solidFill>
                  <a:srgbClr val="C4622D"/>
                </a:solidFill>
                <a:latin typeface="Calibri"/>
              </a:rPr>
              <a:t>ENCODERS AND FUSION</a:t>
            </a:r>
          </a:p>
        </p:txBody>
      </p:sp>
      <p:sp>
        <p:nvSpPr>
          <p:cNvPr id="15" name="Rectangle 14"/>
          <p:cNvSpPr/>
          <p:nvPr/>
        </p:nvSpPr>
        <p:spPr>
          <a:xfrm>
            <a:off x="3154680" y="1572768"/>
            <a:ext cx="2331720" cy="1024128"/>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50" b="1">
                <a:solidFill>
                  <a:srgbClr val="1F3B63"/>
                </a:solidFill>
                <a:latin typeface="Calibri"/>
              </a:rPr>
              <a:t>BiLSTM encoder</a:t>
            </a:r>
          </a:p>
          <a:p>
            <a:pPr algn="ctr">
              <a:lnSpc>
                <a:spcPct val="95000"/>
              </a:lnSpc>
              <a:spcBef>
                <a:spcPts val="100"/>
              </a:spcBef>
            </a:pPr>
            <a:r>
              <a:rPr sz="819">
                <a:solidFill>
                  <a:srgbClr val="6B7280"/>
                </a:solidFill>
                <a:latin typeface="Calibri"/>
              </a:rPr>
              <a:t>2 layers × 128 hidden, bidirectional, dropout 0.1</a:t>
            </a:r>
          </a:p>
          <a:p>
            <a:pPr algn="ctr">
              <a:lnSpc>
                <a:spcPct val="95000"/>
              </a:lnSpc>
              <a:spcBef>
                <a:spcPts val="100"/>
              </a:spcBef>
            </a:pPr>
            <a:r>
              <a:rPr sz="819">
                <a:solidFill>
                  <a:srgbClr val="6B7280"/>
                </a:solidFill>
                <a:latin typeface="Calibri"/>
              </a:rPr>
              <a:t>→ tanh attention pooling over 24 steps</a:t>
            </a:r>
          </a:p>
          <a:p>
            <a:pPr algn="ctr">
              <a:lnSpc>
                <a:spcPct val="95000"/>
              </a:lnSpc>
              <a:spcBef>
                <a:spcPts val="100"/>
              </a:spcBef>
            </a:pPr>
            <a:r>
              <a:rPr sz="819">
                <a:solidFill>
                  <a:srgbClr val="6B7280"/>
                </a:solidFill>
                <a:latin typeface="Calibri"/>
              </a:rPr>
              <a:t>(B,24,11) → (B,256)      572,673 params</a:t>
            </a:r>
          </a:p>
        </p:txBody>
      </p:sp>
      <p:sp>
        <p:nvSpPr>
          <p:cNvPr id="16" name="Rectangle 15"/>
          <p:cNvSpPr/>
          <p:nvPr/>
        </p:nvSpPr>
        <p:spPr>
          <a:xfrm>
            <a:off x="3154680" y="2743200"/>
            <a:ext cx="2331720" cy="1188720"/>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50" b="1">
                <a:solidFill>
                  <a:srgbClr val="1F3B63"/>
                </a:solidFill>
                <a:latin typeface="Calibri"/>
              </a:rPr>
              <a:t>Dual EfficientNet-B2</a:t>
            </a:r>
          </a:p>
          <a:p>
            <a:pPr algn="ctr">
              <a:lnSpc>
                <a:spcPct val="95000"/>
              </a:lnSpc>
              <a:spcBef>
                <a:spcPts val="100"/>
              </a:spcBef>
            </a:pPr>
            <a:r>
              <a:rPr sz="819">
                <a:solidFill>
                  <a:srgbClr val="6B7280"/>
                </a:solidFill>
                <a:latin typeface="Calibri"/>
              </a:rPr>
              <a:t>global_enc: 3 frames, shared weights</a:t>
            </a:r>
          </a:p>
          <a:p>
            <a:pPr algn="ctr">
              <a:lnSpc>
                <a:spcPct val="95000"/>
              </a:lnSpc>
              <a:spcBef>
                <a:spcPts val="100"/>
              </a:spcBef>
            </a:pPr>
            <a:r>
              <a:rPr sz="819">
                <a:solidFill>
                  <a:srgbClr val="6B7280"/>
                </a:solidFill>
                <a:latin typeface="Calibri"/>
              </a:rPr>
              <a:t>roi_enc: RoI crop</a:t>
            </a:r>
          </a:p>
          <a:p>
            <a:pPr algn="ctr">
              <a:lnSpc>
                <a:spcPct val="95000"/>
              </a:lnSpc>
              <a:spcBef>
                <a:spcPts val="100"/>
              </a:spcBef>
            </a:pPr>
            <a:r>
              <a:rPr sz="819">
                <a:solidFill>
                  <a:srgbClr val="6B7280"/>
                </a:solidFill>
                <a:latin typeface="Calibri"/>
              </a:rPr>
              <a:t>last stage only → (B,352,7,7) each</a:t>
            </a:r>
          </a:p>
          <a:p>
            <a:pPr algn="ctr">
              <a:lnSpc>
                <a:spcPct val="95000"/>
              </a:lnSpc>
              <a:spcBef>
                <a:spcPts val="100"/>
              </a:spcBef>
            </a:pPr>
            <a:r>
              <a:rPr sz="819">
                <a:solidFill>
                  <a:srgbClr val="6B7280"/>
                </a:solidFill>
                <a:latin typeface="Calibri"/>
              </a:rPr>
              <a:t>4 × 49 = 196 patches × 352 ch</a:t>
            </a:r>
          </a:p>
          <a:p>
            <a:pPr algn="ctr">
              <a:lnSpc>
                <a:spcPct val="95000"/>
              </a:lnSpc>
              <a:spcBef>
                <a:spcPts val="100"/>
              </a:spcBef>
            </a:pPr>
            <a:r>
              <a:rPr sz="819">
                <a:solidFill>
                  <a:srgbClr val="6B7280"/>
                </a:solidFill>
                <a:latin typeface="Calibri"/>
              </a:rPr>
              <a:t>2 × 7,202,562 = 14.4 M  (92.9%)</a:t>
            </a:r>
          </a:p>
        </p:txBody>
      </p:sp>
      <p:sp>
        <p:nvSpPr>
          <p:cNvPr id="17" name="Rectangle 16"/>
          <p:cNvSpPr/>
          <p:nvPr/>
        </p:nvSpPr>
        <p:spPr>
          <a:xfrm>
            <a:off x="5715000" y="1572768"/>
            <a:ext cx="2331720" cy="1024128"/>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50" b="1">
                <a:solidFill>
                  <a:srgbClr val="1F3B63"/>
                </a:solidFill>
                <a:latin typeface="Calibri"/>
              </a:rPr>
              <a:t>8-head cross-attention</a:t>
            </a:r>
          </a:p>
          <a:p>
            <a:pPr algn="ctr">
              <a:lnSpc>
                <a:spcPct val="95000"/>
              </a:lnSpc>
              <a:spcBef>
                <a:spcPts val="100"/>
              </a:spcBef>
            </a:pPr>
            <a:r>
              <a:rPr sz="819">
                <a:solidFill>
                  <a:srgbClr val="6B7280"/>
                </a:solidFill>
                <a:latin typeface="Calibri"/>
              </a:rPr>
              <a:t>query = BiLSTM state (1 token)</a:t>
            </a:r>
          </a:p>
          <a:p>
            <a:pPr algn="ctr">
              <a:lnSpc>
                <a:spcPct val="95000"/>
              </a:lnSpc>
              <a:spcBef>
                <a:spcPts val="100"/>
              </a:spcBef>
            </a:pPr>
            <a:r>
              <a:rPr sz="819">
                <a:solidFill>
                  <a:srgbClr val="6B7280"/>
                </a:solidFill>
                <a:latin typeface="Calibri"/>
              </a:rPr>
              <a:t>keys/values = 196 image patches</a:t>
            </a:r>
          </a:p>
          <a:p>
            <a:pPr algn="ctr">
              <a:lnSpc>
                <a:spcPct val="95000"/>
              </a:lnSpc>
              <a:spcBef>
                <a:spcPts val="100"/>
              </a:spcBef>
            </a:pPr>
            <a:r>
              <a:rPr sz="819">
                <a:solidFill>
                  <a:srgbClr val="6B7280"/>
                </a:solidFill>
                <a:latin typeface="Calibri"/>
              </a:rPr>
              <a:t>→ H_a (B,256)     419,328 params</a:t>
            </a:r>
          </a:p>
        </p:txBody>
      </p:sp>
      <p:sp>
        <p:nvSpPr>
          <p:cNvPr id="18" name="Rectangle 17"/>
          <p:cNvSpPr/>
          <p:nvPr/>
        </p:nvSpPr>
        <p:spPr>
          <a:xfrm>
            <a:off x="5715000" y="2743200"/>
            <a:ext cx="2331720" cy="1188720"/>
          </a:xfrm>
          <a:prstGeom prst="rect">
            <a:avLst/>
          </a:prstGeom>
          <a:solidFill>
            <a:srgbClr val="FFFFFF"/>
          </a:solidFill>
          <a:ln w="12700">
            <a:solidFill>
              <a:srgbClr val="C4622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50" b="1">
                <a:solidFill>
                  <a:srgbClr val="C4622D"/>
                </a:solidFill>
                <a:latin typeface="Calibri"/>
              </a:rPr>
              <a:t>Physics gate</a:t>
            </a:r>
          </a:p>
          <a:p>
            <a:pPr algn="ctr">
              <a:lnSpc>
                <a:spcPct val="95000"/>
              </a:lnSpc>
              <a:spcBef>
                <a:spcPts val="100"/>
              </a:spcBef>
            </a:pPr>
            <a:r>
              <a:rPr sz="819">
                <a:solidFill>
                  <a:srgbClr val="6B7280"/>
                </a:solidFill>
                <a:latin typeface="Calibri"/>
              </a:rPr>
              <a:t>Linear(4→32) → ReLU → Linear(32→1) → σ</a:t>
            </a:r>
          </a:p>
          <a:p>
            <a:pPr algn="ctr">
              <a:lnSpc>
                <a:spcPct val="95000"/>
              </a:lnSpc>
              <a:spcBef>
                <a:spcPts val="100"/>
              </a:spcBef>
            </a:pPr>
            <a:r>
              <a:rPr sz="819">
                <a:solidFill>
                  <a:srgbClr val="6B7280"/>
                </a:solidFill>
                <a:latin typeface="Calibri"/>
              </a:rPr>
              <a:t>α ∈ (0,1) weights temporal vs image</a:t>
            </a:r>
          </a:p>
          <a:p>
            <a:pPr algn="ctr">
              <a:lnSpc>
                <a:spcPct val="95000"/>
              </a:lnSpc>
              <a:spcBef>
                <a:spcPts val="100"/>
              </a:spcBef>
            </a:pPr>
            <a:r>
              <a:rPr sz="819">
                <a:solidFill>
                  <a:srgbClr val="6B7280"/>
                </a:solidFill>
                <a:latin typeface="Calibri"/>
              </a:rPr>
              <a:t>193 params — the whole gate</a:t>
            </a:r>
          </a:p>
          <a:p>
            <a:pPr algn="ctr">
              <a:lnSpc>
                <a:spcPct val="95000"/>
              </a:lnSpc>
              <a:spcBef>
                <a:spcPts val="100"/>
              </a:spcBef>
            </a:pPr>
            <a:r>
              <a:rPr sz="819">
                <a:solidFill>
                  <a:srgbClr val="6B7280"/>
                </a:solidFill>
                <a:latin typeface="Calibri"/>
              </a:rPr>
              <a:t>fused = α·H_t + (1−α)·H_a</a:t>
            </a:r>
          </a:p>
        </p:txBody>
      </p:sp>
      <p:cxnSp>
        <p:nvCxnSpPr>
          <p:cNvPr id="19" name="Connector 18"/>
          <p:cNvCxnSpPr/>
          <p:nvPr/>
        </p:nvCxnSpPr>
        <p:spPr>
          <a:xfrm>
            <a:off x="2926080" y="2084831"/>
            <a:ext cx="210312" cy="0"/>
          </a:xfrm>
          <a:prstGeom prst="line">
            <a:avLst/>
          </a:prstGeom>
          <a:ln w="15875">
            <a:solidFill>
              <a:srgbClr val="6B72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926080" y="3291840"/>
            <a:ext cx="210312" cy="0"/>
          </a:xfrm>
          <a:prstGeom prst="line">
            <a:avLst/>
          </a:prstGeom>
          <a:ln w="15875">
            <a:solidFill>
              <a:srgbClr val="6B72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504688" y="2084831"/>
            <a:ext cx="192024" cy="0"/>
          </a:xfrm>
          <a:prstGeom prst="line">
            <a:avLst/>
          </a:prstGeom>
          <a:ln w="15875">
            <a:solidFill>
              <a:srgbClr val="6B72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504688" y="3291840"/>
            <a:ext cx="192024" cy="0"/>
          </a:xfrm>
          <a:prstGeom prst="line">
            <a:avLst/>
          </a:prstGeom>
          <a:ln w="15875">
            <a:solidFill>
              <a:srgbClr val="6B72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72000" y="2615184"/>
            <a:ext cx="0" cy="109728"/>
          </a:xfrm>
          <a:prstGeom prst="line">
            <a:avLst/>
          </a:prstGeom>
          <a:ln w="15875">
            <a:solidFill>
              <a:srgbClr val="1F3B63"/>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0" y="1298448"/>
            <a:ext cx="3474720" cy="219456"/>
          </a:xfrm>
          <a:prstGeom prst="rect">
            <a:avLst/>
          </a:prstGeom>
          <a:noFill/>
        </p:spPr>
        <p:txBody>
          <a:bodyPr wrap="square" anchor="t" lIns="0" rIns="0" tIns="0" bIns="0">
            <a:spAutoFit/>
          </a:bodyPr>
          <a:lstStyle/>
          <a:p>
            <a:pPr algn="l">
              <a:lnSpc>
                <a:spcPct val="100000"/>
              </a:lnSpc>
            </a:pPr>
            <a:r>
              <a:rPr sz="1000" b="1" i="0">
                <a:solidFill>
                  <a:srgbClr val="C4622D"/>
                </a:solidFill>
                <a:latin typeface="Calibri"/>
              </a:rPr>
              <a:t>HEAD AND OUTPUT</a:t>
            </a:r>
          </a:p>
        </p:txBody>
      </p:sp>
      <p:sp>
        <p:nvSpPr>
          <p:cNvPr id="25" name="Rectangle 24"/>
          <p:cNvSpPr/>
          <p:nvPr/>
        </p:nvSpPr>
        <p:spPr>
          <a:xfrm>
            <a:off x="8229600" y="1572768"/>
            <a:ext cx="3456432" cy="868680"/>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50" b="1">
                <a:solidFill>
                  <a:srgbClr val="1F3B63"/>
                </a:solidFill>
                <a:latin typeface="Calibri"/>
              </a:rPr>
              <a:t>enrich</a:t>
            </a:r>
          </a:p>
          <a:p>
            <a:pPr algn="ctr">
              <a:lnSpc>
                <a:spcPct val="95000"/>
              </a:lnSpc>
              <a:spcBef>
                <a:spcPts val="100"/>
              </a:spcBef>
            </a:pPr>
            <a:r>
              <a:rPr sz="819">
                <a:solidFill>
                  <a:srgbClr val="6B7280"/>
                </a:solidFill>
                <a:latin typeface="Calibri"/>
              </a:rPr>
              <a:t>concat[fused (256), future_clearsky (3)] = 259</a:t>
            </a:r>
          </a:p>
          <a:p>
            <a:pPr algn="ctr">
              <a:lnSpc>
                <a:spcPct val="95000"/>
              </a:lnSpc>
              <a:spcBef>
                <a:spcPts val="100"/>
              </a:spcBef>
            </a:pPr>
            <a:r>
              <a:rPr sz="819">
                <a:solidFill>
                  <a:srgbClr val="6B7280"/>
                </a:solidFill>
                <a:latin typeface="Calibri"/>
              </a:rPr>
              <a:t>Linear(259→256) → ReLU → Dropout 0.15   ·   66,560 params</a:t>
            </a:r>
          </a:p>
        </p:txBody>
      </p:sp>
      <p:sp>
        <p:nvSpPr>
          <p:cNvPr id="26" name="Rectangle 25"/>
          <p:cNvSpPr/>
          <p:nvPr/>
        </p:nvSpPr>
        <p:spPr>
          <a:xfrm>
            <a:off x="8229600" y="2578608"/>
            <a:ext cx="3456432" cy="1078992"/>
          </a:xfrm>
          <a:prstGeom prst="rect">
            <a:avLst/>
          </a:prstGeom>
          <a:solidFill>
            <a:srgbClr val="FFFFFF"/>
          </a:solidFill>
          <a:ln w="12700">
            <a:solidFill>
              <a:srgbClr val="1F3B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50" b="1">
                <a:solidFill>
                  <a:srgbClr val="1F3B63"/>
                </a:solidFill>
                <a:latin typeface="Calibri"/>
              </a:rPr>
              <a:t>prediction head</a:t>
            </a:r>
          </a:p>
          <a:p>
            <a:pPr algn="ctr">
              <a:lnSpc>
                <a:spcPct val="95000"/>
              </a:lnSpc>
              <a:spcBef>
                <a:spcPts val="100"/>
              </a:spcBef>
            </a:pPr>
            <a:r>
              <a:rPr sz="819">
                <a:solidFill>
                  <a:srgbClr val="6B7280"/>
                </a:solidFill>
                <a:latin typeface="Calibri"/>
              </a:rPr>
              <a:t>Linear(256→128) → LayerNorm → GELU → Drop</a:t>
            </a:r>
          </a:p>
          <a:p>
            <a:pPr algn="ctr">
              <a:lnSpc>
                <a:spcPct val="95000"/>
              </a:lnSpc>
              <a:spcBef>
                <a:spcPts val="100"/>
              </a:spcBef>
            </a:pPr>
            <a:r>
              <a:rPr sz="819">
                <a:solidFill>
                  <a:srgbClr val="6B7280"/>
                </a:solidFill>
                <a:latin typeface="Calibri"/>
              </a:rPr>
              <a:t>Linear(128→64) → LayerNorm → GELU</a:t>
            </a:r>
          </a:p>
          <a:p>
            <a:pPr algn="ctr">
              <a:lnSpc>
                <a:spcPct val="95000"/>
              </a:lnSpc>
              <a:spcBef>
                <a:spcPts val="100"/>
              </a:spcBef>
            </a:pPr>
            <a:r>
              <a:rPr sz="819">
                <a:solidFill>
                  <a:srgbClr val="6B7280"/>
                </a:solidFill>
                <a:latin typeface="Calibri"/>
              </a:rPr>
              <a:t>Linear(64→6)          41,926 params</a:t>
            </a:r>
          </a:p>
        </p:txBody>
      </p:sp>
      <p:sp>
        <p:nvSpPr>
          <p:cNvPr id="27" name="Rectangle 26"/>
          <p:cNvSpPr/>
          <p:nvPr/>
        </p:nvSpPr>
        <p:spPr>
          <a:xfrm>
            <a:off x="8229600" y="3803904"/>
            <a:ext cx="3456432" cy="777240"/>
          </a:xfrm>
          <a:prstGeom prst="rect">
            <a:avLst/>
          </a:prstGeom>
          <a:solidFill>
            <a:srgbClr val="FFFFFF"/>
          </a:solidFill>
          <a:ln w="12700">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27432"/>
          <a:lstStyle/>
          <a:p>
            <a:pPr algn="ctr">
              <a:lnSpc>
                <a:spcPct val="95000"/>
              </a:lnSpc>
            </a:pPr>
            <a:r>
              <a:rPr sz="1050" b="1">
                <a:solidFill>
                  <a:srgbClr val="2E7D74"/>
                </a:solidFill>
                <a:latin typeface="Calibri"/>
              </a:rPr>
              <a:t>heteroscedastic output</a:t>
            </a:r>
          </a:p>
          <a:p>
            <a:pPr algn="ctr">
              <a:lnSpc>
                <a:spcPct val="95000"/>
              </a:lnSpc>
              <a:spcBef>
                <a:spcPts val="100"/>
              </a:spcBef>
            </a:pPr>
            <a:r>
              <a:rPr sz="819">
                <a:solidFill>
                  <a:srgbClr val="6B7280"/>
                </a:solidFill>
                <a:latin typeface="Calibri"/>
              </a:rPr>
              <a:t>μ = out[:, :3]   (3 horizons, z-scored GHI)</a:t>
            </a:r>
          </a:p>
          <a:p>
            <a:pPr algn="ctr">
              <a:lnSpc>
                <a:spcPct val="95000"/>
              </a:lnSpc>
              <a:spcBef>
                <a:spcPts val="100"/>
              </a:spcBef>
            </a:pPr>
            <a:r>
              <a:rPr sz="819">
                <a:solidFill>
                  <a:srgbClr val="6B7280"/>
                </a:solidFill>
                <a:latin typeface="Calibri"/>
              </a:rPr>
              <a:t>σ = softplus(out[:, 3:]) + 1e-4  &gt; 0</a:t>
            </a:r>
          </a:p>
        </p:txBody>
      </p:sp>
      <p:cxnSp>
        <p:nvCxnSpPr>
          <p:cNvPr id="28" name="Connector 27"/>
          <p:cNvCxnSpPr/>
          <p:nvPr/>
        </p:nvCxnSpPr>
        <p:spPr>
          <a:xfrm>
            <a:off x="8065008" y="2011680"/>
            <a:ext cx="146304" cy="0"/>
          </a:xfrm>
          <a:prstGeom prst="line">
            <a:avLst/>
          </a:prstGeom>
          <a:ln w="15875">
            <a:solidFill>
              <a:srgbClr val="6B72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966960" y="2459736"/>
            <a:ext cx="0" cy="100584"/>
          </a:xfrm>
          <a:prstGeom prst="line">
            <a:avLst/>
          </a:prstGeom>
          <a:ln w="15875">
            <a:solidFill>
              <a:srgbClr val="1F3B6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966960" y="3675887"/>
            <a:ext cx="0" cy="109728"/>
          </a:xfrm>
          <a:prstGeom prst="line">
            <a:avLst/>
          </a:prstGeom>
          <a:ln w="15875">
            <a:solidFill>
              <a:srgbClr val="1F3B63"/>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02920" y="4709160"/>
            <a:ext cx="11183112" cy="1481328"/>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13232" y="4846320"/>
            <a:ext cx="5120640" cy="237744"/>
          </a:xfrm>
          <a:prstGeom prst="rect">
            <a:avLst/>
          </a:prstGeom>
          <a:noFill/>
        </p:spPr>
        <p:txBody>
          <a:bodyPr wrap="square" anchor="t" lIns="0" rIns="0" tIns="0" bIns="0">
            <a:spAutoFit/>
          </a:bodyPr>
          <a:lstStyle/>
          <a:p>
            <a:pPr algn="l">
              <a:lnSpc>
                <a:spcPct val="100000"/>
              </a:lnSpc>
            </a:pPr>
            <a:r>
              <a:rPr sz="1000" b="1" i="0">
                <a:solidFill>
                  <a:srgbClr val="C4622D"/>
                </a:solidFill>
                <a:latin typeface="Calibri"/>
              </a:rPr>
              <a:t>ABLATION SWITCHES  (single constructor argument)</a:t>
            </a:r>
          </a:p>
        </p:txBody>
      </p:sp>
      <p:sp>
        <p:nvSpPr>
          <p:cNvPr id="33" name="TextBox 32"/>
          <p:cNvSpPr txBox="1"/>
          <p:nvPr/>
        </p:nvSpPr>
        <p:spPr>
          <a:xfrm>
            <a:off x="713232" y="5138928"/>
            <a:ext cx="1874519" cy="219456"/>
          </a:xfrm>
          <a:prstGeom prst="rect">
            <a:avLst/>
          </a:prstGeom>
          <a:noFill/>
        </p:spPr>
        <p:txBody>
          <a:bodyPr wrap="square" anchor="t" lIns="0" rIns="0" tIns="0" bIns="0">
            <a:spAutoFit/>
          </a:bodyPr>
          <a:lstStyle/>
          <a:p>
            <a:pPr algn="l">
              <a:lnSpc>
                <a:spcPct val="100000"/>
              </a:lnSpc>
            </a:pPr>
            <a:r>
              <a:rPr sz="950" b="1" i="0">
                <a:solidFill>
                  <a:srgbClr val="1F3B63"/>
                </a:solidFill>
                <a:latin typeface="Consolas"/>
              </a:rPr>
              <a:t>ablation=None</a:t>
            </a:r>
          </a:p>
        </p:txBody>
      </p:sp>
      <p:sp>
        <p:nvSpPr>
          <p:cNvPr id="34" name="TextBox 33"/>
          <p:cNvSpPr txBox="1"/>
          <p:nvPr/>
        </p:nvSpPr>
        <p:spPr>
          <a:xfrm>
            <a:off x="2697480" y="5138928"/>
            <a:ext cx="2286000" cy="219456"/>
          </a:xfrm>
          <a:prstGeom prst="rect">
            <a:avLst/>
          </a:prstGeom>
          <a:noFill/>
        </p:spPr>
        <p:txBody>
          <a:bodyPr wrap="square" anchor="t" lIns="0" rIns="0" tIns="0" bIns="0">
            <a:spAutoFit/>
          </a:bodyPr>
          <a:lstStyle/>
          <a:p>
            <a:pPr algn="l">
              <a:lnSpc>
                <a:spcPct val="100000"/>
              </a:lnSpc>
            </a:pPr>
            <a:r>
              <a:rPr sz="950" b="0" i="0">
                <a:solidFill>
                  <a:srgbClr val="252F3D"/>
                </a:solidFill>
                <a:latin typeface="Consolas"/>
              </a:rPr>
              <a:t>fused = α·H_t + (1−α)·H_a</a:t>
            </a:r>
          </a:p>
        </p:txBody>
      </p:sp>
      <p:sp>
        <p:nvSpPr>
          <p:cNvPr id="35" name="TextBox 34"/>
          <p:cNvSpPr txBox="1"/>
          <p:nvPr/>
        </p:nvSpPr>
        <p:spPr>
          <a:xfrm>
            <a:off x="5120640" y="5138928"/>
            <a:ext cx="3840480" cy="219456"/>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the full physics-gated model</a:t>
            </a:r>
          </a:p>
        </p:txBody>
      </p:sp>
      <p:sp>
        <p:nvSpPr>
          <p:cNvPr id="36" name="TextBox 35"/>
          <p:cNvSpPr txBox="1"/>
          <p:nvPr/>
        </p:nvSpPr>
        <p:spPr>
          <a:xfrm>
            <a:off x="713232" y="5394960"/>
            <a:ext cx="1874519" cy="219456"/>
          </a:xfrm>
          <a:prstGeom prst="rect">
            <a:avLst/>
          </a:prstGeom>
          <a:noFill/>
        </p:spPr>
        <p:txBody>
          <a:bodyPr wrap="square" anchor="t" lIns="0" rIns="0" tIns="0" bIns="0">
            <a:spAutoFit/>
          </a:bodyPr>
          <a:lstStyle/>
          <a:p>
            <a:pPr algn="l">
              <a:lnSpc>
                <a:spcPct val="100000"/>
              </a:lnSpc>
            </a:pPr>
            <a:r>
              <a:rPr sz="950" b="1" i="0">
                <a:solidFill>
                  <a:srgbClr val="1F3B63"/>
                </a:solidFill>
                <a:latin typeface="Consolas"/>
              </a:rPr>
              <a:t>ablation='lstm'</a:t>
            </a:r>
          </a:p>
        </p:txBody>
      </p:sp>
      <p:sp>
        <p:nvSpPr>
          <p:cNvPr id="37" name="TextBox 36"/>
          <p:cNvSpPr txBox="1"/>
          <p:nvPr/>
        </p:nvSpPr>
        <p:spPr>
          <a:xfrm>
            <a:off x="2697480" y="5394960"/>
            <a:ext cx="2286000" cy="219456"/>
          </a:xfrm>
          <a:prstGeom prst="rect">
            <a:avLst/>
          </a:prstGeom>
          <a:noFill/>
        </p:spPr>
        <p:txBody>
          <a:bodyPr wrap="square" anchor="t" lIns="0" rIns="0" tIns="0" bIns="0">
            <a:spAutoFit/>
          </a:bodyPr>
          <a:lstStyle/>
          <a:p>
            <a:pPr algn="l">
              <a:lnSpc>
                <a:spcPct val="100000"/>
              </a:lnSpc>
            </a:pPr>
            <a:r>
              <a:rPr sz="950" b="0" i="0">
                <a:solidFill>
                  <a:srgbClr val="252F3D"/>
                </a:solidFill>
                <a:latin typeface="Consolas"/>
              </a:rPr>
              <a:t>fused = H_t</a:t>
            </a:r>
          </a:p>
        </p:txBody>
      </p:sp>
      <p:sp>
        <p:nvSpPr>
          <p:cNvPr id="38" name="TextBox 37"/>
          <p:cNvSpPr txBox="1"/>
          <p:nvPr/>
        </p:nvSpPr>
        <p:spPr>
          <a:xfrm>
            <a:off x="5120640" y="5394960"/>
            <a:ext cx="3840480" cy="219456"/>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image branch removed from the fusion path</a:t>
            </a:r>
          </a:p>
        </p:txBody>
      </p:sp>
      <p:sp>
        <p:nvSpPr>
          <p:cNvPr id="39" name="TextBox 38"/>
          <p:cNvSpPr txBox="1"/>
          <p:nvPr/>
        </p:nvSpPr>
        <p:spPr>
          <a:xfrm>
            <a:off x="713232" y="5650992"/>
            <a:ext cx="1874519" cy="219456"/>
          </a:xfrm>
          <a:prstGeom prst="rect">
            <a:avLst/>
          </a:prstGeom>
          <a:noFill/>
        </p:spPr>
        <p:txBody>
          <a:bodyPr wrap="square" anchor="t" lIns="0" rIns="0" tIns="0" bIns="0">
            <a:spAutoFit/>
          </a:bodyPr>
          <a:lstStyle/>
          <a:p>
            <a:pPr algn="l">
              <a:lnSpc>
                <a:spcPct val="100000"/>
              </a:lnSpc>
            </a:pPr>
            <a:r>
              <a:rPr sz="950" b="1" i="0">
                <a:solidFill>
                  <a:srgbClr val="1F3B63"/>
                </a:solidFill>
                <a:latin typeface="Consolas"/>
              </a:rPr>
              <a:t>ablation='cnn'</a:t>
            </a:r>
          </a:p>
        </p:txBody>
      </p:sp>
      <p:sp>
        <p:nvSpPr>
          <p:cNvPr id="40" name="TextBox 39"/>
          <p:cNvSpPr txBox="1"/>
          <p:nvPr/>
        </p:nvSpPr>
        <p:spPr>
          <a:xfrm>
            <a:off x="2697480" y="5650992"/>
            <a:ext cx="2286000" cy="219456"/>
          </a:xfrm>
          <a:prstGeom prst="rect">
            <a:avLst/>
          </a:prstGeom>
          <a:noFill/>
        </p:spPr>
        <p:txBody>
          <a:bodyPr wrap="square" anchor="t" lIns="0" rIns="0" tIns="0" bIns="0">
            <a:spAutoFit/>
          </a:bodyPr>
          <a:lstStyle/>
          <a:p>
            <a:pPr algn="l">
              <a:lnSpc>
                <a:spcPct val="100000"/>
              </a:lnSpc>
            </a:pPr>
            <a:r>
              <a:rPr sz="950" b="0" i="0">
                <a:solidFill>
                  <a:srgbClr val="252F3D"/>
                </a:solidFill>
                <a:latin typeface="Consolas"/>
              </a:rPr>
              <a:t>fused = H_a</a:t>
            </a:r>
          </a:p>
        </p:txBody>
      </p:sp>
      <p:sp>
        <p:nvSpPr>
          <p:cNvPr id="41" name="TextBox 40"/>
          <p:cNvSpPr txBox="1"/>
          <p:nvPr/>
        </p:nvSpPr>
        <p:spPr>
          <a:xfrm>
            <a:off x="5120640" y="5650992"/>
            <a:ext cx="3840480" cy="219456"/>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image patches pooled by the BiLSTM query*</a:t>
            </a:r>
          </a:p>
        </p:txBody>
      </p:sp>
      <p:sp>
        <p:nvSpPr>
          <p:cNvPr id="42" name="TextBox 41"/>
          <p:cNvSpPr txBox="1"/>
          <p:nvPr/>
        </p:nvSpPr>
        <p:spPr>
          <a:xfrm>
            <a:off x="713232" y="5907024"/>
            <a:ext cx="1874519" cy="219456"/>
          </a:xfrm>
          <a:prstGeom prst="rect">
            <a:avLst/>
          </a:prstGeom>
          <a:noFill/>
        </p:spPr>
        <p:txBody>
          <a:bodyPr wrap="square" anchor="t" lIns="0" rIns="0" tIns="0" bIns="0">
            <a:spAutoFit/>
          </a:bodyPr>
          <a:lstStyle/>
          <a:p>
            <a:pPr algn="l">
              <a:lnSpc>
                <a:spcPct val="100000"/>
              </a:lnSpc>
            </a:pPr>
            <a:r>
              <a:rPr sz="950" b="1" i="0">
                <a:solidFill>
                  <a:srgbClr val="1F3B63"/>
                </a:solidFill>
                <a:latin typeface="Consolas"/>
              </a:rPr>
              <a:t>ablation='concat'</a:t>
            </a:r>
          </a:p>
        </p:txBody>
      </p:sp>
      <p:sp>
        <p:nvSpPr>
          <p:cNvPr id="43" name="TextBox 42"/>
          <p:cNvSpPr txBox="1"/>
          <p:nvPr/>
        </p:nvSpPr>
        <p:spPr>
          <a:xfrm>
            <a:off x="2697480" y="5907024"/>
            <a:ext cx="2286000" cy="219456"/>
          </a:xfrm>
          <a:prstGeom prst="rect">
            <a:avLst/>
          </a:prstGeom>
          <a:noFill/>
        </p:spPr>
        <p:txBody>
          <a:bodyPr wrap="square" anchor="t" lIns="0" rIns="0" tIns="0" bIns="0">
            <a:spAutoFit/>
          </a:bodyPr>
          <a:lstStyle/>
          <a:p>
            <a:pPr algn="l">
              <a:lnSpc>
                <a:spcPct val="100000"/>
              </a:lnSpc>
            </a:pPr>
            <a:r>
              <a:rPr sz="950" b="0" i="0">
                <a:solidFill>
                  <a:srgbClr val="252F3D"/>
                </a:solidFill>
                <a:latin typeface="Consolas"/>
              </a:rPr>
              <a:t>fused = [H_t ; H_a]</a:t>
            </a:r>
          </a:p>
        </p:txBody>
      </p:sp>
      <p:sp>
        <p:nvSpPr>
          <p:cNvPr id="44" name="TextBox 43"/>
          <p:cNvSpPr txBox="1"/>
          <p:nvPr/>
        </p:nvSpPr>
        <p:spPr>
          <a:xfrm>
            <a:off x="5120640" y="5907024"/>
            <a:ext cx="3840480" cy="219456"/>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no gate; enrich widens to 515→256</a:t>
            </a:r>
          </a:p>
        </p:txBody>
      </p:sp>
      <p:sp>
        <p:nvSpPr>
          <p:cNvPr id="45" name="TextBox 44"/>
          <p:cNvSpPr txBox="1"/>
          <p:nvPr/>
        </p:nvSpPr>
        <p:spPr>
          <a:xfrm>
            <a:off x="9144000" y="5138928"/>
            <a:ext cx="2468880" cy="914400"/>
          </a:xfrm>
          <a:prstGeom prst="rect">
            <a:avLst/>
          </a:prstGeom>
          <a:noFill/>
        </p:spPr>
        <p:txBody>
          <a:bodyPr wrap="square" anchor="t" lIns="0" rIns="0" tIns="0" bIns="0">
            <a:spAutoFit/>
          </a:bodyPr>
          <a:lstStyle/>
          <a:p>
            <a:pPr algn="l">
              <a:lnSpc>
                <a:spcPct val="103000"/>
              </a:lnSpc>
            </a:pPr>
            <a:r>
              <a:rPr sz="900" b="0" i="1">
                <a:solidFill>
                  <a:srgbClr val="B3282D"/>
                </a:solidFill>
                <a:latin typeface="Calibri"/>
              </a:rPr>
              <a:t>* the attention query is still the BiLSTM state, so this variant is not image-only — it is renamed accordingly throughout this deck.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FORMULATION</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What the gate, the loss and the metrics actually compute</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7</a:t>
            </a:r>
          </a:p>
        </p:txBody>
      </p:sp>
      <p:sp>
        <p:nvSpPr>
          <p:cNvPr id="8" name="Rectangle 7"/>
          <p:cNvSpPr/>
          <p:nvPr/>
        </p:nvSpPr>
        <p:spPr>
          <a:xfrm>
            <a:off x="502920" y="1298448"/>
            <a:ext cx="3611880" cy="1371600"/>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408176"/>
            <a:ext cx="3282696" cy="219456"/>
          </a:xfrm>
          <a:prstGeom prst="rect">
            <a:avLst/>
          </a:prstGeom>
          <a:noFill/>
        </p:spPr>
        <p:txBody>
          <a:bodyPr wrap="square" anchor="t" lIns="0" rIns="0" tIns="0" bIns="0">
            <a:spAutoFit/>
          </a:bodyPr>
          <a:lstStyle/>
          <a:p>
            <a:pPr algn="l">
              <a:lnSpc>
                <a:spcPct val="100000"/>
              </a:lnSpc>
            </a:pPr>
            <a:r>
              <a:rPr sz="1100" b="1" i="0">
                <a:solidFill>
                  <a:srgbClr val="1F3B63"/>
                </a:solidFill>
                <a:latin typeface="Calibri"/>
              </a:rPr>
              <a:t>1 · Clear-sky index — the physical normaliser</a:t>
            </a:r>
          </a:p>
        </p:txBody>
      </p:sp>
      <p:sp>
        <p:nvSpPr>
          <p:cNvPr id="10" name="TextBox 9"/>
          <p:cNvSpPr txBox="1"/>
          <p:nvPr/>
        </p:nvSpPr>
        <p:spPr>
          <a:xfrm>
            <a:off x="667512" y="1682495"/>
            <a:ext cx="3282696" cy="365760"/>
          </a:xfrm>
          <a:prstGeom prst="rect">
            <a:avLst/>
          </a:prstGeom>
          <a:noFill/>
        </p:spPr>
        <p:txBody>
          <a:bodyPr wrap="square" anchor="t" lIns="0" rIns="0" tIns="0" bIns="0">
            <a:spAutoFit/>
          </a:bodyPr>
          <a:lstStyle/>
          <a:p>
            <a:pPr algn="l">
              <a:lnSpc>
                <a:spcPct val="110000"/>
              </a:lnSpc>
            </a:pPr>
            <a:r>
              <a:rPr sz="1350" b="0" i="1">
                <a:solidFill>
                  <a:srgbClr val="252F3D"/>
                </a:solidFill>
                <a:latin typeface="Calibri"/>
              </a:rPr>
              <a:t>k(t)  =  GHI(t) / GHI_clear(t)</a:t>
            </a:r>
          </a:p>
        </p:txBody>
      </p:sp>
      <p:sp>
        <p:nvSpPr>
          <p:cNvPr id="11" name="TextBox 10"/>
          <p:cNvSpPr txBox="1"/>
          <p:nvPr/>
        </p:nvSpPr>
        <p:spPr>
          <a:xfrm>
            <a:off x="667512" y="2011680"/>
            <a:ext cx="3282696" cy="603504"/>
          </a:xfrm>
          <a:prstGeom prst="rect">
            <a:avLst/>
          </a:prstGeom>
          <a:noFill/>
        </p:spPr>
        <p:txBody>
          <a:bodyPr wrap="square" anchor="t" lIns="0" rIns="0" tIns="0" bIns="0">
            <a:spAutoFit/>
          </a:bodyPr>
          <a:lstStyle/>
          <a:p>
            <a:pPr algn="l">
              <a:lnSpc>
                <a:spcPct val="103000"/>
              </a:lnSpc>
            </a:pPr>
            <a:r>
              <a:rPr sz="950" b="0" i="0">
                <a:solidFill>
                  <a:srgbClr val="6B7280"/>
                </a:solidFill>
                <a:latin typeface="Calibri"/>
              </a:rPr>
              <a:t>GHI_clear from pvlib's Ineichen model (solar geometry + turbidity climatology). k removes the deterministic diurnal and seasonal signal, leaving the cloud attenuation the model must actually predict.</a:t>
            </a:r>
          </a:p>
        </p:txBody>
      </p:sp>
      <p:sp>
        <p:nvSpPr>
          <p:cNvPr id="12" name="Rectangle 11"/>
          <p:cNvSpPr/>
          <p:nvPr/>
        </p:nvSpPr>
        <p:spPr>
          <a:xfrm>
            <a:off x="4279392" y="1298448"/>
            <a:ext cx="3611880" cy="1371600"/>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443983" y="1408176"/>
            <a:ext cx="3282696" cy="219456"/>
          </a:xfrm>
          <a:prstGeom prst="rect">
            <a:avLst/>
          </a:prstGeom>
          <a:noFill/>
        </p:spPr>
        <p:txBody>
          <a:bodyPr wrap="square" anchor="t" lIns="0" rIns="0" tIns="0" bIns="0">
            <a:spAutoFit/>
          </a:bodyPr>
          <a:lstStyle/>
          <a:p>
            <a:pPr algn="l">
              <a:lnSpc>
                <a:spcPct val="100000"/>
              </a:lnSpc>
            </a:pPr>
            <a:r>
              <a:rPr sz="1100" b="1" i="0">
                <a:solidFill>
                  <a:srgbClr val="1F3B63"/>
                </a:solidFill>
                <a:latin typeface="Calibri"/>
              </a:rPr>
              <a:t>2 · Physics gate</a:t>
            </a:r>
          </a:p>
        </p:txBody>
      </p:sp>
      <p:sp>
        <p:nvSpPr>
          <p:cNvPr id="14" name="TextBox 13"/>
          <p:cNvSpPr txBox="1"/>
          <p:nvPr/>
        </p:nvSpPr>
        <p:spPr>
          <a:xfrm>
            <a:off x="4443983" y="1682495"/>
            <a:ext cx="3282696" cy="365760"/>
          </a:xfrm>
          <a:prstGeom prst="rect">
            <a:avLst/>
          </a:prstGeom>
          <a:noFill/>
        </p:spPr>
        <p:txBody>
          <a:bodyPr wrap="square" anchor="t" lIns="0" rIns="0" tIns="0" bIns="0">
            <a:spAutoFit/>
          </a:bodyPr>
          <a:lstStyle/>
          <a:p>
            <a:pPr algn="l">
              <a:lnSpc>
                <a:spcPct val="110000"/>
              </a:lnSpc>
            </a:pPr>
            <a:r>
              <a:rPr sz="1350" b="0" i="1">
                <a:solidFill>
                  <a:srgbClr val="252F3D"/>
                </a:solidFill>
                <a:latin typeface="Calibri"/>
              </a:rPr>
              <a:t>α  =  σ( W₂ · ReLU(W₁ g + b₁) + b₂ )</a:t>
            </a:r>
          </a:p>
        </p:txBody>
      </p:sp>
      <p:sp>
        <p:nvSpPr>
          <p:cNvPr id="15" name="TextBox 14"/>
          <p:cNvSpPr txBox="1"/>
          <p:nvPr/>
        </p:nvSpPr>
        <p:spPr>
          <a:xfrm>
            <a:off x="4443983" y="2011680"/>
            <a:ext cx="3282696" cy="603504"/>
          </a:xfrm>
          <a:prstGeom prst="rect">
            <a:avLst/>
          </a:prstGeom>
          <a:noFill/>
        </p:spPr>
        <p:txBody>
          <a:bodyPr wrap="square" anchor="t" lIns="0" rIns="0" tIns="0" bIns="0">
            <a:spAutoFit/>
          </a:bodyPr>
          <a:lstStyle/>
          <a:p>
            <a:pPr algn="l">
              <a:lnSpc>
                <a:spcPct val="103000"/>
              </a:lnSpc>
            </a:pPr>
            <a:r>
              <a:rPr sz="950" b="0" i="0">
                <a:solidFill>
                  <a:srgbClr val="6B7280"/>
                </a:solidFill>
                <a:latin typeface="Calibri"/>
              </a:rPr>
              <a:t>g = [k(t), cc/100, v_x, v_y] ∈ ℝ⁴ — clear-sky index, cloud fraction, and Farnebäck flow over the Singapore RoI. W₁ ∈ ℝ^{32×4}, W₂ ∈ ℝ^{1×32}: 193 parameters.</a:t>
            </a:r>
          </a:p>
        </p:txBody>
      </p:sp>
      <p:sp>
        <p:nvSpPr>
          <p:cNvPr id="16" name="Rectangle 15"/>
          <p:cNvSpPr/>
          <p:nvPr/>
        </p:nvSpPr>
        <p:spPr>
          <a:xfrm>
            <a:off x="8065008" y="1298448"/>
            <a:ext cx="3621024" cy="1371600"/>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29600" y="1408176"/>
            <a:ext cx="3291840" cy="219456"/>
          </a:xfrm>
          <a:prstGeom prst="rect">
            <a:avLst/>
          </a:prstGeom>
          <a:noFill/>
        </p:spPr>
        <p:txBody>
          <a:bodyPr wrap="square" anchor="t" lIns="0" rIns="0" tIns="0" bIns="0">
            <a:spAutoFit/>
          </a:bodyPr>
          <a:lstStyle/>
          <a:p>
            <a:pPr algn="l">
              <a:lnSpc>
                <a:spcPct val="100000"/>
              </a:lnSpc>
            </a:pPr>
            <a:r>
              <a:rPr sz="1100" b="1" i="0">
                <a:solidFill>
                  <a:srgbClr val="1F3B63"/>
                </a:solidFill>
                <a:latin typeface="Calibri"/>
              </a:rPr>
              <a:t>3 · Gated fusion</a:t>
            </a:r>
          </a:p>
        </p:txBody>
      </p:sp>
      <p:sp>
        <p:nvSpPr>
          <p:cNvPr id="18" name="TextBox 17"/>
          <p:cNvSpPr txBox="1"/>
          <p:nvPr/>
        </p:nvSpPr>
        <p:spPr>
          <a:xfrm>
            <a:off x="8229600" y="1682495"/>
            <a:ext cx="3291840" cy="365760"/>
          </a:xfrm>
          <a:prstGeom prst="rect">
            <a:avLst/>
          </a:prstGeom>
          <a:noFill/>
        </p:spPr>
        <p:txBody>
          <a:bodyPr wrap="square" anchor="t" lIns="0" rIns="0" tIns="0" bIns="0">
            <a:spAutoFit/>
          </a:bodyPr>
          <a:lstStyle/>
          <a:p>
            <a:pPr algn="l">
              <a:lnSpc>
                <a:spcPct val="110000"/>
              </a:lnSpc>
            </a:pPr>
            <a:r>
              <a:rPr sz="1350" b="0" i="1">
                <a:solidFill>
                  <a:srgbClr val="252F3D"/>
                </a:solidFill>
                <a:latin typeface="Calibri"/>
              </a:rPr>
              <a:t>h  =  α·H_t  +  (1 − α)·H_a</a:t>
            </a:r>
          </a:p>
        </p:txBody>
      </p:sp>
      <p:sp>
        <p:nvSpPr>
          <p:cNvPr id="19" name="TextBox 18"/>
          <p:cNvSpPr txBox="1"/>
          <p:nvPr/>
        </p:nvSpPr>
        <p:spPr>
          <a:xfrm>
            <a:off x="8229600" y="2011680"/>
            <a:ext cx="3291840" cy="603504"/>
          </a:xfrm>
          <a:prstGeom prst="rect">
            <a:avLst/>
          </a:prstGeom>
          <a:noFill/>
        </p:spPr>
        <p:txBody>
          <a:bodyPr wrap="square" anchor="t" lIns="0" rIns="0" tIns="0" bIns="0">
            <a:spAutoFit/>
          </a:bodyPr>
          <a:lstStyle/>
          <a:p>
            <a:pPr algn="l">
              <a:lnSpc>
                <a:spcPct val="103000"/>
              </a:lnSpc>
            </a:pPr>
            <a:r>
              <a:rPr sz="950" b="0" i="0">
                <a:solidFill>
                  <a:srgbClr val="6B7280"/>
                </a:solidFill>
                <a:latin typeface="Calibri"/>
              </a:rPr>
              <a:t>H_t ∈ ℝ²⁵⁶ is the pooled BiLSTM state; H_a ∈ ℝ²⁵⁶ is the cross-attention output. α → 1 trusts the weather history; α → 0 trusts the imagery.</a:t>
            </a:r>
          </a:p>
        </p:txBody>
      </p:sp>
      <p:sp>
        <p:nvSpPr>
          <p:cNvPr id="20" name="Rectangle 19"/>
          <p:cNvSpPr/>
          <p:nvPr/>
        </p:nvSpPr>
        <p:spPr>
          <a:xfrm>
            <a:off x="502920" y="2816352"/>
            <a:ext cx="3611880" cy="1481328"/>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67512" y="2926080"/>
            <a:ext cx="3282696" cy="219456"/>
          </a:xfrm>
          <a:prstGeom prst="rect">
            <a:avLst/>
          </a:prstGeom>
          <a:noFill/>
        </p:spPr>
        <p:txBody>
          <a:bodyPr wrap="square" anchor="t" lIns="0" rIns="0" tIns="0" bIns="0">
            <a:spAutoFit/>
          </a:bodyPr>
          <a:lstStyle/>
          <a:p>
            <a:pPr algn="l">
              <a:lnSpc>
                <a:spcPct val="100000"/>
              </a:lnSpc>
            </a:pPr>
            <a:r>
              <a:rPr sz="1100" b="1" i="0">
                <a:solidFill>
                  <a:srgbClr val="1F3B63"/>
                </a:solidFill>
                <a:latin typeface="Calibri"/>
              </a:rPr>
              <a:t>4 · Cross-attention (8 heads)</a:t>
            </a:r>
          </a:p>
        </p:txBody>
      </p:sp>
      <p:sp>
        <p:nvSpPr>
          <p:cNvPr id="22" name="TextBox 21"/>
          <p:cNvSpPr txBox="1"/>
          <p:nvPr/>
        </p:nvSpPr>
        <p:spPr>
          <a:xfrm>
            <a:off x="667512" y="3200400"/>
            <a:ext cx="3282696" cy="365760"/>
          </a:xfrm>
          <a:prstGeom prst="rect">
            <a:avLst/>
          </a:prstGeom>
          <a:noFill/>
        </p:spPr>
        <p:txBody>
          <a:bodyPr wrap="square" anchor="t" lIns="0" rIns="0" tIns="0" bIns="0">
            <a:spAutoFit/>
          </a:bodyPr>
          <a:lstStyle/>
          <a:p>
            <a:pPr algn="l">
              <a:lnSpc>
                <a:spcPct val="110000"/>
              </a:lnSpc>
            </a:pPr>
            <a:r>
              <a:rPr sz="1350" b="0" i="1">
                <a:solidFill>
                  <a:srgbClr val="252F3D"/>
                </a:solidFill>
                <a:latin typeface="Calibri"/>
              </a:rPr>
              <a:t>H_a = softmax(QKᵀ/√d)·V,  Q = W_q H_t</a:t>
            </a:r>
          </a:p>
        </p:txBody>
      </p:sp>
      <p:sp>
        <p:nvSpPr>
          <p:cNvPr id="23" name="TextBox 22"/>
          <p:cNvSpPr txBox="1"/>
          <p:nvPr/>
        </p:nvSpPr>
        <p:spPr>
          <a:xfrm>
            <a:off x="667512" y="3639312"/>
            <a:ext cx="3282696" cy="603504"/>
          </a:xfrm>
          <a:prstGeom prst="rect">
            <a:avLst/>
          </a:prstGeom>
          <a:noFill/>
        </p:spPr>
        <p:txBody>
          <a:bodyPr wrap="square" anchor="t" lIns="0" rIns="0" tIns="0" bIns="0">
            <a:spAutoFit/>
          </a:bodyPr>
          <a:lstStyle/>
          <a:p>
            <a:pPr algn="l">
              <a:lnSpc>
                <a:spcPct val="103000"/>
              </a:lnSpc>
            </a:pPr>
            <a:r>
              <a:rPr sz="950" b="0" i="0">
                <a:solidFill>
                  <a:srgbClr val="6B7280"/>
                </a:solidFill>
                <a:latin typeface="Calibri"/>
              </a:rPr>
              <a:t>K = V = W_kv P with P ∈ ℝ^{196×352} the concatenated patch tokens from three global frames and one RoI frame; d = 256/8 = 32 per head. One query token, so attention returns a single pooled vector plus a 196-way weight map.</a:t>
            </a:r>
          </a:p>
        </p:txBody>
      </p:sp>
      <p:sp>
        <p:nvSpPr>
          <p:cNvPr id="24" name="Rectangle 23"/>
          <p:cNvSpPr/>
          <p:nvPr/>
        </p:nvSpPr>
        <p:spPr>
          <a:xfrm>
            <a:off x="4279392" y="2816352"/>
            <a:ext cx="3611880" cy="1481328"/>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443983" y="2926080"/>
            <a:ext cx="3282696" cy="219456"/>
          </a:xfrm>
          <a:prstGeom prst="rect">
            <a:avLst/>
          </a:prstGeom>
          <a:noFill/>
        </p:spPr>
        <p:txBody>
          <a:bodyPr wrap="square" anchor="t" lIns="0" rIns="0" tIns="0" bIns="0">
            <a:spAutoFit/>
          </a:bodyPr>
          <a:lstStyle/>
          <a:p>
            <a:pPr algn="l">
              <a:lnSpc>
                <a:spcPct val="100000"/>
              </a:lnSpc>
            </a:pPr>
            <a:r>
              <a:rPr sz="1100" b="1" i="0">
                <a:solidFill>
                  <a:srgbClr val="1F3B63"/>
                </a:solidFill>
                <a:latin typeface="Calibri"/>
              </a:rPr>
              <a:t>5 · Training objective — Gaussian NLL</a:t>
            </a:r>
          </a:p>
        </p:txBody>
      </p:sp>
      <p:sp>
        <p:nvSpPr>
          <p:cNvPr id="26" name="TextBox 25"/>
          <p:cNvSpPr txBox="1"/>
          <p:nvPr/>
        </p:nvSpPr>
        <p:spPr>
          <a:xfrm>
            <a:off x="4443983" y="3200400"/>
            <a:ext cx="3282696" cy="365760"/>
          </a:xfrm>
          <a:prstGeom prst="rect">
            <a:avLst/>
          </a:prstGeom>
          <a:noFill/>
        </p:spPr>
        <p:txBody>
          <a:bodyPr wrap="square" anchor="t" lIns="0" rIns="0" tIns="0" bIns="0">
            <a:spAutoFit/>
          </a:bodyPr>
          <a:lstStyle/>
          <a:p>
            <a:pPr algn="l">
              <a:lnSpc>
                <a:spcPct val="110000"/>
              </a:lnSpc>
            </a:pPr>
            <a:r>
              <a:rPr sz="1350" b="0" i="1">
                <a:solidFill>
                  <a:srgbClr val="252F3D"/>
                </a:solidFill>
                <a:latin typeface="Calibri"/>
              </a:rPr>
              <a:t>L = Σ_h [ log σ_h + (y_h − μ_h)² / (2σ_h²) ]</a:t>
            </a:r>
          </a:p>
        </p:txBody>
      </p:sp>
      <p:sp>
        <p:nvSpPr>
          <p:cNvPr id="27" name="TextBox 26"/>
          <p:cNvSpPr txBox="1"/>
          <p:nvPr/>
        </p:nvSpPr>
        <p:spPr>
          <a:xfrm>
            <a:off x="4443983" y="3639312"/>
            <a:ext cx="3282696" cy="603504"/>
          </a:xfrm>
          <a:prstGeom prst="rect">
            <a:avLst/>
          </a:prstGeom>
          <a:noFill/>
        </p:spPr>
        <p:txBody>
          <a:bodyPr wrap="square" anchor="t" lIns="0" rIns="0" tIns="0" bIns="0">
            <a:spAutoFit/>
          </a:bodyPr>
          <a:lstStyle/>
          <a:p>
            <a:pPr algn="l">
              <a:lnSpc>
                <a:spcPct val="103000"/>
              </a:lnSpc>
            </a:pPr>
            <a:r>
              <a:rPr sz="950" b="0" i="0">
                <a:solidFill>
                  <a:srgbClr val="6B7280"/>
                </a:solidFill>
                <a:latin typeface="Calibri"/>
              </a:rPr>
              <a:t>Heteroscedastic likelihood, summed over the three horizons and averaged over the batch. The model is rewarded for widening σ exactly when it cannot predict y — this is what makes the intervals on slide 14 informative rather than decorative.</a:t>
            </a:r>
          </a:p>
        </p:txBody>
      </p:sp>
      <p:sp>
        <p:nvSpPr>
          <p:cNvPr id="28" name="Rectangle 27"/>
          <p:cNvSpPr/>
          <p:nvPr/>
        </p:nvSpPr>
        <p:spPr>
          <a:xfrm>
            <a:off x="8065008" y="2816352"/>
            <a:ext cx="3621024" cy="1481328"/>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229600" y="2926080"/>
            <a:ext cx="3291840" cy="219456"/>
          </a:xfrm>
          <a:prstGeom prst="rect">
            <a:avLst/>
          </a:prstGeom>
          <a:noFill/>
        </p:spPr>
        <p:txBody>
          <a:bodyPr wrap="square" anchor="t" lIns="0" rIns="0" tIns="0" bIns="0">
            <a:spAutoFit/>
          </a:bodyPr>
          <a:lstStyle/>
          <a:p>
            <a:pPr algn="l">
              <a:lnSpc>
                <a:spcPct val="100000"/>
              </a:lnSpc>
            </a:pPr>
            <a:r>
              <a:rPr sz="1100" b="1" i="0">
                <a:solidFill>
                  <a:srgbClr val="1F3B63"/>
                </a:solidFill>
                <a:latin typeface="Calibri"/>
              </a:rPr>
              <a:t>6 · Reference forecast and skill</a:t>
            </a:r>
          </a:p>
        </p:txBody>
      </p:sp>
      <p:sp>
        <p:nvSpPr>
          <p:cNvPr id="30" name="TextBox 29"/>
          <p:cNvSpPr txBox="1"/>
          <p:nvPr/>
        </p:nvSpPr>
        <p:spPr>
          <a:xfrm>
            <a:off x="8229600" y="3200400"/>
            <a:ext cx="3291840" cy="365760"/>
          </a:xfrm>
          <a:prstGeom prst="rect">
            <a:avLst/>
          </a:prstGeom>
          <a:noFill/>
        </p:spPr>
        <p:txBody>
          <a:bodyPr wrap="square" anchor="t" lIns="0" rIns="0" tIns="0" bIns="0">
            <a:spAutoFit/>
          </a:bodyPr>
          <a:lstStyle/>
          <a:p>
            <a:pPr algn="l">
              <a:lnSpc>
                <a:spcPct val="110000"/>
              </a:lnSpc>
            </a:pPr>
            <a:r>
              <a:rPr sz="1350" b="0" i="1">
                <a:solidFill>
                  <a:srgbClr val="252F3D"/>
                </a:solidFill>
                <a:latin typeface="Calibri"/>
              </a:rPr>
              <a:t>ŷ_SP(t+h) = k(t)·GHI_clear(t+h);   S = 1 − MAE/MAE_SP</a:t>
            </a:r>
          </a:p>
        </p:txBody>
      </p:sp>
      <p:sp>
        <p:nvSpPr>
          <p:cNvPr id="31" name="TextBox 30"/>
          <p:cNvSpPr txBox="1"/>
          <p:nvPr/>
        </p:nvSpPr>
        <p:spPr>
          <a:xfrm>
            <a:off x="8229600" y="3639312"/>
            <a:ext cx="3291840" cy="603504"/>
          </a:xfrm>
          <a:prstGeom prst="rect">
            <a:avLst/>
          </a:prstGeom>
          <a:noFill/>
        </p:spPr>
        <p:txBody>
          <a:bodyPr wrap="square" anchor="t" lIns="0" rIns="0" tIns="0" bIns="0">
            <a:spAutoFit/>
          </a:bodyPr>
          <a:lstStyle/>
          <a:p>
            <a:pPr algn="l">
              <a:lnSpc>
                <a:spcPct val="103000"/>
              </a:lnSpc>
            </a:pPr>
            <a:r>
              <a:rPr sz="950" b="0" i="0">
                <a:solidFill>
                  <a:srgbClr val="6B7280"/>
                </a:solidFill>
                <a:latin typeface="Calibri"/>
              </a:rPr>
              <a:t>Smart persistence holds the clear-sky index constant and lets the geometry evolve. S &gt; 0 means the model beats it; S = 0 means the model has learned nothing beyond the sun's position and the current cloud state.</a:t>
            </a:r>
          </a:p>
        </p:txBody>
      </p:sp>
      <p:sp>
        <p:nvSpPr>
          <p:cNvPr id="32" name="Rectangle 31"/>
          <p:cNvSpPr/>
          <p:nvPr/>
        </p:nvSpPr>
        <p:spPr>
          <a:xfrm>
            <a:off x="502920" y="4462272"/>
            <a:ext cx="11183112" cy="1298448"/>
          </a:xfrm>
          <a:prstGeom prst="rect">
            <a:avLst/>
          </a:prstGeom>
          <a:solidFill>
            <a:srgbClr val="ECF1F7"/>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13232" y="4590288"/>
            <a:ext cx="4572000" cy="219456"/>
          </a:xfrm>
          <a:prstGeom prst="rect">
            <a:avLst/>
          </a:prstGeom>
          <a:noFill/>
        </p:spPr>
        <p:txBody>
          <a:bodyPr wrap="square" anchor="t" lIns="0" rIns="0" tIns="0" bIns="0">
            <a:spAutoFit/>
          </a:bodyPr>
          <a:lstStyle/>
          <a:p>
            <a:pPr algn="l">
              <a:lnSpc>
                <a:spcPct val="100000"/>
              </a:lnSpc>
            </a:pPr>
            <a:r>
              <a:rPr sz="1050" b="1" i="0">
                <a:solidFill>
                  <a:srgbClr val="1F3B63"/>
                </a:solidFill>
                <a:latin typeface="Calibri"/>
              </a:rPr>
              <a:t>7 · PROBABILISTIC EVALUATION</a:t>
            </a:r>
          </a:p>
        </p:txBody>
      </p:sp>
      <p:sp>
        <p:nvSpPr>
          <p:cNvPr id="34" name="TextBox 33"/>
          <p:cNvSpPr txBox="1"/>
          <p:nvPr/>
        </p:nvSpPr>
        <p:spPr>
          <a:xfrm>
            <a:off x="713232" y="4864608"/>
            <a:ext cx="5394960" cy="822960"/>
          </a:xfrm>
          <a:prstGeom prst="rect">
            <a:avLst/>
          </a:prstGeom>
          <a:noFill/>
        </p:spPr>
        <p:txBody>
          <a:bodyPr wrap="square" anchor="t" lIns="0" rIns="0" tIns="0" bIns="0">
            <a:spAutoFit/>
          </a:bodyPr>
          <a:lstStyle/>
          <a:p>
            <a:pPr algn="l">
              <a:lnSpc>
                <a:spcPct val="125000"/>
              </a:lnSpc>
            </a:pPr>
            <a:r>
              <a:rPr sz="1200" b="0" i="1">
                <a:solidFill>
                  <a:srgbClr val="252F3D"/>
                </a:solidFill>
                <a:latin typeface="Calibri"/>
              </a:rPr>
              <a:t>PICP  =  (1/N) Σ 1[ ŷ − 1.645σ ≤ y ≤ ŷ + 1.645σ ]        nominal 90 %
PINAW =  mean interval width = 2 × 1.645 × σ̄   (W/m²)</a:t>
            </a:r>
          </a:p>
        </p:txBody>
      </p:sp>
      <p:sp>
        <p:nvSpPr>
          <p:cNvPr id="35" name="TextBox 34"/>
          <p:cNvSpPr txBox="1"/>
          <p:nvPr/>
        </p:nvSpPr>
        <p:spPr>
          <a:xfrm>
            <a:off x="6400800" y="4864608"/>
            <a:ext cx="5120640" cy="868680"/>
          </a:xfrm>
          <a:prstGeom prst="rect">
            <a:avLst/>
          </a:prstGeom>
          <a:noFill/>
        </p:spPr>
        <p:txBody>
          <a:bodyPr wrap="square" anchor="t" lIns="0" rIns="0" tIns="0" bIns="0">
            <a:spAutoFit/>
          </a:bodyPr>
          <a:lstStyle/>
          <a:p>
            <a:pPr algn="l">
              <a:lnSpc>
                <a:spcPct val="120000"/>
              </a:lnSpc>
            </a:pPr>
            <a:r>
              <a:rPr sz="1200" b="0" i="1">
                <a:solidFill>
                  <a:srgbClr val="252F3D"/>
                </a:solidFill>
                <a:latin typeface="Calibri"/>
              </a:rPr>
              <a:t>CRPS(y; μ, σ) = σ·[ z(2Φ(z) − 1) + 2φ(z) − 1/√π ],   z = (y−μ)/σ
A proper score: rewards a sharp forecast only if it is also calibrated, so it cannot be gamed by widening σ the way PICP can.</a:t>
            </a:r>
          </a:p>
        </p:txBody>
      </p:sp>
      <p:sp>
        <p:nvSpPr>
          <p:cNvPr id="36" name="TextBox 35"/>
          <p:cNvSpPr txBox="1"/>
          <p:nvPr/>
        </p:nvSpPr>
        <p:spPr>
          <a:xfrm>
            <a:off x="502920" y="5870448"/>
            <a:ext cx="11183112" cy="548640"/>
          </a:xfrm>
          <a:prstGeom prst="rect">
            <a:avLst/>
          </a:prstGeom>
          <a:noFill/>
        </p:spPr>
        <p:txBody>
          <a:bodyPr wrap="square" anchor="t" lIns="0" rIns="0" tIns="0" bIns="0">
            <a:spAutoFit/>
          </a:bodyPr>
          <a:lstStyle/>
          <a:p>
            <a:pPr algn="l">
              <a:lnSpc>
                <a:spcPct val="106000"/>
              </a:lnSpc>
            </a:pPr>
            <a:r>
              <a:rPr sz="1050" b="0" i="1">
                <a:solidFill>
                  <a:srgbClr val="6B7280"/>
                </a:solidFill>
                <a:latin typeface="Calibri"/>
              </a:rPr>
              <a:t>Denormalisation for reporting:  GHI = μ·σ_GHI + μ_GHI  with μ_GHI = 476.89, σ_GHI = 258.44 W/m² from train_stats.json; the 90 % band is rebuilt around the clamped mean so that the physics cap narrows the interval rather than collapsing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TRAINING</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Two-phase schedule, probabilistic objective, early stopping</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8</a:t>
            </a:r>
          </a:p>
        </p:txBody>
      </p:sp>
      <p:pic>
        <p:nvPicPr>
          <p:cNvPr id="8" name="Picture 7" descr="f9_training.png"/>
          <p:cNvPicPr>
            <a:picLocks noChangeAspect="1"/>
          </p:cNvPicPr>
          <p:nvPr/>
        </p:nvPicPr>
        <p:blipFill>
          <a:blip r:embed="rId2"/>
          <a:stretch>
            <a:fillRect/>
          </a:stretch>
        </p:blipFill>
        <p:spPr>
          <a:xfrm>
            <a:off x="502920" y="1325880"/>
            <a:ext cx="6949440" cy="2194912"/>
          </a:xfrm>
          <a:prstGeom prst="rect">
            <a:avLst/>
          </a:prstGeom>
        </p:spPr>
      </p:pic>
      <p:sp>
        <p:nvSpPr>
          <p:cNvPr id="9" name="TextBox 8"/>
          <p:cNvSpPr txBox="1"/>
          <p:nvPr/>
        </p:nvSpPr>
        <p:spPr>
          <a:xfrm>
            <a:off x="502920" y="3611880"/>
            <a:ext cx="694944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Figure 2 — full physics-gated model, 44 epochs on an RTX 4090 (16.7 min). Validation MAE is the t+1 h horizon on 914 samples.</a:t>
            </a:r>
          </a:p>
        </p:txBody>
      </p:sp>
      <p:sp>
        <p:nvSpPr>
          <p:cNvPr id="10" name="TextBox 9"/>
          <p:cNvSpPr txBox="1"/>
          <p:nvPr/>
        </p:nvSpPr>
        <p:spPr>
          <a:xfrm>
            <a:off x="502920" y="3977639"/>
            <a:ext cx="7040880" cy="2286000"/>
          </a:xfrm>
          <a:prstGeom prst="rect">
            <a:avLst/>
          </a:prstGeom>
          <a:noFill/>
        </p:spPr>
        <p:txBody>
          <a:bodyPr wrap="square" lIns="0" rIns="0" tIns="0" bIns="0">
            <a:spAutoFit/>
          </a:bodyPr>
          <a:lstStyle/>
          <a:p>
            <a:pPr>
              <a:lnSpc>
                <a:spcPct val="106000"/>
              </a:lnSpc>
              <a:spcBef>
                <a:spcPts val="0"/>
              </a:spcBef>
              <a:spcAft>
                <a:spcPts val="700"/>
              </a:spcAft>
            </a:pPr>
            <a:r>
              <a:rPr sz="1250" b="1" i="0">
                <a:solidFill>
                  <a:srgbClr val="1F3B63"/>
                </a:solidFill>
                <a:latin typeface="Calibri"/>
              </a:rPr>
              <a:t>Reading the curves.  </a:t>
            </a:r>
            <a:r>
              <a:rPr sz="1250" b="0" i="0">
                <a:solidFill>
                  <a:srgbClr val="252F3D"/>
                </a:solidFill>
                <a:latin typeface="Calibri"/>
              </a:rPr>
              <a:t>Both losses fall together to epoch 20 while the CNN is frozen. At epoch 20 the encoders are unfrozen at one tenth the learning rate: training loss accelerates downward, validation loss turns and rises. Everything after epoch 24 is memorisation of 6,675 samples by 15.5 M parameters.</a:t>
            </a:r>
          </a:p>
          <a:p>
            <a:pPr>
              <a:lnSpc>
                <a:spcPct val="106000"/>
              </a:lnSpc>
              <a:spcBef>
                <a:spcPts val="0"/>
              </a:spcBef>
              <a:spcAft>
                <a:spcPts val="700"/>
              </a:spcAft>
            </a:pPr>
            <a:r>
              <a:rPr sz="1250" b="1" i="0">
                <a:solidFill>
                  <a:srgbClr val="1F3B63"/>
                </a:solidFill>
                <a:latin typeface="Calibri"/>
              </a:rPr>
              <a:t>Why the checkpoint is taken at epoch 24.  </a:t>
            </a:r>
            <a:r>
              <a:rPr sz="1250" b="0" i="0">
                <a:solidFill>
                  <a:srgbClr val="252F3D"/>
                </a:solidFill>
                <a:latin typeface="Calibri"/>
              </a:rPr>
              <a:t>Selection is on validation NLL, not MAE — the model is scored as a distribution, so the saved weights are the best calibrated ones, not merely the sharpest.</a:t>
            </a:r>
          </a:p>
          <a:p>
            <a:pPr>
              <a:lnSpc>
                <a:spcPct val="106000"/>
              </a:lnSpc>
              <a:spcBef>
                <a:spcPts val="0"/>
              </a:spcBef>
              <a:spcAft>
                <a:spcPts val="700"/>
              </a:spcAft>
            </a:pPr>
            <a:r>
              <a:rPr sz="1250" b="1" i="0">
                <a:solidFill>
                  <a:srgbClr val="B3282D"/>
                </a:solidFill>
                <a:latin typeface="Calibri"/>
              </a:rPr>
              <a:t>Run-to-run variability.  </a:t>
            </a:r>
            <a:r>
              <a:rPr sz="1250" b="0" i="0">
                <a:solidFill>
                  <a:srgbClr val="252F3D"/>
                </a:solidFill>
                <a:latin typeface="Calibri"/>
              </a:rPr>
              <a:t>This configuration was trained twice in the same session; best validation MAE was 74.0 and 78.5 W/m². A 4.5 W/m² spread from stochasticity alone is larger than several of the gaps between architectures on slide 11.</a:t>
            </a:r>
          </a:p>
        </p:txBody>
      </p:sp>
      <p:sp>
        <p:nvSpPr>
          <p:cNvPr id="11" name="Rectangle 10"/>
          <p:cNvSpPr/>
          <p:nvPr/>
        </p:nvSpPr>
        <p:spPr>
          <a:xfrm>
            <a:off x="7726679" y="1325880"/>
            <a:ext cx="3959352" cy="4937760"/>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36992" y="1481328"/>
            <a:ext cx="3566160" cy="237744"/>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CONFIGURATION  (notebook cell 23)</a:t>
            </a:r>
          </a:p>
        </p:txBody>
      </p:sp>
      <p:sp>
        <p:nvSpPr>
          <p:cNvPr id="13" name="TextBox 12"/>
          <p:cNvSpPr txBox="1"/>
          <p:nvPr/>
        </p:nvSpPr>
        <p:spPr>
          <a:xfrm>
            <a:off x="7936992" y="178308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Objective</a:t>
            </a:r>
          </a:p>
        </p:txBody>
      </p:sp>
      <p:sp>
        <p:nvSpPr>
          <p:cNvPr id="14" name="TextBox 13"/>
          <p:cNvSpPr txBox="1"/>
          <p:nvPr/>
        </p:nvSpPr>
        <p:spPr>
          <a:xfrm>
            <a:off x="9418320" y="178308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Gaussian NLL over 3 horizons</a:t>
            </a:r>
          </a:p>
        </p:txBody>
      </p:sp>
      <p:sp>
        <p:nvSpPr>
          <p:cNvPr id="15" name="TextBox 14"/>
          <p:cNvSpPr txBox="1"/>
          <p:nvPr/>
        </p:nvSpPr>
        <p:spPr>
          <a:xfrm>
            <a:off x="7936992" y="208026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Optimiser</a:t>
            </a:r>
          </a:p>
        </p:txBody>
      </p:sp>
      <p:sp>
        <p:nvSpPr>
          <p:cNvPr id="16" name="TextBox 15"/>
          <p:cNvSpPr txBox="1"/>
          <p:nvPr/>
        </p:nvSpPr>
        <p:spPr>
          <a:xfrm>
            <a:off x="9418320" y="208026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AdamW,  lr 3 × 10⁻⁵</a:t>
            </a:r>
          </a:p>
        </p:txBody>
      </p:sp>
      <p:sp>
        <p:nvSpPr>
          <p:cNvPr id="17" name="TextBox 16"/>
          <p:cNvSpPr txBox="1"/>
          <p:nvPr/>
        </p:nvSpPr>
        <p:spPr>
          <a:xfrm>
            <a:off x="7936992" y="237744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Weight decay</a:t>
            </a:r>
          </a:p>
        </p:txBody>
      </p:sp>
      <p:sp>
        <p:nvSpPr>
          <p:cNvPr id="18" name="TextBox 17"/>
          <p:cNvSpPr txBox="1"/>
          <p:nvPr/>
        </p:nvSpPr>
        <p:spPr>
          <a:xfrm>
            <a:off x="9418320" y="237744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1 × 10⁻¹  (deliberately high)</a:t>
            </a:r>
          </a:p>
        </p:txBody>
      </p:sp>
      <p:sp>
        <p:nvSpPr>
          <p:cNvPr id="19" name="TextBox 18"/>
          <p:cNvSpPr txBox="1"/>
          <p:nvPr/>
        </p:nvSpPr>
        <p:spPr>
          <a:xfrm>
            <a:off x="7936992" y="267462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Scheduler</a:t>
            </a:r>
          </a:p>
        </p:txBody>
      </p:sp>
      <p:sp>
        <p:nvSpPr>
          <p:cNvPr id="20" name="TextBox 19"/>
          <p:cNvSpPr txBox="1"/>
          <p:nvPr/>
        </p:nvSpPr>
        <p:spPr>
          <a:xfrm>
            <a:off x="9418320" y="267462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ReduceLROnPlateau, ×0.5, patience 8</a:t>
            </a:r>
          </a:p>
        </p:txBody>
      </p:sp>
      <p:sp>
        <p:nvSpPr>
          <p:cNvPr id="21" name="TextBox 20"/>
          <p:cNvSpPr txBox="1"/>
          <p:nvPr/>
        </p:nvSpPr>
        <p:spPr>
          <a:xfrm>
            <a:off x="7936992" y="297180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Batch size</a:t>
            </a:r>
          </a:p>
        </p:txBody>
      </p:sp>
      <p:sp>
        <p:nvSpPr>
          <p:cNvPr id="22" name="TextBox 21"/>
          <p:cNvSpPr txBox="1"/>
          <p:nvPr/>
        </p:nvSpPr>
        <p:spPr>
          <a:xfrm>
            <a:off x="9418320" y="297180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128</a:t>
            </a:r>
          </a:p>
        </p:txBody>
      </p:sp>
      <p:sp>
        <p:nvSpPr>
          <p:cNvPr id="23" name="TextBox 22"/>
          <p:cNvSpPr txBox="1"/>
          <p:nvPr/>
        </p:nvSpPr>
        <p:spPr>
          <a:xfrm>
            <a:off x="7936992" y="326898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Max epochs</a:t>
            </a:r>
          </a:p>
        </p:txBody>
      </p:sp>
      <p:sp>
        <p:nvSpPr>
          <p:cNvPr id="24" name="TextBox 23"/>
          <p:cNvSpPr txBox="1"/>
          <p:nvPr/>
        </p:nvSpPr>
        <p:spPr>
          <a:xfrm>
            <a:off x="9418320" y="326898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150</a:t>
            </a:r>
          </a:p>
        </p:txBody>
      </p:sp>
      <p:sp>
        <p:nvSpPr>
          <p:cNvPr id="25" name="TextBox 24"/>
          <p:cNvSpPr txBox="1"/>
          <p:nvPr/>
        </p:nvSpPr>
        <p:spPr>
          <a:xfrm>
            <a:off x="7936992" y="356616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Early stopping</a:t>
            </a:r>
          </a:p>
        </p:txBody>
      </p:sp>
      <p:sp>
        <p:nvSpPr>
          <p:cNvPr id="26" name="TextBox 25"/>
          <p:cNvSpPr txBox="1"/>
          <p:nvPr/>
        </p:nvSpPr>
        <p:spPr>
          <a:xfrm>
            <a:off x="9418320" y="356616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patience 20 (grid runs: 15)</a:t>
            </a:r>
          </a:p>
        </p:txBody>
      </p:sp>
      <p:sp>
        <p:nvSpPr>
          <p:cNvPr id="27" name="TextBox 26"/>
          <p:cNvSpPr txBox="1"/>
          <p:nvPr/>
        </p:nvSpPr>
        <p:spPr>
          <a:xfrm>
            <a:off x="7936992" y="386334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Gradient clipping</a:t>
            </a:r>
          </a:p>
        </p:txBody>
      </p:sp>
      <p:sp>
        <p:nvSpPr>
          <p:cNvPr id="28" name="TextBox 27"/>
          <p:cNvSpPr txBox="1"/>
          <p:nvPr/>
        </p:nvSpPr>
        <p:spPr>
          <a:xfrm>
            <a:off x="9418320" y="386334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global norm 1.0</a:t>
            </a:r>
          </a:p>
        </p:txBody>
      </p:sp>
      <p:sp>
        <p:nvSpPr>
          <p:cNvPr id="29" name="TextBox 28"/>
          <p:cNvSpPr txBox="1"/>
          <p:nvPr/>
        </p:nvSpPr>
        <p:spPr>
          <a:xfrm>
            <a:off x="7936992" y="416052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Mixed precision</a:t>
            </a:r>
          </a:p>
        </p:txBody>
      </p:sp>
      <p:sp>
        <p:nvSpPr>
          <p:cNvPr id="30" name="TextBox 29"/>
          <p:cNvSpPr txBox="1"/>
          <p:nvPr/>
        </p:nvSpPr>
        <p:spPr>
          <a:xfrm>
            <a:off x="9418320" y="416052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fp16 autocast + GradScaler</a:t>
            </a:r>
          </a:p>
        </p:txBody>
      </p:sp>
      <p:sp>
        <p:nvSpPr>
          <p:cNvPr id="31" name="TextBox 30"/>
          <p:cNvSpPr txBox="1"/>
          <p:nvPr/>
        </p:nvSpPr>
        <p:spPr>
          <a:xfrm>
            <a:off x="7936992" y="445770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CNN phase 1</a:t>
            </a:r>
          </a:p>
        </p:txBody>
      </p:sp>
      <p:sp>
        <p:nvSpPr>
          <p:cNvPr id="32" name="TextBox 31"/>
          <p:cNvSpPr txBox="1"/>
          <p:nvPr/>
        </p:nvSpPr>
        <p:spPr>
          <a:xfrm>
            <a:off x="9418320" y="445770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frozen, epochs 1–20 → 1,100,680 trainable</a:t>
            </a:r>
          </a:p>
        </p:txBody>
      </p:sp>
      <p:sp>
        <p:nvSpPr>
          <p:cNvPr id="33" name="TextBox 32"/>
          <p:cNvSpPr txBox="1"/>
          <p:nvPr/>
        </p:nvSpPr>
        <p:spPr>
          <a:xfrm>
            <a:off x="7936992" y="475488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CNN phase 2</a:t>
            </a:r>
          </a:p>
        </p:txBody>
      </p:sp>
      <p:sp>
        <p:nvSpPr>
          <p:cNvPr id="34" name="TextBox 33"/>
          <p:cNvSpPr txBox="1"/>
          <p:nvPr/>
        </p:nvSpPr>
        <p:spPr>
          <a:xfrm>
            <a:off x="9418320" y="475488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unfrozen at lr/10 → 15,505,804 trainable</a:t>
            </a:r>
          </a:p>
        </p:txBody>
      </p:sp>
      <p:sp>
        <p:nvSpPr>
          <p:cNvPr id="35" name="TextBox 34"/>
          <p:cNvSpPr txBox="1"/>
          <p:nvPr/>
        </p:nvSpPr>
        <p:spPr>
          <a:xfrm>
            <a:off x="7936992" y="505206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Encoder init</a:t>
            </a:r>
          </a:p>
        </p:txBody>
      </p:sp>
      <p:sp>
        <p:nvSpPr>
          <p:cNvPr id="36" name="TextBox 35"/>
          <p:cNvSpPr txBox="1"/>
          <p:nvPr/>
        </p:nvSpPr>
        <p:spPr>
          <a:xfrm>
            <a:off x="9418320" y="505206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SWIMSEG-pretrained B2 (else ImageNet)</a:t>
            </a:r>
          </a:p>
        </p:txBody>
      </p:sp>
      <p:sp>
        <p:nvSpPr>
          <p:cNvPr id="37" name="TextBox 36"/>
          <p:cNvSpPr txBox="1"/>
          <p:nvPr/>
        </p:nvSpPr>
        <p:spPr>
          <a:xfrm>
            <a:off x="7936992" y="534924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Seeds</a:t>
            </a:r>
          </a:p>
        </p:txBody>
      </p:sp>
      <p:sp>
        <p:nvSpPr>
          <p:cNvPr id="38" name="TextBox 37"/>
          <p:cNvSpPr txBox="1"/>
          <p:nvPr/>
        </p:nvSpPr>
        <p:spPr>
          <a:xfrm>
            <a:off x="9418320" y="534924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torch.manual_seed(42), np.random.seed(42)</a:t>
            </a:r>
          </a:p>
        </p:txBody>
      </p:sp>
      <p:sp>
        <p:nvSpPr>
          <p:cNvPr id="39" name="TextBox 38"/>
          <p:cNvSpPr txBox="1"/>
          <p:nvPr/>
        </p:nvSpPr>
        <p:spPr>
          <a:xfrm>
            <a:off x="7936992" y="564642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Hardware</a:t>
            </a:r>
          </a:p>
        </p:txBody>
      </p:sp>
      <p:sp>
        <p:nvSpPr>
          <p:cNvPr id="40" name="TextBox 39"/>
          <p:cNvSpPr txBox="1"/>
          <p:nvPr/>
        </p:nvSpPr>
        <p:spPr>
          <a:xfrm>
            <a:off x="9418320" y="564642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NVIDIA RTX 4090, 4 dataloader workers</a:t>
            </a:r>
          </a:p>
        </p:txBody>
      </p:sp>
      <p:sp>
        <p:nvSpPr>
          <p:cNvPr id="41" name="TextBox 40"/>
          <p:cNvSpPr txBox="1"/>
          <p:nvPr/>
        </p:nvSpPr>
        <p:spPr>
          <a:xfrm>
            <a:off x="7936992" y="5943600"/>
            <a:ext cx="1417320" cy="274320"/>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Checkpoint rule</a:t>
            </a:r>
          </a:p>
        </p:txBody>
      </p:sp>
      <p:sp>
        <p:nvSpPr>
          <p:cNvPr id="42" name="TextBox 41"/>
          <p:cNvSpPr txBox="1"/>
          <p:nvPr/>
        </p:nvSpPr>
        <p:spPr>
          <a:xfrm>
            <a:off x="9418320" y="5943600"/>
            <a:ext cx="2148840" cy="310896"/>
          </a:xfrm>
          <a:prstGeom prst="rect">
            <a:avLst/>
          </a:prstGeom>
          <a:noFill/>
        </p:spPr>
        <p:txBody>
          <a:bodyPr wrap="square" anchor="t" lIns="0" rIns="0" tIns="0" bIns="0">
            <a:spAutoFit/>
          </a:bodyPr>
          <a:lstStyle/>
          <a:p>
            <a:pPr algn="l">
              <a:lnSpc>
                <a:spcPct val="100000"/>
              </a:lnSpc>
            </a:pPr>
            <a:r>
              <a:rPr sz="950" b="1" i="0">
                <a:solidFill>
                  <a:srgbClr val="252F3D"/>
                </a:solidFill>
                <a:latin typeface="Calibri"/>
              </a:rPr>
              <a:t>lowest validation NLL, saved with a config sidecar</a:t>
            </a:r>
          </a:p>
        </p:txBody>
      </p:sp>
      <p:sp>
        <p:nvSpPr>
          <p:cNvPr id="43" name="TextBox 42"/>
          <p:cNvSpPr txBox="1"/>
          <p:nvPr/>
        </p:nvSpPr>
        <p:spPr>
          <a:xfrm>
            <a:off x="7936992" y="6236208"/>
            <a:ext cx="3566160" cy="274320"/>
          </a:xfrm>
          <a:prstGeom prst="rect">
            <a:avLst/>
          </a:prstGeom>
          <a:noFill/>
        </p:spPr>
        <p:txBody>
          <a:bodyPr wrap="square" anchor="t" lIns="0" rIns="0" tIns="0" bIns="0">
            <a:spAutoFit/>
          </a:bodyPr>
          <a:lstStyle/>
          <a:p>
            <a:pPr algn="l">
              <a:lnSpc>
                <a:spcPct val="100000"/>
              </a:lnSpc>
            </a:pPr>
            <a:r>
              <a:rPr sz="900" b="0" i="0">
                <a:solidFill>
                  <a:srgbClr val="252F3D"/>
                </a:solidFill>
                <a:latin typeface="Calibri"/>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EXPERIMENTAL SETUP</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Six trained variants against five reference forecasters</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9</a:t>
            </a:r>
          </a:p>
        </p:txBody>
      </p:sp>
      <p:graphicFrame>
        <p:nvGraphicFramePr>
          <p:cNvPr id="8" name="Table 7"/>
          <p:cNvGraphicFramePr>
            <a:graphicFrameLocks noGrp="1"/>
          </p:cNvGraphicFramePr>
          <p:nvPr/>
        </p:nvGraphicFramePr>
        <p:xfrm>
          <a:off x="502920" y="1325880"/>
          <a:ext cx="7040878" cy="1920240"/>
        </p:xfrm>
        <a:graphic>
          <a:graphicData uri="http://schemas.openxmlformats.org/drawingml/2006/table">
            <a:tbl>
              <a:tblPr bandRow="1"/>
              <a:tblGrid>
                <a:gridCol w="2302677"/>
                <a:gridCol w="2435524"/>
                <a:gridCol w="841363"/>
                <a:gridCol w="619951"/>
                <a:gridCol w="841363"/>
              </a:tblGrid>
              <a:tr h="274320">
                <a:tc>
                  <a:txBody>
                    <a:bodyPr/>
                    <a:lstStyle/>
                    <a:p>
                      <a:pPr algn="l"/>
                      <a:r>
                        <a:rPr sz="1050" b="1">
                          <a:solidFill>
                            <a:srgbClr val="FFFFFF"/>
                          </a:solidFill>
                          <a:latin typeface="Calibri"/>
                        </a:rPr>
                        <a:t>Variant</a:t>
                      </a:r>
                    </a:p>
                  </a:txBody>
                  <a:tcPr marL="54864" marR="54864" marT="18288" marB="18288" anchor="ctr">
                    <a:solidFill>
                      <a:srgbClr val="1F3B63"/>
                    </a:solidFill>
                  </a:tcPr>
                </a:tc>
                <a:tc>
                  <a:txBody>
                    <a:bodyPr/>
                    <a:lstStyle/>
                    <a:p>
                      <a:pPr algn="l"/>
                      <a:r>
                        <a:rPr sz="1050" b="1">
                          <a:solidFill>
                            <a:srgbClr val="FFFFFF"/>
                          </a:solidFill>
                          <a:latin typeface="Calibri"/>
                        </a:rPr>
                        <a:t>What it isolates</a:t>
                      </a:r>
                    </a:p>
                  </a:txBody>
                  <a:tcPr marL="54864" marR="54864" marT="18288" marB="18288" anchor="ctr">
                    <a:solidFill>
                      <a:srgbClr val="1F3B63"/>
                    </a:solidFill>
                  </a:tcPr>
                </a:tc>
                <a:tc>
                  <a:txBody>
                    <a:bodyPr/>
                    <a:lstStyle/>
                    <a:p>
                      <a:pPr algn="ctr"/>
                      <a:r>
                        <a:rPr sz="1050" b="1">
                          <a:solidFill>
                            <a:srgbClr val="FFFFFF"/>
                          </a:solidFill>
                          <a:latin typeface="Calibri"/>
                        </a:rPr>
                        <a:t>Params</a:t>
                      </a:r>
                    </a:p>
                  </a:txBody>
                  <a:tcPr marL="54864" marR="54864" marT="18288" marB="18288" anchor="ctr">
                    <a:solidFill>
                      <a:srgbClr val="1F3B63"/>
                    </a:solidFill>
                  </a:tcPr>
                </a:tc>
                <a:tc>
                  <a:txBody>
                    <a:bodyPr/>
                    <a:lstStyle/>
                    <a:p>
                      <a:pPr algn="ctr"/>
                      <a:r>
                        <a:rPr sz="1050" b="1">
                          <a:solidFill>
                            <a:srgbClr val="FFFFFF"/>
                          </a:solidFill>
                          <a:latin typeface="Calibri"/>
                        </a:rPr>
                        <a:t>Epochs</a:t>
                      </a:r>
                    </a:p>
                  </a:txBody>
                  <a:tcPr marL="54864" marR="54864" marT="18288" marB="18288" anchor="ctr">
                    <a:solidFill>
                      <a:srgbClr val="1F3B63"/>
                    </a:solidFill>
                  </a:tcPr>
                </a:tc>
                <a:tc>
                  <a:txBody>
                    <a:bodyPr/>
                    <a:lstStyle/>
                    <a:p>
                      <a:pPr algn="ctr"/>
                      <a:r>
                        <a:rPr sz="1050" b="1">
                          <a:solidFill>
                            <a:srgbClr val="FFFFFF"/>
                          </a:solidFill>
                          <a:latin typeface="Calibri"/>
                        </a:rPr>
                        <a:t>GPU time</a:t>
                      </a:r>
                    </a:p>
                  </a:txBody>
                  <a:tcPr marL="54864" marR="54864" marT="18288" marB="18288" anchor="ctr">
                    <a:solidFill>
                      <a:srgbClr val="1F3B63"/>
                    </a:solidFill>
                  </a:tcPr>
                </a:tc>
              </a:tr>
              <a:tr h="274320">
                <a:tc>
                  <a:txBody>
                    <a:bodyPr/>
                    <a:lstStyle/>
                    <a:p>
                      <a:pPr algn="l"/>
                      <a:r>
                        <a:rPr sz="980" b="0">
                          <a:solidFill>
                            <a:srgbClr val="252F3D"/>
                          </a:solidFill>
                          <a:latin typeface="Calibri"/>
                        </a:rPr>
                        <a:t>Physics-Gated (large) ★</a:t>
                      </a:r>
                    </a:p>
                  </a:txBody>
                  <a:tcPr marL="54864" marR="54864" marT="9144" marB="9144" anchor="ctr">
                    <a:solidFill>
                      <a:srgbClr val="F3F5F9"/>
                    </a:solidFill>
                  </a:tcPr>
                </a:tc>
                <a:tc>
                  <a:txBody>
                    <a:bodyPr/>
                    <a:lstStyle/>
                    <a:p>
                      <a:pPr algn="l"/>
                      <a:r>
                        <a:rPr sz="980" b="0">
                          <a:solidFill>
                            <a:srgbClr val="252F3D"/>
                          </a:solidFill>
                          <a:latin typeface="Calibri"/>
                        </a:rPr>
                        <a:t>the full proposed system</a:t>
                      </a:r>
                    </a:p>
                  </a:txBody>
                  <a:tcPr marL="54864" marR="54864" marT="9144" marB="9144" anchor="ctr">
                    <a:solidFill>
                      <a:srgbClr val="F3F5F9"/>
                    </a:solidFill>
                  </a:tcPr>
                </a:tc>
                <a:tc>
                  <a:txBody>
                    <a:bodyPr/>
                    <a:lstStyle/>
                    <a:p>
                      <a:pPr algn="ctr"/>
                      <a:r>
                        <a:rPr sz="980" b="0">
                          <a:solidFill>
                            <a:srgbClr val="252F3D"/>
                          </a:solidFill>
                          <a:latin typeface="Calibri"/>
                        </a:rPr>
                        <a:t>15.51 M</a:t>
                      </a:r>
                    </a:p>
                  </a:txBody>
                  <a:tcPr marL="54864" marR="54864" marT="9144" marB="9144" anchor="ctr">
                    <a:solidFill>
                      <a:srgbClr val="F3F5F9"/>
                    </a:solidFill>
                  </a:tcPr>
                </a:tc>
                <a:tc>
                  <a:txBody>
                    <a:bodyPr/>
                    <a:lstStyle/>
                    <a:p>
                      <a:pPr algn="ctr"/>
                      <a:r>
                        <a:rPr sz="980" b="0">
                          <a:solidFill>
                            <a:srgbClr val="252F3D"/>
                          </a:solidFill>
                          <a:latin typeface="Calibri"/>
                        </a:rPr>
                        <a:t>35</a:t>
                      </a:r>
                    </a:p>
                  </a:txBody>
                  <a:tcPr marL="54864" marR="54864" marT="9144" marB="9144" anchor="ctr">
                    <a:solidFill>
                      <a:srgbClr val="F3F5F9"/>
                    </a:solidFill>
                  </a:tcPr>
                </a:tc>
                <a:tc>
                  <a:txBody>
                    <a:bodyPr/>
                    <a:lstStyle/>
                    <a:p>
                      <a:pPr algn="ctr"/>
                      <a:r>
                        <a:rPr sz="980" b="0">
                          <a:solidFill>
                            <a:srgbClr val="252F3D"/>
                          </a:solidFill>
                          <a:latin typeface="Calibri"/>
                        </a:rPr>
                        <a:t>12.7 min</a:t>
                      </a:r>
                    </a:p>
                  </a:txBody>
                  <a:tcPr marL="54864" marR="54864" marT="9144" marB="9144" anchor="ctr">
                    <a:solidFill>
                      <a:srgbClr val="F3F5F9"/>
                    </a:solidFill>
                  </a:tcPr>
                </a:tc>
              </a:tr>
              <a:tr h="274320">
                <a:tc>
                  <a:txBody>
                    <a:bodyPr/>
                    <a:lstStyle/>
                    <a:p>
                      <a:pPr algn="l"/>
                      <a:r>
                        <a:rPr sz="980" b="0">
                          <a:solidFill>
                            <a:srgbClr val="252F3D"/>
                          </a:solidFill>
                          <a:latin typeface="Calibri"/>
                        </a:rPr>
                        <a:t>LSTM-only</a:t>
                      </a:r>
                    </a:p>
                  </a:txBody>
                  <a:tcPr marL="54864" marR="54864" marT="9144" marB="9144" anchor="ctr">
                    <a:solidFill>
                      <a:srgbClr val="FFFFFF"/>
                    </a:solidFill>
                  </a:tcPr>
                </a:tc>
                <a:tc>
                  <a:txBody>
                    <a:bodyPr/>
                    <a:lstStyle/>
                    <a:p>
                      <a:pPr algn="l"/>
                      <a:r>
                        <a:rPr sz="980" b="0">
                          <a:solidFill>
                            <a:srgbClr val="252F3D"/>
                          </a:solidFill>
                          <a:latin typeface="Calibri"/>
                        </a:rPr>
                        <a:t>removes the image branch entirely</a:t>
                      </a:r>
                    </a:p>
                  </a:txBody>
                  <a:tcPr marL="54864" marR="54864" marT="9144" marB="9144" anchor="ctr">
                    <a:solidFill>
                      <a:srgbClr val="FFFFFF"/>
                    </a:solidFill>
                  </a:tcPr>
                </a:tc>
                <a:tc>
                  <a:txBody>
                    <a:bodyPr/>
                    <a:lstStyle/>
                    <a:p>
                      <a:pPr algn="ctr"/>
                      <a:r>
                        <a:rPr sz="980" b="0">
                          <a:solidFill>
                            <a:srgbClr val="252F3D"/>
                          </a:solidFill>
                          <a:latin typeface="Calibri"/>
                        </a:rPr>
                        <a:t>15.51 M*</a:t>
                      </a:r>
                    </a:p>
                  </a:txBody>
                  <a:tcPr marL="54864" marR="54864" marT="9144" marB="9144" anchor="ctr">
                    <a:solidFill>
                      <a:srgbClr val="FFFFFF"/>
                    </a:solidFill>
                  </a:tcPr>
                </a:tc>
                <a:tc>
                  <a:txBody>
                    <a:bodyPr/>
                    <a:lstStyle/>
                    <a:p>
                      <a:pPr algn="ctr"/>
                      <a:r>
                        <a:rPr sz="980" b="0">
                          <a:solidFill>
                            <a:srgbClr val="252F3D"/>
                          </a:solidFill>
                          <a:latin typeface="Calibri"/>
                        </a:rPr>
                        <a:t>150</a:t>
                      </a:r>
                    </a:p>
                  </a:txBody>
                  <a:tcPr marL="54864" marR="54864" marT="9144" marB="9144" anchor="ctr">
                    <a:solidFill>
                      <a:srgbClr val="FFFFFF"/>
                    </a:solidFill>
                  </a:tcPr>
                </a:tc>
                <a:tc>
                  <a:txBody>
                    <a:bodyPr/>
                    <a:lstStyle/>
                    <a:p>
                      <a:pPr algn="ctr"/>
                      <a:r>
                        <a:rPr sz="980" b="0">
                          <a:solidFill>
                            <a:srgbClr val="252F3D"/>
                          </a:solidFill>
                          <a:latin typeface="Calibri"/>
                        </a:rPr>
                        <a:t>44.0 min</a:t>
                      </a:r>
                    </a:p>
                  </a:txBody>
                  <a:tcPr marL="54864" marR="54864" marT="9144" marB="9144" anchor="ctr">
                    <a:solidFill>
                      <a:srgbClr val="FFFFFF"/>
                    </a:solidFill>
                  </a:tcPr>
                </a:tc>
              </a:tr>
              <a:tr h="274320">
                <a:tc>
                  <a:txBody>
                    <a:bodyPr/>
                    <a:lstStyle/>
                    <a:p>
                      <a:pPr algn="l"/>
                      <a:r>
                        <a:rPr sz="980" b="0">
                          <a:solidFill>
                            <a:srgbClr val="252F3D"/>
                          </a:solidFill>
                          <a:latin typeface="Calibri"/>
                        </a:rPr>
                        <a:t>Image + temporal query</a:t>
                      </a:r>
                    </a:p>
                  </a:txBody>
                  <a:tcPr marL="54864" marR="54864" marT="9144" marB="9144" anchor="ctr">
                    <a:solidFill>
                      <a:srgbClr val="F3F5F9"/>
                    </a:solidFill>
                  </a:tcPr>
                </a:tc>
                <a:tc>
                  <a:txBody>
                    <a:bodyPr/>
                    <a:lstStyle/>
                    <a:p>
                      <a:pPr algn="l"/>
                      <a:r>
                        <a:rPr sz="980" b="0">
                          <a:solidFill>
                            <a:srgbClr val="252F3D"/>
                          </a:solidFill>
                          <a:latin typeface="Calibri"/>
                        </a:rPr>
                        <a:t>removes the gate, keeps attention</a:t>
                      </a:r>
                    </a:p>
                  </a:txBody>
                  <a:tcPr marL="54864" marR="54864" marT="9144" marB="9144" anchor="ctr">
                    <a:solidFill>
                      <a:srgbClr val="F3F5F9"/>
                    </a:solidFill>
                  </a:tcPr>
                </a:tc>
                <a:tc>
                  <a:txBody>
                    <a:bodyPr/>
                    <a:lstStyle/>
                    <a:p>
                      <a:pPr algn="ctr"/>
                      <a:r>
                        <a:rPr sz="980" b="0">
                          <a:solidFill>
                            <a:srgbClr val="252F3D"/>
                          </a:solidFill>
                          <a:latin typeface="Calibri"/>
                        </a:rPr>
                        <a:t>15.51 M</a:t>
                      </a:r>
                    </a:p>
                  </a:txBody>
                  <a:tcPr marL="54864" marR="54864" marT="9144" marB="9144" anchor="ctr">
                    <a:solidFill>
                      <a:srgbClr val="F3F5F9"/>
                    </a:solidFill>
                  </a:tcPr>
                </a:tc>
                <a:tc>
                  <a:txBody>
                    <a:bodyPr/>
                    <a:lstStyle/>
                    <a:p>
                      <a:pPr algn="ctr"/>
                      <a:r>
                        <a:rPr sz="980" b="0">
                          <a:solidFill>
                            <a:srgbClr val="252F3D"/>
                          </a:solidFill>
                          <a:latin typeface="Calibri"/>
                        </a:rPr>
                        <a:t>36</a:t>
                      </a:r>
                    </a:p>
                  </a:txBody>
                  <a:tcPr marL="54864" marR="54864" marT="9144" marB="9144" anchor="ctr">
                    <a:solidFill>
                      <a:srgbClr val="F3F5F9"/>
                    </a:solidFill>
                  </a:tcPr>
                </a:tc>
                <a:tc>
                  <a:txBody>
                    <a:bodyPr/>
                    <a:lstStyle/>
                    <a:p>
                      <a:pPr algn="ctr"/>
                      <a:r>
                        <a:rPr sz="980" b="0">
                          <a:solidFill>
                            <a:srgbClr val="252F3D"/>
                          </a:solidFill>
                          <a:latin typeface="Calibri"/>
                        </a:rPr>
                        <a:t>13.1 min</a:t>
                      </a:r>
                    </a:p>
                  </a:txBody>
                  <a:tcPr marL="54864" marR="54864" marT="9144" marB="9144" anchor="ctr">
                    <a:solidFill>
                      <a:srgbClr val="F3F5F9"/>
                    </a:solidFill>
                  </a:tcPr>
                </a:tc>
              </a:tr>
              <a:tr h="274320">
                <a:tc>
                  <a:txBody>
                    <a:bodyPr/>
                    <a:lstStyle/>
                    <a:p>
                      <a:pPr algn="l"/>
                      <a:r>
                        <a:rPr sz="980" b="0">
                          <a:solidFill>
                            <a:srgbClr val="252F3D"/>
                          </a:solidFill>
                          <a:latin typeface="Calibri"/>
                        </a:rPr>
                        <a:t>Naive concat fusion</a:t>
                      </a:r>
                    </a:p>
                  </a:txBody>
                  <a:tcPr marL="54864" marR="54864" marT="9144" marB="9144" anchor="ctr">
                    <a:solidFill>
                      <a:srgbClr val="FFFFFF"/>
                    </a:solidFill>
                  </a:tcPr>
                </a:tc>
                <a:tc>
                  <a:txBody>
                    <a:bodyPr/>
                    <a:lstStyle/>
                    <a:p>
                      <a:pPr algn="l"/>
                      <a:r>
                        <a:rPr sz="980" b="0">
                          <a:solidFill>
                            <a:srgbClr val="252F3D"/>
                          </a:solidFill>
                          <a:latin typeface="Calibri"/>
                        </a:rPr>
                        <a:t>replaces the gate with concatenation</a:t>
                      </a:r>
                    </a:p>
                  </a:txBody>
                  <a:tcPr marL="54864" marR="54864" marT="9144" marB="9144" anchor="ctr">
                    <a:solidFill>
                      <a:srgbClr val="FFFFFF"/>
                    </a:solidFill>
                  </a:tcPr>
                </a:tc>
                <a:tc>
                  <a:txBody>
                    <a:bodyPr/>
                    <a:lstStyle/>
                    <a:p>
                      <a:pPr algn="ctr"/>
                      <a:r>
                        <a:rPr sz="980" b="0">
                          <a:solidFill>
                            <a:srgbClr val="252F3D"/>
                          </a:solidFill>
                          <a:latin typeface="Calibri"/>
                        </a:rPr>
                        <a:t>15.57 M</a:t>
                      </a:r>
                    </a:p>
                  </a:txBody>
                  <a:tcPr marL="54864" marR="54864" marT="9144" marB="9144" anchor="ctr">
                    <a:solidFill>
                      <a:srgbClr val="FFFFFF"/>
                    </a:solidFill>
                  </a:tcPr>
                </a:tc>
                <a:tc>
                  <a:txBody>
                    <a:bodyPr/>
                    <a:lstStyle/>
                    <a:p>
                      <a:pPr algn="ctr"/>
                      <a:r>
                        <a:rPr sz="980" b="0">
                          <a:solidFill>
                            <a:srgbClr val="252F3D"/>
                          </a:solidFill>
                          <a:latin typeface="Calibri"/>
                        </a:rPr>
                        <a:t>35</a:t>
                      </a:r>
                    </a:p>
                  </a:txBody>
                  <a:tcPr marL="54864" marR="54864" marT="9144" marB="9144" anchor="ctr">
                    <a:solidFill>
                      <a:srgbClr val="FFFFFF"/>
                    </a:solidFill>
                  </a:tcPr>
                </a:tc>
                <a:tc>
                  <a:txBody>
                    <a:bodyPr/>
                    <a:lstStyle/>
                    <a:p>
                      <a:pPr algn="ctr"/>
                      <a:r>
                        <a:rPr sz="980" b="0">
                          <a:solidFill>
                            <a:srgbClr val="252F3D"/>
                          </a:solidFill>
                          <a:latin typeface="Calibri"/>
                        </a:rPr>
                        <a:t>12.6 min</a:t>
                      </a:r>
                    </a:p>
                  </a:txBody>
                  <a:tcPr marL="54864" marR="54864" marT="9144" marB="9144" anchor="ctr">
                    <a:solidFill>
                      <a:srgbClr val="FFFFFF"/>
                    </a:solidFill>
                  </a:tcPr>
                </a:tc>
              </a:tr>
              <a:tr h="274320">
                <a:tc>
                  <a:txBody>
                    <a:bodyPr/>
                    <a:lstStyle/>
                    <a:p>
                      <a:pPr algn="l"/>
                      <a:r>
                        <a:rPr sz="980" b="0">
                          <a:solidFill>
                            <a:srgbClr val="252F3D"/>
                          </a:solidFill>
                          <a:latin typeface="Calibri"/>
                        </a:rPr>
                        <a:t>Physics-Gated (small)</a:t>
                      </a:r>
                    </a:p>
                  </a:txBody>
                  <a:tcPr marL="54864" marR="54864" marT="9144" marB="9144" anchor="ctr">
                    <a:solidFill>
                      <a:srgbClr val="F3F5F9"/>
                    </a:solidFill>
                  </a:tcPr>
                </a:tc>
                <a:tc>
                  <a:txBody>
                    <a:bodyPr/>
                    <a:lstStyle/>
                    <a:p>
                      <a:pPr algn="l"/>
                      <a:r>
                        <a:rPr sz="980" b="0">
                          <a:solidFill>
                            <a:srgbClr val="252F3D"/>
                          </a:solidFill>
                          <a:latin typeface="Calibri"/>
                        </a:rPr>
                        <a:t>tests the over-capacity hypothesis</a:t>
                      </a:r>
                    </a:p>
                  </a:txBody>
                  <a:tcPr marL="54864" marR="54864" marT="9144" marB="9144" anchor="ctr">
                    <a:solidFill>
                      <a:srgbClr val="F3F5F9"/>
                    </a:solidFill>
                  </a:tcPr>
                </a:tc>
                <a:tc>
                  <a:txBody>
                    <a:bodyPr/>
                    <a:lstStyle/>
                    <a:p>
                      <a:pPr algn="ctr"/>
                      <a:r>
                        <a:rPr sz="980" b="0">
                          <a:solidFill>
                            <a:srgbClr val="252F3D"/>
                          </a:solidFill>
                          <a:latin typeface="Calibri"/>
                        </a:rPr>
                        <a:t>7.49 M</a:t>
                      </a:r>
                    </a:p>
                  </a:txBody>
                  <a:tcPr marL="54864" marR="54864" marT="9144" marB="9144" anchor="ctr">
                    <a:solidFill>
                      <a:srgbClr val="F3F5F9"/>
                    </a:solidFill>
                  </a:tcPr>
                </a:tc>
                <a:tc>
                  <a:txBody>
                    <a:bodyPr/>
                    <a:lstStyle/>
                    <a:p>
                      <a:pPr algn="ctr"/>
                      <a:r>
                        <a:rPr sz="980" b="0">
                          <a:solidFill>
                            <a:srgbClr val="252F3D"/>
                          </a:solidFill>
                          <a:latin typeface="Calibri"/>
                        </a:rPr>
                        <a:t>63</a:t>
                      </a:r>
                    </a:p>
                  </a:txBody>
                  <a:tcPr marL="54864" marR="54864" marT="9144" marB="9144" anchor="ctr">
                    <a:solidFill>
                      <a:srgbClr val="F3F5F9"/>
                    </a:solidFill>
                  </a:tcPr>
                </a:tc>
                <a:tc>
                  <a:txBody>
                    <a:bodyPr/>
                    <a:lstStyle/>
                    <a:p>
                      <a:pPr algn="ctr"/>
                      <a:r>
                        <a:rPr sz="980" b="0">
                          <a:solidFill>
                            <a:srgbClr val="252F3D"/>
                          </a:solidFill>
                          <a:latin typeface="Calibri"/>
                        </a:rPr>
                        <a:t>21.9 min</a:t>
                      </a:r>
                    </a:p>
                  </a:txBody>
                  <a:tcPr marL="54864" marR="54864" marT="9144" marB="9144" anchor="ctr">
                    <a:solidFill>
                      <a:srgbClr val="F3F5F9"/>
                    </a:solidFill>
                  </a:tcPr>
                </a:tc>
              </a:tr>
              <a:tr h="274320">
                <a:tc>
                  <a:txBody>
                    <a:bodyPr/>
                    <a:lstStyle/>
                    <a:p>
                      <a:pPr algn="l"/>
                      <a:r>
                        <a:rPr sz="980" b="0">
                          <a:solidFill>
                            <a:srgbClr val="252F3D"/>
                          </a:solidFill>
                          <a:latin typeface="Calibri"/>
                        </a:rPr>
                        <a:t>Physics-Gated (no ghi_lag1)</a:t>
                      </a:r>
                    </a:p>
                  </a:txBody>
                  <a:tcPr marL="54864" marR="54864" marT="9144" marB="9144" anchor="ctr">
                    <a:solidFill>
                      <a:srgbClr val="FFFFFF"/>
                    </a:solidFill>
                  </a:tcPr>
                </a:tc>
                <a:tc>
                  <a:txBody>
                    <a:bodyPr/>
                    <a:lstStyle/>
                    <a:p>
                      <a:pPr algn="l"/>
                      <a:r>
                        <a:rPr sz="980" b="0">
                          <a:solidFill>
                            <a:srgbClr val="252F3D"/>
                          </a:solidFill>
                          <a:latin typeface="Calibri"/>
                        </a:rPr>
                        <a:t>removes the persistence shortcut</a:t>
                      </a:r>
                    </a:p>
                  </a:txBody>
                  <a:tcPr marL="54864" marR="54864" marT="9144" marB="9144" anchor="ctr">
                    <a:solidFill>
                      <a:srgbClr val="FFFFFF"/>
                    </a:solidFill>
                  </a:tcPr>
                </a:tc>
                <a:tc>
                  <a:txBody>
                    <a:bodyPr/>
                    <a:lstStyle/>
                    <a:p>
                      <a:pPr algn="ctr"/>
                      <a:r>
                        <a:rPr sz="980" b="0">
                          <a:solidFill>
                            <a:srgbClr val="252F3D"/>
                          </a:solidFill>
                          <a:latin typeface="Calibri"/>
                        </a:rPr>
                        <a:t>15.51 M</a:t>
                      </a:r>
                    </a:p>
                  </a:txBody>
                  <a:tcPr marL="54864" marR="54864" marT="9144" marB="9144" anchor="ctr">
                    <a:solidFill>
                      <a:srgbClr val="FFFFFF"/>
                    </a:solidFill>
                  </a:tcPr>
                </a:tc>
                <a:tc>
                  <a:txBody>
                    <a:bodyPr/>
                    <a:lstStyle/>
                    <a:p>
                      <a:pPr algn="ctr"/>
                      <a:r>
                        <a:rPr sz="980" b="0">
                          <a:solidFill>
                            <a:srgbClr val="252F3D"/>
                          </a:solidFill>
                          <a:latin typeface="Calibri"/>
                        </a:rPr>
                        <a:t>38</a:t>
                      </a:r>
                    </a:p>
                  </a:txBody>
                  <a:tcPr marL="54864" marR="54864" marT="9144" marB="9144" anchor="ctr">
                    <a:solidFill>
                      <a:srgbClr val="FFFFFF"/>
                    </a:solidFill>
                  </a:tcPr>
                </a:tc>
                <a:tc>
                  <a:txBody>
                    <a:bodyPr/>
                    <a:lstStyle/>
                    <a:p>
                      <a:pPr algn="ctr"/>
                      <a:r>
                        <a:rPr sz="980" b="0">
                          <a:solidFill>
                            <a:srgbClr val="252F3D"/>
                          </a:solidFill>
                          <a:latin typeface="Calibri"/>
                        </a:rPr>
                        <a:t>14.4 min</a:t>
                      </a:r>
                    </a:p>
                  </a:txBody>
                  <a:tcPr marL="54864" marR="54864" marT="9144" marB="9144" anchor="ctr">
                    <a:solidFill>
                      <a:srgbClr val="FFFFFF"/>
                    </a:solidFill>
                  </a:tcPr>
                </a:tc>
              </a:tr>
            </a:tbl>
          </a:graphicData>
        </a:graphic>
      </p:graphicFrame>
      <p:sp>
        <p:nvSpPr>
          <p:cNvPr id="9" name="TextBox 8"/>
          <p:cNvSpPr txBox="1"/>
          <p:nvPr/>
        </p:nvSpPr>
        <p:spPr>
          <a:xfrm>
            <a:off x="502920" y="3346704"/>
            <a:ext cx="704088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 encoders exist but never reach the fusion path under ablation='lstm'. Epochs are from the grid runs (patience 15) — the curve on the previous slide is a separate patience-20 run of the same configuration. Grid cost 118.7 min on one RTX 4090.</a:t>
            </a:r>
          </a:p>
        </p:txBody>
      </p:sp>
      <p:graphicFrame>
        <p:nvGraphicFramePr>
          <p:cNvPr id="10" name="Table 9"/>
          <p:cNvGraphicFramePr>
            <a:graphicFrameLocks noGrp="1"/>
          </p:cNvGraphicFramePr>
          <p:nvPr/>
        </p:nvGraphicFramePr>
        <p:xfrm>
          <a:off x="502920" y="3858768"/>
          <a:ext cx="7040880" cy="1600200"/>
        </p:xfrm>
        <a:graphic>
          <a:graphicData uri="http://schemas.openxmlformats.org/drawingml/2006/table">
            <a:tbl>
              <a:tblPr bandRow="1"/>
              <a:tblGrid>
                <a:gridCol w="2651760"/>
                <a:gridCol w="4389120"/>
              </a:tblGrid>
              <a:tr h="274320">
                <a:tc>
                  <a:txBody>
                    <a:bodyPr/>
                    <a:lstStyle/>
                    <a:p>
                      <a:pPr algn="l"/>
                      <a:r>
                        <a:rPr sz="1050" b="1">
                          <a:solidFill>
                            <a:srgbClr val="FFFFFF"/>
                          </a:solidFill>
                          <a:latin typeface="Calibri"/>
                        </a:rPr>
                        <a:t>Reference forecaster</a:t>
                      </a:r>
                    </a:p>
                  </a:txBody>
                  <a:tcPr marL="54864" marR="54864" marT="18288" marB="18288" anchor="ctr">
                    <a:solidFill>
                      <a:srgbClr val="1F3B63"/>
                    </a:solidFill>
                  </a:tcPr>
                </a:tc>
                <a:tc>
                  <a:txBody>
                    <a:bodyPr/>
                    <a:lstStyle/>
                    <a:p>
                      <a:pPr algn="l"/>
                      <a:r>
                        <a:rPr sz="1050" b="1">
                          <a:solidFill>
                            <a:srgbClr val="FFFFFF"/>
                          </a:solidFill>
                          <a:latin typeface="Calibri"/>
                        </a:rPr>
                        <a:t>Role</a:t>
                      </a:r>
                    </a:p>
                  </a:txBody>
                  <a:tcPr marL="54864" marR="54864" marT="18288" marB="18288" anchor="ctr">
                    <a:solidFill>
                      <a:srgbClr val="1F3B63"/>
                    </a:solidFill>
                  </a:tcPr>
                </a:tc>
              </a:tr>
              <a:tr h="265176">
                <a:tc>
                  <a:txBody>
                    <a:bodyPr/>
                    <a:lstStyle/>
                    <a:p>
                      <a:pPr algn="l"/>
                      <a:r>
                        <a:rPr sz="980" b="0">
                          <a:solidFill>
                            <a:srgbClr val="252F3D"/>
                          </a:solidFill>
                          <a:latin typeface="Calibri"/>
                        </a:rPr>
                        <a:t>Persistence  (GHI held)</a:t>
                      </a:r>
                    </a:p>
                  </a:txBody>
                  <a:tcPr marL="54864" marR="54864" marT="9144" marB="9144" anchor="ctr">
                    <a:solidFill>
                      <a:srgbClr val="F3F5F9"/>
                    </a:solidFill>
                  </a:tcPr>
                </a:tc>
                <a:tc>
                  <a:txBody>
                    <a:bodyPr/>
                    <a:lstStyle/>
                    <a:p>
                      <a:pPr algn="l"/>
                      <a:r>
                        <a:rPr sz="980" b="0">
                          <a:solidFill>
                            <a:srgbClr val="252F3D"/>
                          </a:solidFill>
                          <a:latin typeface="Calibri"/>
                        </a:rPr>
                        <a:t>floor — any model must beat it decisively</a:t>
                      </a:r>
                    </a:p>
                  </a:txBody>
                  <a:tcPr marL="54864" marR="54864" marT="9144" marB="9144" anchor="ctr">
                    <a:solidFill>
                      <a:srgbClr val="F3F5F9"/>
                    </a:solidFill>
                  </a:tcPr>
                </a:tc>
              </a:tr>
              <a:tr h="265176">
                <a:tc>
                  <a:txBody>
                    <a:bodyPr/>
                    <a:lstStyle/>
                    <a:p>
                      <a:pPr algn="l"/>
                      <a:r>
                        <a:rPr sz="980" b="0">
                          <a:solidFill>
                            <a:srgbClr val="252F3D"/>
                          </a:solidFill>
                          <a:latin typeface="Calibri"/>
                        </a:rPr>
                        <a:t>Smart persistence  (k_t held)</a:t>
                      </a:r>
                    </a:p>
                  </a:txBody>
                  <a:tcPr marL="54864" marR="54864" marT="9144" marB="9144" anchor="ctr">
                    <a:solidFill>
                      <a:srgbClr val="FFFFFF"/>
                    </a:solidFill>
                  </a:tcPr>
                </a:tc>
                <a:tc>
                  <a:txBody>
                    <a:bodyPr/>
                    <a:lstStyle/>
                    <a:p>
                      <a:pPr algn="l"/>
                      <a:r>
                        <a:rPr sz="980" b="0">
                          <a:solidFill>
                            <a:srgbClr val="252F3D"/>
                          </a:solidFill>
                          <a:latin typeface="Calibri"/>
                        </a:rPr>
                        <a:t>the operational reference; skill is measured against it</a:t>
                      </a:r>
                    </a:p>
                  </a:txBody>
                  <a:tcPr marL="54864" marR="54864" marT="9144" marB="9144" anchor="ctr">
                    <a:solidFill>
                      <a:srgbClr val="FFFFFF"/>
                    </a:solidFill>
                  </a:tcPr>
                </a:tc>
              </a:tr>
              <a:tr h="265176">
                <a:tc>
                  <a:txBody>
                    <a:bodyPr/>
                    <a:lstStyle/>
                    <a:p>
                      <a:pPr algn="l"/>
                      <a:r>
                        <a:rPr sz="980" b="0">
                          <a:solidFill>
                            <a:srgbClr val="252F3D"/>
                          </a:solidFill>
                          <a:latin typeface="Calibri"/>
                        </a:rPr>
                        <a:t>Linear Regression</a:t>
                      </a:r>
                    </a:p>
                  </a:txBody>
                  <a:tcPr marL="54864" marR="54864" marT="9144" marB="9144" anchor="ctr">
                    <a:solidFill>
                      <a:srgbClr val="F3F5F9"/>
                    </a:solidFill>
                  </a:tcPr>
                </a:tc>
                <a:tc>
                  <a:txBody>
                    <a:bodyPr/>
                    <a:lstStyle/>
                    <a:p>
                      <a:pPr algn="l"/>
                      <a:r>
                        <a:rPr sz="980" b="0">
                          <a:solidFill>
                            <a:srgbClr val="252F3D"/>
                          </a:solidFill>
                          <a:latin typeface="Calibri"/>
                        </a:rPr>
                        <a:t>does the problem need non-linearity?</a:t>
                      </a:r>
                    </a:p>
                  </a:txBody>
                  <a:tcPr marL="54864" marR="54864" marT="9144" marB="9144" anchor="ctr">
                    <a:solidFill>
                      <a:srgbClr val="F3F5F9"/>
                    </a:solidFill>
                  </a:tcPr>
                </a:tc>
              </a:tr>
              <a:tr h="265176">
                <a:tc>
                  <a:txBody>
                    <a:bodyPr/>
                    <a:lstStyle/>
                    <a:p>
                      <a:pPr algn="l"/>
                      <a:r>
                        <a:rPr sz="980" b="0">
                          <a:solidFill>
                            <a:srgbClr val="252F3D"/>
                          </a:solidFill>
                          <a:latin typeface="Calibri"/>
                        </a:rPr>
                        <a:t>Random Forest  (100 trees)</a:t>
                      </a:r>
                    </a:p>
                  </a:txBody>
                  <a:tcPr marL="54864" marR="54864" marT="9144" marB="9144" anchor="ctr">
                    <a:solidFill>
                      <a:srgbClr val="FFFFFF"/>
                    </a:solidFill>
                  </a:tcPr>
                </a:tc>
                <a:tc>
                  <a:txBody>
                    <a:bodyPr/>
                    <a:lstStyle/>
                    <a:p>
                      <a:pPr algn="l"/>
                      <a:r>
                        <a:rPr sz="980" b="0">
                          <a:solidFill>
                            <a:srgbClr val="252F3D"/>
                          </a:solidFill>
                          <a:latin typeface="Calibri"/>
                        </a:rPr>
                        <a:t>strong tabular learner, 14 features</a:t>
                      </a:r>
                    </a:p>
                  </a:txBody>
                  <a:tcPr marL="54864" marR="54864" marT="9144" marB="9144" anchor="ctr">
                    <a:solidFill>
                      <a:srgbClr val="FFFFFF"/>
                    </a:solidFill>
                  </a:tcPr>
                </a:tc>
              </a:tr>
              <a:tr h="265176">
                <a:tc>
                  <a:txBody>
                    <a:bodyPr/>
                    <a:lstStyle/>
                    <a:p>
                      <a:pPr algn="l"/>
                      <a:r>
                        <a:rPr sz="980" b="0">
                          <a:solidFill>
                            <a:srgbClr val="252F3D"/>
                          </a:solidFill>
                          <a:latin typeface="Calibri"/>
                        </a:rPr>
                        <a:t>LightGBM  (200 estimators)</a:t>
                      </a:r>
                    </a:p>
                  </a:txBody>
                  <a:tcPr marL="54864" marR="54864" marT="9144" marB="9144" anchor="ctr">
                    <a:solidFill>
                      <a:srgbClr val="F3F5F9"/>
                    </a:solidFill>
                  </a:tcPr>
                </a:tc>
                <a:tc>
                  <a:txBody>
                    <a:bodyPr/>
                    <a:lstStyle/>
                    <a:p>
                      <a:pPr algn="l"/>
                      <a:r>
                        <a:rPr sz="980" b="0">
                          <a:solidFill>
                            <a:srgbClr val="252F3D"/>
                          </a:solidFill>
                          <a:latin typeface="Calibri"/>
                        </a:rPr>
                        <a:t>strong tabular learner, 14 features</a:t>
                      </a:r>
                    </a:p>
                  </a:txBody>
                  <a:tcPr marL="54864" marR="54864" marT="9144" marB="9144" anchor="ctr">
                    <a:solidFill>
                      <a:srgbClr val="F3F5F9"/>
                    </a:solidFill>
                  </a:tcPr>
                </a:tc>
              </a:tr>
            </a:tbl>
          </a:graphicData>
        </a:graphic>
      </p:graphicFrame>
      <p:sp>
        <p:nvSpPr>
          <p:cNvPr id="11" name="TextBox 10"/>
          <p:cNvSpPr txBox="1"/>
          <p:nvPr/>
        </p:nvSpPr>
        <p:spPr>
          <a:xfrm>
            <a:off x="502920" y="5468112"/>
            <a:ext cx="704088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Tabular baselines see 14 features at time t only — including ghi_lag1-3 — so they are given the same information the deep models get, minus the imagery.</a:t>
            </a:r>
          </a:p>
        </p:txBody>
      </p:sp>
      <p:sp>
        <p:nvSpPr>
          <p:cNvPr id="12" name="Rectangle 11"/>
          <p:cNvSpPr/>
          <p:nvPr/>
        </p:nvSpPr>
        <p:spPr>
          <a:xfrm>
            <a:off x="7726679" y="1325880"/>
            <a:ext cx="3959352" cy="4937760"/>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936992" y="1481328"/>
            <a:ext cx="3566160" cy="237744"/>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PROTOCOL</a:t>
            </a:r>
          </a:p>
        </p:txBody>
      </p:sp>
      <p:sp>
        <p:nvSpPr>
          <p:cNvPr id="14" name="TextBox 13"/>
          <p:cNvSpPr txBox="1"/>
          <p:nvPr/>
        </p:nvSpPr>
        <p:spPr>
          <a:xfrm>
            <a:off x="7936992" y="1783080"/>
            <a:ext cx="3584448" cy="4389120"/>
          </a:xfrm>
          <a:prstGeom prst="rect">
            <a:avLst/>
          </a:prstGeom>
          <a:noFill/>
        </p:spPr>
        <p:txBody>
          <a:bodyPr wrap="square" lIns="0" rIns="0" tIns="0" bIns="0">
            <a:spAutoFit/>
          </a:bodyPr>
          <a:lstStyle/>
          <a:p>
            <a:pPr>
              <a:lnSpc>
                <a:spcPct val="106000"/>
              </a:lnSpc>
              <a:spcBef>
                <a:spcPts val="0"/>
              </a:spcBef>
              <a:spcAft>
                <a:spcPts val="900"/>
              </a:spcAft>
            </a:pPr>
            <a:r>
              <a:rPr sz="1050" b="1" i="0">
                <a:solidFill>
                  <a:srgbClr val="252F3D"/>
                </a:solidFill>
                <a:latin typeface="Calibri"/>
              </a:rPr>
              <a:t>Split.  </a:t>
            </a:r>
            <a:r>
              <a:rPr sz="1050" b="0" i="0">
                <a:solidFill>
                  <a:srgbClr val="252F3D"/>
                </a:solidFill>
                <a:latin typeface="Calibri"/>
              </a:rPr>
              <a:t>Chronological 70/15/15, never shuffled. Training ends 2025-11-02; nothing after that date is seen during fitting.</a:t>
            </a:r>
          </a:p>
          <a:p>
            <a:pPr>
              <a:lnSpc>
                <a:spcPct val="106000"/>
              </a:lnSpc>
              <a:spcBef>
                <a:spcPts val="0"/>
              </a:spcBef>
              <a:spcAft>
                <a:spcPts val="900"/>
              </a:spcAft>
            </a:pPr>
            <a:r>
              <a:rPr sz="1050" b="1" i="0">
                <a:solidFill>
                  <a:srgbClr val="252F3D"/>
                </a:solidFill>
                <a:latin typeface="Calibri"/>
              </a:rPr>
              <a:t>Normalisation.  </a:t>
            </a:r>
            <a:r>
              <a:rPr sz="1050" b="0" i="0">
                <a:solidFill>
                  <a:srgbClr val="252F3D"/>
                </a:solidFill>
                <a:latin typeface="Calibri"/>
              </a:rPr>
              <a:t>Statistics from the training split only, applied unchanged to validation and test.</a:t>
            </a:r>
          </a:p>
          <a:p>
            <a:pPr>
              <a:lnSpc>
                <a:spcPct val="106000"/>
              </a:lnSpc>
              <a:spcBef>
                <a:spcPts val="0"/>
              </a:spcBef>
              <a:spcAft>
                <a:spcPts val="900"/>
              </a:spcAft>
            </a:pPr>
            <a:r>
              <a:rPr sz="1050" b="1" i="0">
                <a:solidFill>
                  <a:srgbClr val="252F3D"/>
                </a:solidFill>
                <a:latin typeface="Calibri"/>
              </a:rPr>
              <a:t>Leakage control.  </a:t>
            </a:r>
            <a:r>
              <a:rPr sz="1050" b="0" i="0">
                <a:solidFill>
                  <a:srgbClr val="252F3D"/>
                </a:solidFill>
                <a:latin typeface="Calibri"/>
              </a:rPr>
              <a:t>pv_actual (r = 0.9999 with GHI) is excluded from all feature sets. Only future clear-sky — pure geometry — is given ahead of time.</a:t>
            </a:r>
          </a:p>
          <a:p>
            <a:pPr>
              <a:lnSpc>
                <a:spcPct val="106000"/>
              </a:lnSpc>
              <a:spcBef>
                <a:spcPts val="0"/>
              </a:spcBef>
              <a:spcAft>
                <a:spcPts val="900"/>
              </a:spcAft>
            </a:pPr>
            <a:r>
              <a:rPr sz="1050" b="1" i="0">
                <a:solidFill>
                  <a:srgbClr val="252F3D"/>
                </a:solidFill>
                <a:latin typeface="Calibri"/>
              </a:rPr>
              <a:t>Identical rows.  </a:t>
            </a:r>
            <a:r>
              <a:rPr sz="1050" b="0" i="0">
                <a:solidFill>
                  <a:srgbClr val="252F3D"/>
                </a:solidFill>
                <a:latin typeface="Calibri"/>
              </a:rPr>
              <a:t>Every number on slides 11–16 is computed on the same 914 samples, for deep models, tabular models and persistence alike.</a:t>
            </a:r>
          </a:p>
          <a:p>
            <a:pPr>
              <a:lnSpc>
                <a:spcPct val="106000"/>
              </a:lnSpc>
              <a:spcBef>
                <a:spcPts val="0"/>
              </a:spcBef>
              <a:spcAft>
                <a:spcPts val="900"/>
              </a:spcAft>
            </a:pPr>
            <a:r>
              <a:rPr sz="1050" b="1" i="0">
                <a:solidFill>
                  <a:srgbClr val="252F3D"/>
                </a:solidFill>
                <a:latin typeface="Calibri"/>
              </a:rPr>
              <a:t>Metrics.  </a:t>
            </a:r>
            <a:r>
              <a:rPr sz="1050" b="0" i="0">
                <a:solidFill>
                  <a:srgbClr val="252F3D"/>
                </a:solidFill>
                <a:latin typeface="Calibri"/>
              </a:rPr>
              <a:t>MAE, RMSE, R², skill vs smart persistence, PICP, interval width, CRPS — plus paired Diebold–Mariano tests.</a:t>
            </a:r>
          </a:p>
          <a:p>
            <a:pPr>
              <a:lnSpc>
                <a:spcPct val="106000"/>
              </a:lnSpc>
              <a:spcBef>
                <a:spcPts val="0"/>
              </a:spcBef>
              <a:spcAft>
                <a:spcPts val="900"/>
              </a:spcAft>
            </a:pPr>
            <a:r>
              <a:rPr sz="1050" b="1" i="0">
                <a:solidFill>
                  <a:srgbClr val="252F3D"/>
                </a:solidFill>
                <a:latin typeface="Calibri"/>
              </a:rPr>
              <a:t>Seeds.  </a:t>
            </a:r>
            <a:r>
              <a:rPr sz="1050" b="0" i="0">
                <a:solidFill>
                  <a:srgbClr val="B3282D"/>
                </a:solidFill>
                <a:latin typeface="Calibri"/>
              </a:rPr>
              <a:t>One run per variant. This is the design's main weakness and it is treated as such throughout.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EVALUATION INTEGRITY</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150" b="1" i="0">
                <a:solidFill>
                  <a:srgbClr val="1F3B63"/>
                </a:solidFill>
                <a:latin typeface="Calibri"/>
              </a:rPr>
              <a:t>A defect in my own results: the test split collapsed to 18 samples</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B328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10</a:t>
            </a:r>
          </a:p>
        </p:txBody>
      </p:sp>
      <p:sp>
        <p:nvSpPr>
          <p:cNvPr id="8" name="Rectangle 7"/>
          <p:cNvSpPr/>
          <p:nvPr/>
        </p:nvSpPr>
        <p:spPr>
          <a:xfrm>
            <a:off x="502920" y="1280160"/>
            <a:ext cx="11183112" cy="786384"/>
          </a:xfrm>
          <a:prstGeom prst="rect">
            <a:avLst/>
          </a:prstGeom>
          <a:solidFill>
            <a:srgbClr val="FBECEC"/>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389888"/>
            <a:ext cx="10789920" cy="548640"/>
          </a:xfrm>
          <a:prstGeom prst="rect">
            <a:avLst/>
          </a:prstGeom>
          <a:noFill/>
        </p:spPr>
        <p:txBody>
          <a:bodyPr wrap="square" anchor="t" lIns="0" rIns="0" tIns="0" bIns="0">
            <a:spAutoFit/>
          </a:bodyPr>
          <a:lstStyle/>
          <a:p>
            <a:pPr algn="l">
              <a:lnSpc>
                <a:spcPct val="108000"/>
              </a:lnSpc>
            </a:pPr>
            <a:r>
              <a:rPr sz="1300" b="1" i="0">
                <a:solidFill>
                  <a:srgbClr val="B3282D"/>
                </a:solidFill>
                <a:latin typeface="Calibri"/>
              </a:rPr>
              <a:t>The committed results file results/fusion_ghi_comparison.csv reports every deep-model metric on 18 samples drawn from just two days, while results/baseline_ghi_comparison.csv reports the tabular models on 1,437. The two tables were never comparable — and the 18-sample table cannot support any conclusion at all.</a:t>
            </a:r>
          </a:p>
        </p:txBody>
      </p:sp>
      <p:sp>
        <p:nvSpPr>
          <p:cNvPr id="10" name="TextBox 9"/>
          <p:cNvSpPr txBox="1"/>
          <p:nvPr/>
        </p:nvSpPr>
        <p:spPr>
          <a:xfrm>
            <a:off x="502920" y="2212848"/>
            <a:ext cx="5532120" cy="3931920"/>
          </a:xfrm>
          <a:prstGeom prst="rect">
            <a:avLst/>
          </a:prstGeom>
          <a:noFill/>
        </p:spPr>
        <p:txBody>
          <a:bodyPr wrap="square" lIns="0" rIns="0" tIns="0" bIns="0">
            <a:spAutoFit/>
          </a:bodyPr>
          <a:lstStyle/>
          <a:p>
            <a:pPr>
              <a:lnSpc>
                <a:spcPct val="106000"/>
              </a:lnSpc>
              <a:spcBef>
                <a:spcPts val="0"/>
              </a:spcBef>
              <a:spcAft>
                <a:spcPts val="600"/>
              </a:spcAft>
            </a:pPr>
            <a:r>
              <a:rPr sz="1140" b="1" i="0">
                <a:solidFill>
                  <a:srgbClr val="1F3B63"/>
                </a:solidFill>
                <a:latin typeface="Calibri"/>
              </a:rPr>
              <a:t>Mechanism.  </a:t>
            </a:r>
            <a:r>
              <a:rPr sz="1140" b="0" i="0">
                <a:solidFill>
                  <a:srgbClr val="252F3D"/>
                </a:solidFill>
                <a:latin typeface="Calibri"/>
              </a:rPr>
              <a:t>The 70/15/15 split is positional over all 9,574 rows. The image requirement is applied afterwards, inside the dataset class. Because the weather table was extended to August 2026 while the satellite archive stopped on 2026-06-07, the image-less tail fell almost entirely inside the test window.</a:t>
            </a:r>
          </a:p>
          <a:p>
            <a:pPr>
              <a:lnSpc>
                <a:spcPct val="106000"/>
              </a:lnSpc>
              <a:spcBef>
                <a:spcPts val="0"/>
              </a:spcBef>
              <a:spcAft>
                <a:spcPts val="600"/>
              </a:spcAft>
            </a:pPr>
            <a:r>
              <a:rPr sz="1140" b="1" i="0">
                <a:solidFill>
                  <a:srgbClr val="1F3B63"/>
                </a:solidFill>
                <a:latin typeface="Calibri"/>
              </a:rPr>
              <a:t>What the 18 samples are.  </a:t>
            </a:r>
            <a:r>
              <a:rPr sz="1140" b="0" i="0">
                <a:solidFill>
                  <a:srgbClr val="252F3D"/>
                </a:solidFill>
                <a:latin typeface="Calibri"/>
              </a:rPr>
              <a:t>Two days only — 2026-05-15 and 2026-06-07 — with mean GHI 318.5 W/m² against 492.8 for the full test split. Unusually dark, cloudy hours, evaluated in a single batch.</a:t>
            </a:r>
          </a:p>
          <a:p>
            <a:pPr>
              <a:lnSpc>
                <a:spcPct val="106000"/>
              </a:lnSpc>
              <a:spcBef>
                <a:spcPts val="0"/>
              </a:spcBef>
              <a:spcAft>
                <a:spcPts val="600"/>
              </a:spcAft>
            </a:pPr>
            <a:r>
              <a:rPr sz="1140" b="1" i="0">
                <a:solidFill>
                  <a:srgbClr val="1F3B63"/>
                </a:solidFill>
                <a:latin typeface="Calibri"/>
              </a:rPr>
              <a:t>Why it was not caught.  </a:t>
            </a:r>
            <a:r>
              <a:rPr sz="1140" b="0" i="0">
                <a:solidFill>
                  <a:srgbClr val="252F3D"/>
                </a:solidFill>
                <a:latin typeface="Calibri"/>
              </a:rPr>
              <a:t>The notebook printed “Test: 18 | Test batches: 1” and the run continued. There was no assertion on split size.</a:t>
            </a:r>
          </a:p>
          <a:p>
            <a:pPr>
              <a:lnSpc>
                <a:spcPct val="106000"/>
              </a:lnSpc>
              <a:spcBef>
                <a:spcPts val="0"/>
              </a:spcBef>
              <a:spcAft>
                <a:spcPts val="600"/>
              </a:spcAft>
            </a:pPr>
            <a:r>
              <a:rPr sz="1140" b="1" i="0">
                <a:solidFill>
                  <a:srgbClr val="2E7D74"/>
                </a:solidFill>
                <a:latin typeface="Calibri"/>
              </a:rPr>
              <a:t>The fix, verified.  </a:t>
            </a:r>
            <a:r>
              <a:rPr sz="1140" b="0" i="0">
                <a:solidFill>
                  <a:srgbClr val="252F3D"/>
                </a:solidFill>
                <a:latin typeface="Calibri"/>
              </a:rPr>
              <a:t>Filter to imaged rows before splitting, and assert a minimum test size. Recomputed on this dataset that yields 1,123 test samples over 116 days, 2025-10-13 → 2026-06-07 — which would also close the single-season limitation.</a:t>
            </a:r>
          </a:p>
          <a:p>
            <a:pPr>
              <a:lnSpc>
                <a:spcPct val="106000"/>
              </a:lnSpc>
              <a:spcBef>
                <a:spcPts val="0"/>
              </a:spcBef>
              <a:spcAft>
                <a:spcPts val="600"/>
              </a:spcAft>
            </a:pPr>
            <a:r>
              <a:rPr sz="1140" b="1" i="0">
                <a:solidFill>
                  <a:srgbClr val="C4622D"/>
                </a:solidFill>
                <a:latin typeface="Calibri"/>
              </a:rPr>
              <a:t>What this deck does instead.  </a:t>
            </a:r>
            <a:r>
              <a:rPr sz="1140" b="0" i="0">
                <a:solidFill>
                  <a:srgbClr val="252F3D"/>
                </a:solidFill>
                <a:latin typeface="Calibri"/>
              </a:rPr>
              <a:t>Retraining was out of scope for the submission window, so every result from slide 11 onward is reported on the 914 imaged validation samples — 93 days — with the selection caveat restated each time.</a:t>
            </a:r>
          </a:p>
        </p:txBody>
      </p:sp>
      <p:pic>
        <p:nvPicPr>
          <p:cNvPr id="11" name="Picture 10" descr="f4_rank_flip.png"/>
          <p:cNvPicPr>
            <a:picLocks noChangeAspect="1"/>
          </p:cNvPicPr>
          <p:nvPr/>
        </p:nvPicPr>
        <p:blipFill>
          <a:blip r:embed="rId2"/>
          <a:stretch>
            <a:fillRect/>
          </a:stretch>
        </p:blipFill>
        <p:spPr>
          <a:xfrm>
            <a:off x="6263640" y="2286000"/>
            <a:ext cx="5440680" cy="1928821"/>
          </a:xfrm>
          <a:prstGeom prst="rect">
            <a:avLst/>
          </a:prstGeom>
        </p:spPr>
      </p:pic>
      <p:sp>
        <p:nvSpPr>
          <p:cNvPr id="12" name="TextBox 11"/>
          <p:cNvSpPr txBox="1"/>
          <p:nvPr/>
        </p:nvSpPr>
        <p:spPr>
          <a:xfrm>
            <a:off x="6263640" y="4315968"/>
            <a:ext cx="544068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Figure 3 — the same six checkpoints, scored on 18 samples (left) and on 914 (right). The ordering inverts: the variant that looks best on 18 samples is fourth on 914, and the weather-only model moves from worst to best.</a:t>
            </a:r>
          </a:p>
        </p:txBody>
      </p:sp>
      <p:sp>
        <p:nvSpPr>
          <p:cNvPr id="13" name="Rectangle 12"/>
          <p:cNvSpPr/>
          <p:nvPr/>
        </p:nvSpPr>
        <p:spPr>
          <a:xfrm>
            <a:off x="6263640" y="4800600"/>
            <a:ext cx="5422392" cy="1371600"/>
          </a:xfrm>
          <a:prstGeom prst="rect">
            <a:avLst/>
          </a:prstGeom>
          <a:solidFill>
            <a:srgbClr val="ECF1F7"/>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73952" y="4937760"/>
            <a:ext cx="5029200" cy="1097280"/>
          </a:xfrm>
          <a:prstGeom prst="rect">
            <a:avLst/>
          </a:prstGeom>
          <a:noFill/>
        </p:spPr>
        <p:txBody>
          <a:bodyPr wrap="square" anchor="t" lIns="0" rIns="0" tIns="0" bIns="0">
            <a:spAutoFit/>
          </a:bodyPr>
          <a:lstStyle/>
          <a:p>
            <a:pPr algn="l">
              <a:lnSpc>
                <a:spcPct val="110000"/>
              </a:lnSpc>
            </a:pPr>
            <a:r>
              <a:rPr sz="1150" b="0" i="0">
                <a:solidFill>
                  <a:srgbClr val="1F3B63"/>
                </a:solidFill>
                <a:latin typeface="Calibri"/>
              </a:rPr>
              <a:t>Methodological lesson, and the one I would defend hardest:  a 5–15 W/m² ordering between architectures is not a result unless the sample size and the run-to-run variance can support it. At n = 18 the ordering is noise; at n = 914 it is stable and, on slide 13, statistically testable.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RESULTS</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Main results: every model on the identical 914 samples</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11</a:t>
            </a:r>
          </a:p>
        </p:txBody>
      </p:sp>
      <p:graphicFrame>
        <p:nvGraphicFramePr>
          <p:cNvPr id="8" name="Table 7"/>
          <p:cNvGraphicFramePr>
            <a:graphicFrameLocks noGrp="1"/>
          </p:cNvGraphicFramePr>
          <p:nvPr/>
        </p:nvGraphicFramePr>
        <p:xfrm>
          <a:off x="502920" y="1325880"/>
          <a:ext cx="6172200" cy="2619756"/>
        </p:xfrm>
        <a:graphic>
          <a:graphicData uri="http://schemas.openxmlformats.org/drawingml/2006/table">
            <a:tbl>
              <a:tblPr bandRow="1"/>
              <a:tblGrid>
                <a:gridCol w="2286000"/>
                <a:gridCol w="731520"/>
                <a:gridCol w="731520"/>
                <a:gridCol w="731520"/>
                <a:gridCol w="731520"/>
                <a:gridCol w="960120"/>
              </a:tblGrid>
              <a:tr h="256032">
                <a:tc>
                  <a:txBody>
                    <a:bodyPr/>
                    <a:lstStyle/>
                    <a:p>
                      <a:pPr algn="l"/>
                      <a:r>
                        <a:rPr sz="1050" b="1">
                          <a:solidFill>
                            <a:srgbClr val="FFFFFF"/>
                          </a:solidFill>
                          <a:latin typeface="Calibri"/>
                        </a:rPr>
                        <a:t>Model</a:t>
                      </a:r>
                    </a:p>
                  </a:txBody>
                  <a:tcPr marL="54864" marR="54864" marT="18288" marB="18288" anchor="ctr">
                    <a:solidFill>
                      <a:srgbClr val="1F3B63"/>
                    </a:solidFill>
                  </a:tcPr>
                </a:tc>
                <a:tc>
                  <a:txBody>
                    <a:bodyPr/>
                    <a:lstStyle/>
                    <a:p>
                      <a:pPr algn="ctr"/>
                      <a:r>
                        <a:rPr sz="1050" b="1">
                          <a:solidFill>
                            <a:srgbClr val="FFFFFF"/>
                          </a:solidFill>
                          <a:latin typeface="Calibri"/>
                        </a:rPr>
                        <a:t>t+1 h</a:t>
                      </a:r>
                    </a:p>
                  </a:txBody>
                  <a:tcPr marL="54864" marR="54864" marT="18288" marB="18288" anchor="ctr">
                    <a:solidFill>
                      <a:srgbClr val="1F3B63"/>
                    </a:solidFill>
                  </a:tcPr>
                </a:tc>
                <a:tc>
                  <a:txBody>
                    <a:bodyPr/>
                    <a:lstStyle/>
                    <a:p>
                      <a:pPr algn="ctr"/>
                      <a:r>
                        <a:rPr sz="1050" b="1">
                          <a:solidFill>
                            <a:srgbClr val="FFFFFF"/>
                          </a:solidFill>
                          <a:latin typeface="Calibri"/>
                        </a:rPr>
                        <a:t>t+2 h</a:t>
                      </a:r>
                    </a:p>
                  </a:txBody>
                  <a:tcPr marL="54864" marR="54864" marT="18288" marB="18288" anchor="ctr">
                    <a:solidFill>
                      <a:srgbClr val="1F3B63"/>
                    </a:solidFill>
                  </a:tcPr>
                </a:tc>
                <a:tc>
                  <a:txBody>
                    <a:bodyPr/>
                    <a:lstStyle/>
                    <a:p>
                      <a:pPr algn="ctr"/>
                      <a:r>
                        <a:rPr sz="1050" b="1">
                          <a:solidFill>
                            <a:srgbClr val="FFFFFF"/>
                          </a:solidFill>
                          <a:latin typeface="Calibri"/>
                        </a:rPr>
                        <a:t>t+3 h</a:t>
                      </a:r>
                    </a:p>
                  </a:txBody>
                  <a:tcPr marL="54864" marR="54864" marT="18288" marB="18288" anchor="ctr">
                    <a:solidFill>
                      <a:srgbClr val="1F3B63"/>
                    </a:solidFill>
                  </a:tcPr>
                </a:tc>
                <a:tc>
                  <a:txBody>
                    <a:bodyPr/>
                    <a:lstStyle/>
                    <a:p>
                      <a:pPr algn="ctr"/>
                      <a:r>
                        <a:rPr sz="1050" b="1">
                          <a:solidFill>
                            <a:srgbClr val="FFFFFF"/>
                          </a:solidFill>
                          <a:latin typeface="Calibri"/>
                        </a:rPr>
                        <a:t>mean</a:t>
                      </a:r>
                    </a:p>
                  </a:txBody>
                  <a:tcPr marL="54864" marR="54864" marT="18288" marB="18288" anchor="ctr">
                    <a:solidFill>
                      <a:srgbClr val="1F3B63"/>
                    </a:solidFill>
                  </a:tcPr>
                </a:tc>
                <a:tc>
                  <a:txBody>
                    <a:bodyPr/>
                    <a:lstStyle/>
                    <a:p>
                      <a:pPr algn="ctr"/>
                      <a:r>
                        <a:rPr sz="1050" b="1">
                          <a:solidFill>
                            <a:srgbClr val="FFFFFF"/>
                          </a:solidFill>
                          <a:latin typeface="Calibri"/>
                        </a:rPr>
                        <a:t>skill</a:t>
                      </a:r>
                    </a:p>
                  </a:txBody>
                  <a:tcPr marL="54864" marR="54864" marT="18288" marB="18288" anchor="ctr">
                    <a:solidFill>
                      <a:srgbClr val="1F3B63"/>
                    </a:solidFill>
                  </a:tcPr>
                </a:tc>
              </a:tr>
              <a:tr h="214884">
                <a:tc>
                  <a:txBody>
                    <a:bodyPr/>
                    <a:lstStyle/>
                    <a:p>
                      <a:pPr algn="l"/>
                      <a:r>
                        <a:rPr sz="960" b="1">
                          <a:solidFill>
                            <a:srgbClr val="1F3B63"/>
                          </a:solidFill>
                          <a:latin typeface="Calibri"/>
                        </a:rPr>
                        <a:t>LightGBM</a:t>
                      </a:r>
                    </a:p>
                  </a:txBody>
                  <a:tcPr marL="54864" marR="54864" marT="9144" marB="9144" anchor="ctr">
                    <a:solidFill>
                      <a:srgbClr val="FDF0E7"/>
                    </a:solidFill>
                  </a:tcPr>
                </a:tc>
                <a:tc>
                  <a:txBody>
                    <a:bodyPr/>
                    <a:lstStyle/>
                    <a:p>
                      <a:pPr algn="ctr"/>
                      <a:r>
                        <a:rPr sz="960" b="1">
                          <a:solidFill>
                            <a:srgbClr val="252F3D"/>
                          </a:solidFill>
                          <a:latin typeface="Calibri"/>
                        </a:rPr>
                        <a:t>63.4</a:t>
                      </a:r>
                    </a:p>
                  </a:txBody>
                  <a:tcPr marL="54864" marR="54864" marT="9144" marB="9144" anchor="ctr">
                    <a:solidFill>
                      <a:srgbClr val="FDF0E7"/>
                    </a:solidFill>
                  </a:tcPr>
                </a:tc>
                <a:tc>
                  <a:txBody>
                    <a:bodyPr/>
                    <a:lstStyle/>
                    <a:p>
                      <a:pPr algn="ctr"/>
                      <a:r>
                        <a:rPr sz="960" b="1">
                          <a:solidFill>
                            <a:srgbClr val="252F3D"/>
                          </a:solidFill>
                          <a:latin typeface="Calibri"/>
                        </a:rPr>
                        <a:t>80.1</a:t>
                      </a:r>
                    </a:p>
                  </a:txBody>
                  <a:tcPr marL="54864" marR="54864" marT="9144" marB="9144" anchor="ctr">
                    <a:solidFill>
                      <a:srgbClr val="FDF0E7"/>
                    </a:solidFill>
                  </a:tcPr>
                </a:tc>
                <a:tc>
                  <a:txBody>
                    <a:bodyPr/>
                    <a:lstStyle/>
                    <a:p>
                      <a:pPr algn="ctr"/>
                      <a:r>
                        <a:rPr sz="960" b="1">
                          <a:solidFill>
                            <a:srgbClr val="252F3D"/>
                          </a:solidFill>
                          <a:latin typeface="Calibri"/>
                        </a:rPr>
                        <a:t>89.6</a:t>
                      </a:r>
                    </a:p>
                  </a:txBody>
                  <a:tcPr marL="54864" marR="54864" marT="9144" marB="9144" anchor="ctr">
                    <a:solidFill>
                      <a:srgbClr val="FDF0E7"/>
                    </a:solidFill>
                  </a:tcPr>
                </a:tc>
                <a:tc>
                  <a:txBody>
                    <a:bodyPr/>
                    <a:lstStyle/>
                    <a:p>
                      <a:pPr algn="ctr"/>
                      <a:r>
                        <a:rPr sz="960" b="1">
                          <a:solidFill>
                            <a:srgbClr val="252F3D"/>
                          </a:solidFill>
                          <a:latin typeface="Calibri"/>
                        </a:rPr>
                        <a:t>77.7</a:t>
                      </a:r>
                    </a:p>
                  </a:txBody>
                  <a:tcPr marL="54864" marR="54864" marT="9144" marB="9144" anchor="ctr">
                    <a:solidFill>
                      <a:srgbClr val="FDF0E7"/>
                    </a:solidFill>
                  </a:tcPr>
                </a:tc>
                <a:tc>
                  <a:txBody>
                    <a:bodyPr/>
                    <a:lstStyle/>
                    <a:p>
                      <a:pPr algn="ctr"/>
                      <a:r>
                        <a:rPr sz="960" b="1">
                          <a:solidFill>
                            <a:srgbClr val="252F3D"/>
                          </a:solidFill>
                          <a:latin typeface="Calibri"/>
                        </a:rPr>
                        <a:t>+31.5 %</a:t>
                      </a:r>
                    </a:p>
                  </a:txBody>
                  <a:tcPr marL="54864" marR="54864" marT="9144" marB="9144" anchor="ctr">
                    <a:solidFill>
                      <a:srgbClr val="FDF0E7"/>
                    </a:solidFill>
                  </a:tcPr>
                </a:tc>
              </a:tr>
              <a:tr h="214884">
                <a:tc>
                  <a:txBody>
                    <a:bodyPr/>
                    <a:lstStyle/>
                    <a:p>
                      <a:pPr algn="l"/>
                      <a:r>
                        <a:rPr sz="960" b="0">
                          <a:solidFill>
                            <a:srgbClr val="1F3B63"/>
                          </a:solidFill>
                          <a:latin typeface="Calibri"/>
                        </a:rPr>
                        <a:t>Random Forest</a:t>
                      </a:r>
                    </a:p>
                  </a:txBody>
                  <a:tcPr marL="54864" marR="54864" marT="9144" marB="9144" anchor="ctr">
                    <a:solidFill>
                      <a:srgbClr val="FFFFFF"/>
                    </a:solidFill>
                  </a:tcPr>
                </a:tc>
                <a:tc>
                  <a:txBody>
                    <a:bodyPr/>
                    <a:lstStyle/>
                    <a:p>
                      <a:pPr algn="ctr"/>
                      <a:r>
                        <a:rPr sz="960" b="0">
                          <a:solidFill>
                            <a:srgbClr val="252F3D"/>
                          </a:solidFill>
                          <a:latin typeface="Calibri"/>
                        </a:rPr>
                        <a:t>63.0</a:t>
                      </a:r>
                    </a:p>
                  </a:txBody>
                  <a:tcPr marL="54864" marR="54864" marT="9144" marB="9144" anchor="ctr">
                    <a:solidFill>
                      <a:srgbClr val="FFFFFF"/>
                    </a:solidFill>
                  </a:tcPr>
                </a:tc>
                <a:tc>
                  <a:txBody>
                    <a:bodyPr/>
                    <a:lstStyle/>
                    <a:p>
                      <a:pPr algn="ctr"/>
                      <a:r>
                        <a:rPr sz="960" b="0">
                          <a:solidFill>
                            <a:srgbClr val="252F3D"/>
                          </a:solidFill>
                          <a:latin typeface="Calibri"/>
                        </a:rPr>
                        <a:t>81.6</a:t>
                      </a:r>
                    </a:p>
                  </a:txBody>
                  <a:tcPr marL="54864" marR="54864" marT="9144" marB="9144" anchor="ctr">
                    <a:solidFill>
                      <a:srgbClr val="FFFFFF"/>
                    </a:solidFill>
                  </a:tcPr>
                </a:tc>
                <a:tc>
                  <a:txBody>
                    <a:bodyPr/>
                    <a:lstStyle/>
                    <a:p>
                      <a:pPr algn="ctr"/>
                      <a:r>
                        <a:rPr sz="960" b="0">
                          <a:solidFill>
                            <a:srgbClr val="252F3D"/>
                          </a:solidFill>
                          <a:latin typeface="Calibri"/>
                        </a:rPr>
                        <a:t>90.2</a:t>
                      </a:r>
                    </a:p>
                  </a:txBody>
                  <a:tcPr marL="54864" marR="54864" marT="9144" marB="9144" anchor="ctr">
                    <a:solidFill>
                      <a:srgbClr val="FFFFFF"/>
                    </a:solidFill>
                  </a:tcPr>
                </a:tc>
                <a:tc>
                  <a:txBody>
                    <a:bodyPr/>
                    <a:lstStyle/>
                    <a:p>
                      <a:pPr algn="ctr"/>
                      <a:r>
                        <a:rPr sz="960" b="0">
                          <a:solidFill>
                            <a:srgbClr val="252F3D"/>
                          </a:solidFill>
                          <a:latin typeface="Calibri"/>
                        </a:rPr>
                        <a:t>78.3</a:t>
                      </a:r>
                    </a:p>
                  </a:txBody>
                  <a:tcPr marL="54864" marR="54864" marT="9144" marB="9144" anchor="ctr">
                    <a:solidFill>
                      <a:srgbClr val="FFFFFF"/>
                    </a:solidFill>
                  </a:tcPr>
                </a:tc>
                <a:tc>
                  <a:txBody>
                    <a:bodyPr/>
                    <a:lstStyle/>
                    <a:p>
                      <a:pPr algn="ctr"/>
                      <a:r>
                        <a:rPr sz="960" b="0">
                          <a:solidFill>
                            <a:srgbClr val="252F3D"/>
                          </a:solidFill>
                          <a:latin typeface="Calibri"/>
                        </a:rPr>
                        <a:t>+31.0 %</a:t>
                      </a:r>
                    </a:p>
                  </a:txBody>
                  <a:tcPr marL="54864" marR="54864" marT="9144" marB="9144" anchor="ctr">
                    <a:solidFill>
                      <a:srgbClr val="FFFFFF"/>
                    </a:solidFill>
                  </a:tcPr>
                </a:tc>
              </a:tr>
              <a:tr h="214884">
                <a:tc>
                  <a:txBody>
                    <a:bodyPr/>
                    <a:lstStyle/>
                    <a:p>
                      <a:pPr algn="l"/>
                      <a:r>
                        <a:rPr sz="960" b="1">
                          <a:solidFill>
                            <a:srgbClr val="252F3D"/>
                          </a:solidFill>
                          <a:latin typeface="Calibri"/>
                        </a:rPr>
                        <a:t>LSTM-only  (best deep)</a:t>
                      </a:r>
                    </a:p>
                  </a:txBody>
                  <a:tcPr marL="54864" marR="54864" marT="9144" marB="9144" anchor="ctr">
                    <a:solidFill>
                      <a:srgbClr val="FDF0E7"/>
                    </a:solidFill>
                  </a:tcPr>
                </a:tc>
                <a:tc>
                  <a:txBody>
                    <a:bodyPr/>
                    <a:lstStyle/>
                    <a:p>
                      <a:pPr algn="ctr"/>
                      <a:r>
                        <a:rPr sz="960" b="1">
                          <a:solidFill>
                            <a:srgbClr val="252F3D"/>
                          </a:solidFill>
                          <a:latin typeface="Calibri"/>
                        </a:rPr>
                        <a:t>72.4</a:t>
                      </a:r>
                    </a:p>
                  </a:txBody>
                  <a:tcPr marL="54864" marR="54864" marT="9144" marB="9144" anchor="ctr">
                    <a:solidFill>
                      <a:srgbClr val="FDF0E7"/>
                    </a:solidFill>
                  </a:tcPr>
                </a:tc>
                <a:tc>
                  <a:txBody>
                    <a:bodyPr/>
                    <a:lstStyle/>
                    <a:p>
                      <a:pPr algn="ctr"/>
                      <a:r>
                        <a:rPr sz="960" b="1">
                          <a:solidFill>
                            <a:srgbClr val="252F3D"/>
                          </a:solidFill>
                          <a:latin typeface="Calibri"/>
                        </a:rPr>
                        <a:t>82.7</a:t>
                      </a:r>
                    </a:p>
                  </a:txBody>
                  <a:tcPr marL="54864" marR="54864" marT="9144" marB="9144" anchor="ctr">
                    <a:solidFill>
                      <a:srgbClr val="FDF0E7"/>
                    </a:solidFill>
                  </a:tcPr>
                </a:tc>
                <a:tc>
                  <a:txBody>
                    <a:bodyPr/>
                    <a:lstStyle/>
                    <a:p>
                      <a:pPr algn="ctr"/>
                      <a:r>
                        <a:rPr sz="960" b="1">
                          <a:solidFill>
                            <a:srgbClr val="252F3D"/>
                          </a:solidFill>
                          <a:latin typeface="Calibri"/>
                        </a:rPr>
                        <a:t>92.7</a:t>
                      </a:r>
                    </a:p>
                  </a:txBody>
                  <a:tcPr marL="54864" marR="54864" marT="9144" marB="9144" anchor="ctr">
                    <a:solidFill>
                      <a:srgbClr val="FDF0E7"/>
                    </a:solidFill>
                  </a:tcPr>
                </a:tc>
                <a:tc>
                  <a:txBody>
                    <a:bodyPr/>
                    <a:lstStyle/>
                    <a:p>
                      <a:pPr algn="ctr"/>
                      <a:r>
                        <a:rPr sz="960" b="1">
                          <a:solidFill>
                            <a:srgbClr val="252F3D"/>
                          </a:solidFill>
                          <a:latin typeface="Calibri"/>
                        </a:rPr>
                        <a:t>82.6</a:t>
                      </a:r>
                    </a:p>
                  </a:txBody>
                  <a:tcPr marL="54864" marR="54864" marT="9144" marB="9144" anchor="ctr">
                    <a:solidFill>
                      <a:srgbClr val="FDF0E7"/>
                    </a:solidFill>
                  </a:tcPr>
                </a:tc>
                <a:tc>
                  <a:txBody>
                    <a:bodyPr/>
                    <a:lstStyle/>
                    <a:p>
                      <a:pPr algn="ctr"/>
                      <a:r>
                        <a:rPr sz="960" b="1">
                          <a:solidFill>
                            <a:srgbClr val="252F3D"/>
                          </a:solidFill>
                          <a:latin typeface="Calibri"/>
                        </a:rPr>
                        <a:t>+27.2 %</a:t>
                      </a:r>
                    </a:p>
                  </a:txBody>
                  <a:tcPr marL="54864" marR="54864" marT="9144" marB="9144" anchor="ctr">
                    <a:solidFill>
                      <a:srgbClr val="FDF0E7"/>
                    </a:solidFill>
                  </a:tcPr>
                </a:tc>
              </a:tr>
              <a:tr h="214884">
                <a:tc>
                  <a:txBody>
                    <a:bodyPr/>
                    <a:lstStyle/>
                    <a:p>
                      <a:pPr algn="l"/>
                      <a:r>
                        <a:rPr sz="960" b="0">
                          <a:solidFill>
                            <a:srgbClr val="252F3D"/>
                          </a:solidFill>
                          <a:latin typeface="Calibri"/>
                        </a:rPr>
                        <a:t>Naive concat fusion</a:t>
                      </a:r>
                    </a:p>
                  </a:txBody>
                  <a:tcPr marL="54864" marR="54864" marT="9144" marB="9144" anchor="ctr">
                    <a:solidFill>
                      <a:srgbClr val="FFFFFF"/>
                    </a:solidFill>
                  </a:tcPr>
                </a:tc>
                <a:tc>
                  <a:txBody>
                    <a:bodyPr/>
                    <a:lstStyle/>
                    <a:p>
                      <a:pPr algn="ctr"/>
                      <a:r>
                        <a:rPr sz="960" b="0">
                          <a:solidFill>
                            <a:srgbClr val="252F3D"/>
                          </a:solidFill>
                          <a:latin typeface="Calibri"/>
                        </a:rPr>
                        <a:t>73.6</a:t>
                      </a:r>
                    </a:p>
                  </a:txBody>
                  <a:tcPr marL="54864" marR="54864" marT="9144" marB="9144" anchor="ctr">
                    <a:solidFill>
                      <a:srgbClr val="FFFFFF"/>
                    </a:solidFill>
                  </a:tcPr>
                </a:tc>
                <a:tc>
                  <a:txBody>
                    <a:bodyPr/>
                    <a:lstStyle/>
                    <a:p>
                      <a:pPr algn="ctr"/>
                      <a:r>
                        <a:rPr sz="960" b="0">
                          <a:solidFill>
                            <a:srgbClr val="252F3D"/>
                          </a:solidFill>
                          <a:latin typeface="Calibri"/>
                        </a:rPr>
                        <a:t>83.9</a:t>
                      </a:r>
                    </a:p>
                  </a:txBody>
                  <a:tcPr marL="54864" marR="54864" marT="9144" marB="9144" anchor="ctr">
                    <a:solidFill>
                      <a:srgbClr val="FFFFFF"/>
                    </a:solidFill>
                  </a:tcPr>
                </a:tc>
                <a:tc>
                  <a:txBody>
                    <a:bodyPr/>
                    <a:lstStyle/>
                    <a:p>
                      <a:pPr algn="ctr"/>
                      <a:r>
                        <a:rPr sz="960" b="0">
                          <a:solidFill>
                            <a:srgbClr val="252F3D"/>
                          </a:solidFill>
                          <a:latin typeface="Calibri"/>
                        </a:rPr>
                        <a:t>92.8</a:t>
                      </a:r>
                    </a:p>
                  </a:txBody>
                  <a:tcPr marL="54864" marR="54864" marT="9144" marB="9144" anchor="ctr">
                    <a:solidFill>
                      <a:srgbClr val="FFFFFF"/>
                    </a:solidFill>
                  </a:tcPr>
                </a:tc>
                <a:tc>
                  <a:txBody>
                    <a:bodyPr/>
                    <a:lstStyle/>
                    <a:p>
                      <a:pPr algn="ctr"/>
                      <a:r>
                        <a:rPr sz="960" b="0">
                          <a:solidFill>
                            <a:srgbClr val="252F3D"/>
                          </a:solidFill>
                          <a:latin typeface="Calibri"/>
                        </a:rPr>
                        <a:t>83.4</a:t>
                      </a:r>
                    </a:p>
                  </a:txBody>
                  <a:tcPr marL="54864" marR="54864" marT="9144" marB="9144" anchor="ctr">
                    <a:solidFill>
                      <a:srgbClr val="FFFFFF"/>
                    </a:solidFill>
                  </a:tcPr>
                </a:tc>
                <a:tc>
                  <a:txBody>
                    <a:bodyPr/>
                    <a:lstStyle/>
                    <a:p>
                      <a:pPr algn="ctr"/>
                      <a:r>
                        <a:rPr sz="960" b="0">
                          <a:solidFill>
                            <a:srgbClr val="252F3D"/>
                          </a:solidFill>
                          <a:latin typeface="Calibri"/>
                        </a:rPr>
                        <a:t>+26.5 %</a:t>
                      </a:r>
                    </a:p>
                  </a:txBody>
                  <a:tcPr marL="54864" marR="54864" marT="9144" marB="9144" anchor="ctr">
                    <a:solidFill>
                      <a:srgbClr val="FFFFFF"/>
                    </a:solidFill>
                  </a:tcPr>
                </a:tc>
              </a:tr>
              <a:tr h="214884">
                <a:tc>
                  <a:txBody>
                    <a:bodyPr/>
                    <a:lstStyle/>
                    <a:p>
                      <a:pPr algn="l"/>
                      <a:r>
                        <a:rPr sz="960" b="0">
                          <a:solidFill>
                            <a:srgbClr val="252F3D"/>
                          </a:solidFill>
                          <a:latin typeface="Calibri"/>
                        </a:rPr>
                        <a:t>Physics-Gated (no ghi_lag1)</a:t>
                      </a:r>
                    </a:p>
                  </a:txBody>
                  <a:tcPr marL="54864" marR="54864" marT="9144" marB="9144" anchor="ctr">
                    <a:solidFill>
                      <a:srgbClr val="F3F5F9"/>
                    </a:solidFill>
                  </a:tcPr>
                </a:tc>
                <a:tc>
                  <a:txBody>
                    <a:bodyPr/>
                    <a:lstStyle/>
                    <a:p>
                      <a:pPr algn="ctr"/>
                      <a:r>
                        <a:rPr sz="960" b="0">
                          <a:solidFill>
                            <a:srgbClr val="252F3D"/>
                          </a:solidFill>
                          <a:latin typeface="Calibri"/>
                        </a:rPr>
                        <a:t>76.5</a:t>
                      </a:r>
                    </a:p>
                  </a:txBody>
                  <a:tcPr marL="54864" marR="54864" marT="9144" marB="9144" anchor="ctr">
                    <a:solidFill>
                      <a:srgbClr val="F3F5F9"/>
                    </a:solidFill>
                  </a:tcPr>
                </a:tc>
                <a:tc>
                  <a:txBody>
                    <a:bodyPr/>
                    <a:lstStyle/>
                    <a:p>
                      <a:pPr algn="ctr"/>
                      <a:r>
                        <a:rPr sz="960" b="0">
                          <a:solidFill>
                            <a:srgbClr val="252F3D"/>
                          </a:solidFill>
                          <a:latin typeface="Calibri"/>
                        </a:rPr>
                        <a:t>84.2</a:t>
                      </a:r>
                    </a:p>
                  </a:txBody>
                  <a:tcPr marL="54864" marR="54864" marT="9144" marB="9144" anchor="ctr">
                    <a:solidFill>
                      <a:srgbClr val="F3F5F9"/>
                    </a:solidFill>
                  </a:tcPr>
                </a:tc>
                <a:tc>
                  <a:txBody>
                    <a:bodyPr/>
                    <a:lstStyle/>
                    <a:p>
                      <a:pPr algn="ctr"/>
                      <a:r>
                        <a:rPr sz="960" b="0">
                          <a:solidFill>
                            <a:srgbClr val="252F3D"/>
                          </a:solidFill>
                          <a:latin typeface="Calibri"/>
                        </a:rPr>
                        <a:t>92.4</a:t>
                      </a:r>
                    </a:p>
                  </a:txBody>
                  <a:tcPr marL="54864" marR="54864" marT="9144" marB="9144" anchor="ctr">
                    <a:solidFill>
                      <a:srgbClr val="F3F5F9"/>
                    </a:solidFill>
                  </a:tcPr>
                </a:tc>
                <a:tc>
                  <a:txBody>
                    <a:bodyPr/>
                    <a:lstStyle/>
                    <a:p>
                      <a:pPr algn="ctr"/>
                      <a:r>
                        <a:rPr sz="960" b="0">
                          <a:solidFill>
                            <a:srgbClr val="252F3D"/>
                          </a:solidFill>
                          <a:latin typeface="Calibri"/>
                        </a:rPr>
                        <a:t>84.4</a:t>
                      </a:r>
                    </a:p>
                  </a:txBody>
                  <a:tcPr marL="54864" marR="54864" marT="9144" marB="9144" anchor="ctr">
                    <a:solidFill>
                      <a:srgbClr val="F3F5F9"/>
                    </a:solidFill>
                  </a:tcPr>
                </a:tc>
                <a:tc>
                  <a:txBody>
                    <a:bodyPr/>
                    <a:lstStyle/>
                    <a:p>
                      <a:pPr algn="ctr"/>
                      <a:r>
                        <a:rPr sz="960" b="0">
                          <a:solidFill>
                            <a:srgbClr val="252F3D"/>
                          </a:solidFill>
                          <a:latin typeface="Calibri"/>
                        </a:rPr>
                        <a:t>+25.6 %</a:t>
                      </a:r>
                    </a:p>
                  </a:txBody>
                  <a:tcPr marL="54864" marR="54864" marT="9144" marB="9144" anchor="ctr">
                    <a:solidFill>
                      <a:srgbClr val="F3F5F9"/>
                    </a:solidFill>
                  </a:tcPr>
                </a:tc>
              </a:tr>
              <a:tr h="214884">
                <a:tc>
                  <a:txBody>
                    <a:bodyPr/>
                    <a:lstStyle/>
                    <a:p>
                      <a:pPr algn="l"/>
                      <a:r>
                        <a:rPr sz="960" b="0">
                          <a:solidFill>
                            <a:srgbClr val="252F3D"/>
                          </a:solidFill>
                          <a:latin typeface="Calibri"/>
                        </a:rPr>
                        <a:t>Image + temporal query</a:t>
                      </a:r>
                    </a:p>
                  </a:txBody>
                  <a:tcPr marL="54864" marR="54864" marT="9144" marB="9144" anchor="ctr">
                    <a:solidFill>
                      <a:srgbClr val="FFFFFF"/>
                    </a:solidFill>
                  </a:tcPr>
                </a:tc>
                <a:tc>
                  <a:txBody>
                    <a:bodyPr/>
                    <a:lstStyle/>
                    <a:p>
                      <a:pPr algn="ctr"/>
                      <a:r>
                        <a:rPr sz="960" b="0">
                          <a:solidFill>
                            <a:srgbClr val="252F3D"/>
                          </a:solidFill>
                          <a:latin typeface="Calibri"/>
                        </a:rPr>
                        <a:t>73.8</a:t>
                      </a:r>
                    </a:p>
                  </a:txBody>
                  <a:tcPr marL="54864" marR="54864" marT="9144" marB="9144" anchor="ctr">
                    <a:solidFill>
                      <a:srgbClr val="FFFFFF"/>
                    </a:solidFill>
                  </a:tcPr>
                </a:tc>
                <a:tc>
                  <a:txBody>
                    <a:bodyPr/>
                    <a:lstStyle/>
                    <a:p>
                      <a:pPr algn="ctr"/>
                      <a:r>
                        <a:rPr sz="960" b="0">
                          <a:solidFill>
                            <a:srgbClr val="252F3D"/>
                          </a:solidFill>
                          <a:latin typeface="Calibri"/>
                        </a:rPr>
                        <a:t>86.2</a:t>
                      </a:r>
                    </a:p>
                  </a:txBody>
                  <a:tcPr marL="54864" marR="54864" marT="9144" marB="9144" anchor="ctr">
                    <a:solidFill>
                      <a:srgbClr val="FFFFFF"/>
                    </a:solidFill>
                  </a:tcPr>
                </a:tc>
                <a:tc>
                  <a:txBody>
                    <a:bodyPr/>
                    <a:lstStyle/>
                    <a:p>
                      <a:pPr algn="ctr"/>
                      <a:r>
                        <a:rPr sz="960" b="0">
                          <a:solidFill>
                            <a:srgbClr val="252F3D"/>
                          </a:solidFill>
                          <a:latin typeface="Calibri"/>
                        </a:rPr>
                        <a:t>93.5</a:t>
                      </a:r>
                    </a:p>
                  </a:txBody>
                  <a:tcPr marL="54864" marR="54864" marT="9144" marB="9144" anchor="ctr">
                    <a:solidFill>
                      <a:srgbClr val="FFFFFF"/>
                    </a:solidFill>
                  </a:tcPr>
                </a:tc>
                <a:tc>
                  <a:txBody>
                    <a:bodyPr/>
                    <a:lstStyle/>
                    <a:p>
                      <a:pPr algn="ctr"/>
                      <a:r>
                        <a:rPr sz="960" b="0">
                          <a:solidFill>
                            <a:srgbClr val="252F3D"/>
                          </a:solidFill>
                          <a:latin typeface="Calibri"/>
                        </a:rPr>
                        <a:t>84.5</a:t>
                      </a:r>
                    </a:p>
                  </a:txBody>
                  <a:tcPr marL="54864" marR="54864" marT="9144" marB="9144" anchor="ctr">
                    <a:solidFill>
                      <a:srgbClr val="FFFFFF"/>
                    </a:solidFill>
                  </a:tcPr>
                </a:tc>
                <a:tc>
                  <a:txBody>
                    <a:bodyPr/>
                    <a:lstStyle/>
                    <a:p>
                      <a:pPr algn="ctr"/>
                      <a:r>
                        <a:rPr sz="960" b="0">
                          <a:solidFill>
                            <a:srgbClr val="252F3D"/>
                          </a:solidFill>
                          <a:latin typeface="Calibri"/>
                        </a:rPr>
                        <a:t>+25.5 %</a:t>
                      </a:r>
                    </a:p>
                  </a:txBody>
                  <a:tcPr marL="54864" marR="54864" marT="9144" marB="9144" anchor="ctr">
                    <a:solidFill>
                      <a:srgbClr val="FFFFFF"/>
                    </a:solidFill>
                  </a:tcPr>
                </a:tc>
              </a:tr>
              <a:tr h="214884">
                <a:tc>
                  <a:txBody>
                    <a:bodyPr/>
                    <a:lstStyle/>
                    <a:p>
                      <a:pPr algn="l"/>
                      <a:r>
                        <a:rPr sz="960" b="1">
                          <a:solidFill>
                            <a:srgbClr val="C4622D"/>
                          </a:solidFill>
                          <a:latin typeface="Calibri"/>
                        </a:rPr>
                        <a:t>Physics-Gated (large) ★</a:t>
                      </a:r>
                    </a:p>
                  </a:txBody>
                  <a:tcPr marL="54864" marR="54864" marT="9144" marB="9144" anchor="ctr">
                    <a:solidFill>
                      <a:srgbClr val="FDF0E7"/>
                    </a:solidFill>
                  </a:tcPr>
                </a:tc>
                <a:tc>
                  <a:txBody>
                    <a:bodyPr/>
                    <a:lstStyle/>
                    <a:p>
                      <a:pPr algn="ctr"/>
                      <a:r>
                        <a:rPr sz="960" b="1">
                          <a:solidFill>
                            <a:srgbClr val="252F3D"/>
                          </a:solidFill>
                          <a:latin typeface="Calibri"/>
                        </a:rPr>
                        <a:t>78.5</a:t>
                      </a:r>
                    </a:p>
                  </a:txBody>
                  <a:tcPr marL="54864" marR="54864" marT="9144" marB="9144" anchor="ctr">
                    <a:solidFill>
                      <a:srgbClr val="FDF0E7"/>
                    </a:solidFill>
                  </a:tcPr>
                </a:tc>
                <a:tc>
                  <a:txBody>
                    <a:bodyPr/>
                    <a:lstStyle/>
                    <a:p>
                      <a:pPr algn="ctr"/>
                      <a:r>
                        <a:rPr sz="960" b="1">
                          <a:solidFill>
                            <a:srgbClr val="252F3D"/>
                          </a:solidFill>
                          <a:latin typeface="Calibri"/>
                        </a:rPr>
                        <a:t>86.0</a:t>
                      </a:r>
                    </a:p>
                  </a:txBody>
                  <a:tcPr marL="54864" marR="54864" marT="9144" marB="9144" anchor="ctr">
                    <a:solidFill>
                      <a:srgbClr val="FDF0E7"/>
                    </a:solidFill>
                  </a:tcPr>
                </a:tc>
                <a:tc>
                  <a:txBody>
                    <a:bodyPr/>
                    <a:lstStyle/>
                    <a:p>
                      <a:pPr algn="ctr"/>
                      <a:r>
                        <a:rPr sz="960" b="1">
                          <a:solidFill>
                            <a:srgbClr val="252F3D"/>
                          </a:solidFill>
                          <a:latin typeface="Calibri"/>
                        </a:rPr>
                        <a:t>95.0</a:t>
                      </a:r>
                    </a:p>
                  </a:txBody>
                  <a:tcPr marL="54864" marR="54864" marT="9144" marB="9144" anchor="ctr">
                    <a:solidFill>
                      <a:srgbClr val="FDF0E7"/>
                    </a:solidFill>
                  </a:tcPr>
                </a:tc>
                <a:tc>
                  <a:txBody>
                    <a:bodyPr/>
                    <a:lstStyle/>
                    <a:p>
                      <a:pPr algn="ctr"/>
                      <a:r>
                        <a:rPr sz="960" b="1">
                          <a:solidFill>
                            <a:srgbClr val="252F3D"/>
                          </a:solidFill>
                          <a:latin typeface="Calibri"/>
                        </a:rPr>
                        <a:t>86.5</a:t>
                      </a:r>
                    </a:p>
                  </a:txBody>
                  <a:tcPr marL="54864" marR="54864" marT="9144" marB="9144" anchor="ctr">
                    <a:solidFill>
                      <a:srgbClr val="FDF0E7"/>
                    </a:solidFill>
                  </a:tcPr>
                </a:tc>
                <a:tc>
                  <a:txBody>
                    <a:bodyPr/>
                    <a:lstStyle/>
                    <a:p>
                      <a:pPr algn="ctr"/>
                      <a:r>
                        <a:rPr sz="960" b="1">
                          <a:solidFill>
                            <a:srgbClr val="252F3D"/>
                          </a:solidFill>
                          <a:latin typeface="Calibri"/>
                        </a:rPr>
                        <a:t>+23.8 %</a:t>
                      </a:r>
                    </a:p>
                  </a:txBody>
                  <a:tcPr marL="54864" marR="54864" marT="9144" marB="9144" anchor="ctr">
                    <a:solidFill>
                      <a:srgbClr val="FDF0E7"/>
                    </a:solidFill>
                  </a:tcPr>
                </a:tc>
              </a:tr>
              <a:tr h="214884">
                <a:tc>
                  <a:txBody>
                    <a:bodyPr/>
                    <a:lstStyle/>
                    <a:p>
                      <a:pPr algn="l"/>
                      <a:r>
                        <a:rPr sz="960" b="0">
                          <a:solidFill>
                            <a:srgbClr val="252F3D"/>
                          </a:solidFill>
                          <a:latin typeface="Calibri"/>
                        </a:rPr>
                        <a:t>Physics-Gated (small)</a:t>
                      </a:r>
                    </a:p>
                  </a:txBody>
                  <a:tcPr marL="54864" marR="54864" marT="9144" marB="9144" anchor="ctr">
                    <a:solidFill>
                      <a:srgbClr val="FFFFFF"/>
                    </a:solidFill>
                  </a:tcPr>
                </a:tc>
                <a:tc>
                  <a:txBody>
                    <a:bodyPr/>
                    <a:lstStyle/>
                    <a:p>
                      <a:pPr algn="ctr"/>
                      <a:r>
                        <a:rPr sz="960" b="0">
                          <a:solidFill>
                            <a:srgbClr val="252F3D"/>
                          </a:solidFill>
                          <a:latin typeface="Calibri"/>
                        </a:rPr>
                        <a:t>101.1</a:t>
                      </a:r>
                    </a:p>
                  </a:txBody>
                  <a:tcPr marL="54864" marR="54864" marT="9144" marB="9144" anchor="ctr">
                    <a:solidFill>
                      <a:srgbClr val="FFFFFF"/>
                    </a:solidFill>
                  </a:tcPr>
                </a:tc>
                <a:tc>
                  <a:txBody>
                    <a:bodyPr/>
                    <a:lstStyle/>
                    <a:p>
                      <a:pPr algn="ctr"/>
                      <a:r>
                        <a:rPr sz="960" b="0">
                          <a:solidFill>
                            <a:srgbClr val="252F3D"/>
                          </a:solidFill>
                          <a:latin typeface="Calibri"/>
                        </a:rPr>
                        <a:t>105.9</a:t>
                      </a:r>
                    </a:p>
                  </a:txBody>
                  <a:tcPr marL="54864" marR="54864" marT="9144" marB="9144" anchor="ctr">
                    <a:solidFill>
                      <a:srgbClr val="FFFFFF"/>
                    </a:solidFill>
                  </a:tcPr>
                </a:tc>
                <a:tc>
                  <a:txBody>
                    <a:bodyPr/>
                    <a:lstStyle/>
                    <a:p>
                      <a:pPr algn="ctr"/>
                      <a:r>
                        <a:rPr sz="960" b="0">
                          <a:solidFill>
                            <a:srgbClr val="252F3D"/>
                          </a:solidFill>
                          <a:latin typeface="Calibri"/>
                        </a:rPr>
                        <a:t>109.5</a:t>
                      </a:r>
                    </a:p>
                  </a:txBody>
                  <a:tcPr marL="54864" marR="54864" marT="9144" marB="9144" anchor="ctr">
                    <a:solidFill>
                      <a:srgbClr val="FFFFFF"/>
                    </a:solidFill>
                  </a:tcPr>
                </a:tc>
                <a:tc>
                  <a:txBody>
                    <a:bodyPr/>
                    <a:lstStyle/>
                    <a:p>
                      <a:pPr algn="ctr"/>
                      <a:r>
                        <a:rPr sz="960" b="0">
                          <a:solidFill>
                            <a:srgbClr val="252F3D"/>
                          </a:solidFill>
                          <a:latin typeface="Calibri"/>
                        </a:rPr>
                        <a:t>105.5</a:t>
                      </a:r>
                    </a:p>
                  </a:txBody>
                  <a:tcPr marL="54864" marR="54864" marT="9144" marB="9144" anchor="ctr">
                    <a:solidFill>
                      <a:srgbClr val="FFFFFF"/>
                    </a:solidFill>
                  </a:tcPr>
                </a:tc>
                <a:tc>
                  <a:txBody>
                    <a:bodyPr/>
                    <a:lstStyle/>
                    <a:p>
                      <a:pPr algn="ctr"/>
                      <a:r>
                        <a:rPr sz="960" b="0">
                          <a:solidFill>
                            <a:srgbClr val="252F3D"/>
                          </a:solidFill>
                          <a:latin typeface="Calibri"/>
                        </a:rPr>
                        <a:t>+7.0 %</a:t>
                      </a:r>
                    </a:p>
                  </a:txBody>
                  <a:tcPr marL="54864" marR="54864" marT="9144" marB="9144" anchor="ctr">
                    <a:solidFill>
                      <a:srgbClr val="FFFFFF"/>
                    </a:solidFill>
                  </a:tcPr>
                </a:tc>
              </a:tr>
              <a:tr h="214884">
                <a:tc>
                  <a:txBody>
                    <a:bodyPr/>
                    <a:lstStyle/>
                    <a:p>
                      <a:pPr algn="l"/>
                      <a:r>
                        <a:rPr sz="960" b="0">
                          <a:solidFill>
                            <a:srgbClr val="252F3D"/>
                          </a:solidFill>
                          <a:latin typeface="Calibri"/>
                        </a:rPr>
                        <a:t>Linear Regression</a:t>
                      </a:r>
                    </a:p>
                  </a:txBody>
                  <a:tcPr marL="54864" marR="54864" marT="9144" marB="9144" anchor="ctr">
                    <a:solidFill>
                      <a:srgbClr val="F3F5F9"/>
                    </a:solidFill>
                  </a:tcPr>
                </a:tc>
                <a:tc>
                  <a:txBody>
                    <a:bodyPr/>
                    <a:lstStyle/>
                    <a:p>
                      <a:pPr algn="ctr"/>
                      <a:r>
                        <a:rPr sz="960" b="0">
                          <a:solidFill>
                            <a:srgbClr val="252F3D"/>
                          </a:solidFill>
                          <a:latin typeface="Calibri"/>
                        </a:rPr>
                        <a:t>83.7</a:t>
                      </a:r>
                    </a:p>
                  </a:txBody>
                  <a:tcPr marL="54864" marR="54864" marT="9144" marB="9144" anchor="ctr">
                    <a:solidFill>
                      <a:srgbClr val="F3F5F9"/>
                    </a:solidFill>
                  </a:tcPr>
                </a:tc>
                <a:tc>
                  <a:txBody>
                    <a:bodyPr/>
                    <a:lstStyle/>
                    <a:p>
                      <a:pPr algn="ctr"/>
                      <a:r>
                        <a:rPr sz="960" b="0">
                          <a:solidFill>
                            <a:srgbClr val="252F3D"/>
                          </a:solidFill>
                          <a:latin typeface="Calibri"/>
                        </a:rPr>
                        <a:t>107.5</a:t>
                      </a:r>
                    </a:p>
                  </a:txBody>
                  <a:tcPr marL="54864" marR="54864" marT="9144" marB="9144" anchor="ctr">
                    <a:solidFill>
                      <a:srgbClr val="F3F5F9"/>
                    </a:solidFill>
                  </a:tcPr>
                </a:tc>
                <a:tc>
                  <a:txBody>
                    <a:bodyPr/>
                    <a:lstStyle/>
                    <a:p>
                      <a:pPr algn="ctr"/>
                      <a:r>
                        <a:rPr sz="960" b="0">
                          <a:solidFill>
                            <a:srgbClr val="252F3D"/>
                          </a:solidFill>
                          <a:latin typeface="Calibri"/>
                        </a:rPr>
                        <a:t>123.7</a:t>
                      </a:r>
                    </a:p>
                  </a:txBody>
                  <a:tcPr marL="54864" marR="54864" marT="9144" marB="9144" anchor="ctr">
                    <a:solidFill>
                      <a:srgbClr val="F3F5F9"/>
                    </a:solidFill>
                  </a:tcPr>
                </a:tc>
                <a:tc>
                  <a:txBody>
                    <a:bodyPr/>
                    <a:lstStyle/>
                    <a:p>
                      <a:pPr algn="ctr"/>
                      <a:r>
                        <a:rPr sz="960" b="0">
                          <a:solidFill>
                            <a:srgbClr val="252F3D"/>
                          </a:solidFill>
                          <a:latin typeface="Calibri"/>
                        </a:rPr>
                        <a:t>105.0</a:t>
                      </a:r>
                    </a:p>
                  </a:txBody>
                  <a:tcPr marL="54864" marR="54864" marT="9144" marB="9144" anchor="ctr">
                    <a:solidFill>
                      <a:srgbClr val="F3F5F9"/>
                    </a:solidFill>
                  </a:tcPr>
                </a:tc>
                <a:tc>
                  <a:txBody>
                    <a:bodyPr/>
                    <a:lstStyle/>
                    <a:p>
                      <a:pPr algn="ctr"/>
                      <a:r>
                        <a:rPr sz="960" b="0">
                          <a:solidFill>
                            <a:srgbClr val="252F3D"/>
                          </a:solidFill>
                          <a:latin typeface="Calibri"/>
                        </a:rPr>
                        <a:t>+7.5 %</a:t>
                      </a:r>
                    </a:p>
                  </a:txBody>
                  <a:tcPr marL="54864" marR="54864" marT="9144" marB="9144" anchor="ctr">
                    <a:solidFill>
                      <a:srgbClr val="F3F5F9"/>
                    </a:solidFill>
                  </a:tcPr>
                </a:tc>
              </a:tr>
              <a:tr h="214884">
                <a:tc>
                  <a:txBody>
                    <a:bodyPr/>
                    <a:lstStyle/>
                    <a:p>
                      <a:pPr algn="l"/>
                      <a:r>
                        <a:rPr sz="960" b="0">
                          <a:solidFill>
                            <a:srgbClr val="6B7280"/>
                          </a:solidFill>
                          <a:latin typeface="Calibri"/>
                        </a:rPr>
                        <a:t>Smart persistence</a:t>
                      </a:r>
                    </a:p>
                  </a:txBody>
                  <a:tcPr marL="54864" marR="54864" marT="9144" marB="9144" anchor="ctr">
                    <a:solidFill>
                      <a:srgbClr val="FFFFFF"/>
                    </a:solidFill>
                  </a:tcPr>
                </a:tc>
                <a:tc>
                  <a:txBody>
                    <a:bodyPr/>
                    <a:lstStyle/>
                    <a:p>
                      <a:pPr algn="ctr"/>
                      <a:r>
                        <a:rPr sz="960" b="0">
                          <a:solidFill>
                            <a:srgbClr val="252F3D"/>
                          </a:solidFill>
                          <a:latin typeface="Calibri"/>
                        </a:rPr>
                        <a:t>78.9</a:t>
                      </a:r>
                    </a:p>
                  </a:txBody>
                  <a:tcPr marL="54864" marR="54864" marT="9144" marB="9144" anchor="ctr">
                    <a:solidFill>
                      <a:srgbClr val="FFFFFF"/>
                    </a:solidFill>
                  </a:tcPr>
                </a:tc>
                <a:tc>
                  <a:txBody>
                    <a:bodyPr/>
                    <a:lstStyle/>
                    <a:p>
                      <a:pPr algn="ctr"/>
                      <a:r>
                        <a:rPr sz="960" b="0">
                          <a:solidFill>
                            <a:srgbClr val="252F3D"/>
                          </a:solidFill>
                          <a:latin typeface="Calibri"/>
                        </a:rPr>
                        <a:t>117.5</a:t>
                      </a:r>
                    </a:p>
                  </a:txBody>
                  <a:tcPr marL="54864" marR="54864" marT="9144" marB="9144" anchor="ctr">
                    <a:solidFill>
                      <a:srgbClr val="FFFFFF"/>
                    </a:solidFill>
                  </a:tcPr>
                </a:tc>
                <a:tc>
                  <a:txBody>
                    <a:bodyPr/>
                    <a:lstStyle/>
                    <a:p>
                      <a:pPr algn="ctr"/>
                      <a:r>
                        <a:rPr sz="960" b="0">
                          <a:solidFill>
                            <a:srgbClr val="252F3D"/>
                          </a:solidFill>
                          <a:latin typeface="Calibri"/>
                        </a:rPr>
                        <a:t>143.9</a:t>
                      </a:r>
                    </a:p>
                  </a:txBody>
                  <a:tcPr marL="54864" marR="54864" marT="9144" marB="9144" anchor="ctr">
                    <a:solidFill>
                      <a:srgbClr val="FFFFFF"/>
                    </a:solidFill>
                  </a:tcPr>
                </a:tc>
                <a:tc>
                  <a:txBody>
                    <a:bodyPr/>
                    <a:lstStyle/>
                    <a:p>
                      <a:pPr algn="ctr"/>
                      <a:r>
                        <a:rPr sz="960" b="0">
                          <a:solidFill>
                            <a:srgbClr val="252F3D"/>
                          </a:solidFill>
                          <a:latin typeface="Calibri"/>
                        </a:rPr>
                        <a:t>113.5</a:t>
                      </a:r>
                    </a:p>
                  </a:txBody>
                  <a:tcPr marL="54864" marR="54864" marT="9144" marB="9144" anchor="ctr">
                    <a:solidFill>
                      <a:srgbClr val="FFFFFF"/>
                    </a:solidFill>
                  </a:tcPr>
                </a:tc>
                <a:tc>
                  <a:txBody>
                    <a:bodyPr/>
                    <a:lstStyle/>
                    <a:p>
                      <a:pPr algn="ctr"/>
                      <a:r>
                        <a:rPr sz="960" b="0">
                          <a:solidFill>
                            <a:srgbClr val="252F3D"/>
                          </a:solidFill>
                          <a:latin typeface="Calibri"/>
                        </a:rPr>
                        <a:t>0</a:t>
                      </a:r>
                    </a:p>
                  </a:txBody>
                  <a:tcPr marL="54864" marR="54864" marT="9144" marB="9144" anchor="ctr">
                    <a:solidFill>
                      <a:srgbClr val="FFFFFF"/>
                    </a:solidFill>
                  </a:tcPr>
                </a:tc>
              </a:tr>
              <a:tr h="214884">
                <a:tc>
                  <a:txBody>
                    <a:bodyPr/>
                    <a:lstStyle/>
                    <a:p>
                      <a:pPr algn="l"/>
                      <a:r>
                        <a:rPr sz="960" b="0">
                          <a:solidFill>
                            <a:srgbClr val="6B7280"/>
                          </a:solidFill>
                          <a:latin typeface="Calibri"/>
                        </a:rPr>
                        <a:t>Persistence</a:t>
                      </a:r>
                    </a:p>
                  </a:txBody>
                  <a:tcPr marL="54864" marR="54864" marT="9144" marB="9144" anchor="ctr">
                    <a:solidFill>
                      <a:srgbClr val="F3F5F9"/>
                    </a:solidFill>
                  </a:tcPr>
                </a:tc>
                <a:tc>
                  <a:txBody>
                    <a:bodyPr/>
                    <a:lstStyle/>
                    <a:p>
                      <a:pPr algn="ctr"/>
                      <a:r>
                        <a:rPr sz="960" b="0">
                          <a:solidFill>
                            <a:srgbClr val="252F3D"/>
                          </a:solidFill>
                          <a:latin typeface="Calibri"/>
                        </a:rPr>
                        <a:t>155.7</a:t>
                      </a:r>
                    </a:p>
                  </a:txBody>
                  <a:tcPr marL="54864" marR="54864" marT="9144" marB="9144" anchor="ctr">
                    <a:solidFill>
                      <a:srgbClr val="F3F5F9"/>
                    </a:solidFill>
                  </a:tcPr>
                </a:tc>
                <a:tc>
                  <a:txBody>
                    <a:bodyPr/>
                    <a:lstStyle/>
                    <a:p>
                      <a:pPr algn="ctr"/>
                      <a:r>
                        <a:rPr sz="960" b="0">
                          <a:solidFill>
                            <a:srgbClr val="252F3D"/>
                          </a:solidFill>
                          <a:latin typeface="Calibri"/>
                        </a:rPr>
                        <a:t>253.9</a:t>
                      </a:r>
                    </a:p>
                  </a:txBody>
                  <a:tcPr marL="54864" marR="54864" marT="9144" marB="9144" anchor="ctr">
                    <a:solidFill>
                      <a:srgbClr val="F3F5F9"/>
                    </a:solidFill>
                  </a:tcPr>
                </a:tc>
                <a:tc>
                  <a:txBody>
                    <a:bodyPr/>
                    <a:lstStyle/>
                    <a:p>
                      <a:pPr algn="ctr"/>
                      <a:r>
                        <a:rPr sz="960" b="0">
                          <a:solidFill>
                            <a:srgbClr val="252F3D"/>
                          </a:solidFill>
                          <a:latin typeface="Calibri"/>
                        </a:rPr>
                        <a:t>316.5</a:t>
                      </a:r>
                    </a:p>
                  </a:txBody>
                  <a:tcPr marL="54864" marR="54864" marT="9144" marB="9144" anchor="ctr">
                    <a:solidFill>
                      <a:srgbClr val="F3F5F9"/>
                    </a:solidFill>
                  </a:tcPr>
                </a:tc>
                <a:tc>
                  <a:txBody>
                    <a:bodyPr/>
                    <a:lstStyle/>
                    <a:p>
                      <a:pPr algn="ctr"/>
                      <a:r>
                        <a:rPr sz="960" b="0">
                          <a:solidFill>
                            <a:srgbClr val="252F3D"/>
                          </a:solidFill>
                          <a:latin typeface="Calibri"/>
                        </a:rPr>
                        <a:t>242.0</a:t>
                      </a:r>
                    </a:p>
                  </a:txBody>
                  <a:tcPr marL="54864" marR="54864" marT="9144" marB="9144" anchor="ctr">
                    <a:solidFill>
                      <a:srgbClr val="F3F5F9"/>
                    </a:solidFill>
                  </a:tcPr>
                </a:tc>
                <a:tc>
                  <a:txBody>
                    <a:bodyPr/>
                    <a:lstStyle/>
                    <a:p>
                      <a:pPr algn="ctr"/>
                      <a:r>
                        <a:rPr sz="960" b="0">
                          <a:solidFill>
                            <a:srgbClr val="252F3D"/>
                          </a:solidFill>
                          <a:latin typeface="Calibri"/>
                        </a:rPr>
                        <a:t>−113 %</a:t>
                      </a:r>
                    </a:p>
                  </a:txBody>
                  <a:tcPr marL="54864" marR="54864" marT="9144" marB="9144" anchor="ctr">
                    <a:solidFill>
                      <a:srgbClr val="F3F5F9"/>
                    </a:solidFill>
                  </a:tcPr>
                </a:tc>
              </a:tr>
            </a:tbl>
          </a:graphicData>
        </a:graphic>
      </p:graphicFrame>
      <p:sp>
        <p:nvSpPr>
          <p:cNvPr id="9" name="TextBox 8"/>
          <p:cNvSpPr txBox="1"/>
          <p:nvPr/>
        </p:nvSpPr>
        <p:spPr>
          <a:xfrm>
            <a:off x="502920" y="4041648"/>
            <a:ext cx="617220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MAE in W/m² on the 914 imaged validation samples, 2025-11-03 → 2026-02-03. Skill = 1 − MAE / MAE(smart persistence) on the mean over the three horizons.</a:t>
            </a:r>
          </a:p>
        </p:txBody>
      </p:sp>
      <p:pic>
        <p:nvPicPr>
          <p:cNvPr id="10" name="Picture 9" descr="f11_horizon.png"/>
          <p:cNvPicPr>
            <a:picLocks noChangeAspect="1"/>
          </p:cNvPicPr>
          <p:nvPr/>
        </p:nvPicPr>
        <p:blipFill>
          <a:blip r:embed="rId2"/>
          <a:stretch>
            <a:fillRect/>
          </a:stretch>
        </p:blipFill>
        <p:spPr>
          <a:xfrm>
            <a:off x="7086600" y="1298448"/>
            <a:ext cx="4480560" cy="2693167"/>
          </a:xfrm>
          <a:prstGeom prst="rect">
            <a:avLst/>
          </a:prstGeom>
        </p:spPr>
      </p:pic>
      <p:sp>
        <p:nvSpPr>
          <p:cNvPr id="11" name="TextBox 10"/>
          <p:cNvSpPr txBox="1"/>
          <p:nvPr/>
        </p:nvSpPr>
        <p:spPr>
          <a:xfrm>
            <a:off x="6903720" y="4041648"/>
            <a:ext cx="480060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Figure 4 — MAE against horizon. The learned models separate from smart persistence immediately and the gap between trees and networks narrows with horizon.</a:t>
            </a:r>
          </a:p>
        </p:txBody>
      </p:sp>
      <p:cxnSp>
        <p:nvCxnSpPr>
          <p:cNvPr id="12" name="Connector 11"/>
          <p:cNvCxnSpPr/>
          <p:nvPr/>
        </p:nvCxnSpPr>
        <p:spPr>
          <a:xfrm>
            <a:off x="502920" y="4434840"/>
            <a:ext cx="11183112" cy="0"/>
          </a:xfrm>
          <a:prstGeom prst="line">
            <a:avLst/>
          </a:prstGeom>
          <a:ln w="10160">
            <a:solidFill>
              <a:srgbClr val="D8DE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2920" y="4553712"/>
            <a:ext cx="5532120" cy="1828800"/>
          </a:xfrm>
          <a:prstGeom prst="rect">
            <a:avLst/>
          </a:prstGeom>
          <a:noFill/>
        </p:spPr>
        <p:txBody>
          <a:bodyPr wrap="square" lIns="0" rIns="0" tIns="0" bIns="0">
            <a:spAutoFit/>
          </a:bodyPr>
          <a:lstStyle/>
          <a:p>
            <a:pPr>
              <a:lnSpc>
                <a:spcPct val="106000"/>
              </a:lnSpc>
              <a:spcBef>
                <a:spcPts val="0"/>
              </a:spcBef>
              <a:spcAft>
                <a:spcPts val="600"/>
              </a:spcAft>
            </a:pPr>
            <a:r>
              <a:rPr sz="950" b="1" i="0">
                <a:solidFill>
                  <a:srgbClr val="2E7D74"/>
                </a:solidFill>
                <a:latin typeface="Calibri"/>
              </a:rPr>
              <a:t>OBSERVATION  </a:t>
            </a:r>
            <a:r>
              <a:rPr sz="1080" b="0" i="0">
                <a:solidFill>
                  <a:srgbClr val="252F3D"/>
                </a:solidFill>
                <a:latin typeface="Calibri"/>
              </a:rPr>
              <a:t>Every learned model beats smart persistence, and the margin widens with horizon.</a:t>
            </a:r>
          </a:p>
          <a:p>
            <a:pPr>
              <a:lnSpc>
                <a:spcPct val="106000"/>
              </a:lnSpc>
              <a:spcBef>
                <a:spcPts val="0"/>
              </a:spcBef>
              <a:spcAft>
                <a:spcPts val="600"/>
              </a:spcAft>
            </a:pPr>
            <a:r>
              <a:rPr sz="950" b="1" i="0">
                <a:solidFill>
                  <a:srgbClr val="2E7D74"/>
                </a:solidFill>
                <a:latin typeface="Calibri"/>
              </a:rPr>
              <a:t>OBSERVATION  </a:t>
            </a:r>
            <a:r>
              <a:rPr sz="1080" b="0" i="0">
                <a:solidFill>
                  <a:srgbClr val="252F3D"/>
                </a:solidFill>
                <a:latin typeface="Calibri"/>
              </a:rPr>
              <a:t>Gradient-boosted trees are the most accurate models here — LightGBM 77.7 vs 86.5 W/m² for the full fusion network, with 0.03 % of its parameters.</a:t>
            </a:r>
          </a:p>
          <a:p>
            <a:pPr>
              <a:lnSpc>
                <a:spcPct val="106000"/>
              </a:lnSpc>
              <a:spcBef>
                <a:spcPts val="0"/>
              </a:spcBef>
              <a:spcAft>
                <a:spcPts val="600"/>
              </a:spcAft>
            </a:pPr>
            <a:r>
              <a:rPr sz="950" b="1" i="0">
                <a:solidFill>
                  <a:srgbClr val="2E7D74"/>
                </a:solidFill>
                <a:latin typeface="Calibri"/>
              </a:rPr>
              <a:t>OBSERVATION  </a:t>
            </a:r>
            <a:r>
              <a:rPr sz="1080" b="0" i="0">
                <a:solidFill>
                  <a:srgbClr val="252F3D"/>
                </a:solidFill>
                <a:latin typeface="Calibri"/>
              </a:rPr>
              <a:t>Among the deep variants the ordering is monotone in how much image machinery is active: LSTM-only 82.6 &lt; concat 83.4 &lt; attention 84.5 &lt; gated 86.5.</a:t>
            </a:r>
          </a:p>
        </p:txBody>
      </p:sp>
      <p:sp>
        <p:nvSpPr>
          <p:cNvPr id="14" name="TextBox 13"/>
          <p:cNvSpPr txBox="1"/>
          <p:nvPr/>
        </p:nvSpPr>
        <p:spPr>
          <a:xfrm>
            <a:off x="6355080" y="4553712"/>
            <a:ext cx="5349240" cy="1828800"/>
          </a:xfrm>
          <a:prstGeom prst="rect">
            <a:avLst/>
          </a:prstGeom>
          <a:noFill/>
        </p:spPr>
        <p:txBody>
          <a:bodyPr wrap="square" lIns="0" rIns="0" tIns="0" bIns="0">
            <a:spAutoFit/>
          </a:bodyPr>
          <a:lstStyle/>
          <a:p>
            <a:pPr>
              <a:lnSpc>
                <a:spcPct val="106000"/>
              </a:lnSpc>
              <a:spcBef>
                <a:spcPts val="0"/>
              </a:spcBef>
              <a:spcAft>
                <a:spcPts val="600"/>
              </a:spcAft>
            </a:pPr>
            <a:r>
              <a:rPr sz="950" b="1" i="0">
                <a:solidFill>
                  <a:srgbClr val="1F3B63"/>
                </a:solidFill>
                <a:latin typeface="Calibri"/>
              </a:rPr>
              <a:t>INTERPRETATION  </a:t>
            </a:r>
            <a:r>
              <a:rPr sz="1080" b="0" i="0">
                <a:solidFill>
                  <a:srgbClr val="252F3D"/>
                </a:solidFill>
                <a:latin typeface="Calibri"/>
              </a:rPr>
              <a:t>6,675 training samples cannot support 14.4 M image-encoder parameters. The imagery adds variance faster than it adds signal, and the more elaborate the fusion, the worse the result gets.</a:t>
            </a:r>
          </a:p>
          <a:p>
            <a:pPr>
              <a:lnSpc>
                <a:spcPct val="106000"/>
              </a:lnSpc>
              <a:spcBef>
                <a:spcPts val="0"/>
              </a:spcBef>
              <a:spcAft>
                <a:spcPts val="600"/>
              </a:spcAft>
            </a:pPr>
            <a:r>
              <a:rPr sz="950" b="1" i="0">
                <a:solidFill>
                  <a:srgbClr val="1F3B63"/>
                </a:solidFill>
                <a:latin typeface="Calibri"/>
              </a:rPr>
              <a:t>INTERPRETATION  </a:t>
            </a:r>
            <a:r>
              <a:rPr sz="1080" b="0" i="0">
                <a:solidFill>
                  <a:srgbClr val="252F3D"/>
                </a:solidFill>
                <a:latin typeface="Calibri"/>
              </a:rPr>
              <a:t>The small preset is not a counter-example: shrinking the whole network also removed capacity the temporal branch needed, costing 23 W/m².</a:t>
            </a:r>
          </a:p>
          <a:p>
            <a:pPr>
              <a:lnSpc>
                <a:spcPct val="106000"/>
              </a:lnSpc>
              <a:spcBef>
                <a:spcPts val="0"/>
              </a:spcBef>
              <a:spcAft>
                <a:spcPts val="600"/>
              </a:spcAft>
            </a:pPr>
            <a:r>
              <a:rPr sz="950" b="1" i="0">
                <a:solidFill>
                  <a:srgbClr val="B3282D"/>
                </a:solidFill>
                <a:latin typeface="Calibri"/>
              </a:rPr>
              <a:t>SPECULATION  </a:t>
            </a:r>
            <a:r>
              <a:rPr sz="1080" b="0" i="0">
                <a:solidFill>
                  <a:srgbClr val="252F3D"/>
                </a:solidFill>
                <a:latin typeface="Calibri"/>
              </a:rPr>
              <a:t>A frozen encoder with a light probe, or far more training data, might reverse this. Nothing here tests that.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RESULTS · SKILL ANALYSIS</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Skill against smart persistence grows with horizon</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12</a:t>
            </a:r>
          </a:p>
        </p:txBody>
      </p:sp>
      <p:pic>
        <p:nvPicPr>
          <p:cNvPr id="8" name="Picture 7" descr="f3_skill.png"/>
          <p:cNvPicPr>
            <a:picLocks noChangeAspect="1"/>
          </p:cNvPicPr>
          <p:nvPr/>
        </p:nvPicPr>
        <p:blipFill>
          <a:blip r:embed="rId2"/>
          <a:stretch>
            <a:fillRect/>
          </a:stretch>
        </p:blipFill>
        <p:spPr>
          <a:xfrm>
            <a:off x="502920" y="1325880"/>
            <a:ext cx="5029200" cy="3433053"/>
          </a:xfrm>
          <a:prstGeom prst="rect">
            <a:avLst/>
          </a:prstGeom>
        </p:spPr>
      </p:pic>
      <p:sp>
        <p:nvSpPr>
          <p:cNvPr id="9" name="TextBox 8"/>
          <p:cNvSpPr txBox="1"/>
          <p:nvPr/>
        </p:nvSpPr>
        <p:spPr>
          <a:xfrm>
            <a:off x="502920" y="4809744"/>
            <a:ext cx="502920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Figure 5 — skill score S = 1 − MAE/MAE_SP per horizon, 914 samples.</a:t>
            </a:r>
          </a:p>
        </p:txBody>
      </p:sp>
      <p:graphicFrame>
        <p:nvGraphicFramePr>
          <p:cNvPr id="10" name="Table 9"/>
          <p:cNvGraphicFramePr>
            <a:graphicFrameLocks noGrp="1"/>
          </p:cNvGraphicFramePr>
          <p:nvPr/>
        </p:nvGraphicFramePr>
        <p:xfrm>
          <a:off x="5806440" y="1371600"/>
          <a:ext cx="5879592" cy="2130552"/>
        </p:xfrm>
        <a:graphic>
          <a:graphicData uri="http://schemas.openxmlformats.org/drawingml/2006/table">
            <a:tbl>
              <a:tblPr bandRow="1"/>
              <a:tblGrid>
                <a:gridCol w="2148840"/>
                <a:gridCol w="932688"/>
                <a:gridCol w="932688"/>
                <a:gridCol w="932688"/>
                <a:gridCol w="932688"/>
              </a:tblGrid>
              <a:tr h="274320">
                <a:tc>
                  <a:txBody>
                    <a:bodyPr/>
                    <a:lstStyle/>
                    <a:p>
                      <a:pPr algn="l"/>
                      <a:r>
                        <a:rPr sz="1050" b="1">
                          <a:solidFill>
                            <a:srgbClr val="FFFFFF"/>
                          </a:solidFill>
                          <a:latin typeface="Calibri"/>
                        </a:rPr>
                        <a:t>Model</a:t>
                      </a:r>
                    </a:p>
                  </a:txBody>
                  <a:tcPr marL="54864" marR="54864" marT="18288" marB="18288" anchor="ctr">
                    <a:solidFill>
                      <a:srgbClr val="1F3B63"/>
                    </a:solidFill>
                  </a:tcPr>
                </a:tc>
                <a:tc>
                  <a:txBody>
                    <a:bodyPr/>
                    <a:lstStyle/>
                    <a:p>
                      <a:pPr algn="ctr"/>
                      <a:r>
                        <a:rPr sz="1050" b="1">
                          <a:solidFill>
                            <a:srgbClr val="FFFFFF"/>
                          </a:solidFill>
                          <a:latin typeface="Calibri"/>
                        </a:rPr>
                        <a:t>S(t+1 h)</a:t>
                      </a:r>
                    </a:p>
                  </a:txBody>
                  <a:tcPr marL="54864" marR="54864" marT="18288" marB="18288" anchor="ctr">
                    <a:solidFill>
                      <a:srgbClr val="1F3B63"/>
                    </a:solidFill>
                  </a:tcPr>
                </a:tc>
                <a:tc>
                  <a:txBody>
                    <a:bodyPr/>
                    <a:lstStyle/>
                    <a:p>
                      <a:pPr algn="ctr"/>
                      <a:r>
                        <a:rPr sz="1050" b="1">
                          <a:solidFill>
                            <a:srgbClr val="FFFFFF"/>
                          </a:solidFill>
                          <a:latin typeface="Calibri"/>
                        </a:rPr>
                        <a:t>S(t+2 h)</a:t>
                      </a:r>
                    </a:p>
                  </a:txBody>
                  <a:tcPr marL="54864" marR="54864" marT="18288" marB="18288" anchor="ctr">
                    <a:solidFill>
                      <a:srgbClr val="1F3B63"/>
                    </a:solidFill>
                  </a:tcPr>
                </a:tc>
                <a:tc>
                  <a:txBody>
                    <a:bodyPr/>
                    <a:lstStyle/>
                    <a:p>
                      <a:pPr algn="ctr"/>
                      <a:r>
                        <a:rPr sz="1050" b="1">
                          <a:solidFill>
                            <a:srgbClr val="FFFFFF"/>
                          </a:solidFill>
                          <a:latin typeface="Calibri"/>
                        </a:rPr>
                        <a:t>S(t+3 h)</a:t>
                      </a:r>
                    </a:p>
                  </a:txBody>
                  <a:tcPr marL="54864" marR="54864" marT="18288" marB="18288" anchor="ctr">
                    <a:solidFill>
                      <a:srgbClr val="1F3B63"/>
                    </a:solidFill>
                  </a:tcPr>
                </a:tc>
                <a:tc>
                  <a:txBody>
                    <a:bodyPr/>
                    <a:lstStyle/>
                    <a:p>
                      <a:pPr algn="ctr"/>
                      <a:r>
                        <a:rPr sz="1050" b="1">
                          <a:solidFill>
                            <a:srgbClr val="FFFFFF"/>
                          </a:solidFill>
                          <a:latin typeface="Calibri"/>
                        </a:rPr>
                        <a:t>trend</a:t>
                      </a:r>
                    </a:p>
                  </a:txBody>
                  <a:tcPr marL="54864" marR="54864" marT="18288" marB="18288" anchor="ctr">
                    <a:solidFill>
                      <a:srgbClr val="1F3B63"/>
                    </a:solidFill>
                  </a:tcPr>
                </a:tc>
              </a:tr>
              <a:tr h="265176">
                <a:tc>
                  <a:txBody>
                    <a:bodyPr/>
                    <a:lstStyle/>
                    <a:p>
                      <a:pPr algn="l"/>
                      <a:r>
                        <a:rPr sz="1000" b="1">
                          <a:solidFill>
                            <a:srgbClr val="252F3D"/>
                          </a:solidFill>
                          <a:latin typeface="Calibri"/>
                        </a:rPr>
                        <a:t>LightGBM</a:t>
                      </a:r>
                    </a:p>
                  </a:txBody>
                  <a:tcPr marL="54864" marR="54864" marT="9144" marB="9144" anchor="ctr">
                    <a:solidFill>
                      <a:srgbClr val="FDF0E7"/>
                    </a:solidFill>
                  </a:tcPr>
                </a:tc>
                <a:tc>
                  <a:txBody>
                    <a:bodyPr/>
                    <a:lstStyle/>
                    <a:p>
                      <a:pPr algn="ctr"/>
                      <a:r>
                        <a:rPr sz="1000" b="1">
                          <a:solidFill>
                            <a:srgbClr val="252F3D"/>
                          </a:solidFill>
                          <a:latin typeface="Calibri"/>
                        </a:rPr>
                        <a:t>+19.6 %</a:t>
                      </a:r>
                    </a:p>
                  </a:txBody>
                  <a:tcPr marL="54864" marR="54864" marT="9144" marB="9144" anchor="ctr">
                    <a:solidFill>
                      <a:srgbClr val="FDF0E7"/>
                    </a:solidFill>
                  </a:tcPr>
                </a:tc>
                <a:tc>
                  <a:txBody>
                    <a:bodyPr/>
                    <a:lstStyle/>
                    <a:p>
                      <a:pPr algn="ctr"/>
                      <a:r>
                        <a:rPr sz="1000" b="1">
                          <a:solidFill>
                            <a:srgbClr val="252F3D"/>
                          </a:solidFill>
                          <a:latin typeface="Calibri"/>
                        </a:rPr>
                        <a:t>+31.8 %</a:t>
                      </a:r>
                    </a:p>
                  </a:txBody>
                  <a:tcPr marL="54864" marR="54864" marT="9144" marB="9144" anchor="ctr">
                    <a:solidFill>
                      <a:srgbClr val="FDF0E7"/>
                    </a:solidFill>
                  </a:tcPr>
                </a:tc>
                <a:tc>
                  <a:txBody>
                    <a:bodyPr/>
                    <a:lstStyle/>
                    <a:p>
                      <a:pPr algn="ctr"/>
                      <a:r>
                        <a:rPr sz="1000" b="1">
                          <a:solidFill>
                            <a:srgbClr val="252F3D"/>
                          </a:solidFill>
                          <a:latin typeface="Calibri"/>
                        </a:rPr>
                        <a:t>+37.7 %</a:t>
                      </a:r>
                    </a:p>
                  </a:txBody>
                  <a:tcPr marL="54864" marR="54864" marT="9144" marB="9144" anchor="ctr">
                    <a:solidFill>
                      <a:srgbClr val="FDF0E7"/>
                    </a:solidFill>
                  </a:tcPr>
                </a:tc>
                <a:tc>
                  <a:txBody>
                    <a:bodyPr/>
                    <a:lstStyle/>
                    <a:p>
                      <a:pPr algn="ctr"/>
                      <a:r>
                        <a:rPr sz="1000" b="1">
                          <a:solidFill>
                            <a:srgbClr val="252F3D"/>
                          </a:solidFill>
                          <a:latin typeface="Calibri"/>
                        </a:rPr>
                        <a:t>rising</a:t>
                      </a:r>
                    </a:p>
                  </a:txBody>
                  <a:tcPr marL="54864" marR="54864" marT="9144" marB="9144" anchor="ctr">
                    <a:solidFill>
                      <a:srgbClr val="FDF0E7"/>
                    </a:solidFill>
                  </a:tcPr>
                </a:tc>
              </a:tr>
              <a:tr h="265176">
                <a:tc>
                  <a:txBody>
                    <a:bodyPr/>
                    <a:lstStyle/>
                    <a:p>
                      <a:pPr algn="l"/>
                      <a:r>
                        <a:rPr sz="1000" b="0">
                          <a:solidFill>
                            <a:srgbClr val="252F3D"/>
                          </a:solidFill>
                          <a:latin typeface="Calibri"/>
                        </a:rPr>
                        <a:t>Random Forest</a:t>
                      </a:r>
                    </a:p>
                  </a:txBody>
                  <a:tcPr marL="54864" marR="54864" marT="9144" marB="9144" anchor="ctr">
                    <a:solidFill>
                      <a:srgbClr val="FFFFFF"/>
                    </a:solidFill>
                  </a:tcPr>
                </a:tc>
                <a:tc>
                  <a:txBody>
                    <a:bodyPr/>
                    <a:lstStyle/>
                    <a:p>
                      <a:pPr algn="ctr"/>
                      <a:r>
                        <a:rPr sz="1000" b="0">
                          <a:solidFill>
                            <a:srgbClr val="252F3D"/>
                          </a:solidFill>
                          <a:latin typeface="Calibri"/>
                        </a:rPr>
                        <a:t>+20.2 %</a:t>
                      </a:r>
                    </a:p>
                  </a:txBody>
                  <a:tcPr marL="54864" marR="54864" marT="9144" marB="9144" anchor="ctr">
                    <a:solidFill>
                      <a:srgbClr val="FFFFFF"/>
                    </a:solidFill>
                  </a:tcPr>
                </a:tc>
                <a:tc>
                  <a:txBody>
                    <a:bodyPr/>
                    <a:lstStyle/>
                    <a:p>
                      <a:pPr algn="ctr"/>
                      <a:r>
                        <a:rPr sz="1000" b="0">
                          <a:solidFill>
                            <a:srgbClr val="252F3D"/>
                          </a:solidFill>
                          <a:latin typeface="Calibri"/>
                        </a:rPr>
                        <a:t>+30.6 %</a:t>
                      </a:r>
                    </a:p>
                  </a:txBody>
                  <a:tcPr marL="54864" marR="54864" marT="9144" marB="9144" anchor="ctr">
                    <a:solidFill>
                      <a:srgbClr val="FFFFFF"/>
                    </a:solidFill>
                  </a:tcPr>
                </a:tc>
                <a:tc>
                  <a:txBody>
                    <a:bodyPr/>
                    <a:lstStyle/>
                    <a:p>
                      <a:pPr algn="ctr"/>
                      <a:r>
                        <a:rPr sz="1000" b="0">
                          <a:solidFill>
                            <a:srgbClr val="252F3D"/>
                          </a:solidFill>
                          <a:latin typeface="Calibri"/>
                        </a:rPr>
                        <a:t>+37.3 %</a:t>
                      </a:r>
                    </a:p>
                  </a:txBody>
                  <a:tcPr marL="54864" marR="54864" marT="9144" marB="9144" anchor="ctr">
                    <a:solidFill>
                      <a:srgbClr val="FFFFFF"/>
                    </a:solidFill>
                  </a:tcPr>
                </a:tc>
                <a:tc>
                  <a:txBody>
                    <a:bodyPr/>
                    <a:lstStyle/>
                    <a:p>
                      <a:pPr algn="ctr"/>
                      <a:r>
                        <a:rPr sz="1000" b="0">
                          <a:solidFill>
                            <a:srgbClr val="252F3D"/>
                          </a:solidFill>
                          <a:latin typeface="Calibri"/>
                        </a:rPr>
                        <a:t>rising</a:t>
                      </a:r>
                    </a:p>
                  </a:txBody>
                  <a:tcPr marL="54864" marR="54864" marT="9144" marB="9144" anchor="ctr">
                    <a:solidFill>
                      <a:srgbClr val="FFFFFF"/>
                    </a:solidFill>
                  </a:tcPr>
                </a:tc>
              </a:tr>
              <a:tr h="265176">
                <a:tc>
                  <a:txBody>
                    <a:bodyPr/>
                    <a:lstStyle/>
                    <a:p>
                      <a:pPr algn="l"/>
                      <a:r>
                        <a:rPr sz="1000" b="0">
                          <a:solidFill>
                            <a:srgbClr val="252F3D"/>
                          </a:solidFill>
                          <a:latin typeface="Calibri"/>
                        </a:rPr>
                        <a:t>LSTM-only</a:t>
                      </a:r>
                    </a:p>
                  </a:txBody>
                  <a:tcPr marL="54864" marR="54864" marT="9144" marB="9144" anchor="ctr">
                    <a:solidFill>
                      <a:srgbClr val="F3F5F9"/>
                    </a:solidFill>
                  </a:tcPr>
                </a:tc>
                <a:tc>
                  <a:txBody>
                    <a:bodyPr/>
                    <a:lstStyle/>
                    <a:p>
                      <a:pPr algn="ctr"/>
                      <a:r>
                        <a:rPr sz="1000" b="0">
                          <a:solidFill>
                            <a:srgbClr val="252F3D"/>
                          </a:solidFill>
                          <a:latin typeface="Calibri"/>
                        </a:rPr>
                        <a:t>+8.2 %</a:t>
                      </a:r>
                    </a:p>
                  </a:txBody>
                  <a:tcPr marL="54864" marR="54864" marT="9144" marB="9144" anchor="ctr">
                    <a:solidFill>
                      <a:srgbClr val="F3F5F9"/>
                    </a:solidFill>
                  </a:tcPr>
                </a:tc>
                <a:tc>
                  <a:txBody>
                    <a:bodyPr/>
                    <a:lstStyle/>
                    <a:p>
                      <a:pPr algn="ctr"/>
                      <a:r>
                        <a:rPr sz="1000" b="0">
                          <a:solidFill>
                            <a:srgbClr val="252F3D"/>
                          </a:solidFill>
                          <a:latin typeface="Calibri"/>
                        </a:rPr>
                        <a:t>+29.6 %</a:t>
                      </a:r>
                    </a:p>
                  </a:txBody>
                  <a:tcPr marL="54864" marR="54864" marT="9144" marB="9144" anchor="ctr">
                    <a:solidFill>
                      <a:srgbClr val="F3F5F9"/>
                    </a:solidFill>
                  </a:tcPr>
                </a:tc>
                <a:tc>
                  <a:txBody>
                    <a:bodyPr/>
                    <a:lstStyle/>
                    <a:p>
                      <a:pPr algn="ctr"/>
                      <a:r>
                        <a:rPr sz="1000" b="0">
                          <a:solidFill>
                            <a:srgbClr val="252F3D"/>
                          </a:solidFill>
                          <a:latin typeface="Calibri"/>
                        </a:rPr>
                        <a:t>+35.6 %</a:t>
                      </a:r>
                    </a:p>
                  </a:txBody>
                  <a:tcPr marL="54864" marR="54864" marT="9144" marB="9144" anchor="ctr">
                    <a:solidFill>
                      <a:srgbClr val="F3F5F9"/>
                    </a:solidFill>
                  </a:tcPr>
                </a:tc>
                <a:tc>
                  <a:txBody>
                    <a:bodyPr/>
                    <a:lstStyle/>
                    <a:p>
                      <a:pPr algn="ctr"/>
                      <a:r>
                        <a:rPr sz="1000" b="0">
                          <a:solidFill>
                            <a:srgbClr val="252F3D"/>
                          </a:solidFill>
                          <a:latin typeface="Calibri"/>
                        </a:rPr>
                        <a:t>rising</a:t>
                      </a:r>
                    </a:p>
                  </a:txBody>
                  <a:tcPr marL="54864" marR="54864" marT="9144" marB="9144" anchor="ctr">
                    <a:solidFill>
                      <a:srgbClr val="F3F5F9"/>
                    </a:solidFill>
                  </a:tcPr>
                </a:tc>
              </a:tr>
              <a:tr h="265176">
                <a:tc>
                  <a:txBody>
                    <a:bodyPr/>
                    <a:lstStyle/>
                    <a:p>
                      <a:pPr algn="l"/>
                      <a:r>
                        <a:rPr sz="1000" b="0">
                          <a:solidFill>
                            <a:srgbClr val="252F3D"/>
                          </a:solidFill>
                          <a:latin typeface="Calibri"/>
                        </a:rPr>
                        <a:t>Naive concat fusion</a:t>
                      </a:r>
                    </a:p>
                  </a:txBody>
                  <a:tcPr marL="54864" marR="54864" marT="9144" marB="9144" anchor="ctr">
                    <a:solidFill>
                      <a:srgbClr val="FFFFFF"/>
                    </a:solidFill>
                  </a:tcPr>
                </a:tc>
                <a:tc>
                  <a:txBody>
                    <a:bodyPr/>
                    <a:lstStyle/>
                    <a:p>
                      <a:pPr algn="ctr"/>
                      <a:r>
                        <a:rPr sz="1000" b="0">
                          <a:solidFill>
                            <a:srgbClr val="252F3D"/>
                          </a:solidFill>
                          <a:latin typeface="Calibri"/>
                        </a:rPr>
                        <a:t>+6.7 %</a:t>
                      </a:r>
                    </a:p>
                  </a:txBody>
                  <a:tcPr marL="54864" marR="54864" marT="9144" marB="9144" anchor="ctr">
                    <a:solidFill>
                      <a:srgbClr val="FFFFFF"/>
                    </a:solidFill>
                  </a:tcPr>
                </a:tc>
                <a:tc>
                  <a:txBody>
                    <a:bodyPr/>
                    <a:lstStyle/>
                    <a:p>
                      <a:pPr algn="ctr"/>
                      <a:r>
                        <a:rPr sz="1000" b="0">
                          <a:solidFill>
                            <a:srgbClr val="252F3D"/>
                          </a:solidFill>
                          <a:latin typeface="Calibri"/>
                        </a:rPr>
                        <a:t>+28.6 %</a:t>
                      </a:r>
                    </a:p>
                  </a:txBody>
                  <a:tcPr marL="54864" marR="54864" marT="9144" marB="9144" anchor="ctr">
                    <a:solidFill>
                      <a:srgbClr val="FFFFFF"/>
                    </a:solidFill>
                  </a:tcPr>
                </a:tc>
                <a:tc>
                  <a:txBody>
                    <a:bodyPr/>
                    <a:lstStyle/>
                    <a:p>
                      <a:pPr algn="ctr"/>
                      <a:r>
                        <a:rPr sz="1000" b="0">
                          <a:solidFill>
                            <a:srgbClr val="252F3D"/>
                          </a:solidFill>
                          <a:latin typeface="Calibri"/>
                        </a:rPr>
                        <a:t>+35.5 %</a:t>
                      </a:r>
                    </a:p>
                  </a:txBody>
                  <a:tcPr marL="54864" marR="54864" marT="9144" marB="9144" anchor="ctr">
                    <a:solidFill>
                      <a:srgbClr val="FFFFFF"/>
                    </a:solidFill>
                  </a:tcPr>
                </a:tc>
                <a:tc>
                  <a:txBody>
                    <a:bodyPr/>
                    <a:lstStyle/>
                    <a:p>
                      <a:pPr algn="ctr"/>
                      <a:r>
                        <a:rPr sz="1000" b="0">
                          <a:solidFill>
                            <a:srgbClr val="252F3D"/>
                          </a:solidFill>
                          <a:latin typeface="Calibri"/>
                        </a:rPr>
                        <a:t>rising</a:t>
                      </a:r>
                    </a:p>
                  </a:txBody>
                  <a:tcPr marL="54864" marR="54864" marT="9144" marB="9144" anchor="ctr">
                    <a:solidFill>
                      <a:srgbClr val="FFFFFF"/>
                    </a:solidFill>
                  </a:tcPr>
                </a:tc>
              </a:tr>
              <a:tr h="265176">
                <a:tc>
                  <a:txBody>
                    <a:bodyPr/>
                    <a:lstStyle/>
                    <a:p>
                      <a:pPr algn="l"/>
                      <a:r>
                        <a:rPr sz="1000" b="0">
                          <a:solidFill>
                            <a:srgbClr val="252F3D"/>
                          </a:solidFill>
                          <a:latin typeface="Calibri"/>
                        </a:rPr>
                        <a:t>Physics-Gated (large)</a:t>
                      </a:r>
                    </a:p>
                  </a:txBody>
                  <a:tcPr marL="54864" marR="54864" marT="9144" marB="9144" anchor="ctr">
                    <a:solidFill>
                      <a:srgbClr val="F3F5F9"/>
                    </a:solidFill>
                  </a:tcPr>
                </a:tc>
                <a:tc>
                  <a:txBody>
                    <a:bodyPr/>
                    <a:lstStyle/>
                    <a:p>
                      <a:pPr algn="ctr"/>
                      <a:r>
                        <a:rPr sz="1000" b="0">
                          <a:solidFill>
                            <a:srgbClr val="252F3D"/>
                          </a:solidFill>
                          <a:latin typeface="Calibri"/>
                        </a:rPr>
                        <a:t>+0.5 %</a:t>
                      </a:r>
                    </a:p>
                  </a:txBody>
                  <a:tcPr marL="54864" marR="54864" marT="9144" marB="9144" anchor="ctr">
                    <a:solidFill>
                      <a:srgbClr val="F3F5F9"/>
                    </a:solidFill>
                  </a:tcPr>
                </a:tc>
                <a:tc>
                  <a:txBody>
                    <a:bodyPr/>
                    <a:lstStyle/>
                    <a:p>
                      <a:pPr algn="ctr"/>
                      <a:r>
                        <a:rPr sz="1000" b="0">
                          <a:solidFill>
                            <a:srgbClr val="252F3D"/>
                          </a:solidFill>
                          <a:latin typeface="Calibri"/>
                        </a:rPr>
                        <a:t>+26.8 %</a:t>
                      </a:r>
                    </a:p>
                  </a:txBody>
                  <a:tcPr marL="54864" marR="54864" marT="9144" marB="9144" anchor="ctr">
                    <a:solidFill>
                      <a:srgbClr val="F3F5F9"/>
                    </a:solidFill>
                  </a:tcPr>
                </a:tc>
                <a:tc>
                  <a:txBody>
                    <a:bodyPr/>
                    <a:lstStyle/>
                    <a:p>
                      <a:pPr algn="ctr"/>
                      <a:r>
                        <a:rPr sz="1000" b="0">
                          <a:solidFill>
                            <a:srgbClr val="252F3D"/>
                          </a:solidFill>
                          <a:latin typeface="Calibri"/>
                        </a:rPr>
                        <a:t>+34.0 %</a:t>
                      </a:r>
                    </a:p>
                  </a:txBody>
                  <a:tcPr marL="54864" marR="54864" marT="9144" marB="9144" anchor="ctr">
                    <a:solidFill>
                      <a:srgbClr val="F3F5F9"/>
                    </a:solidFill>
                  </a:tcPr>
                </a:tc>
                <a:tc>
                  <a:txBody>
                    <a:bodyPr/>
                    <a:lstStyle/>
                    <a:p>
                      <a:pPr algn="ctr"/>
                      <a:r>
                        <a:rPr sz="1000" b="0">
                          <a:solidFill>
                            <a:srgbClr val="252F3D"/>
                          </a:solidFill>
                          <a:latin typeface="Calibri"/>
                        </a:rPr>
                        <a:t>rising</a:t>
                      </a:r>
                    </a:p>
                  </a:txBody>
                  <a:tcPr marL="54864" marR="54864" marT="9144" marB="9144" anchor="ctr">
                    <a:solidFill>
                      <a:srgbClr val="F3F5F9"/>
                    </a:solidFill>
                  </a:tcPr>
                </a:tc>
              </a:tr>
              <a:tr h="265176">
                <a:tc>
                  <a:txBody>
                    <a:bodyPr/>
                    <a:lstStyle/>
                    <a:p>
                      <a:pPr algn="l"/>
                      <a:r>
                        <a:rPr sz="1000" b="0">
                          <a:solidFill>
                            <a:srgbClr val="252F3D"/>
                          </a:solidFill>
                          <a:latin typeface="Calibri"/>
                        </a:rPr>
                        <a:t>Physics-Gated (small)</a:t>
                      </a:r>
                    </a:p>
                  </a:txBody>
                  <a:tcPr marL="54864" marR="54864" marT="9144" marB="9144" anchor="ctr">
                    <a:solidFill>
                      <a:srgbClr val="FFFFFF"/>
                    </a:solidFill>
                  </a:tcPr>
                </a:tc>
                <a:tc>
                  <a:txBody>
                    <a:bodyPr/>
                    <a:lstStyle/>
                    <a:p>
                      <a:pPr algn="ctr"/>
                      <a:r>
                        <a:rPr sz="1000" b="0">
                          <a:solidFill>
                            <a:srgbClr val="252F3D"/>
                          </a:solidFill>
                          <a:latin typeface="Calibri"/>
                        </a:rPr>
                        <a:t>−28.1 %</a:t>
                      </a:r>
                    </a:p>
                  </a:txBody>
                  <a:tcPr marL="54864" marR="54864" marT="9144" marB="9144" anchor="ctr">
                    <a:solidFill>
                      <a:srgbClr val="FFFFFF"/>
                    </a:solidFill>
                  </a:tcPr>
                </a:tc>
                <a:tc>
                  <a:txBody>
                    <a:bodyPr/>
                    <a:lstStyle/>
                    <a:p>
                      <a:pPr algn="ctr"/>
                      <a:r>
                        <a:rPr sz="1000" b="0">
                          <a:solidFill>
                            <a:srgbClr val="252F3D"/>
                          </a:solidFill>
                          <a:latin typeface="Calibri"/>
                        </a:rPr>
                        <a:t>+9.9 %</a:t>
                      </a:r>
                    </a:p>
                  </a:txBody>
                  <a:tcPr marL="54864" marR="54864" marT="9144" marB="9144" anchor="ctr">
                    <a:solidFill>
                      <a:srgbClr val="FFFFFF"/>
                    </a:solidFill>
                  </a:tcPr>
                </a:tc>
                <a:tc>
                  <a:txBody>
                    <a:bodyPr/>
                    <a:lstStyle/>
                    <a:p>
                      <a:pPr algn="ctr"/>
                      <a:r>
                        <a:rPr sz="1000" b="0">
                          <a:solidFill>
                            <a:srgbClr val="252F3D"/>
                          </a:solidFill>
                          <a:latin typeface="Calibri"/>
                        </a:rPr>
                        <a:t>+23.9 %</a:t>
                      </a:r>
                    </a:p>
                  </a:txBody>
                  <a:tcPr marL="54864" marR="54864" marT="9144" marB="9144" anchor="ctr">
                    <a:solidFill>
                      <a:srgbClr val="FFFFFF"/>
                    </a:solidFill>
                  </a:tcPr>
                </a:tc>
                <a:tc>
                  <a:txBody>
                    <a:bodyPr/>
                    <a:lstStyle/>
                    <a:p>
                      <a:pPr algn="ctr"/>
                      <a:r>
                        <a:rPr sz="1000" b="0">
                          <a:solidFill>
                            <a:srgbClr val="252F3D"/>
                          </a:solidFill>
                          <a:latin typeface="Calibri"/>
                        </a:rPr>
                        <a:t>rising</a:t>
                      </a:r>
                    </a:p>
                  </a:txBody>
                  <a:tcPr marL="54864" marR="54864" marT="9144" marB="9144" anchor="ctr">
                    <a:solidFill>
                      <a:srgbClr val="FFFFFF"/>
                    </a:solidFill>
                  </a:tcPr>
                </a:tc>
              </a:tr>
              <a:tr h="265176">
                <a:tc>
                  <a:txBody>
                    <a:bodyPr/>
                    <a:lstStyle/>
                    <a:p>
                      <a:pPr algn="l"/>
                      <a:r>
                        <a:rPr sz="1000" b="0">
                          <a:solidFill>
                            <a:srgbClr val="252F3D"/>
                          </a:solidFill>
                          <a:latin typeface="Calibri"/>
                        </a:rPr>
                        <a:t>Linear Regression</a:t>
                      </a:r>
                    </a:p>
                  </a:txBody>
                  <a:tcPr marL="54864" marR="54864" marT="9144" marB="9144" anchor="ctr">
                    <a:solidFill>
                      <a:srgbClr val="F3F5F9"/>
                    </a:solidFill>
                  </a:tcPr>
                </a:tc>
                <a:tc>
                  <a:txBody>
                    <a:bodyPr/>
                    <a:lstStyle/>
                    <a:p>
                      <a:pPr algn="ctr"/>
                      <a:r>
                        <a:rPr sz="1000" b="0">
                          <a:solidFill>
                            <a:srgbClr val="252F3D"/>
                          </a:solidFill>
                          <a:latin typeface="Calibri"/>
                        </a:rPr>
                        <a:t>−6.1 %</a:t>
                      </a:r>
                    </a:p>
                  </a:txBody>
                  <a:tcPr marL="54864" marR="54864" marT="9144" marB="9144" anchor="ctr">
                    <a:solidFill>
                      <a:srgbClr val="F3F5F9"/>
                    </a:solidFill>
                  </a:tcPr>
                </a:tc>
                <a:tc>
                  <a:txBody>
                    <a:bodyPr/>
                    <a:lstStyle/>
                    <a:p>
                      <a:pPr algn="ctr"/>
                      <a:r>
                        <a:rPr sz="1000" b="0">
                          <a:solidFill>
                            <a:srgbClr val="252F3D"/>
                          </a:solidFill>
                          <a:latin typeface="Calibri"/>
                        </a:rPr>
                        <a:t>+8.5 %</a:t>
                      </a:r>
                    </a:p>
                  </a:txBody>
                  <a:tcPr marL="54864" marR="54864" marT="9144" marB="9144" anchor="ctr">
                    <a:solidFill>
                      <a:srgbClr val="F3F5F9"/>
                    </a:solidFill>
                  </a:tcPr>
                </a:tc>
                <a:tc>
                  <a:txBody>
                    <a:bodyPr/>
                    <a:lstStyle/>
                    <a:p>
                      <a:pPr algn="ctr"/>
                      <a:r>
                        <a:rPr sz="1000" b="0">
                          <a:solidFill>
                            <a:srgbClr val="252F3D"/>
                          </a:solidFill>
                          <a:latin typeface="Calibri"/>
                        </a:rPr>
                        <a:t>+14.0 %</a:t>
                      </a:r>
                    </a:p>
                  </a:txBody>
                  <a:tcPr marL="54864" marR="54864" marT="9144" marB="9144" anchor="ctr">
                    <a:solidFill>
                      <a:srgbClr val="F3F5F9"/>
                    </a:solidFill>
                  </a:tcPr>
                </a:tc>
                <a:tc>
                  <a:txBody>
                    <a:bodyPr/>
                    <a:lstStyle/>
                    <a:p>
                      <a:pPr algn="ctr"/>
                      <a:r>
                        <a:rPr sz="1000" b="0">
                          <a:solidFill>
                            <a:srgbClr val="252F3D"/>
                          </a:solidFill>
                          <a:latin typeface="Calibri"/>
                        </a:rPr>
                        <a:t>rising</a:t>
                      </a:r>
                    </a:p>
                  </a:txBody>
                  <a:tcPr marL="54864" marR="54864" marT="9144" marB="9144" anchor="ctr">
                    <a:solidFill>
                      <a:srgbClr val="F3F5F9"/>
                    </a:solidFill>
                  </a:tcPr>
                </a:tc>
              </a:tr>
            </a:tbl>
          </a:graphicData>
        </a:graphic>
      </p:graphicFrame>
      <p:sp>
        <p:nvSpPr>
          <p:cNvPr id="11" name="TextBox 10"/>
          <p:cNvSpPr txBox="1"/>
          <p:nvPr/>
        </p:nvSpPr>
        <p:spPr>
          <a:xfrm>
            <a:off x="5806440" y="3703320"/>
            <a:ext cx="5879592" cy="2651760"/>
          </a:xfrm>
          <a:prstGeom prst="rect">
            <a:avLst/>
          </a:prstGeom>
          <a:noFill/>
        </p:spPr>
        <p:txBody>
          <a:bodyPr wrap="square" lIns="0" rIns="0" tIns="0" bIns="0">
            <a:spAutoFit/>
          </a:bodyPr>
          <a:lstStyle/>
          <a:p>
            <a:pPr>
              <a:lnSpc>
                <a:spcPct val="106000"/>
              </a:lnSpc>
              <a:spcBef>
                <a:spcPts val="0"/>
              </a:spcBef>
              <a:spcAft>
                <a:spcPts val="700"/>
              </a:spcAft>
            </a:pPr>
            <a:r>
              <a:rPr sz="1180" b="1" i="0">
                <a:solidFill>
                  <a:srgbClr val="2E7D74"/>
                </a:solidFill>
                <a:latin typeface="Calibri"/>
              </a:rPr>
              <a:t>OBSERVATION.  </a:t>
            </a:r>
            <a:r>
              <a:rPr sz="1180" b="0" i="0">
                <a:solidFill>
                  <a:srgbClr val="252F3D"/>
                </a:solidFill>
                <a:latin typeface="Calibri"/>
              </a:rPr>
              <a:t>Skill rises monotonically with horizon for every model. At t+1 h the physics-gated network is statistically indistinguishable from smart persistence (+0.5 %); by t+3 h it removes a third of that baseline's error.</a:t>
            </a:r>
          </a:p>
          <a:p>
            <a:pPr>
              <a:lnSpc>
                <a:spcPct val="106000"/>
              </a:lnSpc>
              <a:spcBef>
                <a:spcPts val="0"/>
              </a:spcBef>
              <a:spcAft>
                <a:spcPts val="700"/>
              </a:spcAft>
            </a:pPr>
            <a:r>
              <a:rPr sz="1180" b="1" i="0">
                <a:solidFill>
                  <a:srgbClr val="1F3B63"/>
                </a:solidFill>
                <a:latin typeface="Calibri"/>
              </a:rPr>
              <a:t>INTERPRETATION.  </a:t>
            </a:r>
            <a:r>
              <a:rPr sz="1180" b="0" i="0">
                <a:solidFill>
                  <a:srgbClr val="252F3D"/>
                </a:solidFill>
                <a:latin typeface="Calibri"/>
              </a:rPr>
              <a:t>This is the physically expected signature. At one hour ahead, holding the clear-sky index constant is already close to optimal — cloud fields have barely decorrelated, so there is little for a model to add. As the horizon lengthens the persistence assumption decays faster than the learned dynamics, and the learned models pull away.</a:t>
            </a:r>
          </a:p>
          <a:p>
            <a:pPr>
              <a:lnSpc>
                <a:spcPct val="106000"/>
              </a:lnSpc>
              <a:spcBef>
                <a:spcPts val="0"/>
              </a:spcBef>
              <a:spcAft>
                <a:spcPts val="700"/>
              </a:spcAft>
            </a:pPr>
            <a:r>
              <a:rPr sz="1180" b="1" i="0">
                <a:solidFill>
                  <a:srgbClr val="C4622D"/>
                </a:solidFill>
                <a:latin typeface="Calibri"/>
              </a:rPr>
              <a:t>WHY IT MATTERS.  </a:t>
            </a:r>
            <a:r>
              <a:rPr sz="1180" b="0" i="0">
                <a:solidFill>
                  <a:srgbClr val="252F3D"/>
                </a:solidFill>
                <a:latin typeface="Calibri"/>
              </a:rPr>
              <a:t>Skill score is the standard currency in solar forecasting precisely because MAE is not comparable across test periods — an easier month lowers everyone's MAE. Skill normalises by the difficulty of the period, so these numbers are the ones that can be compared with published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ABLATION STUDY</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150" b="1" i="0">
                <a:solidFill>
                  <a:srgbClr val="1F3B63"/>
                </a:solidFill>
                <a:latin typeface="Calibri"/>
              </a:rPr>
              <a:t>Ablations with a significance test — which differences are real?</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13</a:t>
            </a:r>
          </a:p>
        </p:txBody>
      </p:sp>
      <p:sp>
        <p:nvSpPr>
          <p:cNvPr id="8" name="TextBox 7"/>
          <p:cNvSpPr txBox="1"/>
          <p:nvPr/>
        </p:nvSpPr>
        <p:spPr>
          <a:xfrm>
            <a:off x="502920" y="1280160"/>
            <a:ext cx="11183112" cy="274320"/>
          </a:xfrm>
          <a:prstGeom prst="rect">
            <a:avLst/>
          </a:prstGeom>
          <a:noFill/>
        </p:spPr>
        <p:txBody>
          <a:bodyPr wrap="square" anchor="t" lIns="0" rIns="0" tIns="0" bIns="0">
            <a:spAutoFit/>
          </a:bodyPr>
          <a:lstStyle/>
          <a:p>
            <a:pPr algn="l">
              <a:lnSpc>
                <a:spcPct val="100000"/>
              </a:lnSpc>
            </a:pPr>
            <a:r>
              <a:rPr sz="1100" b="0" i="1">
                <a:solidFill>
                  <a:srgbClr val="6B7280"/>
                </a:solidFill>
                <a:latin typeface="Calibri"/>
              </a:rPr>
              <a:t>Paired Diebold–Mariano tests on absolute-error loss, Harvey–Leybourne–Newbold small-sample correction, Newey–West lag h−1, n = 914.</a:t>
            </a:r>
          </a:p>
        </p:txBody>
      </p:sp>
      <p:graphicFrame>
        <p:nvGraphicFramePr>
          <p:cNvPr id="9" name="Table 8"/>
          <p:cNvGraphicFramePr>
            <a:graphicFrameLocks noGrp="1"/>
          </p:cNvGraphicFramePr>
          <p:nvPr/>
        </p:nvGraphicFramePr>
        <p:xfrm>
          <a:off x="502920" y="1627632"/>
          <a:ext cx="11183108" cy="2363724"/>
        </p:xfrm>
        <a:graphic>
          <a:graphicData uri="http://schemas.openxmlformats.org/drawingml/2006/table">
            <a:tbl>
              <a:tblPr bandRow="1"/>
              <a:tblGrid>
                <a:gridCol w="4095224"/>
                <a:gridCol w="892548"/>
                <a:gridCol w="840045"/>
                <a:gridCol w="840045"/>
                <a:gridCol w="1207566"/>
                <a:gridCol w="1102560"/>
                <a:gridCol w="2205120"/>
              </a:tblGrid>
              <a:tr h="265176">
                <a:tc>
                  <a:txBody>
                    <a:bodyPr/>
                    <a:lstStyle/>
                    <a:p>
                      <a:pPr algn="l"/>
                      <a:r>
                        <a:rPr sz="1050" b="1">
                          <a:solidFill>
                            <a:srgbClr val="FFFFFF"/>
                          </a:solidFill>
                          <a:latin typeface="Calibri"/>
                        </a:rPr>
                        <a:t>Comparison</a:t>
                      </a:r>
                    </a:p>
                  </a:txBody>
                  <a:tcPr marL="54864" marR="54864" marT="18288" marB="18288" anchor="ctr">
                    <a:solidFill>
                      <a:srgbClr val="1F3B63"/>
                    </a:solidFill>
                  </a:tcPr>
                </a:tc>
                <a:tc>
                  <a:txBody>
                    <a:bodyPr/>
                    <a:lstStyle/>
                    <a:p>
                      <a:pPr algn="ctr"/>
                      <a:r>
                        <a:rPr sz="1050" b="1">
                          <a:solidFill>
                            <a:srgbClr val="FFFFFF"/>
                          </a:solidFill>
                          <a:latin typeface="Calibri"/>
                        </a:rPr>
                        <a:t>horizon</a:t>
                      </a:r>
                    </a:p>
                  </a:txBody>
                  <a:tcPr marL="54864" marR="54864" marT="18288" marB="18288" anchor="ctr">
                    <a:solidFill>
                      <a:srgbClr val="1F3B63"/>
                    </a:solidFill>
                  </a:tcPr>
                </a:tc>
                <a:tc>
                  <a:txBody>
                    <a:bodyPr/>
                    <a:lstStyle/>
                    <a:p>
                      <a:pPr algn="ctr"/>
                      <a:r>
                        <a:rPr sz="1050" b="1">
                          <a:solidFill>
                            <a:srgbClr val="FFFFFF"/>
                          </a:solidFill>
                          <a:latin typeface="Calibri"/>
                        </a:rPr>
                        <a:t>MAE A</a:t>
                      </a:r>
                    </a:p>
                  </a:txBody>
                  <a:tcPr marL="54864" marR="54864" marT="18288" marB="18288" anchor="ctr">
                    <a:solidFill>
                      <a:srgbClr val="1F3B63"/>
                    </a:solidFill>
                  </a:tcPr>
                </a:tc>
                <a:tc>
                  <a:txBody>
                    <a:bodyPr/>
                    <a:lstStyle/>
                    <a:p>
                      <a:pPr algn="ctr"/>
                      <a:r>
                        <a:rPr sz="1050" b="1">
                          <a:solidFill>
                            <a:srgbClr val="FFFFFF"/>
                          </a:solidFill>
                          <a:latin typeface="Calibri"/>
                        </a:rPr>
                        <a:t>MAE B</a:t>
                      </a:r>
                    </a:p>
                  </a:txBody>
                  <a:tcPr marL="54864" marR="54864" marT="18288" marB="18288" anchor="ctr">
                    <a:solidFill>
                      <a:srgbClr val="1F3B63"/>
                    </a:solidFill>
                  </a:tcPr>
                </a:tc>
                <a:tc>
                  <a:txBody>
                    <a:bodyPr/>
                    <a:lstStyle/>
                    <a:p>
                      <a:pPr algn="ctr"/>
                      <a:r>
                        <a:rPr sz="1050" b="1">
                          <a:solidFill>
                            <a:srgbClr val="FFFFFF"/>
                          </a:solidFill>
                          <a:latin typeface="Calibri"/>
                        </a:rPr>
                        <a:t>DM statistic</a:t>
                      </a:r>
                    </a:p>
                  </a:txBody>
                  <a:tcPr marL="54864" marR="54864" marT="18288" marB="18288" anchor="ctr">
                    <a:solidFill>
                      <a:srgbClr val="1F3B63"/>
                    </a:solidFill>
                  </a:tcPr>
                </a:tc>
                <a:tc>
                  <a:txBody>
                    <a:bodyPr/>
                    <a:lstStyle/>
                    <a:p>
                      <a:pPr algn="ctr"/>
                      <a:r>
                        <a:rPr sz="1050" b="1">
                          <a:solidFill>
                            <a:srgbClr val="FFFFFF"/>
                          </a:solidFill>
                          <a:latin typeface="Calibri"/>
                        </a:rPr>
                        <a:t>p-value</a:t>
                      </a:r>
                    </a:p>
                  </a:txBody>
                  <a:tcPr marL="54864" marR="54864" marT="18288" marB="18288" anchor="ctr">
                    <a:solidFill>
                      <a:srgbClr val="1F3B63"/>
                    </a:solidFill>
                  </a:tcPr>
                </a:tc>
                <a:tc>
                  <a:txBody>
                    <a:bodyPr/>
                    <a:lstStyle/>
                    <a:p>
                      <a:pPr algn="l"/>
                      <a:r>
                        <a:rPr sz="1050" b="1">
                          <a:solidFill>
                            <a:srgbClr val="FFFFFF"/>
                          </a:solidFill>
                          <a:latin typeface="Calibri"/>
                        </a:rPr>
                        <a:t>verdict</a:t>
                      </a:r>
                    </a:p>
                  </a:txBody>
                  <a:tcPr marL="54864" marR="54864" marT="18288" marB="18288" anchor="ctr">
                    <a:solidFill>
                      <a:srgbClr val="1F3B63"/>
                    </a:solidFill>
                  </a:tcPr>
                </a:tc>
              </a:tr>
              <a:tr h="233172">
                <a:tc>
                  <a:txBody>
                    <a:bodyPr/>
                    <a:lstStyle/>
                    <a:p>
                      <a:pPr algn="l"/>
                      <a:r>
                        <a:rPr sz="969" b="0">
                          <a:solidFill>
                            <a:srgbClr val="1F3B63"/>
                          </a:solidFill>
                          <a:latin typeface="Calibri"/>
                        </a:rPr>
                        <a:t>LSTM-only (A)  vs  Physics-Gated (B)</a:t>
                      </a:r>
                    </a:p>
                  </a:txBody>
                  <a:tcPr marL="54864" marR="54864" marT="9144" marB="9144" anchor="ctr">
                    <a:solidFill>
                      <a:srgbClr val="F3F5F9"/>
                    </a:solidFill>
                  </a:tcPr>
                </a:tc>
                <a:tc>
                  <a:txBody>
                    <a:bodyPr/>
                    <a:lstStyle/>
                    <a:p>
                      <a:pPr algn="ctr"/>
                      <a:r>
                        <a:rPr sz="969" b="0">
                          <a:solidFill>
                            <a:srgbClr val="252F3D"/>
                          </a:solidFill>
                          <a:latin typeface="Calibri"/>
                        </a:rPr>
                        <a:t>t+1 h</a:t>
                      </a:r>
                    </a:p>
                  </a:txBody>
                  <a:tcPr marL="54864" marR="54864" marT="9144" marB="9144" anchor="ctr">
                    <a:solidFill>
                      <a:srgbClr val="F3F5F9"/>
                    </a:solidFill>
                  </a:tcPr>
                </a:tc>
                <a:tc>
                  <a:txBody>
                    <a:bodyPr/>
                    <a:lstStyle/>
                    <a:p>
                      <a:pPr algn="ctr"/>
                      <a:r>
                        <a:rPr sz="969" b="0">
                          <a:solidFill>
                            <a:srgbClr val="252F3D"/>
                          </a:solidFill>
                          <a:latin typeface="Calibri"/>
                        </a:rPr>
                        <a:t>72.4</a:t>
                      </a:r>
                    </a:p>
                  </a:txBody>
                  <a:tcPr marL="54864" marR="54864" marT="9144" marB="9144" anchor="ctr">
                    <a:solidFill>
                      <a:srgbClr val="F3F5F9"/>
                    </a:solidFill>
                  </a:tcPr>
                </a:tc>
                <a:tc>
                  <a:txBody>
                    <a:bodyPr/>
                    <a:lstStyle/>
                    <a:p>
                      <a:pPr algn="ctr"/>
                      <a:r>
                        <a:rPr sz="969" b="0">
                          <a:solidFill>
                            <a:srgbClr val="252F3D"/>
                          </a:solidFill>
                          <a:latin typeface="Calibri"/>
                        </a:rPr>
                        <a:t>78.5</a:t>
                      </a:r>
                    </a:p>
                  </a:txBody>
                  <a:tcPr marL="54864" marR="54864" marT="9144" marB="9144" anchor="ctr">
                    <a:solidFill>
                      <a:srgbClr val="F3F5F9"/>
                    </a:solidFill>
                  </a:tcPr>
                </a:tc>
                <a:tc>
                  <a:txBody>
                    <a:bodyPr/>
                    <a:lstStyle/>
                    <a:p>
                      <a:pPr algn="ctr"/>
                      <a:r>
                        <a:rPr sz="969" b="0">
                          <a:solidFill>
                            <a:srgbClr val="252F3D"/>
                          </a:solidFill>
                          <a:latin typeface="Calibri"/>
                        </a:rPr>
                        <a:t>−3.87</a:t>
                      </a:r>
                    </a:p>
                  </a:txBody>
                  <a:tcPr marL="54864" marR="54864" marT="9144" marB="9144" anchor="ctr">
                    <a:solidFill>
                      <a:srgbClr val="F3F5F9"/>
                    </a:solidFill>
                  </a:tcPr>
                </a:tc>
                <a:tc>
                  <a:txBody>
                    <a:bodyPr/>
                    <a:lstStyle/>
                    <a:p>
                      <a:pPr algn="ctr"/>
                      <a:r>
                        <a:rPr sz="969" b="0">
                          <a:solidFill>
                            <a:srgbClr val="252F3D"/>
                          </a:solidFill>
                          <a:latin typeface="Calibri"/>
                        </a:rPr>
                        <a:t>0.0001</a:t>
                      </a:r>
                    </a:p>
                  </a:txBody>
                  <a:tcPr marL="54864" marR="54864" marT="9144" marB="9144" anchor="ctr">
                    <a:solidFill>
                      <a:srgbClr val="F3F5F9"/>
                    </a:solidFill>
                  </a:tcPr>
                </a:tc>
                <a:tc>
                  <a:txBody>
                    <a:bodyPr/>
                    <a:lstStyle/>
                    <a:p>
                      <a:pPr algn="l"/>
                      <a:r>
                        <a:rPr sz="969" b="0">
                          <a:solidFill>
                            <a:srgbClr val="2E7D74"/>
                          </a:solidFill>
                          <a:latin typeface="Calibri"/>
                        </a:rPr>
                        <a:t>A better — significant</a:t>
                      </a:r>
                    </a:p>
                  </a:txBody>
                  <a:tcPr marL="54864" marR="54864" marT="9144" marB="9144" anchor="ctr">
                    <a:solidFill>
                      <a:srgbClr val="F3F5F9"/>
                    </a:solidFill>
                  </a:tcPr>
                </a:tc>
              </a:tr>
              <a:tr h="233172">
                <a:tc>
                  <a:txBody>
                    <a:bodyPr/>
                    <a:lstStyle/>
                    <a:p>
                      <a:pPr algn="l"/>
                      <a:r>
                        <a:rPr sz="969" b="0">
                          <a:solidFill>
                            <a:srgbClr val="252F3D"/>
                          </a:solidFill>
                          <a:latin typeface="Calibri"/>
                        </a:rPr>
                        <a:t>LSTM-only  vs  Physics-Gated</a:t>
                      </a:r>
                    </a:p>
                  </a:txBody>
                  <a:tcPr marL="54864" marR="54864" marT="9144" marB="9144" anchor="ctr">
                    <a:solidFill>
                      <a:srgbClr val="FFFFFF"/>
                    </a:solidFill>
                  </a:tcPr>
                </a:tc>
                <a:tc>
                  <a:txBody>
                    <a:bodyPr/>
                    <a:lstStyle/>
                    <a:p>
                      <a:pPr algn="ctr"/>
                      <a:r>
                        <a:rPr sz="969" b="0">
                          <a:solidFill>
                            <a:srgbClr val="252F3D"/>
                          </a:solidFill>
                          <a:latin typeface="Calibri"/>
                        </a:rPr>
                        <a:t>t+2 h</a:t>
                      </a:r>
                    </a:p>
                  </a:txBody>
                  <a:tcPr marL="54864" marR="54864" marT="9144" marB="9144" anchor="ctr">
                    <a:solidFill>
                      <a:srgbClr val="FFFFFF"/>
                    </a:solidFill>
                  </a:tcPr>
                </a:tc>
                <a:tc>
                  <a:txBody>
                    <a:bodyPr/>
                    <a:lstStyle/>
                    <a:p>
                      <a:pPr algn="ctr"/>
                      <a:r>
                        <a:rPr sz="969" b="0">
                          <a:solidFill>
                            <a:srgbClr val="252F3D"/>
                          </a:solidFill>
                          <a:latin typeface="Calibri"/>
                        </a:rPr>
                        <a:t>82.7</a:t>
                      </a:r>
                    </a:p>
                  </a:txBody>
                  <a:tcPr marL="54864" marR="54864" marT="9144" marB="9144" anchor="ctr">
                    <a:solidFill>
                      <a:srgbClr val="FFFFFF"/>
                    </a:solidFill>
                  </a:tcPr>
                </a:tc>
                <a:tc>
                  <a:txBody>
                    <a:bodyPr/>
                    <a:lstStyle/>
                    <a:p>
                      <a:pPr algn="ctr"/>
                      <a:r>
                        <a:rPr sz="969" b="0">
                          <a:solidFill>
                            <a:srgbClr val="252F3D"/>
                          </a:solidFill>
                          <a:latin typeface="Calibri"/>
                        </a:rPr>
                        <a:t>86.0</a:t>
                      </a:r>
                    </a:p>
                  </a:txBody>
                  <a:tcPr marL="54864" marR="54864" marT="9144" marB="9144" anchor="ctr">
                    <a:solidFill>
                      <a:srgbClr val="FFFFFF"/>
                    </a:solidFill>
                  </a:tcPr>
                </a:tc>
                <a:tc>
                  <a:txBody>
                    <a:bodyPr/>
                    <a:lstStyle/>
                    <a:p>
                      <a:pPr algn="ctr"/>
                      <a:r>
                        <a:rPr sz="969" b="0">
                          <a:solidFill>
                            <a:srgbClr val="252F3D"/>
                          </a:solidFill>
                          <a:latin typeface="Calibri"/>
                        </a:rPr>
                        <a:t>−2.34</a:t>
                      </a:r>
                    </a:p>
                  </a:txBody>
                  <a:tcPr marL="54864" marR="54864" marT="9144" marB="9144" anchor="ctr">
                    <a:solidFill>
                      <a:srgbClr val="FFFFFF"/>
                    </a:solidFill>
                  </a:tcPr>
                </a:tc>
                <a:tc>
                  <a:txBody>
                    <a:bodyPr/>
                    <a:lstStyle/>
                    <a:p>
                      <a:pPr algn="ctr"/>
                      <a:r>
                        <a:rPr sz="969" b="0">
                          <a:solidFill>
                            <a:srgbClr val="252F3D"/>
                          </a:solidFill>
                          <a:latin typeface="Calibri"/>
                        </a:rPr>
                        <a:t>0.019</a:t>
                      </a:r>
                    </a:p>
                  </a:txBody>
                  <a:tcPr marL="54864" marR="54864" marT="9144" marB="9144" anchor="ctr">
                    <a:solidFill>
                      <a:srgbClr val="FFFFFF"/>
                    </a:solidFill>
                  </a:tcPr>
                </a:tc>
                <a:tc>
                  <a:txBody>
                    <a:bodyPr/>
                    <a:lstStyle/>
                    <a:p>
                      <a:pPr algn="l"/>
                      <a:r>
                        <a:rPr sz="969" b="0">
                          <a:solidFill>
                            <a:srgbClr val="2E7D74"/>
                          </a:solidFill>
                          <a:latin typeface="Calibri"/>
                        </a:rPr>
                        <a:t>A better — significant</a:t>
                      </a:r>
                    </a:p>
                  </a:txBody>
                  <a:tcPr marL="54864" marR="54864" marT="9144" marB="9144" anchor="ctr">
                    <a:solidFill>
                      <a:srgbClr val="FFFFFF"/>
                    </a:solidFill>
                  </a:tcPr>
                </a:tc>
              </a:tr>
              <a:tr h="233172">
                <a:tc>
                  <a:txBody>
                    <a:bodyPr/>
                    <a:lstStyle/>
                    <a:p>
                      <a:pPr algn="l"/>
                      <a:r>
                        <a:rPr sz="969" b="0">
                          <a:solidFill>
                            <a:srgbClr val="252F3D"/>
                          </a:solidFill>
                          <a:latin typeface="Calibri"/>
                        </a:rPr>
                        <a:t>LSTM-only  vs  Physics-Gated</a:t>
                      </a:r>
                    </a:p>
                  </a:txBody>
                  <a:tcPr marL="54864" marR="54864" marT="9144" marB="9144" anchor="ctr">
                    <a:solidFill>
                      <a:srgbClr val="F3F5F9"/>
                    </a:solidFill>
                  </a:tcPr>
                </a:tc>
                <a:tc>
                  <a:txBody>
                    <a:bodyPr/>
                    <a:lstStyle/>
                    <a:p>
                      <a:pPr algn="ctr"/>
                      <a:r>
                        <a:rPr sz="969" b="0">
                          <a:solidFill>
                            <a:srgbClr val="252F3D"/>
                          </a:solidFill>
                          <a:latin typeface="Calibri"/>
                        </a:rPr>
                        <a:t>t+3 h</a:t>
                      </a:r>
                    </a:p>
                  </a:txBody>
                  <a:tcPr marL="54864" marR="54864" marT="9144" marB="9144" anchor="ctr">
                    <a:solidFill>
                      <a:srgbClr val="F3F5F9"/>
                    </a:solidFill>
                  </a:tcPr>
                </a:tc>
                <a:tc>
                  <a:txBody>
                    <a:bodyPr/>
                    <a:lstStyle/>
                    <a:p>
                      <a:pPr algn="ctr"/>
                      <a:r>
                        <a:rPr sz="969" b="0">
                          <a:solidFill>
                            <a:srgbClr val="252F3D"/>
                          </a:solidFill>
                          <a:latin typeface="Calibri"/>
                        </a:rPr>
                        <a:t>92.7</a:t>
                      </a:r>
                    </a:p>
                  </a:txBody>
                  <a:tcPr marL="54864" marR="54864" marT="9144" marB="9144" anchor="ctr">
                    <a:solidFill>
                      <a:srgbClr val="F3F5F9"/>
                    </a:solidFill>
                  </a:tcPr>
                </a:tc>
                <a:tc>
                  <a:txBody>
                    <a:bodyPr/>
                    <a:lstStyle/>
                    <a:p>
                      <a:pPr algn="ctr"/>
                      <a:r>
                        <a:rPr sz="969" b="0">
                          <a:solidFill>
                            <a:srgbClr val="252F3D"/>
                          </a:solidFill>
                          <a:latin typeface="Calibri"/>
                        </a:rPr>
                        <a:t>95.0</a:t>
                      </a:r>
                    </a:p>
                  </a:txBody>
                  <a:tcPr marL="54864" marR="54864" marT="9144" marB="9144" anchor="ctr">
                    <a:solidFill>
                      <a:srgbClr val="F3F5F9"/>
                    </a:solidFill>
                  </a:tcPr>
                </a:tc>
                <a:tc>
                  <a:txBody>
                    <a:bodyPr/>
                    <a:lstStyle/>
                    <a:p>
                      <a:pPr algn="ctr"/>
                      <a:r>
                        <a:rPr sz="969" b="0">
                          <a:solidFill>
                            <a:srgbClr val="252F3D"/>
                          </a:solidFill>
                          <a:latin typeface="Calibri"/>
                        </a:rPr>
                        <a:t>−1.87</a:t>
                      </a:r>
                    </a:p>
                  </a:txBody>
                  <a:tcPr marL="54864" marR="54864" marT="9144" marB="9144" anchor="ctr">
                    <a:solidFill>
                      <a:srgbClr val="F3F5F9"/>
                    </a:solidFill>
                  </a:tcPr>
                </a:tc>
                <a:tc>
                  <a:txBody>
                    <a:bodyPr/>
                    <a:lstStyle/>
                    <a:p>
                      <a:pPr algn="ctr"/>
                      <a:r>
                        <a:rPr sz="969" b="0">
                          <a:solidFill>
                            <a:srgbClr val="252F3D"/>
                          </a:solidFill>
                          <a:latin typeface="Calibri"/>
                        </a:rPr>
                        <a:t>0.062</a:t>
                      </a:r>
                    </a:p>
                  </a:txBody>
                  <a:tcPr marL="54864" marR="54864" marT="9144" marB="9144" anchor="ctr">
                    <a:solidFill>
                      <a:srgbClr val="F3F5F9"/>
                    </a:solidFill>
                  </a:tcPr>
                </a:tc>
                <a:tc>
                  <a:txBody>
                    <a:bodyPr/>
                    <a:lstStyle/>
                    <a:p>
                      <a:pPr algn="l"/>
                      <a:r>
                        <a:rPr sz="969" b="0">
                          <a:solidFill>
                            <a:srgbClr val="6B7280"/>
                          </a:solidFill>
                          <a:latin typeface="Calibri"/>
                        </a:rPr>
                        <a:t>not significant</a:t>
                      </a:r>
                    </a:p>
                  </a:txBody>
                  <a:tcPr marL="54864" marR="54864" marT="9144" marB="9144" anchor="ctr">
                    <a:solidFill>
                      <a:srgbClr val="F3F5F9"/>
                    </a:solidFill>
                  </a:tcPr>
                </a:tc>
              </a:tr>
              <a:tr h="233172">
                <a:tc>
                  <a:txBody>
                    <a:bodyPr/>
                    <a:lstStyle/>
                    <a:p>
                      <a:pPr algn="l"/>
                      <a:r>
                        <a:rPr sz="969" b="0">
                          <a:solidFill>
                            <a:srgbClr val="1F3B63"/>
                          </a:solidFill>
                          <a:latin typeface="Calibri"/>
                        </a:rPr>
                        <a:t>LightGBM (B)  vs  LSTM-only (A)</a:t>
                      </a:r>
                    </a:p>
                  </a:txBody>
                  <a:tcPr marL="54864" marR="54864" marT="9144" marB="9144" anchor="ctr">
                    <a:solidFill>
                      <a:srgbClr val="FFFFFF"/>
                    </a:solidFill>
                  </a:tcPr>
                </a:tc>
                <a:tc>
                  <a:txBody>
                    <a:bodyPr/>
                    <a:lstStyle/>
                    <a:p>
                      <a:pPr algn="ctr"/>
                      <a:r>
                        <a:rPr sz="969" b="0">
                          <a:solidFill>
                            <a:srgbClr val="252F3D"/>
                          </a:solidFill>
                          <a:latin typeface="Calibri"/>
                        </a:rPr>
                        <a:t>t+1 h</a:t>
                      </a:r>
                    </a:p>
                  </a:txBody>
                  <a:tcPr marL="54864" marR="54864" marT="9144" marB="9144" anchor="ctr">
                    <a:solidFill>
                      <a:srgbClr val="FFFFFF"/>
                    </a:solidFill>
                  </a:tcPr>
                </a:tc>
                <a:tc>
                  <a:txBody>
                    <a:bodyPr/>
                    <a:lstStyle/>
                    <a:p>
                      <a:pPr algn="ctr"/>
                      <a:r>
                        <a:rPr sz="969" b="0">
                          <a:solidFill>
                            <a:srgbClr val="252F3D"/>
                          </a:solidFill>
                          <a:latin typeface="Calibri"/>
                        </a:rPr>
                        <a:t>72.4</a:t>
                      </a:r>
                    </a:p>
                  </a:txBody>
                  <a:tcPr marL="54864" marR="54864" marT="9144" marB="9144" anchor="ctr">
                    <a:solidFill>
                      <a:srgbClr val="FFFFFF"/>
                    </a:solidFill>
                  </a:tcPr>
                </a:tc>
                <a:tc>
                  <a:txBody>
                    <a:bodyPr/>
                    <a:lstStyle/>
                    <a:p>
                      <a:pPr algn="ctr"/>
                      <a:r>
                        <a:rPr sz="969" b="0">
                          <a:solidFill>
                            <a:srgbClr val="252F3D"/>
                          </a:solidFill>
                          <a:latin typeface="Calibri"/>
                        </a:rPr>
                        <a:t>63.4</a:t>
                      </a:r>
                    </a:p>
                  </a:txBody>
                  <a:tcPr marL="54864" marR="54864" marT="9144" marB="9144" anchor="ctr">
                    <a:solidFill>
                      <a:srgbClr val="FFFFFF"/>
                    </a:solidFill>
                  </a:tcPr>
                </a:tc>
                <a:tc>
                  <a:txBody>
                    <a:bodyPr/>
                    <a:lstStyle/>
                    <a:p>
                      <a:pPr algn="ctr"/>
                      <a:r>
                        <a:rPr sz="969" b="0">
                          <a:solidFill>
                            <a:srgbClr val="252F3D"/>
                          </a:solidFill>
                          <a:latin typeface="Calibri"/>
                        </a:rPr>
                        <a:t>+4.71</a:t>
                      </a:r>
                    </a:p>
                  </a:txBody>
                  <a:tcPr marL="54864" marR="54864" marT="9144" marB="9144" anchor="ctr">
                    <a:solidFill>
                      <a:srgbClr val="FFFFFF"/>
                    </a:solidFill>
                  </a:tcPr>
                </a:tc>
                <a:tc>
                  <a:txBody>
                    <a:bodyPr/>
                    <a:lstStyle/>
                    <a:p>
                      <a:pPr algn="ctr"/>
                      <a:r>
                        <a:rPr sz="969" b="0">
                          <a:solidFill>
                            <a:srgbClr val="252F3D"/>
                          </a:solidFill>
                          <a:latin typeface="Calibri"/>
                        </a:rPr>
                        <a:t>2.9 × 10⁻⁶</a:t>
                      </a:r>
                    </a:p>
                  </a:txBody>
                  <a:tcPr marL="54864" marR="54864" marT="9144" marB="9144" anchor="ctr">
                    <a:solidFill>
                      <a:srgbClr val="FFFFFF"/>
                    </a:solidFill>
                  </a:tcPr>
                </a:tc>
                <a:tc>
                  <a:txBody>
                    <a:bodyPr/>
                    <a:lstStyle/>
                    <a:p>
                      <a:pPr algn="l"/>
                      <a:r>
                        <a:rPr sz="969" b="0">
                          <a:solidFill>
                            <a:srgbClr val="C4622D"/>
                          </a:solidFill>
                          <a:latin typeface="Calibri"/>
                        </a:rPr>
                        <a:t>B better — significant</a:t>
                      </a:r>
                    </a:p>
                  </a:txBody>
                  <a:tcPr marL="54864" marR="54864" marT="9144" marB="9144" anchor="ctr">
                    <a:solidFill>
                      <a:srgbClr val="FFFFFF"/>
                    </a:solidFill>
                  </a:tcPr>
                </a:tc>
              </a:tr>
              <a:tr h="233172">
                <a:tc>
                  <a:txBody>
                    <a:bodyPr/>
                    <a:lstStyle/>
                    <a:p>
                      <a:pPr algn="l"/>
                      <a:r>
                        <a:rPr sz="969" b="0">
                          <a:solidFill>
                            <a:srgbClr val="252F3D"/>
                          </a:solidFill>
                          <a:latin typeface="Calibri"/>
                        </a:rPr>
                        <a:t>LightGBM  vs  LSTM-only</a:t>
                      </a:r>
                    </a:p>
                  </a:txBody>
                  <a:tcPr marL="54864" marR="54864" marT="9144" marB="9144" anchor="ctr">
                    <a:solidFill>
                      <a:srgbClr val="F3F5F9"/>
                    </a:solidFill>
                  </a:tcPr>
                </a:tc>
                <a:tc>
                  <a:txBody>
                    <a:bodyPr/>
                    <a:lstStyle/>
                    <a:p>
                      <a:pPr algn="ctr"/>
                      <a:r>
                        <a:rPr sz="969" b="0">
                          <a:solidFill>
                            <a:srgbClr val="252F3D"/>
                          </a:solidFill>
                          <a:latin typeface="Calibri"/>
                        </a:rPr>
                        <a:t>t+2 h</a:t>
                      </a:r>
                    </a:p>
                  </a:txBody>
                  <a:tcPr marL="54864" marR="54864" marT="9144" marB="9144" anchor="ctr">
                    <a:solidFill>
                      <a:srgbClr val="F3F5F9"/>
                    </a:solidFill>
                  </a:tcPr>
                </a:tc>
                <a:tc>
                  <a:txBody>
                    <a:bodyPr/>
                    <a:lstStyle/>
                    <a:p>
                      <a:pPr algn="ctr"/>
                      <a:r>
                        <a:rPr sz="969" b="0">
                          <a:solidFill>
                            <a:srgbClr val="252F3D"/>
                          </a:solidFill>
                          <a:latin typeface="Calibri"/>
                        </a:rPr>
                        <a:t>82.7</a:t>
                      </a:r>
                    </a:p>
                  </a:txBody>
                  <a:tcPr marL="54864" marR="54864" marT="9144" marB="9144" anchor="ctr">
                    <a:solidFill>
                      <a:srgbClr val="F3F5F9"/>
                    </a:solidFill>
                  </a:tcPr>
                </a:tc>
                <a:tc>
                  <a:txBody>
                    <a:bodyPr/>
                    <a:lstStyle/>
                    <a:p>
                      <a:pPr algn="ctr"/>
                      <a:r>
                        <a:rPr sz="969" b="0">
                          <a:solidFill>
                            <a:srgbClr val="252F3D"/>
                          </a:solidFill>
                          <a:latin typeface="Calibri"/>
                        </a:rPr>
                        <a:t>80.1</a:t>
                      </a:r>
                    </a:p>
                  </a:txBody>
                  <a:tcPr marL="54864" marR="54864" marT="9144" marB="9144" anchor="ctr">
                    <a:solidFill>
                      <a:srgbClr val="F3F5F9"/>
                    </a:solidFill>
                  </a:tcPr>
                </a:tc>
                <a:tc>
                  <a:txBody>
                    <a:bodyPr/>
                    <a:lstStyle/>
                    <a:p>
                      <a:pPr algn="ctr"/>
                      <a:r>
                        <a:rPr sz="969" b="0">
                          <a:solidFill>
                            <a:srgbClr val="252F3D"/>
                          </a:solidFill>
                          <a:latin typeface="Calibri"/>
                        </a:rPr>
                        <a:t>+1.17</a:t>
                      </a:r>
                    </a:p>
                  </a:txBody>
                  <a:tcPr marL="54864" marR="54864" marT="9144" marB="9144" anchor="ctr">
                    <a:solidFill>
                      <a:srgbClr val="F3F5F9"/>
                    </a:solidFill>
                  </a:tcPr>
                </a:tc>
                <a:tc>
                  <a:txBody>
                    <a:bodyPr/>
                    <a:lstStyle/>
                    <a:p>
                      <a:pPr algn="ctr"/>
                      <a:r>
                        <a:rPr sz="969" b="0">
                          <a:solidFill>
                            <a:srgbClr val="252F3D"/>
                          </a:solidFill>
                          <a:latin typeface="Calibri"/>
                        </a:rPr>
                        <a:t>0.244</a:t>
                      </a:r>
                    </a:p>
                  </a:txBody>
                  <a:tcPr marL="54864" marR="54864" marT="9144" marB="9144" anchor="ctr">
                    <a:solidFill>
                      <a:srgbClr val="F3F5F9"/>
                    </a:solidFill>
                  </a:tcPr>
                </a:tc>
                <a:tc>
                  <a:txBody>
                    <a:bodyPr/>
                    <a:lstStyle/>
                    <a:p>
                      <a:pPr algn="l"/>
                      <a:r>
                        <a:rPr sz="969" b="0">
                          <a:solidFill>
                            <a:srgbClr val="6B7280"/>
                          </a:solidFill>
                          <a:latin typeface="Calibri"/>
                        </a:rPr>
                        <a:t>not significant</a:t>
                      </a:r>
                    </a:p>
                  </a:txBody>
                  <a:tcPr marL="54864" marR="54864" marT="9144" marB="9144" anchor="ctr">
                    <a:solidFill>
                      <a:srgbClr val="F3F5F9"/>
                    </a:solidFill>
                  </a:tcPr>
                </a:tc>
              </a:tr>
              <a:tr h="233172">
                <a:tc>
                  <a:txBody>
                    <a:bodyPr/>
                    <a:lstStyle/>
                    <a:p>
                      <a:pPr algn="l"/>
                      <a:r>
                        <a:rPr sz="969" b="0">
                          <a:solidFill>
                            <a:srgbClr val="252F3D"/>
                          </a:solidFill>
                          <a:latin typeface="Calibri"/>
                        </a:rPr>
                        <a:t>LightGBM  vs  LSTM-only</a:t>
                      </a:r>
                    </a:p>
                  </a:txBody>
                  <a:tcPr marL="54864" marR="54864" marT="9144" marB="9144" anchor="ctr">
                    <a:solidFill>
                      <a:srgbClr val="FFFFFF"/>
                    </a:solidFill>
                  </a:tcPr>
                </a:tc>
                <a:tc>
                  <a:txBody>
                    <a:bodyPr/>
                    <a:lstStyle/>
                    <a:p>
                      <a:pPr algn="ctr"/>
                      <a:r>
                        <a:rPr sz="969" b="0">
                          <a:solidFill>
                            <a:srgbClr val="252F3D"/>
                          </a:solidFill>
                          <a:latin typeface="Calibri"/>
                        </a:rPr>
                        <a:t>t+3 h</a:t>
                      </a:r>
                    </a:p>
                  </a:txBody>
                  <a:tcPr marL="54864" marR="54864" marT="9144" marB="9144" anchor="ctr">
                    <a:solidFill>
                      <a:srgbClr val="FFFFFF"/>
                    </a:solidFill>
                  </a:tcPr>
                </a:tc>
                <a:tc>
                  <a:txBody>
                    <a:bodyPr/>
                    <a:lstStyle/>
                    <a:p>
                      <a:pPr algn="ctr"/>
                      <a:r>
                        <a:rPr sz="969" b="0">
                          <a:solidFill>
                            <a:srgbClr val="252F3D"/>
                          </a:solidFill>
                          <a:latin typeface="Calibri"/>
                        </a:rPr>
                        <a:t>92.7</a:t>
                      </a:r>
                    </a:p>
                  </a:txBody>
                  <a:tcPr marL="54864" marR="54864" marT="9144" marB="9144" anchor="ctr">
                    <a:solidFill>
                      <a:srgbClr val="FFFFFF"/>
                    </a:solidFill>
                  </a:tcPr>
                </a:tc>
                <a:tc>
                  <a:txBody>
                    <a:bodyPr/>
                    <a:lstStyle/>
                    <a:p>
                      <a:pPr algn="ctr"/>
                      <a:r>
                        <a:rPr sz="969" b="0">
                          <a:solidFill>
                            <a:srgbClr val="252F3D"/>
                          </a:solidFill>
                          <a:latin typeface="Calibri"/>
                        </a:rPr>
                        <a:t>89.6</a:t>
                      </a:r>
                    </a:p>
                  </a:txBody>
                  <a:tcPr marL="54864" marR="54864" marT="9144" marB="9144" anchor="ctr">
                    <a:solidFill>
                      <a:srgbClr val="FFFFFF"/>
                    </a:solidFill>
                  </a:tcPr>
                </a:tc>
                <a:tc>
                  <a:txBody>
                    <a:bodyPr/>
                    <a:lstStyle/>
                    <a:p>
                      <a:pPr algn="ctr"/>
                      <a:r>
                        <a:rPr sz="969" b="0">
                          <a:solidFill>
                            <a:srgbClr val="252F3D"/>
                          </a:solidFill>
                          <a:latin typeface="Calibri"/>
                        </a:rPr>
                        <a:t>+1.23</a:t>
                      </a:r>
                    </a:p>
                  </a:txBody>
                  <a:tcPr marL="54864" marR="54864" marT="9144" marB="9144" anchor="ctr">
                    <a:solidFill>
                      <a:srgbClr val="FFFFFF"/>
                    </a:solidFill>
                  </a:tcPr>
                </a:tc>
                <a:tc>
                  <a:txBody>
                    <a:bodyPr/>
                    <a:lstStyle/>
                    <a:p>
                      <a:pPr algn="ctr"/>
                      <a:r>
                        <a:rPr sz="969" b="0">
                          <a:solidFill>
                            <a:srgbClr val="252F3D"/>
                          </a:solidFill>
                          <a:latin typeface="Calibri"/>
                        </a:rPr>
                        <a:t>0.219</a:t>
                      </a:r>
                    </a:p>
                  </a:txBody>
                  <a:tcPr marL="54864" marR="54864" marT="9144" marB="9144" anchor="ctr">
                    <a:solidFill>
                      <a:srgbClr val="FFFFFF"/>
                    </a:solidFill>
                  </a:tcPr>
                </a:tc>
                <a:tc>
                  <a:txBody>
                    <a:bodyPr/>
                    <a:lstStyle/>
                    <a:p>
                      <a:pPr algn="l"/>
                      <a:r>
                        <a:rPr sz="969" b="0">
                          <a:solidFill>
                            <a:srgbClr val="6B7280"/>
                          </a:solidFill>
                          <a:latin typeface="Calibri"/>
                        </a:rPr>
                        <a:t>not significant</a:t>
                      </a:r>
                    </a:p>
                  </a:txBody>
                  <a:tcPr marL="54864" marR="54864" marT="9144" marB="9144" anchor="ctr">
                    <a:solidFill>
                      <a:srgbClr val="FFFFFF"/>
                    </a:solidFill>
                  </a:tcPr>
                </a:tc>
              </a:tr>
              <a:tr h="233172">
                <a:tc>
                  <a:txBody>
                    <a:bodyPr/>
                    <a:lstStyle/>
                    <a:p>
                      <a:pPr algn="l"/>
                      <a:r>
                        <a:rPr sz="969" b="0">
                          <a:solidFill>
                            <a:srgbClr val="1F3B63"/>
                          </a:solidFill>
                          <a:latin typeface="Calibri"/>
                        </a:rPr>
                        <a:t>Physics-Gated (A)  vs  smart persistence (B)</a:t>
                      </a:r>
                    </a:p>
                  </a:txBody>
                  <a:tcPr marL="54864" marR="54864" marT="9144" marB="9144" anchor="ctr">
                    <a:solidFill>
                      <a:srgbClr val="F3F5F9"/>
                    </a:solidFill>
                  </a:tcPr>
                </a:tc>
                <a:tc>
                  <a:txBody>
                    <a:bodyPr/>
                    <a:lstStyle/>
                    <a:p>
                      <a:pPr algn="ctr"/>
                      <a:r>
                        <a:rPr sz="969" b="0">
                          <a:solidFill>
                            <a:srgbClr val="252F3D"/>
                          </a:solidFill>
                          <a:latin typeface="Calibri"/>
                        </a:rPr>
                        <a:t>t+1 h</a:t>
                      </a:r>
                    </a:p>
                  </a:txBody>
                  <a:tcPr marL="54864" marR="54864" marT="9144" marB="9144" anchor="ctr">
                    <a:solidFill>
                      <a:srgbClr val="F3F5F9"/>
                    </a:solidFill>
                  </a:tcPr>
                </a:tc>
                <a:tc>
                  <a:txBody>
                    <a:bodyPr/>
                    <a:lstStyle/>
                    <a:p>
                      <a:pPr algn="ctr"/>
                      <a:r>
                        <a:rPr sz="969" b="0">
                          <a:solidFill>
                            <a:srgbClr val="252F3D"/>
                          </a:solidFill>
                          <a:latin typeface="Calibri"/>
                        </a:rPr>
                        <a:t>78.5</a:t>
                      </a:r>
                    </a:p>
                  </a:txBody>
                  <a:tcPr marL="54864" marR="54864" marT="9144" marB="9144" anchor="ctr">
                    <a:solidFill>
                      <a:srgbClr val="F3F5F9"/>
                    </a:solidFill>
                  </a:tcPr>
                </a:tc>
                <a:tc>
                  <a:txBody>
                    <a:bodyPr/>
                    <a:lstStyle/>
                    <a:p>
                      <a:pPr algn="ctr"/>
                      <a:r>
                        <a:rPr sz="969" b="0">
                          <a:solidFill>
                            <a:srgbClr val="252F3D"/>
                          </a:solidFill>
                          <a:latin typeface="Calibri"/>
                        </a:rPr>
                        <a:t>78.9</a:t>
                      </a:r>
                    </a:p>
                  </a:txBody>
                  <a:tcPr marL="54864" marR="54864" marT="9144" marB="9144" anchor="ctr">
                    <a:solidFill>
                      <a:srgbClr val="F3F5F9"/>
                    </a:solidFill>
                  </a:tcPr>
                </a:tc>
                <a:tc>
                  <a:txBody>
                    <a:bodyPr/>
                    <a:lstStyle/>
                    <a:p>
                      <a:pPr algn="ctr"/>
                      <a:r>
                        <a:rPr sz="969" b="0">
                          <a:solidFill>
                            <a:srgbClr val="252F3D"/>
                          </a:solidFill>
                          <a:latin typeface="Calibri"/>
                        </a:rPr>
                        <a:t>−0.16</a:t>
                      </a:r>
                    </a:p>
                  </a:txBody>
                  <a:tcPr marL="54864" marR="54864" marT="9144" marB="9144" anchor="ctr">
                    <a:solidFill>
                      <a:srgbClr val="F3F5F9"/>
                    </a:solidFill>
                  </a:tcPr>
                </a:tc>
                <a:tc>
                  <a:txBody>
                    <a:bodyPr/>
                    <a:lstStyle/>
                    <a:p>
                      <a:pPr algn="ctr"/>
                      <a:r>
                        <a:rPr sz="969" b="0">
                          <a:solidFill>
                            <a:srgbClr val="252F3D"/>
                          </a:solidFill>
                          <a:latin typeface="Calibri"/>
                        </a:rPr>
                        <a:t>0.872</a:t>
                      </a:r>
                    </a:p>
                  </a:txBody>
                  <a:tcPr marL="54864" marR="54864" marT="9144" marB="9144" anchor="ctr">
                    <a:solidFill>
                      <a:srgbClr val="F3F5F9"/>
                    </a:solidFill>
                  </a:tcPr>
                </a:tc>
                <a:tc>
                  <a:txBody>
                    <a:bodyPr/>
                    <a:lstStyle/>
                    <a:p>
                      <a:pPr algn="l"/>
                      <a:r>
                        <a:rPr sz="969" b="0">
                          <a:solidFill>
                            <a:srgbClr val="B3282D"/>
                          </a:solidFill>
                          <a:latin typeface="Calibri"/>
                        </a:rPr>
                        <a:t>no difference</a:t>
                      </a:r>
                    </a:p>
                  </a:txBody>
                  <a:tcPr marL="54864" marR="54864" marT="9144" marB="9144" anchor="ctr">
                    <a:solidFill>
                      <a:srgbClr val="F3F5F9"/>
                    </a:solidFill>
                  </a:tcPr>
                </a:tc>
              </a:tr>
              <a:tr h="233172">
                <a:tc>
                  <a:txBody>
                    <a:bodyPr/>
                    <a:lstStyle/>
                    <a:p>
                      <a:pPr algn="l"/>
                      <a:r>
                        <a:rPr sz="969" b="0">
                          <a:solidFill>
                            <a:srgbClr val="252F3D"/>
                          </a:solidFill>
                          <a:latin typeface="Calibri"/>
                        </a:rPr>
                        <a:t>Physics-Gated  vs  smart persistence</a:t>
                      </a:r>
                    </a:p>
                  </a:txBody>
                  <a:tcPr marL="54864" marR="54864" marT="9144" marB="9144" anchor="ctr">
                    <a:solidFill>
                      <a:srgbClr val="FFFFFF"/>
                    </a:solidFill>
                  </a:tcPr>
                </a:tc>
                <a:tc>
                  <a:txBody>
                    <a:bodyPr/>
                    <a:lstStyle/>
                    <a:p>
                      <a:pPr algn="ctr"/>
                      <a:r>
                        <a:rPr sz="969" b="0">
                          <a:solidFill>
                            <a:srgbClr val="252F3D"/>
                          </a:solidFill>
                          <a:latin typeface="Calibri"/>
                        </a:rPr>
                        <a:t>t+2 h</a:t>
                      </a:r>
                    </a:p>
                  </a:txBody>
                  <a:tcPr marL="54864" marR="54864" marT="9144" marB="9144" anchor="ctr">
                    <a:solidFill>
                      <a:srgbClr val="FFFFFF"/>
                    </a:solidFill>
                  </a:tcPr>
                </a:tc>
                <a:tc>
                  <a:txBody>
                    <a:bodyPr/>
                    <a:lstStyle/>
                    <a:p>
                      <a:pPr algn="ctr"/>
                      <a:r>
                        <a:rPr sz="969" b="0">
                          <a:solidFill>
                            <a:srgbClr val="252F3D"/>
                          </a:solidFill>
                          <a:latin typeface="Calibri"/>
                        </a:rPr>
                        <a:t>86.0</a:t>
                      </a:r>
                    </a:p>
                  </a:txBody>
                  <a:tcPr marL="54864" marR="54864" marT="9144" marB="9144" anchor="ctr">
                    <a:solidFill>
                      <a:srgbClr val="FFFFFF"/>
                    </a:solidFill>
                  </a:tcPr>
                </a:tc>
                <a:tc>
                  <a:txBody>
                    <a:bodyPr/>
                    <a:lstStyle/>
                    <a:p>
                      <a:pPr algn="ctr"/>
                      <a:r>
                        <a:rPr sz="969" b="0">
                          <a:solidFill>
                            <a:srgbClr val="252F3D"/>
                          </a:solidFill>
                          <a:latin typeface="Calibri"/>
                        </a:rPr>
                        <a:t>117.5</a:t>
                      </a:r>
                    </a:p>
                  </a:txBody>
                  <a:tcPr marL="54864" marR="54864" marT="9144" marB="9144" anchor="ctr">
                    <a:solidFill>
                      <a:srgbClr val="FFFFFF"/>
                    </a:solidFill>
                  </a:tcPr>
                </a:tc>
                <a:tc>
                  <a:txBody>
                    <a:bodyPr/>
                    <a:lstStyle/>
                    <a:p>
                      <a:pPr algn="ctr"/>
                      <a:r>
                        <a:rPr sz="969" b="0">
                          <a:solidFill>
                            <a:srgbClr val="252F3D"/>
                          </a:solidFill>
                          <a:latin typeface="Calibri"/>
                        </a:rPr>
                        <a:t>−8.44</a:t>
                      </a:r>
                    </a:p>
                  </a:txBody>
                  <a:tcPr marL="54864" marR="54864" marT="9144" marB="9144" anchor="ctr">
                    <a:solidFill>
                      <a:srgbClr val="FFFFFF"/>
                    </a:solidFill>
                  </a:tcPr>
                </a:tc>
                <a:tc>
                  <a:txBody>
                    <a:bodyPr/>
                    <a:lstStyle/>
                    <a:p>
                      <a:pPr algn="ctr"/>
                      <a:r>
                        <a:rPr sz="969" b="0">
                          <a:solidFill>
                            <a:srgbClr val="252F3D"/>
                          </a:solidFill>
                          <a:latin typeface="Calibri"/>
                        </a:rPr>
                        <a:t>&lt; 10⁻¹⁵</a:t>
                      </a:r>
                    </a:p>
                  </a:txBody>
                  <a:tcPr marL="54864" marR="54864" marT="9144" marB="9144" anchor="ctr">
                    <a:solidFill>
                      <a:srgbClr val="FFFFFF"/>
                    </a:solidFill>
                  </a:tcPr>
                </a:tc>
                <a:tc>
                  <a:txBody>
                    <a:bodyPr/>
                    <a:lstStyle/>
                    <a:p>
                      <a:pPr algn="l"/>
                      <a:r>
                        <a:rPr sz="969" b="0">
                          <a:solidFill>
                            <a:srgbClr val="2E7D74"/>
                          </a:solidFill>
                          <a:latin typeface="Calibri"/>
                        </a:rPr>
                        <a:t>A better — significant</a:t>
                      </a:r>
                    </a:p>
                  </a:txBody>
                  <a:tcPr marL="54864" marR="54864" marT="9144" marB="9144" anchor="ctr">
                    <a:solidFill>
                      <a:srgbClr val="FFFFFF"/>
                    </a:solidFill>
                  </a:tcPr>
                </a:tc>
              </a:tr>
              <a:tr h="233172">
                <a:tc>
                  <a:txBody>
                    <a:bodyPr/>
                    <a:lstStyle/>
                    <a:p>
                      <a:pPr algn="l"/>
                      <a:r>
                        <a:rPr sz="969" b="0">
                          <a:solidFill>
                            <a:srgbClr val="252F3D"/>
                          </a:solidFill>
                          <a:latin typeface="Calibri"/>
                        </a:rPr>
                        <a:t>Physics-Gated  vs  smart persistence</a:t>
                      </a:r>
                    </a:p>
                  </a:txBody>
                  <a:tcPr marL="54864" marR="54864" marT="9144" marB="9144" anchor="ctr">
                    <a:solidFill>
                      <a:srgbClr val="F3F5F9"/>
                    </a:solidFill>
                  </a:tcPr>
                </a:tc>
                <a:tc>
                  <a:txBody>
                    <a:bodyPr/>
                    <a:lstStyle/>
                    <a:p>
                      <a:pPr algn="ctr"/>
                      <a:r>
                        <a:rPr sz="969" b="0">
                          <a:solidFill>
                            <a:srgbClr val="252F3D"/>
                          </a:solidFill>
                          <a:latin typeface="Calibri"/>
                        </a:rPr>
                        <a:t>t+3 h</a:t>
                      </a:r>
                    </a:p>
                  </a:txBody>
                  <a:tcPr marL="54864" marR="54864" marT="9144" marB="9144" anchor="ctr">
                    <a:solidFill>
                      <a:srgbClr val="F3F5F9"/>
                    </a:solidFill>
                  </a:tcPr>
                </a:tc>
                <a:tc>
                  <a:txBody>
                    <a:bodyPr/>
                    <a:lstStyle/>
                    <a:p>
                      <a:pPr algn="ctr"/>
                      <a:r>
                        <a:rPr sz="969" b="0">
                          <a:solidFill>
                            <a:srgbClr val="252F3D"/>
                          </a:solidFill>
                          <a:latin typeface="Calibri"/>
                        </a:rPr>
                        <a:t>95.0</a:t>
                      </a:r>
                    </a:p>
                  </a:txBody>
                  <a:tcPr marL="54864" marR="54864" marT="9144" marB="9144" anchor="ctr">
                    <a:solidFill>
                      <a:srgbClr val="F3F5F9"/>
                    </a:solidFill>
                  </a:tcPr>
                </a:tc>
                <a:tc>
                  <a:txBody>
                    <a:bodyPr/>
                    <a:lstStyle/>
                    <a:p>
                      <a:pPr algn="ctr"/>
                      <a:r>
                        <a:rPr sz="969" b="0">
                          <a:solidFill>
                            <a:srgbClr val="252F3D"/>
                          </a:solidFill>
                          <a:latin typeface="Calibri"/>
                        </a:rPr>
                        <a:t>143.9</a:t>
                      </a:r>
                    </a:p>
                  </a:txBody>
                  <a:tcPr marL="54864" marR="54864" marT="9144" marB="9144" anchor="ctr">
                    <a:solidFill>
                      <a:srgbClr val="F3F5F9"/>
                    </a:solidFill>
                  </a:tcPr>
                </a:tc>
                <a:tc>
                  <a:txBody>
                    <a:bodyPr/>
                    <a:lstStyle/>
                    <a:p>
                      <a:pPr algn="ctr"/>
                      <a:r>
                        <a:rPr sz="969" b="0">
                          <a:solidFill>
                            <a:srgbClr val="252F3D"/>
                          </a:solidFill>
                          <a:latin typeface="Calibri"/>
                        </a:rPr>
                        <a:t>−9.58</a:t>
                      </a:r>
                    </a:p>
                  </a:txBody>
                  <a:tcPr marL="54864" marR="54864" marT="9144" marB="9144" anchor="ctr">
                    <a:solidFill>
                      <a:srgbClr val="F3F5F9"/>
                    </a:solidFill>
                  </a:tcPr>
                </a:tc>
                <a:tc>
                  <a:txBody>
                    <a:bodyPr/>
                    <a:lstStyle/>
                    <a:p>
                      <a:pPr algn="ctr"/>
                      <a:r>
                        <a:rPr sz="969" b="0">
                          <a:solidFill>
                            <a:srgbClr val="252F3D"/>
                          </a:solidFill>
                          <a:latin typeface="Calibri"/>
                        </a:rPr>
                        <a:t>&lt; 10⁻¹⁵</a:t>
                      </a:r>
                    </a:p>
                  </a:txBody>
                  <a:tcPr marL="54864" marR="54864" marT="9144" marB="9144" anchor="ctr">
                    <a:solidFill>
                      <a:srgbClr val="F3F5F9"/>
                    </a:solidFill>
                  </a:tcPr>
                </a:tc>
                <a:tc>
                  <a:txBody>
                    <a:bodyPr/>
                    <a:lstStyle/>
                    <a:p>
                      <a:pPr algn="l"/>
                      <a:r>
                        <a:rPr sz="969" b="0">
                          <a:solidFill>
                            <a:srgbClr val="2E7D74"/>
                          </a:solidFill>
                          <a:latin typeface="Calibri"/>
                        </a:rPr>
                        <a:t>A better — significant</a:t>
                      </a:r>
                    </a:p>
                  </a:txBody>
                  <a:tcPr marL="54864" marR="54864" marT="9144" marB="9144" anchor="ctr">
                    <a:solidFill>
                      <a:srgbClr val="F3F5F9"/>
                    </a:solidFill>
                  </a:tcPr>
                </a:tc>
              </a:tr>
            </a:tbl>
          </a:graphicData>
        </a:graphic>
      </p:graphicFrame>
      <p:sp>
        <p:nvSpPr>
          <p:cNvPr id="10" name="TextBox 9"/>
          <p:cNvSpPr txBox="1"/>
          <p:nvPr/>
        </p:nvSpPr>
        <p:spPr>
          <a:xfrm>
            <a:off x="502920" y="4224528"/>
            <a:ext cx="5577840" cy="2103120"/>
          </a:xfrm>
          <a:prstGeom prst="rect">
            <a:avLst/>
          </a:prstGeom>
          <a:noFill/>
        </p:spPr>
        <p:txBody>
          <a:bodyPr wrap="square" lIns="0" rIns="0" tIns="0" bIns="0">
            <a:spAutoFit/>
          </a:bodyPr>
          <a:lstStyle/>
          <a:p>
            <a:pPr>
              <a:lnSpc>
                <a:spcPct val="106000"/>
              </a:lnSpc>
              <a:spcBef>
                <a:spcPts val="0"/>
              </a:spcBef>
              <a:spcAft>
                <a:spcPts val="700"/>
              </a:spcAft>
            </a:pPr>
            <a:r>
              <a:rPr sz="1180" b="1" i="0">
                <a:solidFill>
                  <a:srgbClr val="1F3B63"/>
                </a:solidFill>
                <a:latin typeface="Calibri"/>
              </a:rPr>
              <a:t>RQ1 — does imagery help?  </a:t>
            </a:r>
            <a:r>
              <a:rPr sz="1180" b="0" i="0">
                <a:solidFill>
                  <a:srgbClr val="252F3D"/>
                </a:solidFill>
                <a:latin typeface="Calibri"/>
              </a:rPr>
              <a:t>No. Removing the image branch improves the forecast, and the improvement is significant at t+1 h (p = 0.0001) and t+2 h (p = 0.019). This is the project's central negative result, and it now rests on a paired test rather than on a single ordering.</a:t>
            </a:r>
          </a:p>
          <a:p>
            <a:pPr>
              <a:lnSpc>
                <a:spcPct val="106000"/>
              </a:lnSpc>
              <a:spcBef>
                <a:spcPts val="0"/>
              </a:spcBef>
              <a:spcAft>
                <a:spcPts val="700"/>
              </a:spcAft>
            </a:pPr>
            <a:r>
              <a:rPr sz="1180" b="1" i="0">
                <a:solidFill>
                  <a:srgbClr val="1F3B63"/>
                </a:solidFill>
                <a:latin typeface="Calibri"/>
              </a:rPr>
              <a:t>RQ2 — is the gate better than concatenation?  </a:t>
            </a:r>
            <a:r>
              <a:rPr sz="1180" b="0" i="0">
                <a:solidFill>
                  <a:srgbClr val="252F3D"/>
                </a:solidFill>
                <a:latin typeface="Calibri"/>
              </a:rPr>
              <a:t>No. Naive concatenation (83.4) beats the gate (86.5) on the mean; the gate's 193 parameters buy nothing measurable — see slide 15 for why.</a:t>
            </a:r>
          </a:p>
        </p:txBody>
      </p:sp>
      <p:sp>
        <p:nvSpPr>
          <p:cNvPr id="11" name="TextBox 10"/>
          <p:cNvSpPr txBox="1"/>
          <p:nvPr/>
        </p:nvSpPr>
        <p:spPr>
          <a:xfrm>
            <a:off x="6309360" y="4224528"/>
            <a:ext cx="5376672" cy="2103120"/>
          </a:xfrm>
          <a:prstGeom prst="rect">
            <a:avLst/>
          </a:prstGeom>
          <a:noFill/>
        </p:spPr>
        <p:txBody>
          <a:bodyPr wrap="square" lIns="0" rIns="0" tIns="0" bIns="0">
            <a:spAutoFit/>
          </a:bodyPr>
          <a:lstStyle/>
          <a:p>
            <a:pPr>
              <a:lnSpc>
                <a:spcPct val="106000"/>
              </a:lnSpc>
              <a:spcBef>
                <a:spcPts val="0"/>
              </a:spcBef>
              <a:spcAft>
                <a:spcPts val="700"/>
              </a:spcAft>
            </a:pPr>
            <a:r>
              <a:rPr sz="1180" b="1" i="0">
                <a:solidFill>
                  <a:srgbClr val="1F3B63"/>
                </a:solidFill>
                <a:latin typeface="Calibri"/>
              </a:rPr>
              <a:t>RQ3 — do trees beat the network?  </a:t>
            </a:r>
            <a:r>
              <a:rPr sz="1180" b="0" i="0">
                <a:solidFill>
                  <a:srgbClr val="252F3D"/>
                </a:solidFill>
                <a:latin typeface="Calibri"/>
              </a:rPr>
              <a:t>At t+1 h yes, decisively. At t+2 h and t+3 h the difference is not statistically significant — the deep model closes the gap as the horizon lengthens, which is consistent with the sequence encoder contributing more when the lag features become less informative.</a:t>
            </a:r>
          </a:p>
          <a:p>
            <a:pPr>
              <a:lnSpc>
                <a:spcPct val="106000"/>
              </a:lnSpc>
              <a:spcBef>
                <a:spcPts val="0"/>
              </a:spcBef>
              <a:spcAft>
                <a:spcPts val="700"/>
              </a:spcAft>
            </a:pPr>
            <a:r>
              <a:rPr sz="1180" b="1" i="0">
                <a:solidFill>
                  <a:srgbClr val="B3282D"/>
                </a:solidFill>
                <a:latin typeface="Calibri"/>
              </a:rPr>
              <a:t>Standing caveat.  </a:t>
            </a:r>
            <a:r>
              <a:rPr sz="1180" b="0" i="0">
                <a:solidFill>
                  <a:srgbClr val="252F3D"/>
                </a:solidFill>
                <a:latin typeface="Calibri"/>
              </a:rPr>
              <a:t>Every DM test compares two single training runs. The test controls sampling noise in the evaluation set, not initialisation noise in training — measured at ≈4.5 W/m² on slide 8. Differences below that magnitude are not claimed.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RESULTS · UNCERTAINTY</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Probabilistic calibration: the clearest success in the project</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14</a:t>
            </a:r>
          </a:p>
        </p:txBody>
      </p:sp>
      <p:pic>
        <p:nvPicPr>
          <p:cNvPr id="8" name="Picture 7" descr="f6_forecast.png"/>
          <p:cNvPicPr>
            <a:picLocks noChangeAspect="1"/>
          </p:cNvPicPr>
          <p:nvPr/>
        </p:nvPicPr>
        <p:blipFill>
          <a:blip r:embed="rId2"/>
          <a:stretch>
            <a:fillRect/>
          </a:stretch>
        </p:blipFill>
        <p:spPr>
          <a:xfrm>
            <a:off x="502920" y="1298448"/>
            <a:ext cx="6903720" cy="2657932"/>
          </a:xfrm>
          <a:prstGeom prst="rect">
            <a:avLst/>
          </a:prstGeom>
        </p:spPr>
      </p:pic>
      <p:sp>
        <p:nvSpPr>
          <p:cNvPr id="9" name="TextBox 8"/>
          <p:cNvSpPr txBox="1"/>
          <p:nvPr/>
        </p:nvSpPr>
        <p:spPr>
          <a:xfrm>
            <a:off x="502920" y="3986784"/>
            <a:ext cx="690372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Figure 6 — LSTM-only, t+1 h, 120 consecutive validation samples with the 90 % predictive interval. The band widens on broken-cloud afternoons and narrows on clear mornings.</a:t>
            </a:r>
          </a:p>
        </p:txBody>
      </p:sp>
      <p:graphicFrame>
        <p:nvGraphicFramePr>
          <p:cNvPr id="10" name="Table 9"/>
          <p:cNvGraphicFramePr>
            <a:graphicFrameLocks noGrp="1"/>
          </p:cNvGraphicFramePr>
          <p:nvPr/>
        </p:nvGraphicFramePr>
        <p:xfrm>
          <a:off x="502920" y="4443984"/>
          <a:ext cx="6903720" cy="1627632"/>
        </p:xfrm>
        <a:graphic>
          <a:graphicData uri="http://schemas.openxmlformats.org/drawingml/2006/table">
            <a:tbl>
              <a:tblPr bandRow="1"/>
              <a:tblGrid>
                <a:gridCol w="2514600"/>
                <a:gridCol w="914400"/>
                <a:gridCol w="1188720"/>
                <a:gridCol w="1143000"/>
                <a:gridCol w="1143000"/>
              </a:tblGrid>
              <a:tr h="256032">
                <a:tc>
                  <a:txBody>
                    <a:bodyPr/>
                    <a:lstStyle/>
                    <a:p>
                      <a:pPr algn="l"/>
                      <a:r>
                        <a:rPr sz="1050" b="1">
                          <a:solidFill>
                            <a:srgbClr val="FFFFFF"/>
                          </a:solidFill>
                          <a:latin typeface="Calibri"/>
                        </a:rPr>
                        <a:t>Variant</a:t>
                      </a:r>
                    </a:p>
                  </a:txBody>
                  <a:tcPr marL="54864" marR="54864" marT="18288" marB="18288" anchor="ctr">
                    <a:solidFill>
                      <a:srgbClr val="1F3B63"/>
                    </a:solidFill>
                  </a:tcPr>
                </a:tc>
                <a:tc>
                  <a:txBody>
                    <a:bodyPr/>
                    <a:lstStyle/>
                    <a:p>
                      <a:pPr algn="ctr"/>
                      <a:r>
                        <a:rPr sz="1050" b="1">
                          <a:solidFill>
                            <a:srgbClr val="FFFFFF"/>
                          </a:solidFill>
                          <a:latin typeface="Calibri"/>
                        </a:rPr>
                        <a:t>PICP %</a:t>
                      </a:r>
                    </a:p>
                  </a:txBody>
                  <a:tcPr marL="54864" marR="54864" marT="18288" marB="18288" anchor="ctr">
                    <a:solidFill>
                      <a:srgbClr val="1F3B63"/>
                    </a:solidFill>
                  </a:tcPr>
                </a:tc>
                <a:tc>
                  <a:txBody>
                    <a:bodyPr/>
                    <a:lstStyle/>
                    <a:p>
                      <a:pPr algn="ctr"/>
                      <a:r>
                        <a:rPr sz="1050" b="1">
                          <a:solidFill>
                            <a:srgbClr val="FFFFFF"/>
                          </a:solidFill>
                          <a:latin typeface="Calibri"/>
                        </a:rPr>
                        <a:t>width W/m²</a:t>
                      </a:r>
                    </a:p>
                  </a:txBody>
                  <a:tcPr marL="54864" marR="54864" marT="18288" marB="18288" anchor="ctr">
                    <a:solidFill>
                      <a:srgbClr val="1F3B63"/>
                    </a:solidFill>
                  </a:tcPr>
                </a:tc>
                <a:tc>
                  <a:txBody>
                    <a:bodyPr/>
                    <a:lstStyle/>
                    <a:p>
                      <a:pPr algn="ctr"/>
                      <a:r>
                        <a:rPr sz="1050" b="1">
                          <a:solidFill>
                            <a:srgbClr val="FFFFFF"/>
                          </a:solidFill>
                          <a:latin typeface="Calibri"/>
                        </a:rPr>
                        <a:t>CRPS W/m²</a:t>
                      </a:r>
                    </a:p>
                  </a:txBody>
                  <a:tcPr marL="54864" marR="54864" marT="18288" marB="18288" anchor="ctr">
                    <a:solidFill>
                      <a:srgbClr val="1F3B63"/>
                    </a:solidFill>
                  </a:tcPr>
                </a:tc>
                <a:tc>
                  <a:txBody>
                    <a:bodyPr/>
                    <a:lstStyle/>
                    <a:p>
                      <a:pPr algn="ctr"/>
                      <a:r>
                        <a:rPr sz="1050" b="1">
                          <a:solidFill>
                            <a:srgbClr val="FFFFFF"/>
                          </a:solidFill>
                          <a:latin typeface="Calibri"/>
                        </a:rPr>
                        <a:t>MAE W/m²</a:t>
                      </a:r>
                    </a:p>
                  </a:txBody>
                  <a:tcPr marL="54864" marR="54864" marT="18288" marB="18288" anchor="ctr">
                    <a:solidFill>
                      <a:srgbClr val="1F3B63"/>
                    </a:solidFill>
                  </a:tcPr>
                </a:tc>
              </a:tr>
              <a:tr h="228600">
                <a:tc>
                  <a:txBody>
                    <a:bodyPr/>
                    <a:lstStyle/>
                    <a:p>
                      <a:pPr algn="l"/>
                      <a:r>
                        <a:rPr sz="960" b="0">
                          <a:solidFill>
                            <a:srgbClr val="252F3D"/>
                          </a:solidFill>
                          <a:latin typeface="Calibri"/>
                        </a:rPr>
                        <a:t>LSTM-only</a:t>
                      </a:r>
                    </a:p>
                  </a:txBody>
                  <a:tcPr marL="54864" marR="54864" marT="9144" marB="9144" anchor="ctr">
                    <a:solidFill>
                      <a:srgbClr val="F3F5F9"/>
                    </a:solidFill>
                  </a:tcPr>
                </a:tc>
                <a:tc>
                  <a:txBody>
                    <a:bodyPr/>
                    <a:lstStyle/>
                    <a:p>
                      <a:pPr algn="ctr"/>
                      <a:r>
                        <a:rPr sz="960" b="0">
                          <a:solidFill>
                            <a:srgbClr val="252F3D"/>
                          </a:solidFill>
                          <a:latin typeface="Calibri"/>
                        </a:rPr>
                        <a:t>90.8</a:t>
                      </a:r>
                    </a:p>
                  </a:txBody>
                  <a:tcPr marL="54864" marR="54864" marT="9144" marB="9144" anchor="ctr">
                    <a:solidFill>
                      <a:srgbClr val="F3F5F9"/>
                    </a:solidFill>
                  </a:tcPr>
                </a:tc>
                <a:tc>
                  <a:txBody>
                    <a:bodyPr/>
                    <a:lstStyle/>
                    <a:p>
                      <a:pPr algn="ctr"/>
                      <a:r>
                        <a:rPr sz="960" b="0">
                          <a:solidFill>
                            <a:srgbClr val="252F3D"/>
                          </a:solidFill>
                          <a:latin typeface="Calibri"/>
                        </a:rPr>
                        <a:t>372</a:t>
                      </a:r>
                    </a:p>
                  </a:txBody>
                  <a:tcPr marL="54864" marR="54864" marT="9144" marB="9144" anchor="ctr">
                    <a:solidFill>
                      <a:srgbClr val="F3F5F9"/>
                    </a:solidFill>
                  </a:tcPr>
                </a:tc>
                <a:tc>
                  <a:txBody>
                    <a:bodyPr/>
                    <a:lstStyle/>
                    <a:p>
                      <a:pPr algn="ctr"/>
                      <a:r>
                        <a:rPr sz="960" b="0">
                          <a:solidFill>
                            <a:srgbClr val="252F3D"/>
                          </a:solidFill>
                          <a:latin typeface="Calibri"/>
                        </a:rPr>
                        <a:t>59.8</a:t>
                      </a:r>
                    </a:p>
                  </a:txBody>
                  <a:tcPr marL="54864" marR="54864" marT="9144" marB="9144" anchor="ctr">
                    <a:solidFill>
                      <a:srgbClr val="F3F5F9"/>
                    </a:solidFill>
                  </a:tcPr>
                </a:tc>
                <a:tc>
                  <a:txBody>
                    <a:bodyPr/>
                    <a:lstStyle/>
                    <a:p>
                      <a:pPr algn="ctr"/>
                      <a:r>
                        <a:rPr sz="960" b="0">
                          <a:solidFill>
                            <a:srgbClr val="252F3D"/>
                          </a:solidFill>
                          <a:latin typeface="Calibri"/>
                        </a:rPr>
                        <a:t>82.6</a:t>
                      </a:r>
                    </a:p>
                  </a:txBody>
                  <a:tcPr marL="54864" marR="54864" marT="9144" marB="9144" anchor="ctr">
                    <a:solidFill>
                      <a:srgbClr val="F3F5F9"/>
                    </a:solidFill>
                  </a:tcPr>
                </a:tc>
              </a:tr>
              <a:tr h="228600">
                <a:tc>
                  <a:txBody>
                    <a:bodyPr/>
                    <a:lstStyle/>
                    <a:p>
                      <a:pPr algn="l"/>
                      <a:r>
                        <a:rPr sz="960" b="0">
                          <a:solidFill>
                            <a:srgbClr val="252F3D"/>
                          </a:solidFill>
                          <a:latin typeface="Calibri"/>
                        </a:rPr>
                        <a:t>Naive concat fusion</a:t>
                      </a:r>
                    </a:p>
                  </a:txBody>
                  <a:tcPr marL="54864" marR="54864" marT="9144" marB="9144" anchor="ctr">
                    <a:solidFill>
                      <a:srgbClr val="FFFFFF"/>
                    </a:solidFill>
                  </a:tcPr>
                </a:tc>
                <a:tc>
                  <a:txBody>
                    <a:bodyPr/>
                    <a:lstStyle/>
                    <a:p>
                      <a:pPr algn="ctr"/>
                      <a:r>
                        <a:rPr sz="960" b="0">
                          <a:solidFill>
                            <a:srgbClr val="252F3D"/>
                          </a:solidFill>
                          <a:latin typeface="Calibri"/>
                        </a:rPr>
                        <a:t>90.5</a:t>
                      </a:r>
                    </a:p>
                  </a:txBody>
                  <a:tcPr marL="54864" marR="54864" marT="9144" marB="9144" anchor="ctr">
                    <a:solidFill>
                      <a:srgbClr val="FFFFFF"/>
                    </a:solidFill>
                  </a:tcPr>
                </a:tc>
                <a:tc>
                  <a:txBody>
                    <a:bodyPr/>
                    <a:lstStyle/>
                    <a:p>
                      <a:pPr algn="ctr"/>
                      <a:r>
                        <a:rPr sz="960" b="0">
                          <a:solidFill>
                            <a:srgbClr val="252F3D"/>
                          </a:solidFill>
                          <a:latin typeface="Calibri"/>
                        </a:rPr>
                        <a:t>365</a:t>
                      </a:r>
                    </a:p>
                  </a:txBody>
                  <a:tcPr marL="54864" marR="54864" marT="9144" marB="9144" anchor="ctr">
                    <a:solidFill>
                      <a:srgbClr val="FFFFFF"/>
                    </a:solidFill>
                  </a:tcPr>
                </a:tc>
                <a:tc>
                  <a:txBody>
                    <a:bodyPr/>
                    <a:lstStyle/>
                    <a:p>
                      <a:pPr algn="ctr"/>
                      <a:r>
                        <a:rPr sz="960" b="0">
                          <a:solidFill>
                            <a:srgbClr val="252F3D"/>
                          </a:solidFill>
                          <a:latin typeface="Calibri"/>
                        </a:rPr>
                        <a:t>60.1</a:t>
                      </a:r>
                    </a:p>
                  </a:txBody>
                  <a:tcPr marL="54864" marR="54864" marT="9144" marB="9144" anchor="ctr">
                    <a:solidFill>
                      <a:srgbClr val="FFFFFF"/>
                    </a:solidFill>
                  </a:tcPr>
                </a:tc>
                <a:tc>
                  <a:txBody>
                    <a:bodyPr/>
                    <a:lstStyle/>
                    <a:p>
                      <a:pPr algn="ctr"/>
                      <a:r>
                        <a:rPr sz="960" b="0">
                          <a:solidFill>
                            <a:srgbClr val="252F3D"/>
                          </a:solidFill>
                          <a:latin typeface="Calibri"/>
                        </a:rPr>
                        <a:t>83.4</a:t>
                      </a:r>
                    </a:p>
                  </a:txBody>
                  <a:tcPr marL="54864" marR="54864" marT="9144" marB="9144" anchor="ctr">
                    <a:solidFill>
                      <a:srgbClr val="FFFFFF"/>
                    </a:solidFill>
                  </a:tcPr>
                </a:tc>
              </a:tr>
              <a:tr h="228600">
                <a:tc>
                  <a:txBody>
                    <a:bodyPr/>
                    <a:lstStyle/>
                    <a:p>
                      <a:pPr algn="l"/>
                      <a:r>
                        <a:rPr sz="960" b="0">
                          <a:solidFill>
                            <a:srgbClr val="252F3D"/>
                          </a:solidFill>
                          <a:latin typeface="Calibri"/>
                        </a:rPr>
                        <a:t>Image + temporal query</a:t>
                      </a:r>
                    </a:p>
                  </a:txBody>
                  <a:tcPr marL="54864" marR="54864" marT="9144" marB="9144" anchor="ctr">
                    <a:solidFill>
                      <a:srgbClr val="F3F5F9"/>
                    </a:solidFill>
                  </a:tcPr>
                </a:tc>
                <a:tc>
                  <a:txBody>
                    <a:bodyPr/>
                    <a:lstStyle/>
                    <a:p>
                      <a:pPr algn="ctr"/>
                      <a:r>
                        <a:rPr sz="960" b="0">
                          <a:solidFill>
                            <a:srgbClr val="252F3D"/>
                          </a:solidFill>
                          <a:latin typeface="Calibri"/>
                        </a:rPr>
                        <a:t>90.9</a:t>
                      </a:r>
                    </a:p>
                  </a:txBody>
                  <a:tcPr marL="54864" marR="54864" marT="9144" marB="9144" anchor="ctr">
                    <a:solidFill>
                      <a:srgbClr val="F3F5F9"/>
                    </a:solidFill>
                  </a:tcPr>
                </a:tc>
                <a:tc>
                  <a:txBody>
                    <a:bodyPr/>
                    <a:lstStyle/>
                    <a:p>
                      <a:pPr algn="ctr"/>
                      <a:r>
                        <a:rPr sz="960" b="0">
                          <a:solidFill>
                            <a:srgbClr val="252F3D"/>
                          </a:solidFill>
                          <a:latin typeface="Calibri"/>
                        </a:rPr>
                        <a:t>366</a:t>
                      </a:r>
                    </a:p>
                  </a:txBody>
                  <a:tcPr marL="54864" marR="54864" marT="9144" marB="9144" anchor="ctr">
                    <a:solidFill>
                      <a:srgbClr val="F3F5F9"/>
                    </a:solidFill>
                  </a:tcPr>
                </a:tc>
                <a:tc>
                  <a:txBody>
                    <a:bodyPr/>
                    <a:lstStyle/>
                    <a:p>
                      <a:pPr algn="ctr"/>
                      <a:r>
                        <a:rPr sz="960" b="0">
                          <a:solidFill>
                            <a:srgbClr val="252F3D"/>
                          </a:solidFill>
                          <a:latin typeface="Calibri"/>
                        </a:rPr>
                        <a:t>60.8</a:t>
                      </a:r>
                    </a:p>
                  </a:txBody>
                  <a:tcPr marL="54864" marR="54864" marT="9144" marB="9144" anchor="ctr">
                    <a:solidFill>
                      <a:srgbClr val="F3F5F9"/>
                    </a:solidFill>
                  </a:tcPr>
                </a:tc>
                <a:tc>
                  <a:txBody>
                    <a:bodyPr/>
                    <a:lstStyle/>
                    <a:p>
                      <a:pPr algn="ctr"/>
                      <a:r>
                        <a:rPr sz="960" b="0">
                          <a:solidFill>
                            <a:srgbClr val="252F3D"/>
                          </a:solidFill>
                          <a:latin typeface="Calibri"/>
                        </a:rPr>
                        <a:t>84.5</a:t>
                      </a:r>
                    </a:p>
                  </a:txBody>
                  <a:tcPr marL="54864" marR="54864" marT="9144" marB="9144" anchor="ctr">
                    <a:solidFill>
                      <a:srgbClr val="F3F5F9"/>
                    </a:solidFill>
                  </a:tcPr>
                </a:tc>
              </a:tr>
              <a:tr h="228600">
                <a:tc>
                  <a:txBody>
                    <a:bodyPr/>
                    <a:lstStyle/>
                    <a:p>
                      <a:pPr algn="l"/>
                      <a:r>
                        <a:rPr sz="960" b="0">
                          <a:solidFill>
                            <a:srgbClr val="252F3D"/>
                          </a:solidFill>
                          <a:latin typeface="Calibri"/>
                        </a:rPr>
                        <a:t>Physics-Gated (no ghi_lag1)</a:t>
                      </a:r>
                    </a:p>
                  </a:txBody>
                  <a:tcPr marL="54864" marR="54864" marT="9144" marB="9144" anchor="ctr">
                    <a:solidFill>
                      <a:srgbClr val="FFFFFF"/>
                    </a:solidFill>
                  </a:tcPr>
                </a:tc>
                <a:tc>
                  <a:txBody>
                    <a:bodyPr/>
                    <a:lstStyle/>
                    <a:p>
                      <a:pPr algn="ctr"/>
                      <a:r>
                        <a:rPr sz="960" b="0">
                          <a:solidFill>
                            <a:srgbClr val="252F3D"/>
                          </a:solidFill>
                          <a:latin typeface="Calibri"/>
                        </a:rPr>
                        <a:t>90.0</a:t>
                      </a:r>
                    </a:p>
                  </a:txBody>
                  <a:tcPr marL="54864" marR="54864" marT="9144" marB="9144" anchor="ctr">
                    <a:solidFill>
                      <a:srgbClr val="FFFFFF"/>
                    </a:solidFill>
                  </a:tcPr>
                </a:tc>
                <a:tc>
                  <a:txBody>
                    <a:bodyPr/>
                    <a:lstStyle/>
                    <a:p>
                      <a:pPr algn="ctr"/>
                      <a:r>
                        <a:rPr sz="960" b="0">
                          <a:solidFill>
                            <a:srgbClr val="252F3D"/>
                          </a:solidFill>
                          <a:latin typeface="Calibri"/>
                        </a:rPr>
                        <a:t>360</a:t>
                      </a:r>
                    </a:p>
                  </a:txBody>
                  <a:tcPr marL="54864" marR="54864" marT="9144" marB="9144" anchor="ctr">
                    <a:solidFill>
                      <a:srgbClr val="FFFFFF"/>
                    </a:solidFill>
                  </a:tcPr>
                </a:tc>
                <a:tc>
                  <a:txBody>
                    <a:bodyPr/>
                    <a:lstStyle/>
                    <a:p>
                      <a:pPr algn="ctr"/>
                      <a:r>
                        <a:rPr sz="960" b="0">
                          <a:solidFill>
                            <a:srgbClr val="252F3D"/>
                          </a:solidFill>
                          <a:latin typeface="Calibri"/>
                        </a:rPr>
                        <a:t>61.1</a:t>
                      </a:r>
                    </a:p>
                  </a:txBody>
                  <a:tcPr marL="54864" marR="54864" marT="9144" marB="9144" anchor="ctr">
                    <a:solidFill>
                      <a:srgbClr val="FFFFFF"/>
                    </a:solidFill>
                  </a:tcPr>
                </a:tc>
                <a:tc>
                  <a:txBody>
                    <a:bodyPr/>
                    <a:lstStyle/>
                    <a:p>
                      <a:pPr algn="ctr"/>
                      <a:r>
                        <a:rPr sz="960" b="0">
                          <a:solidFill>
                            <a:srgbClr val="252F3D"/>
                          </a:solidFill>
                          <a:latin typeface="Calibri"/>
                        </a:rPr>
                        <a:t>84.4</a:t>
                      </a:r>
                    </a:p>
                  </a:txBody>
                  <a:tcPr marL="54864" marR="54864" marT="9144" marB="9144" anchor="ctr">
                    <a:solidFill>
                      <a:srgbClr val="FFFFFF"/>
                    </a:solidFill>
                  </a:tcPr>
                </a:tc>
              </a:tr>
              <a:tr h="228600">
                <a:tc>
                  <a:txBody>
                    <a:bodyPr/>
                    <a:lstStyle/>
                    <a:p>
                      <a:pPr algn="l"/>
                      <a:r>
                        <a:rPr sz="960" b="0">
                          <a:solidFill>
                            <a:srgbClr val="252F3D"/>
                          </a:solidFill>
                          <a:latin typeface="Calibri"/>
                        </a:rPr>
                        <a:t>Physics-Gated (large)</a:t>
                      </a:r>
                    </a:p>
                  </a:txBody>
                  <a:tcPr marL="54864" marR="54864" marT="9144" marB="9144" anchor="ctr">
                    <a:solidFill>
                      <a:srgbClr val="F3F5F9"/>
                    </a:solidFill>
                  </a:tcPr>
                </a:tc>
                <a:tc>
                  <a:txBody>
                    <a:bodyPr/>
                    <a:lstStyle/>
                    <a:p>
                      <a:pPr algn="ctr"/>
                      <a:r>
                        <a:rPr sz="960" b="0">
                          <a:solidFill>
                            <a:srgbClr val="252F3D"/>
                          </a:solidFill>
                          <a:latin typeface="Calibri"/>
                        </a:rPr>
                        <a:t>91.9</a:t>
                      </a:r>
                    </a:p>
                  </a:txBody>
                  <a:tcPr marL="54864" marR="54864" marT="9144" marB="9144" anchor="ctr">
                    <a:solidFill>
                      <a:srgbClr val="F3F5F9"/>
                    </a:solidFill>
                  </a:tcPr>
                </a:tc>
                <a:tc>
                  <a:txBody>
                    <a:bodyPr/>
                    <a:lstStyle/>
                    <a:p>
                      <a:pPr algn="ctr"/>
                      <a:r>
                        <a:rPr sz="960" b="0">
                          <a:solidFill>
                            <a:srgbClr val="252F3D"/>
                          </a:solidFill>
                          <a:latin typeface="Calibri"/>
                        </a:rPr>
                        <a:t>385</a:t>
                      </a:r>
                    </a:p>
                  </a:txBody>
                  <a:tcPr marL="54864" marR="54864" marT="9144" marB="9144" anchor="ctr">
                    <a:solidFill>
                      <a:srgbClr val="F3F5F9"/>
                    </a:solidFill>
                  </a:tcPr>
                </a:tc>
                <a:tc>
                  <a:txBody>
                    <a:bodyPr/>
                    <a:lstStyle/>
                    <a:p>
                      <a:pPr algn="ctr"/>
                      <a:r>
                        <a:rPr sz="960" b="0">
                          <a:solidFill>
                            <a:srgbClr val="252F3D"/>
                          </a:solidFill>
                          <a:latin typeface="Calibri"/>
                        </a:rPr>
                        <a:t>62.0</a:t>
                      </a:r>
                    </a:p>
                  </a:txBody>
                  <a:tcPr marL="54864" marR="54864" marT="9144" marB="9144" anchor="ctr">
                    <a:solidFill>
                      <a:srgbClr val="F3F5F9"/>
                    </a:solidFill>
                  </a:tcPr>
                </a:tc>
                <a:tc>
                  <a:txBody>
                    <a:bodyPr/>
                    <a:lstStyle/>
                    <a:p>
                      <a:pPr algn="ctr"/>
                      <a:r>
                        <a:rPr sz="960" b="0">
                          <a:solidFill>
                            <a:srgbClr val="252F3D"/>
                          </a:solidFill>
                          <a:latin typeface="Calibri"/>
                        </a:rPr>
                        <a:t>86.5</a:t>
                      </a:r>
                    </a:p>
                  </a:txBody>
                  <a:tcPr marL="54864" marR="54864" marT="9144" marB="9144" anchor="ctr">
                    <a:solidFill>
                      <a:srgbClr val="F3F5F9"/>
                    </a:solidFill>
                  </a:tcPr>
                </a:tc>
              </a:tr>
              <a:tr h="228600">
                <a:tc>
                  <a:txBody>
                    <a:bodyPr/>
                    <a:lstStyle/>
                    <a:p>
                      <a:pPr algn="l"/>
                      <a:r>
                        <a:rPr sz="960" b="0">
                          <a:solidFill>
                            <a:srgbClr val="252F3D"/>
                          </a:solidFill>
                          <a:latin typeface="Calibri"/>
                        </a:rPr>
                        <a:t>Physics-Gated (small)</a:t>
                      </a:r>
                    </a:p>
                  </a:txBody>
                  <a:tcPr marL="54864" marR="54864" marT="9144" marB="9144" anchor="ctr">
                    <a:solidFill>
                      <a:srgbClr val="FFFFFF"/>
                    </a:solidFill>
                  </a:tcPr>
                </a:tc>
                <a:tc>
                  <a:txBody>
                    <a:bodyPr/>
                    <a:lstStyle/>
                    <a:p>
                      <a:pPr algn="ctr"/>
                      <a:r>
                        <a:rPr sz="960" b="0">
                          <a:solidFill>
                            <a:srgbClr val="252F3D"/>
                          </a:solidFill>
                          <a:latin typeface="Calibri"/>
                        </a:rPr>
                        <a:t>91.4</a:t>
                      </a:r>
                    </a:p>
                  </a:txBody>
                  <a:tcPr marL="54864" marR="54864" marT="9144" marB="9144" anchor="ctr">
                    <a:solidFill>
                      <a:srgbClr val="FFFFFF"/>
                    </a:solidFill>
                  </a:tcPr>
                </a:tc>
                <a:tc>
                  <a:txBody>
                    <a:bodyPr/>
                    <a:lstStyle/>
                    <a:p>
                      <a:pPr algn="ctr"/>
                      <a:r>
                        <a:rPr sz="960" b="0">
                          <a:solidFill>
                            <a:srgbClr val="252F3D"/>
                          </a:solidFill>
                          <a:latin typeface="Calibri"/>
                        </a:rPr>
                        <a:t>486</a:t>
                      </a:r>
                    </a:p>
                  </a:txBody>
                  <a:tcPr marL="54864" marR="54864" marT="9144" marB="9144" anchor="ctr">
                    <a:solidFill>
                      <a:srgbClr val="FFFFFF"/>
                    </a:solidFill>
                  </a:tcPr>
                </a:tc>
                <a:tc>
                  <a:txBody>
                    <a:bodyPr/>
                    <a:lstStyle/>
                    <a:p>
                      <a:pPr algn="ctr"/>
                      <a:r>
                        <a:rPr sz="960" b="0">
                          <a:solidFill>
                            <a:srgbClr val="252F3D"/>
                          </a:solidFill>
                          <a:latin typeface="Calibri"/>
                        </a:rPr>
                        <a:t>76.3</a:t>
                      </a:r>
                    </a:p>
                  </a:txBody>
                  <a:tcPr marL="54864" marR="54864" marT="9144" marB="9144" anchor="ctr">
                    <a:solidFill>
                      <a:srgbClr val="FFFFFF"/>
                    </a:solidFill>
                  </a:tcPr>
                </a:tc>
                <a:tc>
                  <a:txBody>
                    <a:bodyPr/>
                    <a:lstStyle/>
                    <a:p>
                      <a:pPr algn="ctr"/>
                      <a:r>
                        <a:rPr sz="960" b="0">
                          <a:solidFill>
                            <a:srgbClr val="252F3D"/>
                          </a:solidFill>
                          <a:latin typeface="Calibri"/>
                        </a:rPr>
                        <a:t>105.5</a:t>
                      </a:r>
                    </a:p>
                  </a:txBody>
                  <a:tcPr marL="54864" marR="54864" marT="9144" marB="9144" anchor="ctr">
                    <a:solidFill>
                      <a:srgbClr val="FFFFFF"/>
                    </a:solidFill>
                  </a:tcPr>
                </a:tc>
              </a:tr>
            </a:tbl>
          </a:graphicData>
        </a:graphic>
      </p:graphicFrame>
      <p:sp>
        <p:nvSpPr>
          <p:cNvPr id="11" name="TextBox 10"/>
          <p:cNvSpPr txBox="1"/>
          <p:nvPr/>
        </p:nvSpPr>
        <p:spPr>
          <a:xfrm>
            <a:off x="502920" y="6144768"/>
            <a:ext cx="690372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Nominal coverage is 90 %. CRPS ranks the variants identically to MAE — sharpness follows accuracy.</a:t>
            </a:r>
          </a:p>
        </p:txBody>
      </p:sp>
      <p:pic>
        <p:nvPicPr>
          <p:cNvPr id="12" name="Picture 11" descr="f5_calibration.png"/>
          <p:cNvPicPr>
            <a:picLocks noChangeAspect="1"/>
          </p:cNvPicPr>
          <p:nvPr/>
        </p:nvPicPr>
        <p:blipFill>
          <a:blip r:embed="rId3"/>
          <a:stretch>
            <a:fillRect/>
          </a:stretch>
        </p:blipFill>
        <p:spPr>
          <a:xfrm>
            <a:off x="7635240" y="1298448"/>
            <a:ext cx="4050791" cy="1358069"/>
          </a:xfrm>
          <a:prstGeom prst="rect">
            <a:avLst/>
          </a:prstGeom>
        </p:spPr>
      </p:pic>
      <p:sp>
        <p:nvSpPr>
          <p:cNvPr id="13" name="TextBox 12"/>
          <p:cNvSpPr txBox="1"/>
          <p:nvPr/>
        </p:nvSpPr>
        <p:spPr>
          <a:xfrm>
            <a:off x="7635240" y="2688336"/>
            <a:ext cx="4050791"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Figure 7 — coverage at n = 914 vs n = 18, and mean interval width.</a:t>
            </a:r>
          </a:p>
        </p:txBody>
      </p:sp>
      <p:sp>
        <p:nvSpPr>
          <p:cNvPr id="14" name="TextBox 13"/>
          <p:cNvSpPr txBox="1"/>
          <p:nvPr/>
        </p:nvSpPr>
        <p:spPr>
          <a:xfrm>
            <a:off x="7635240" y="3063240"/>
            <a:ext cx="4050791" cy="3200400"/>
          </a:xfrm>
          <a:prstGeom prst="rect">
            <a:avLst/>
          </a:prstGeom>
          <a:noFill/>
        </p:spPr>
        <p:txBody>
          <a:bodyPr wrap="square" lIns="0" rIns="0" tIns="0" bIns="0">
            <a:spAutoFit/>
          </a:bodyPr>
          <a:lstStyle/>
          <a:p>
            <a:pPr>
              <a:lnSpc>
                <a:spcPct val="106000"/>
              </a:lnSpc>
              <a:spcBef>
                <a:spcPts val="0"/>
              </a:spcBef>
              <a:spcAft>
                <a:spcPts val="700"/>
              </a:spcAft>
            </a:pPr>
            <a:r>
              <a:rPr sz="1080" b="1" i="0">
                <a:solidFill>
                  <a:srgbClr val="2E7D74"/>
                </a:solidFill>
                <a:latin typeface="Calibri"/>
              </a:rPr>
              <a:t>OBSERVATION.  </a:t>
            </a:r>
            <a:r>
              <a:rPr sz="1080" b="0" i="0">
                <a:solidFill>
                  <a:srgbClr val="252F3D"/>
                </a:solidFill>
                <a:latin typeface="Calibri"/>
              </a:rPr>
              <a:t>Empirical coverage is 90.0–91.9 % against a nominal 90 % — every variant, with no post-hoc recalibration.</a:t>
            </a:r>
          </a:p>
          <a:p>
            <a:pPr>
              <a:lnSpc>
                <a:spcPct val="106000"/>
              </a:lnSpc>
              <a:spcBef>
                <a:spcPts val="0"/>
              </a:spcBef>
              <a:spcAft>
                <a:spcPts val="700"/>
              </a:spcAft>
            </a:pPr>
            <a:r>
              <a:rPr sz="1080" b="1" i="0">
                <a:solidFill>
                  <a:srgbClr val="1F3B63"/>
                </a:solidFill>
                <a:latin typeface="Calibri"/>
              </a:rPr>
              <a:t>INTERPRETATION.  </a:t>
            </a:r>
            <a:r>
              <a:rPr sz="1080" b="0" i="0">
                <a:solidFill>
                  <a:srgbClr val="252F3D"/>
                </a:solidFill>
                <a:latin typeface="Calibri"/>
              </a:rPr>
              <a:t>The Gaussian NLL objective did its job: σ is learned per sample, so the model expresses genuine conditional uncertainty rather than a fixed band.</a:t>
            </a:r>
          </a:p>
          <a:p>
            <a:pPr>
              <a:lnSpc>
                <a:spcPct val="106000"/>
              </a:lnSpc>
              <a:spcBef>
                <a:spcPts val="0"/>
              </a:spcBef>
              <a:spcAft>
                <a:spcPts val="700"/>
              </a:spcAft>
            </a:pPr>
            <a:r>
              <a:rPr sz="1080" b="1" i="0">
                <a:solidFill>
                  <a:srgbClr val="B3282D"/>
                </a:solidFill>
                <a:latin typeface="Calibri"/>
              </a:rPr>
              <a:t>Honest caveat.  </a:t>
            </a:r>
            <a:r>
              <a:rPr sz="1080" b="0" i="0">
                <a:solidFill>
                  <a:srgbClr val="252F3D"/>
                </a:solidFill>
                <a:latin typeface="Calibri"/>
              </a:rPr>
              <a:t>Coverage without width is meaningless. 372 W/m² is 78 % of mean GHI — calibrated, but blunt at three hours ahead.</a:t>
            </a:r>
          </a:p>
          <a:p>
            <a:pPr>
              <a:lnSpc>
                <a:spcPct val="106000"/>
              </a:lnSpc>
              <a:spcBef>
                <a:spcPts val="0"/>
              </a:spcBef>
              <a:spcAft>
                <a:spcPts val="700"/>
              </a:spcAft>
            </a:pPr>
            <a:r>
              <a:rPr sz="1080" b="1" i="0">
                <a:solidFill>
                  <a:srgbClr val="C4622D"/>
                </a:solidFill>
                <a:latin typeface="Calibri"/>
              </a:rPr>
              <a:t>Sample size again.  </a:t>
            </a:r>
            <a:r>
              <a:rPr sz="1080" b="0" i="0">
                <a:solidFill>
                  <a:srgbClr val="252F3D"/>
                </a:solidFill>
                <a:latin typeface="Calibri"/>
              </a:rPr>
              <a:t>The committed 18-sample table reports PICP 55–76 %, which reads as a calibration failure. At n = 914 the same checkpoints give 90–92 %. The failure was the test set.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MECHANISM ANALYSIS</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Why the gate did not help: right direction, 13 % of the range</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15</a:t>
            </a:r>
          </a:p>
        </p:txBody>
      </p:sp>
      <p:pic>
        <p:nvPicPr>
          <p:cNvPr id="8" name="Picture 7" descr="f7_gate.png"/>
          <p:cNvPicPr>
            <a:picLocks noChangeAspect="1"/>
          </p:cNvPicPr>
          <p:nvPr/>
        </p:nvPicPr>
        <p:blipFill>
          <a:blip r:embed="rId2"/>
          <a:stretch>
            <a:fillRect/>
          </a:stretch>
        </p:blipFill>
        <p:spPr>
          <a:xfrm>
            <a:off x="502920" y="1325880"/>
            <a:ext cx="6949440" cy="2262920"/>
          </a:xfrm>
          <a:prstGeom prst="rect">
            <a:avLst/>
          </a:prstGeom>
        </p:spPr>
      </p:pic>
      <p:sp>
        <p:nvSpPr>
          <p:cNvPr id="9" name="TextBox 8"/>
          <p:cNvSpPr txBox="1"/>
          <p:nvPr/>
        </p:nvSpPr>
        <p:spPr>
          <a:xfrm>
            <a:off x="502920" y="3639312"/>
            <a:ext cx="694944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Figure 8 — gate output α for all 914 samples. Left: α against its own first input, the clear-sky index. Right: mean α by hour. Both panels are drawn on the full 0–1 range the sigmoid can reach.</a:t>
            </a:r>
          </a:p>
        </p:txBody>
      </p:sp>
      <p:graphicFrame>
        <p:nvGraphicFramePr>
          <p:cNvPr id="10" name="Table 9"/>
          <p:cNvGraphicFramePr>
            <a:graphicFrameLocks noGrp="1"/>
          </p:cNvGraphicFramePr>
          <p:nvPr/>
        </p:nvGraphicFramePr>
        <p:xfrm>
          <a:off x="502920" y="4041648"/>
          <a:ext cx="6949440" cy="1755648"/>
        </p:xfrm>
        <a:graphic>
          <a:graphicData uri="http://schemas.openxmlformats.org/drawingml/2006/table">
            <a:tbl>
              <a:tblPr bandRow="1"/>
              <a:tblGrid>
                <a:gridCol w="2194560"/>
                <a:gridCol w="1234440"/>
                <a:gridCol w="3520440"/>
              </a:tblGrid>
              <a:tr h="274320">
                <a:tc>
                  <a:txBody>
                    <a:bodyPr/>
                    <a:lstStyle/>
                    <a:p>
                      <a:pPr algn="l"/>
                      <a:r>
                        <a:rPr sz="1050" b="1">
                          <a:solidFill>
                            <a:srgbClr val="FFFFFF"/>
                          </a:solidFill>
                          <a:latin typeface="Calibri"/>
                        </a:rPr>
                        <a:t>Quantity</a:t>
                      </a:r>
                    </a:p>
                  </a:txBody>
                  <a:tcPr marL="54864" marR="54864" marT="18288" marB="18288" anchor="ctr">
                    <a:solidFill>
                      <a:srgbClr val="1F3B63"/>
                    </a:solidFill>
                  </a:tcPr>
                </a:tc>
                <a:tc>
                  <a:txBody>
                    <a:bodyPr/>
                    <a:lstStyle/>
                    <a:p>
                      <a:pPr algn="l"/>
                      <a:r>
                        <a:rPr sz="1050" b="1">
                          <a:solidFill>
                            <a:srgbClr val="FFFFFF"/>
                          </a:solidFill>
                          <a:latin typeface="Calibri"/>
                        </a:rPr>
                        <a:t>Value</a:t>
                      </a:r>
                    </a:p>
                  </a:txBody>
                  <a:tcPr marL="54864" marR="54864" marT="18288" marB="18288" anchor="ctr">
                    <a:solidFill>
                      <a:srgbClr val="1F3B63"/>
                    </a:solidFill>
                  </a:tcPr>
                </a:tc>
                <a:tc>
                  <a:txBody>
                    <a:bodyPr/>
                    <a:lstStyle/>
                    <a:p>
                      <a:pPr algn="l"/>
                      <a:r>
                        <a:rPr sz="1050" b="1">
                          <a:solidFill>
                            <a:srgbClr val="FFFFFF"/>
                          </a:solidFill>
                          <a:latin typeface="Calibri"/>
                        </a:rPr>
                        <a:t>Reading</a:t>
                      </a:r>
                    </a:p>
                  </a:txBody>
                  <a:tcPr marL="54864" marR="54864" marT="18288" marB="18288" anchor="ctr">
                    <a:solidFill>
                      <a:srgbClr val="1F3B63"/>
                    </a:solidFill>
                  </a:tcPr>
                </a:tc>
              </a:tr>
              <a:tr h="246888">
                <a:tc>
                  <a:txBody>
                    <a:bodyPr/>
                    <a:lstStyle/>
                    <a:p>
                      <a:pPr algn="l"/>
                      <a:r>
                        <a:rPr sz="980" b="0">
                          <a:solidFill>
                            <a:srgbClr val="252F3D"/>
                          </a:solidFill>
                          <a:latin typeface="Calibri"/>
                        </a:rPr>
                        <a:t>mean α</a:t>
                      </a:r>
                    </a:p>
                  </a:txBody>
                  <a:tcPr marL="54864" marR="54864" marT="9144" marB="9144" anchor="ctr">
                    <a:solidFill>
                      <a:srgbClr val="F3F5F9"/>
                    </a:solidFill>
                  </a:tcPr>
                </a:tc>
                <a:tc>
                  <a:txBody>
                    <a:bodyPr/>
                    <a:lstStyle/>
                    <a:p>
                      <a:pPr algn="l"/>
                      <a:r>
                        <a:rPr sz="980" b="0">
                          <a:solidFill>
                            <a:srgbClr val="252F3D"/>
                          </a:solidFill>
                          <a:latin typeface="Calibri"/>
                        </a:rPr>
                        <a:t>0.489</a:t>
                      </a:r>
                    </a:p>
                  </a:txBody>
                  <a:tcPr marL="54864" marR="54864" marT="9144" marB="9144" anchor="ctr">
                    <a:solidFill>
                      <a:srgbClr val="F3F5F9"/>
                    </a:solidFill>
                  </a:tcPr>
                </a:tc>
                <a:tc>
                  <a:txBody>
                    <a:bodyPr/>
                    <a:lstStyle/>
                    <a:p>
                      <a:pPr algn="l"/>
                      <a:r>
                        <a:rPr sz="980" b="0">
                          <a:solidFill>
                            <a:srgbClr val="252F3D"/>
                          </a:solidFill>
                          <a:latin typeface="Calibri"/>
                        </a:rPr>
                        <a:t>an almost exactly equal blend of the two branches</a:t>
                      </a:r>
                    </a:p>
                  </a:txBody>
                  <a:tcPr marL="54864" marR="54864" marT="9144" marB="9144" anchor="ctr">
                    <a:solidFill>
                      <a:srgbClr val="F3F5F9"/>
                    </a:solidFill>
                  </a:tcPr>
                </a:tc>
              </a:tr>
              <a:tr h="246888">
                <a:tc>
                  <a:txBody>
                    <a:bodyPr/>
                    <a:lstStyle/>
                    <a:p>
                      <a:pPr algn="l"/>
                      <a:r>
                        <a:rPr sz="980" b="0">
                          <a:solidFill>
                            <a:srgbClr val="252F3D"/>
                          </a:solidFill>
                          <a:latin typeface="Calibri"/>
                        </a:rPr>
                        <a:t>standard deviation of α</a:t>
                      </a:r>
                    </a:p>
                  </a:txBody>
                  <a:tcPr marL="54864" marR="54864" marT="9144" marB="9144" anchor="ctr">
                    <a:solidFill>
                      <a:srgbClr val="FFFFFF"/>
                    </a:solidFill>
                  </a:tcPr>
                </a:tc>
                <a:tc>
                  <a:txBody>
                    <a:bodyPr/>
                    <a:lstStyle/>
                    <a:p>
                      <a:pPr algn="l"/>
                      <a:r>
                        <a:rPr sz="980" b="0">
                          <a:solidFill>
                            <a:srgbClr val="252F3D"/>
                          </a:solidFill>
                          <a:latin typeface="Calibri"/>
                        </a:rPr>
                        <a:t>0.027</a:t>
                      </a:r>
                    </a:p>
                  </a:txBody>
                  <a:tcPr marL="54864" marR="54864" marT="9144" marB="9144" anchor="ctr">
                    <a:solidFill>
                      <a:srgbClr val="FFFFFF"/>
                    </a:solidFill>
                  </a:tcPr>
                </a:tc>
                <a:tc>
                  <a:txBody>
                    <a:bodyPr/>
                    <a:lstStyle/>
                    <a:p>
                      <a:pPr algn="l"/>
                      <a:r>
                        <a:rPr sz="980" b="0">
                          <a:solidFill>
                            <a:srgbClr val="252F3D"/>
                          </a:solidFill>
                          <a:latin typeface="Calibri"/>
                        </a:rPr>
                        <a:t>the gate moves ±2.7 % over every condition seen</a:t>
                      </a:r>
                    </a:p>
                  </a:txBody>
                  <a:tcPr marL="54864" marR="54864" marT="9144" marB="9144" anchor="ctr">
                    <a:solidFill>
                      <a:srgbClr val="FFFFFF"/>
                    </a:solidFill>
                  </a:tcPr>
                </a:tc>
              </a:tr>
              <a:tr h="246888">
                <a:tc>
                  <a:txBody>
                    <a:bodyPr/>
                    <a:lstStyle/>
                    <a:p>
                      <a:pPr algn="l"/>
                      <a:r>
                        <a:rPr sz="980" b="1">
                          <a:solidFill>
                            <a:srgbClr val="252F3D"/>
                          </a:solidFill>
                          <a:latin typeface="Calibri"/>
                        </a:rPr>
                        <a:t>observed range</a:t>
                      </a:r>
                    </a:p>
                  </a:txBody>
                  <a:tcPr marL="54864" marR="54864" marT="9144" marB="9144" anchor="ctr">
                    <a:solidFill>
                      <a:srgbClr val="FDF0E7"/>
                    </a:solidFill>
                  </a:tcPr>
                </a:tc>
                <a:tc>
                  <a:txBody>
                    <a:bodyPr/>
                    <a:lstStyle/>
                    <a:p>
                      <a:pPr algn="l"/>
                      <a:r>
                        <a:rPr sz="980" b="1">
                          <a:solidFill>
                            <a:srgbClr val="252F3D"/>
                          </a:solidFill>
                          <a:latin typeface="Calibri"/>
                        </a:rPr>
                        <a:t>0.432 – 0.561</a:t>
                      </a:r>
                    </a:p>
                  </a:txBody>
                  <a:tcPr marL="54864" marR="54864" marT="9144" marB="9144" anchor="ctr">
                    <a:solidFill>
                      <a:srgbClr val="FDF0E7"/>
                    </a:solidFill>
                  </a:tcPr>
                </a:tc>
                <a:tc>
                  <a:txBody>
                    <a:bodyPr/>
                    <a:lstStyle/>
                    <a:p>
                      <a:pPr algn="l"/>
                      <a:r>
                        <a:rPr sz="980" b="1">
                          <a:solidFill>
                            <a:srgbClr val="252F3D"/>
                          </a:solidFill>
                          <a:latin typeface="Calibri"/>
                        </a:rPr>
                        <a:t>13 % of the available (0, 1) interval</a:t>
                      </a:r>
                    </a:p>
                  </a:txBody>
                  <a:tcPr marL="54864" marR="54864" marT="9144" marB="9144" anchor="ctr">
                    <a:solidFill>
                      <a:srgbClr val="FDF0E7"/>
                    </a:solidFill>
                  </a:tcPr>
                </a:tc>
              </a:tr>
              <a:tr h="246888">
                <a:tc>
                  <a:txBody>
                    <a:bodyPr/>
                    <a:lstStyle/>
                    <a:p>
                      <a:pPr algn="l"/>
                      <a:r>
                        <a:rPr sz="980" b="0">
                          <a:solidFill>
                            <a:srgbClr val="252F3D"/>
                          </a:solidFill>
                          <a:latin typeface="Calibri"/>
                        </a:rPr>
                        <a:t>corr(α, clear-sky index)</a:t>
                      </a:r>
                    </a:p>
                  </a:txBody>
                  <a:tcPr marL="54864" marR="54864" marT="9144" marB="9144" anchor="ctr">
                    <a:solidFill>
                      <a:srgbClr val="FFFFFF"/>
                    </a:solidFill>
                  </a:tcPr>
                </a:tc>
                <a:tc>
                  <a:txBody>
                    <a:bodyPr/>
                    <a:lstStyle/>
                    <a:p>
                      <a:pPr algn="l"/>
                      <a:r>
                        <a:rPr sz="980" b="0">
                          <a:solidFill>
                            <a:srgbClr val="252F3D"/>
                          </a:solidFill>
                          <a:latin typeface="Calibri"/>
                        </a:rPr>
                        <a:t>+0.895</a:t>
                      </a:r>
                    </a:p>
                  </a:txBody>
                  <a:tcPr marL="54864" marR="54864" marT="9144" marB="9144" anchor="ctr">
                    <a:solidFill>
                      <a:srgbClr val="FFFFFF"/>
                    </a:solidFill>
                  </a:tcPr>
                </a:tc>
                <a:tc>
                  <a:txBody>
                    <a:bodyPr/>
                    <a:lstStyle/>
                    <a:p>
                      <a:pPr algn="l"/>
                      <a:r>
                        <a:rPr sz="980" b="0">
                          <a:solidFill>
                            <a:srgbClr val="252F3D"/>
                          </a:solidFill>
                          <a:latin typeface="Calibri"/>
                        </a:rPr>
                        <a:t>clear sky → trust the weather history</a:t>
                      </a:r>
                    </a:p>
                  </a:txBody>
                  <a:tcPr marL="54864" marR="54864" marT="9144" marB="9144" anchor="ctr">
                    <a:solidFill>
                      <a:srgbClr val="FFFFFF"/>
                    </a:solidFill>
                  </a:tcPr>
                </a:tc>
              </a:tr>
              <a:tr h="246888">
                <a:tc>
                  <a:txBody>
                    <a:bodyPr/>
                    <a:lstStyle/>
                    <a:p>
                      <a:pPr algn="l"/>
                      <a:r>
                        <a:rPr sz="980" b="0">
                          <a:solidFill>
                            <a:srgbClr val="252F3D"/>
                          </a:solidFill>
                          <a:latin typeface="Calibri"/>
                        </a:rPr>
                        <a:t>corr(α, cloud cover)</a:t>
                      </a:r>
                    </a:p>
                  </a:txBody>
                  <a:tcPr marL="54864" marR="54864" marT="9144" marB="9144" anchor="ctr">
                    <a:solidFill>
                      <a:srgbClr val="F3F5F9"/>
                    </a:solidFill>
                  </a:tcPr>
                </a:tc>
                <a:tc>
                  <a:txBody>
                    <a:bodyPr/>
                    <a:lstStyle/>
                    <a:p>
                      <a:pPr algn="l"/>
                      <a:r>
                        <a:rPr sz="980" b="0">
                          <a:solidFill>
                            <a:srgbClr val="252F3D"/>
                          </a:solidFill>
                          <a:latin typeface="Calibri"/>
                        </a:rPr>
                        <a:t>−0.611</a:t>
                      </a:r>
                    </a:p>
                  </a:txBody>
                  <a:tcPr marL="54864" marR="54864" marT="9144" marB="9144" anchor="ctr">
                    <a:solidFill>
                      <a:srgbClr val="F3F5F9"/>
                    </a:solidFill>
                  </a:tcPr>
                </a:tc>
                <a:tc>
                  <a:txBody>
                    <a:bodyPr/>
                    <a:lstStyle/>
                    <a:p>
                      <a:pPr algn="l"/>
                      <a:r>
                        <a:rPr sz="980" b="0">
                          <a:solidFill>
                            <a:srgbClr val="252F3D"/>
                          </a:solidFill>
                          <a:latin typeface="Calibri"/>
                        </a:rPr>
                        <a:t>cloudy → shift weight toward the imagery</a:t>
                      </a:r>
                    </a:p>
                  </a:txBody>
                  <a:tcPr marL="54864" marR="54864" marT="9144" marB="9144" anchor="ctr">
                    <a:solidFill>
                      <a:srgbClr val="F3F5F9"/>
                    </a:solidFill>
                  </a:tcPr>
                </a:tc>
              </a:tr>
              <a:tr h="246888">
                <a:tc>
                  <a:txBody>
                    <a:bodyPr/>
                    <a:lstStyle/>
                    <a:p>
                      <a:pPr algn="l"/>
                      <a:r>
                        <a:rPr sz="980" b="0">
                          <a:solidFill>
                            <a:srgbClr val="252F3D"/>
                          </a:solidFill>
                          <a:latin typeface="Calibri"/>
                        </a:rPr>
                        <a:t>corr(α, hour of day)</a:t>
                      </a:r>
                    </a:p>
                  </a:txBody>
                  <a:tcPr marL="54864" marR="54864" marT="9144" marB="9144" anchor="ctr">
                    <a:solidFill>
                      <a:srgbClr val="FFFFFF"/>
                    </a:solidFill>
                  </a:tcPr>
                </a:tc>
                <a:tc>
                  <a:txBody>
                    <a:bodyPr/>
                    <a:lstStyle/>
                    <a:p>
                      <a:pPr algn="l"/>
                      <a:r>
                        <a:rPr sz="980" b="0">
                          <a:solidFill>
                            <a:srgbClr val="252F3D"/>
                          </a:solidFill>
                          <a:latin typeface="Calibri"/>
                        </a:rPr>
                        <a:t>+0.435</a:t>
                      </a:r>
                    </a:p>
                  </a:txBody>
                  <a:tcPr marL="54864" marR="54864" marT="9144" marB="9144" anchor="ctr">
                    <a:solidFill>
                      <a:srgbClr val="FFFFFF"/>
                    </a:solidFill>
                  </a:tcPr>
                </a:tc>
                <a:tc>
                  <a:txBody>
                    <a:bodyPr/>
                    <a:lstStyle/>
                    <a:p>
                      <a:pPr algn="l"/>
                      <a:r>
                        <a:rPr sz="980" b="0">
                          <a:solidFill>
                            <a:srgbClr val="252F3D"/>
                          </a:solidFill>
                          <a:latin typeface="Calibri"/>
                        </a:rPr>
                        <a:t>morning leans on imagery, afternoon on history</a:t>
                      </a:r>
                    </a:p>
                  </a:txBody>
                  <a:tcPr marL="54864" marR="54864" marT="9144" marB="9144" anchor="ctr">
                    <a:solidFill>
                      <a:srgbClr val="FFFFFF"/>
                    </a:solidFill>
                  </a:tcPr>
                </a:tc>
              </a:tr>
            </a:tbl>
          </a:graphicData>
        </a:graphic>
      </p:graphicFrame>
      <p:sp>
        <p:nvSpPr>
          <p:cNvPr id="11" name="TextBox 10"/>
          <p:cNvSpPr txBox="1"/>
          <p:nvPr/>
        </p:nvSpPr>
        <p:spPr>
          <a:xfrm>
            <a:off x="7680960" y="1325880"/>
            <a:ext cx="4005072" cy="4937760"/>
          </a:xfrm>
          <a:prstGeom prst="rect">
            <a:avLst/>
          </a:prstGeom>
          <a:noFill/>
        </p:spPr>
        <p:txBody>
          <a:bodyPr wrap="square" lIns="0" rIns="0" tIns="0" bIns="0">
            <a:spAutoFit/>
          </a:bodyPr>
          <a:lstStyle/>
          <a:p>
            <a:pPr>
              <a:lnSpc>
                <a:spcPct val="106000"/>
              </a:lnSpc>
              <a:spcBef>
                <a:spcPts val="0"/>
              </a:spcBef>
              <a:spcAft>
                <a:spcPts val="700"/>
              </a:spcAft>
            </a:pPr>
            <a:r>
              <a:rPr sz="1160" b="1" i="0">
                <a:solidFill>
                  <a:srgbClr val="2E7D74"/>
                </a:solidFill>
                <a:latin typeface="Calibri"/>
              </a:rPr>
              <a:t>OBSERVATION.  </a:t>
            </a:r>
            <a:r>
              <a:rPr sz="1160" b="0" i="0">
                <a:solidFill>
                  <a:srgbClr val="252F3D"/>
                </a:solidFill>
                <a:latin typeface="Calibri"/>
              </a:rPr>
              <a:t>α correlates +0.90 with the clear-sky index and −0.61 with cloud cover — the physically intended direction, learned without supervision.</a:t>
            </a:r>
          </a:p>
          <a:p>
            <a:pPr>
              <a:lnSpc>
                <a:spcPct val="106000"/>
              </a:lnSpc>
              <a:spcBef>
                <a:spcPts val="0"/>
              </a:spcBef>
              <a:spcAft>
                <a:spcPts val="700"/>
              </a:spcAft>
            </a:pPr>
            <a:r>
              <a:rPr sz="1160" b="1" i="0">
                <a:solidFill>
                  <a:srgbClr val="2E7D74"/>
                </a:solidFill>
                <a:latin typeface="Calibri"/>
              </a:rPr>
              <a:t>OBSERVATION.  </a:t>
            </a:r>
            <a:r>
              <a:rPr sz="1160" b="0" i="0">
                <a:solidFill>
                  <a:srgbClr val="252F3D"/>
                </a:solidFill>
                <a:latin typeface="Calibri"/>
              </a:rPr>
              <a:t>But α never leaves 0.43–0.56. In every condition the fusion is within 7 % of a fixed 50/50 average of the two branches.</a:t>
            </a:r>
          </a:p>
          <a:p>
            <a:pPr>
              <a:lnSpc>
                <a:spcPct val="106000"/>
              </a:lnSpc>
              <a:spcBef>
                <a:spcPts val="0"/>
              </a:spcBef>
              <a:spcAft>
                <a:spcPts val="700"/>
              </a:spcAft>
            </a:pPr>
            <a:r>
              <a:rPr sz="1160" b="1" i="0">
                <a:solidFill>
                  <a:srgbClr val="1F3B63"/>
                </a:solidFill>
                <a:latin typeface="Calibri"/>
              </a:rPr>
              <a:t>INTERPRETATION.  </a:t>
            </a:r>
            <a:r>
              <a:rPr sz="1160" b="0" i="0">
                <a:solidFill>
                  <a:srgbClr val="252F3D"/>
                </a:solidFill>
                <a:latin typeface="Calibri"/>
              </a:rPr>
              <a:t>A gate that never commits cannot route. It behaves as a constant, so the architecture reduces in practice to a fixed mean of the temporal and attended-image vectors — which is why it performs slightly worse than explicit concatenation, where the head can at least learn its own weighting over 512 dimensions.</a:t>
            </a:r>
          </a:p>
          <a:p>
            <a:pPr>
              <a:lnSpc>
                <a:spcPct val="106000"/>
              </a:lnSpc>
              <a:spcBef>
                <a:spcPts val="0"/>
              </a:spcBef>
              <a:spcAft>
                <a:spcPts val="700"/>
              </a:spcAft>
            </a:pPr>
            <a:r>
              <a:rPr sz="1160" b="1" i="0">
                <a:solidFill>
                  <a:srgbClr val="1F3B63"/>
                </a:solidFill>
                <a:latin typeface="Calibri"/>
              </a:rPr>
              <a:t>INTERPRETATION.  </a:t>
            </a:r>
            <a:r>
              <a:rPr sz="1160" b="0" i="0">
                <a:solidFill>
                  <a:srgbClr val="252F3D"/>
                </a:solidFill>
                <a:latin typeface="Calibri"/>
              </a:rPr>
              <a:t>Nothing in the objective rewards a decisive gate. The NLL is minimised by whatever blend reduces error on average, and if the image branch carries little signal, averaging it in at a constant weight is the safe optimum.</a:t>
            </a:r>
          </a:p>
          <a:p>
            <a:pPr>
              <a:lnSpc>
                <a:spcPct val="106000"/>
              </a:lnSpc>
              <a:spcBef>
                <a:spcPts val="0"/>
              </a:spcBef>
              <a:spcAft>
                <a:spcPts val="700"/>
              </a:spcAft>
            </a:pPr>
            <a:r>
              <a:rPr sz="1160" b="1" i="0">
                <a:solidFill>
                  <a:srgbClr val="B3282D"/>
                </a:solidFill>
                <a:latin typeface="Calibri"/>
              </a:rPr>
              <a:t>SPECULATION.  </a:t>
            </a:r>
            <a:r>
              <a:rPr sz="1160" b="0" i="0">
                <a:solidFill>
                  <a:srgbClr val="252F3D"/>
                </a:solidFill>
                <a:latin typeface="Calibri"/>
              </a:rPr>
              <a:t>An entropy or sparsity penalty on α, or a temperature on the sigmoid, might force commitment. Untested here.</a:t>
            </a:r>
          </a:p>
          <a:p>
            <a:pPr>
              <a:lnSpc>
                <a:spcPct val="106000"/>
              </a:lnSpc>
              <a:spcBef>
                <a:spcPts val="0"/>
              </a:spcBef>
              <a:spcAft>
                <a:spcPts val="700"/>
              </a:spcAft>
            </a:pPr>
            <a:r>
              <a:rPr sz="1160" b="1" i="0">
                <a:solidFill>
                  <a:srgbClr val="6B7280"/>
                </a:solidFill>
                <a:latin typeface="Calibri"/>
              </a:rPr>
              <a:t>Caveat.  </a:t>
            </a:r>
            <a:r>
              <a:rPr sz="1160" b="0" i="0">
                <a:solidFill>
                  <a:srgbClr val="252F3D"/>
                </a:solidFill>
                <a:latin typeface="Calibri"/>
              </a:rPr>
              <a:t>Two of the gate's four inputs behave differently at serving time — see slide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ERROR ANALYSIS</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Where the forecasts fail — and where imagery finally helps</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16</a:t>
            </a:r>
          </a:p>
        </p:txBody>
      </p:sp>
      <p:pic>
        <p:nvPicPr>
          <p:cNvPr id="8" name="Picture 7" descr="f8_errors.png"/>
          <p:cNvPicPr>
            <a:picLocks noChangeAspect="1"/>
          </p:cNvPicPr>
          <p:nvPr/>
        </p:nvPicPr>
        <p:blipFill>
          <a:blip r:embed="rId2"/>
          <a:stretch>
            <a:fillRect/>
          </a:stretch>
        </p:blipFill>
        <p:spPr>
          <a:xfrm>
            <a:off x="502920" y="1325880"/>
            <a:ext cx="7040880" cy="2294981"/>
          </a:xfrm>
          <a:prstGeom prst="rect">
            <a:avLst/>
          </a:prstGeom>
        </p:spPr>
      </p:pic>
      <p:sp>
        <p:nvSpPr>
          <p:cNvPr id="9" name="TextBox 8"/>
          <p:cNvSpPr txBox="1"/>
          <p:nvPr/>
        </p:nvSpPr>
        <p:spPr>
          <a:xfrm>
            <a:off x="502920" y="3657600"/>
            <a:ext cx="704088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Figure 9 — MAE at t+1 h stratified by the clear-sky index at issue time (left) and by hour of day (right), 914 samples.</a:t>
            </a:r>
          </a:p>
        </p:txBody>
      </p:sp>
      <p:graphicFrame>
        <p:nvGraphicFramePr>
          <p:cNvPr id="10" name="Table 9"/>
          <p:cNvGraphicFramePr>
            <a:graphicFrameLocks noGrp="1"/>
          </p:cNvGraphicFramePr>
          <p:nvPr/>
        </p:nvGraphicFramePr>
        <p:xfrm>
          <a:off x="502920" y="3968496"/>
          <a:ext cx="7040877" cy="1531620"/>
        </p:xfrm>
        <a:graphic>
          <a:graphicData uri="http://schemas.openxmlformats.org/drawingml/2006/table">
            <a:tbl>
              <a:tblPr bandRow="1"/>
              <a:tblGrid>
                <a:gridCol w="2256692"/>
                <a:gridCol w="541606"/>
                <a:gridCol w="1083212"/>
                <a:gridCol w="1218613"/>
                <a:gridCol w="947810"/>
                <a:gridCol w="992944"/>
              </a:tblGrid>
              <a:tr h="274320">
                <a:tc>
                  <a:txBody>
                    <a:bodyPr/>
                    <a:lstStyle/>
                    <a:p>
                      <a:pPr algn="l"/>
                      <a:r>
                        <a:rPr sz="1050" b="1">
                          <a:solidFill>
                            <a:srgbClr val="FFFFFF"/>
                          </a:solidFill>
                          <a:latin typeface="Calibri"/>
                        </a:rPr>
                        <a:t>Regime  (k_t at issue time)</a:t>
                      </a:r>
                    </a:p>
                  </a:txBody>
                  <a:tcPr marL="54864" marR="54864" marT="18288" marB="18288" anchor="ctr">
                    <a:solidFill>
                      <a:srgbClr val="1F3B63"/>
                    </a:solidFill>
                  </a:tcPr>
                </a:tc>
                <a:tc>
                  <a:txBody>
                    <a:bodyPr/>
                    <a:lstStyle/>
                    <a:p>
                      <a:pPr algn="ctr"/>
                      <a:r>
                        <a:rPr sz="1050" b="1">
                          <a:solidFill>
                            <a:srgbClr val="FFFFFF"/>
                          </a:solidFill>
                          <a:latin typeface="Calibri"/>
                        </a:rPr>
                        <a:t>n</a:t>
                      </a:r>
                    </a:p>
                  </a:txBody>
                  <a:tcPr marL="54864" marR="54864" marT="18288" marB="18288" anchor="ctr">
                    <a:solidFill>
                      <a:srgbClr val="1F3B63"/>
                    </a:solidFill>
                  </a:tcPr>
                </a:tc>
                <a:tc>
                  <a:txBody>
                    <a:bodyPr/>
                    <a:lstStyle/>
                    <a:p>
                      <a:pPr algn="ctr"/>
                      <a:r>
                        <a:rPr sz="1050" b="1">
                          <a:solidFill>
                            <a:srgbClr val="FFFFFF"/>
                          </a:solidFill>
                          <a:latin typeface="Calibri"/>
                        </a:rPr>
                        <a:t>LSTM-only</a:t>
                      </a:r>
                    </a:p>
                  </a:txBody>
                  <a:tcPr marL="54864" marR="54864" marT="18288" marB="18288" anchor="ctr">
                    <a:solidFill>
                      <a:srgbClr val="1F3B63"/>
                    </a:solidFill>
                  </a:tcPr>
                </a:tc>
                <a:tc>
                  <a:txBody>
                    <a:bodyPr/>
                    <a:lstStyle/>
                    <a:p>
                      <a:pPr algn="ctr"/>
                      <a:r>
                        <a:rPr sz="1050" b="1">
                          <a:solidFill>
                            <a:srgbClr val="FFFFFF"/>
                          </a:solidFill>
                          <a:latin typeface="Calibri"/>
                        </a:rPr>
                        <a:t>Physics-Gated</a:t>
                      </a:r>
                    </a:p>
                  </a:txBody>
                  <a:tcPr marL="54864" marR="54864" marT="18288" marB="18288" anchor="ctr">
                    <a:solidFill>
                      <a:srgbClr val="1F3B63"/>
                    </a:solidFill>
                  </a:tcPr>
                </a:tc>
                <a:tc>
                  <a:txBody>
                    <a:bodyPr/>
                    <a:lstStyle/>
                    <a:p>
                      <a:pPr algn="ctr"/>
                      <a:r>
                        <a:rPr sz="1050" b="1">
                          <a:solidFill>
                            <a:srgbClr val="FFFFFF"/>
                          </a:solidFill>
                          <a:latin typeface="Calibri"/>
                        </a:rPr>
                        <a:t>LightGBM</a:t>
                      </a:r>
                    </a:p>
                  </a:txBody>
                  <a:tcPr marL="54864" marR="54864" marT="18288" marB="18288" anchor="ctr">
                    <a:solidFill>
                      <a:srgbClr val="1F3B63"/>
                    </a:solidFill>
                  </a:tcPr>
                </a:tc>
                <a:tc>
                  <a:txBody>
                    <a:bodyPr/>
                    <a:lstStyle/>
                    <a:p>
                      <a:pPr algn="ctr"/>
                      <a:r>
                        <a:rPr sz="1050" b="1">
                          <a:solidFill>
                            <a:srgbClr val="FFFFFF"/>
                          </a:solidFill>
                          <a:latin typeface="Calibri"/>
                        </a:rPr>
                        <a:t>Smart pers.</a:t>
                      </a:r>
                    </a:p>
                  </a:txBody>
                  <a:tcPr marL="54864" marR="54864" marT="18288" marB="18288" anchor="ctr">
                    <a:solidFill>
                      <a:srgbClr val="1F3B63"/>
                    </a:solidFill>
                  </a:tcPr>
                </a:tc>
              </a:tr>
              <a:tr h="251460">
                <a:tc>
                  <a:txBody>
                    <a:bodyPr/>
                    <a:lstStyle/>
                    <a:p>
                      <a:pPr algn="l"/>
                      <a:r>
                        <a:rPr sz="980" b="0">
                          <a:solidFill>
                            <a:srgbClr val="252F3D"/>
                          </a:solidFill>
                          <a:latin typeface="Calibri"/>
                        </a:rPr>
                        <a:t>&lt; 0.3   overcast</a:t>
                      </a:r>
                    </a:p>
                  </a:txBody>
                  <a:tcPr marL="54864" marR="54864" marT="9144" marB="9144" anchor="ctr">
                    <a:solidFill>
                      <a:srgbClr val="F3F5F9"/>
                    </a:solidFill>
                  </a:tcPr>
                </a:tc>
                <a:tc>
                  <a:txBody>
                    <a:bodyPr/>
                    <a:lstStyle/>
                    <a:p>
                      <a:pPr algn="ctr"/>
                      <a:r>
                        <a:rPr sz="980" b="0">
                          <a:solidFill>
                            <a:srgbClr val="252F3D"/>
                          </a:solidFill>
                          <a:latin typeface="Calibri"/>
                        </a:rPr>
                        <a:t>57</a:t>
                      </a:r>
                    </a:p>
                  </a:txBody>
                  <a:tcPr marL="54864" marR="54864" marT="9144" marB="9144" anchor="ctr">
                    <a:solidFill>
                      <a:srgbClr val="F3F5F9"/>
                    </a:solidFill>
                  </a:tcPr>
                </a:tc>
                <a:tc>
                  <a:txBody>
                    <a:bodyPr/>
                    <a:lstStyle/>
                    <a:p>
                      <a:pPr algn="ctr"/>
                      <a:r>
                        <a:rPr sz="980" b="0">
                          <a:solidFill>
                            <a:srgbClr val="252F3D"/>
                          </a:solidFill>
                          <a:latin typeface="Calibri"/>
                        </a:rPr>
                        <a:t>89.0</a:t>
                      </a:r>
                    </a:p>
                  </a:txBody>
                  <a:tcPr marL="54864" marR="54864" marT="9144" marB="9144" anchor="ctr">
                    <a:solidFill>
                      <a:srgbClr val="F3F5F9"/>
                    </a:solidFill>
                  </a:tcPr>
                </a:tc>
                <a:tc>
                  <a:txBody>
                    <a:bodyPr/>
                    <a:lstStyle/>
                    <a:p>
                      <a:pPr algn="ctr"/>
                      <a:r>
                        <a:rPr sz="980" b="0">
                          <a:solidFill>
                            <a:srgbClr val="2E7D74"/>
                          </a:solidFill>
                          <a:latin typeface="Calibri"/>
                        </a:rPr>
                        <a:t>80.9</a:t>
                      </a:r>
                    </a:p>
                  </a:txBody>
                  <a:tcPr marL="54864" marR="54864" marT="9144" marB="9144" anchor="ctr">
                    <a:solidFill>
                      <a:srgbClr val="F3F5F9"/>
                    </a:solidFill>
                  </a:tcPr>
                </a:tc>
                <a:tc>
                  <a:txBody>
                    <a:bodyPr/>
                    <a:lstStyle/>
                    <a:p>
                      <a:pPr algn="ctr"/>
                      <a:r>
                        <a:rPr sz="980" b="0">
                          <a:solidFill>
                            <a:srgbClr val="252F3D"/>
                          </a:solidFill>
                          <a:latin typeface="Calibri"/>
                        </a:rPr>
                        <a:t>54.1</a:t>
                      </a:r>
                    </a:p>
                  </a:txBody>
                  <a:tcPr marL="54864" marR="54864" marT="9144" marB="9144" anchor="ctr">
                    <a:solidFill>
                      <a:srgbClr val="F3F5F9"/>
                    </a:solidFill>
                  </a:tcPr>
                </a:tc>
                <a:tc>
                  <a:txBody>
                    <a:bodyPr/>
                    <a:lstStyle/>
                    <a:p>
                      <a:pPr algn="ctr"/>
                      <a:r>
                        <a:rPr sz="980" b="0">
                          <a:solidFill>
                            <a:srgbClr val="252F3D"/>
                          </a:solidFill>
                          <a:latin typeface="Calibri"/>
                        </a:rPr>
                        <a:t>83.7</a:t>
                      </a:r>
                    </a:p>
                  </a:txBody>
                  <a:tcPr marL="54864" marR="54864" marT="9144" marB="9144" anchor="ctr">
                    <a:solidFill>
                      <a:srgbClr val="F3F5F9"/>
                    </a:solidFill>
                  </a:tcPr>
                </a:tc>
              </a:tr>
              <a:tr h="251460">
                <a:tc>
                  <a:txBody>
                    <a:bodyPr/>
                    <a:lstStyle/>
                    <a:p>
                      <a:pPr algn="l"/>
                      <a:r>
                        <a:rPr sz="980" b="0">
                          <a:solidFill>
                            <a:srgbClr val="252F3D"/>
                          </a:solidFill>
                          <a:latin typeface="Calibri"/>
                        </a:rPr>
                        <a:t>0.3–0.5  heavy cloud</a:t>
                      </a:r>
                    </a:p>
                  </a:txBody>
                  <a:tcPr marL="54864" marR="54864" marT="9144" marB="9144" anchor="ctr">
                    <a:solidFill>
                      <a:srgbClr val="FFFFFF"/>
                    </a:solidFill>
                  </a:tcPr>
                </a:tc>
                <a:tc>
                  <a:txBody>
                    <a:bodyPr/>
                    <a:lstStyle/>
                    <a:p>
                      <a:pPr algn="ctr"/>
                      <a:r>
                        <a:rPr sz="980" b="0">
                          <a:solidFill>
                            <a:srgbClr val="252F3D"/>
                          </a:solidFill>
                          <a:latin typeface="Calibri"/>
                        </a:rPr>
                        <a:t>149</a:t>
                      </a:r>
                    </a:p>
                  </a:txBody>
                  <a:tcPr marL="54864" marR="54864" marT="9144" marB="9144" anchor="ctr">
                    <a:solidFill>
                      <a:srgbClr val="FFFFFF"/>
                    </a:solidFill>
                  </a:tcPr>
                </a:tc>
                <a:tc>
                  <a:txBody>
                    <a:bodyPr/>
                    <a:lstStyle/>
                    <a:p>
                      <a:pPr algn="ctr"/>
                      <a:r>
                        <a:rPr sz="980" b="0">
                          <a:solidFill>
                            <a:srgbClr val="252F3D"/>
                          </a:solidFill>
                          <a:latin typeface="Calibri"/>
                        </a:rPr>
                        <a:t>81.6</a:t>
                      </a:r>
                    </a:p>
                  </a:txBody>
                  <a:tcPr marL="54864" marR="54864" marT="9144" marB="9144" anchor="ctr">
                    <a:solidFill>
                      <a:srgbClr val="FFFFFF"/>
                    </a:solidFill>
                  </a:tcPr>
                </a:tc>
                <a:tc>
                  <a:txBody>
                    <a:bodyPr/>
                    <a:lstStyle/>
                    <a:p>
                      <a:pPr algn="ctr"/>
                      <a:r>
                        <a:rPr sz="980" b="0">
                          <a:solidFill>
                            <a:srgbClr val="252F3D"/>
                          </a:solidFill>
                          <a:latin typeface="Calibri"/>
                        </a:rPr>
                        <a:t>92.6</a:t>
                      </a:r>
                    </a:p>
                  </a:txBody>
                  <a:tcPr marL="54864" marR="54864" marT="9144" marB="9144" anchor="ctr">
                    <a:solidFill>
                      <a:srgbClr val="FFFFFF"/>
                    </a:solidFill>
                  </a:tcPr>
                </a:tc>
                <a:tc>
                  <a:txBody>
                    <a:bodyPr/>
                    <a:lstStyle/>
                    <a:p>
                      <a:pPr algn="ctr"/>
                      <a:r>
                        <a:rPr sz="980" b="0">
                          <a:solidFill>
                            <a:srgbClr val="252F3D"/>
                          </a:solidFill>
                          <a:latin typeface="Calibri"/>
                        </a:rPr>
                        <a:t>67.1</a:t>
                      </a:r>
                    </a:p>
                  </a:txBody>
                  <a:tcPr marL="54864" marR="54864" marT="9144" marB="9144" anchor="ctr">
                    <a:solidFill>
                      <a:srgbClr val="FFFFFF"/>
                    </a:solidFill>
                  </a:tcPr>
                </a:tc>
                <a:tc>
                  <a:txBody>
                    <a:bodyPr/>
                    <a:lstStyle/>
                    <a:p>
                      <a:pPr algn="ctr"/>
                      <a:r>
                        <a:rPr sz="980" b="0">
                          <a:solidFill>
                            <a:srgbClr val="252F3D"/>
                          </a:solidFill>
                          <a:latin typeface="Calibri"/>
                        </a:rPr>
                        <a:t>96.5</a:t>
                      </a:r>
                    </a:p>
                  </a:txBody>
                  <a:tcPr marL="54864" marR="54864" marT="9144" marB="9144" anchor="ctr">
                    <a:solidFill>
                      <a:srgbClr val="FFFFFF"/>
                    </a:solidFill>
                  </a:tcPr>
                </a:tc>
              </a:tr>
              <a:tr h="251460">
                <a:tc>
                  <a:txBody>
                    <a:bodyPr/>
                    <a:lstStyle/>
                    <a:p>
                      <a:pPr algn="l"/>
                      <a:r>
                        <a:rPr sz="980" b="0">
                          <a:solidFill>
                            <a:srgbClr val="252F3D"/>
                          </a:solidFill>
                          <a:latin typeface="Calibri"/>
                        </a:rPr>
                        <a:t>0.5–0.7  broken cloud</a:t>
                      </a:r>
                    </a:p>
                  </a:txBody>
                  <a:tcPr marL="54864" marR="54864" marT="9144" marB="9144" anchor="ctr">
                    <a:solidFill>
                      <a:srgbClr val="F3F5F9"/>
                    </a:solidFill>
                  </a:tcPr>
                </a:tc>
                <a:tc>
                  <a:txBody>
                    <a:bodyPr/>
                    <a:lstStyle/>
                    <a:p>
                      <a:pPr algn="ctr"/>
                      <a:r>
                        <a:rPr sz="980" b="0">
                          <a:solidFill>
                            <a:srgbClr val="252F3D"/>
                          </a:solidFill>
                          <a:latin typeface="Calibri"/>
                        </a:rPr>
                        <a:t>199</a:t>
                      </a:r>
                    </a:p>
                  </a:txBody>
                  <a:tcPr marL="54864" marR="54864" marT="9144" marB="9144" anchor="ctr">
                    <a:solidFill>
                      <a:srgbClr val="F3F5F9"/>
                    </a:solidFill>
                  </a:tcPr>
                </a:tc>
                <a:tc>
                  <a:txBody>
                    <a:bodyPr/>
                    <a:lstStyle/>
                    <a:p>
                      <a:pPr algn="ctr"/>
                      <a:r>
                        <a:rPr sz="980" b="0">
                          <a:solidFill>
                            <a:srgbClr val="252F3D"/>
                          </a:solidFill>
                          <a:latin typeface="Calibri"/>
                        </a:rPr>
                        <a:t>82.9</a:t>
                      </a:r>
                    </a:p>
                  </a:txBody>
                  <a:tcPr marL="54864" marR="54864" marT="9144" marB="9144" anchor="ctr">
                    <a:solidFill>
                      <a:srgbClr val="F3F5F9"/>
                    </a:solidFill>
                  </a:tcPr>
                </a:tc>
                <a:tc>
                  <a:txBody>
                    <a:bodyPr/>
                    <a:lstStyle/>
                    <a:p>
                      <a:pPr algn="ctr"/>
                      <a:r>
                        <a:rPr sz="980" b="0">
                          <a:solidFill>
                            <a:srgbClr val="252F3D"/>
                          </a:solidFill>
                          <a:latin typeface="Calibri"/>
                        </a:rPr>
                        <a:t>86.8</a:t>
                      </a:r>
                    </a:p>
                  </a:txBody>
                  <a:tcPr marL="54864" marR="54864" marT="9144" marB="9144" anchor="ctr">
                    <a:solidFill>
                      <a:srgbClr val="F3F5F9"/>
                    </a:solidFill>
                  </a:tcPr>
                </a:tc>
                <a:tc>
                  <a:txBody>
                    <a:bodyPr/>
                    <a:lstStyle/>
                    <a:p>
                      <a:pPr algn="ctr"/>
                      <a:r>
                        <a:rPr sz="980" b="0">
                          <a:solidFill>
                            <a:srgbClr val="252F3D"/>
                          </a:solidFill>
                          <a:latin typeface="Calibri"/>
                        </a:rPr>
                        <a:t>75.1</a:t>
                      </a:r>
                    </a:p>
                  </a:txBody>
                  <a:tcPr marL="54864" marR="54864" marT="9144" marB="9144" anchor="ctr">
                    <a:solidFill>
                      <a:srgbClr val="F3F5F9"/>
                    </a:solidFill>
                  </a:tcPr>
                </a:tc>
                <a:tc>
                  <a:txBody>
                    <a:bodyPr/>
                    <a:lstStyle/>
                    <a:p>
                      <a:pPr algn="ctr"/>
                      <a:r>
                        <a:rPr sz="980" b="0">
                          <a:solidFill>
                            <a:srgbClr val="252F3D"/>
                          </a:solidFill>
                          <a:latin typeface="Calibri"/>
                        </a:rPr>
                        <a:t>86.5</a:t>
                      </a:r>
                    </a:p>
                  </a:txBody>
                  <a:tcPr marL="54864" marR="54864" marT="9144" marB="9144" anchor="ctr">
                    <a:solidFill>
                      <a:srgbClr val="F3F5F9"/>
                    </a:solidFill>
                  </a:tcPr>
                </a:tc>
              </a:tr>
              <a:tr h="251460">
                <a:tc>
                  <a:txBody>
                    <a:bodyPr/>
                    <a:lstStyle/>
                    <a:p>
                      <a:pPr algn="l"/>
                      <a:r>
                        <a:rPr sz="980" b="0">
                          <a:solidFill>
                            <a:srgbClr val="252F3D"/>
                          </a:solidFill>
                          <a:latin typeface="Calibri"/>
                        </a:rPr>
                        <a:t>0.7–0.9  light cloud</a:t>
                      </a:r>
                    </a:p>
                  </a:txBody>
                  <a:tcPr marL="54864" marR="54864" marT="9144" marB="9144" anchor="ctr">
                    <a:solidFill>
                      <a:srgbClr val="FFFFFF"/>
                    </a:solidFill>
                  </a:tcPr>
                </a:tc>
                <a:tc>
                  <a:txBody>
                    <a:bodyPr/>
                    <a:lstStyle/>
                    <a:p>
                      <a:pPr algn="ctr"/>
                      <a:r>
                        <a:rPr sz="980" b="0">
                          <a:solidFill>
                            <a:srgbClr val="252F3D"/>
                          </a:solidFill>
                          <a:latin typeface="Calibri"/>
                        </a:rPr>
                        <a:t>300</a:t>
                      </a:r>
                    </a:p>
                  </a:txBody>
                  <a:tcPr marL="54864" marR="54864" marT="9144" marB="9144" anchor="ctr">
                    <a:solidFill>
                      <a:srgbClr val="FFFFFF"/>
                    </a:solidFill>
                  </a:tcPr>
                </a:tc>
                <a:tc>
                  <a:txBody>
                    <a:bodyPr/>
                    <a:lstStyle/>
                    <a:p>
                      <a:pPr algn="ctr"/>
                      <a:r>
                        <a:rPr sz="980" b="0">
                          <a:solidFill>
                            <a:srgbClr val="252F3D"/>
                          </a:solidFill>
                          <a:latin typeface="Calibri"/>
                        </a:rPr>
                        <a:t>71.8</a:t>
                      </a:r>
                    </a:p>
                  </a:txBody>
                  <a:tcPr marL="54864" marR="54864" marT="9144" marB="9144" anchor="ctr">
                    <a:solidFill>
                      <a:srgbClr val="FFFFFF"/>
                    </a:solidFill>
                  </a:tcPr>
                </a:tc>
                <a:tc>
                  <a:txBody>
                    <a:bodyPr/>
                    <a:lstStyle/>
                    <a:p>
                      <a:pPr algn="ctr"/>
                      <a:r>
                        <a:rPr sz="980" b="0">
                          <a:solidFill>
                            <a:srgbClr val="252F3D"/>
                          </a:solidFill>
                          <a:latin typeface="Calibri"/>
                        </a:rPr>
                        <a:t>74.9</a:t>
                      </a:r>
                    </a:p>
                  </a:txBody>
                  <a:tcPr marL="54864" marR="54864" marT="9144" marB="9144" anchor="ctr">
                    <a:solidFill>
                      <a:srgbClr val="FFFFFF"/>
                    </a:solidFill>
                  </a:tcPr>
                </a:tc>
                <a:tc>
                  <a:txBody>
                    <a:bodyPr/>
                    <a:lstStyle/>
                    <a:p>
                      <a:pPr algn="ctr"/>
                      <a:r>
                        <a:rPr sz="980" b="0">
                          <a:solidFill>
                            <a:srgbClr val="252F3D"/>
                          </a:solidFill>
                          <a:latin typeface="Calibri"/>
                        </a:rPr>
                        <a:t>66.7</a:t>
                      </a:r>
                    </a:p>
                  </a:txBody>
                  <a:tcPr marL="54864" marR="54864" marT="9144" marB="9144" anchor="ctr">
                    <a:solidFill>
                      <a:srgbClr val="FFFFFF"/>
                    </a:solidFill>
                  </a:tcPr>
                </a:tc>
                <a:tc>
                  <a:txBody>
                    <a:bodyPr/>
                    <a:lstStyle/>
                    <a:p>
                      <a:pPr algn="ctr"/>
                      <a:r>
                        <a:rPr sz="980" b="0">
                          <a:solidFill>
                            <a:srgbClr val="252F3D"/>
                          </a:solidFill>
                          <a:latin typeface="Calibri"/>
                        </a:rPr>
                        <a:t>73.6</a:t>
                      </a:r>
                    </a:p>
                  </a:txBody>
                  <a:tcPr marL="54864" marR="54864" marT="9144" marB="9144" anchor="ctr">
                    <a:solidFill>
                      <a:srgbClr val="FFFFFF"/>
                    </a:solidFill>
                  </a:tcPr>
                </a:tc>
              </a:tr>
              <a:tr h="251460">
                <a:tc>
                  <a:txBody>
                    <a:bodyPr/>
                    <a:lstStyle/>
                    <a:p>
                      <a:pPr algn="l"/>
                      <a:r>
                        <a:rPr sz="980" b="0">
                          <a:solidFill>
                            <a:srgbClr val="252F3D"/>
                          </a:solidFill>
                          <a:latin typeface="Calibri"/>
                        </a:rPr>
                        <a:t>&gt; 0.9   near clear</a:t>
                      </a:r>
                    </a:p>
                  </a:txBody>
                  <a:tcPr marL="54864" marR="54864" marT="9144" marB="9144" anchor="ctr">
                    <a:solidFill>
                      <a:srgbClr val="F3F5F9"/>
                    </a:solidFill>
                  </a:tcPr>
                </a:tc>
                <a:tc>
                  <a:txBody>
                    <a:bodyPr/>
                    <a:lstStyle/>
                    <a:p>
                      <a:pPr algn="ctr"/>
                      <a:r>
                        <a:rPr sz="980" b="0">
                          <a:solidFill>
                            <a:srgbClr val="252F3D"/>
                          </a:solidFill>
                          <a:latin typeface="Calibri"/>
                        </a:rPr>
                        <a:t>209</a:t>
                      </a:r>
                    </a:p>
                  </a:txBody>
                  <a:tcPr marL="54864" marR="54864" marT="9144" marB="9144" anchor="ctr">
                    <a:solidFill>
                      <a:srgbClr val="F3F5F9"/>
                    </a:solidFill>
                  </a:tcPr>
                </a:tc>
                <a:tc>
                  <a:txBody>
                    <a:bodyPr/>
                    <a:lstStyle/>
                    <a:p>
                      <a:pPr algn="ctr"/>
                      <a:r>
                        <a:rPr sz="980" b="0">
                          <a:solidFill>
                            <a:srgbClr val="252F3D"/>
                          </a:solidFill>
                          <a:latin typeface="Calibri"/>
                        </a:rPr>
                        <a:t>52.4</a:t>
                      </a:r>
                    </a:p>
                  </a:txBody>
                  <a:tcPr marL="54864" marR="54864" marT="9144" marB="9144" anchor="ctr">
                    <a:solidFill>
                      <a:srgbClr val="F3F5F9"/>
                    </a:solidFill>
                  </a:tcPr>
                </a:tc>
                <a:tc>
                  <a:txBody>
                    <a:bodyPr/>
                    <a:lstStyle/>
                    <a:p>
                      <a:pPr algn="ctr"/>
                      <a:r>
                        <a:rPr sz="980" b="0">
                          <a:solidFill>
                            <a:srgbClr val="252F3D"/>
                          </a:solidFill>
                          <a:latin typeface="Calibri"/>
                        </a:rPr>
                        <a:t>65.0</a:t>
                      </a:r>
                    </a:p>
                  </a:txBody>
                  <a:tcPr marL="54864" marR="54864" marT="9144" marB="9144" anchor="ctr">
                    <a:solidFill>
                      <a:srgbClr val="F3F5F9"/>
                    </a:solidFill>
                  </a:tcPr>
                </a:tc>
                <a:tc>
                  <a:txBody>
                    <a:bodyPr/>
                    <a:lstStyle/>
                    <a:p>
                      <a:pPr algn="ctr"/>
                      <a:r>
                        <a:rPr sz="980" b="0">
                          <a:solidFill>
                            <a:srgbClr val="252F3D"/>
                          </a:solidFill>
                          <a:latin typeface="Calibri"/>
                        </a:rPr>
                        <a:t>47.4</a:t>
                      </a:r>
                    </a:p>
                  </a:txBody>
                  <a:tcPr marL="54864" marR="54864" marT="9144" marB="9144" anchor="ctr">
                    <a:solidFill>
                      <a:srgbClr val="F3F5F9"/>
                    </a:solidFill>
                  </a:tcPr>
                </a:tc>
                <a:tc>
                  <a:txBody>
                    <a:bodyPr/>
                    <a:lstStyle/>
                    <a:p>
                      <a:pPr algn="ctr"/>
                      <a:r>
                        <a:rPr sz="980" b="0">
                          <a:solidFill>
                            <a:srgbClr val="252F3D"/>
                          </a:solidFill>
                          <a:latin typeface="Calibri"/>
                        </a:rPr>
                        <a:t>65.5</a:t>
                      </a:r>
                    </a:p>
                  </a:txBody>
                  <a:tcPr marL="54864" marR="54864" marT="9144" marB="9144" anchor="ctr">
                    <a:solidFill>
                      <a:srgbClr val="F3F5F9"/>
                    </a:solidFill>
                  </a:tcPr>
                </a:tc>
              </a:tr>
            </a:tbl>
          </a:graphicData>
        </a:graphic>
      </p:graphicFrame>
      <p:sp>
        <p:nvSpPr>
          <p:cNvPr id="11" name="TextBox 10"/>
          <p:cNvSpPr txBox="1"/>
          <p:nvPr/>
        </p:nvSpPr>
        <p:spPr>
          <a:xfrm>
            <a:off x="502920" y="5541264"/>
            <a:ext cx="704088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MAE at t+1 h in W/m². Teal marks the only regime where the image-using model beats the weather-only model.</a:t>
            </a:r>
          </a:p>
        </p:txBody>
      </p:sp>
      <p:sp>
        <p:nvSpPr>
          <p:cNvPr id="12" name="TextBox 11"/>
          <p:cNvSpPr txBox="1"/>
          <p:nvPr/>
        </p:nvSpPr>
        <p:spPr>
          <a:xfrm>
            <a:off x="7772400" y="1325880"/>
            <a:ext cx="3913632" cy="4937760"/>
          </a:xfrm>
          <a:prstGeom prst="rect">
            <a:avLst/>
          </a:prstGeom>
          <a:noFill/>
        </p:spPr>
        <p:txBody>
          <a:bodyPr wrap="square" lIns="0" rIns="0" tIns="0" bIns="0">
            <a:spAutoFit/>
          </a:bodyPr>
          <a:lstStyle/>
          <a:p>
            <a:pPr>
              <a:lnSpc>
                <a:spcPct val="106000"/>
              </a:lnSpc>
              <a:spcBef>
                <a:spcPts val="0"/>
              </a:spcBef>
              <a:spcAft>
                <a:spcPts val="700"/>
              </a:spcAft>
            </a:pPr>
            <a:r>
              <a:rPr sz="1130" b="1" i="0">
                <a:solidFill>
                  <a:srgbClr val="1F3B63"/>
                </a:solidFill>
                <a:latin typeface="Calibri"/>
              </a:rPr>
              <a:t>Failure mode 1 — partly cloudy.  </a:t>
            </a:r>
            <a:r>
              <a:rPr sz="1130" b="0" i="0">
                <a:solidFill>
                  <a:srgbClr val="252F3D"/>
                </a:solidFill>
                <a:latin typeface="Calibri"/>
              </a:rPr>
              <a:t>Error peaks in the 0.3–0.7 band, where a single convective cell decides whether the next hour is 300 or 800 W/m². The clear and overcast regimes are both easier because the outcome is more determined.</a:t>
            </a:r>
          </a:p>
          <a:p>
            <a:pPr>
              <a:lnSpc>
                <a:spcPct val="106000"/>
              </a:lnSpc>
              <a:spcBef>
                <a:spcPts val="0"/>
              </a:spcBef>
              <a:spcAft>
                <a:spcPts val="700"/>
              </a:spcAft>
            </a:pPr>
            <a:r>
              <a:rPr sz="1130" b="1" i="0">
                <a:solidFill>
                  <a:srgbClr val="1F3B63"/>
                </a:solidFill>
                <a:latin typeface="Calibri"/>
              </a:rPr>
              <a:t>Failure mode 2 — afternoon convection.  </a:t>
            </a:r>
            <a:r>
              <a:rPr sz="1130" b="0" i="0">
                <a:solidFill>
                  <a:srgbClr val="252F3D"/>
                </a:solidFill>
                <a:latin typeface="Calibri"/>
              </a:rPr>
              <a:t>MAE at t+1 h rises from 54 W/m² at 09:00 to 107 W/m² at 14:00 — the diurnal convective build-up over the Malay peninsula, the hardest hours in the day.</a:t>
            </a:r>
          </a:p>
          <a:p>
            <a:pPr>
              <a:lnSpc>
                <a:spcPct val="106000"/>
              </a:lnSpc>
              <a:spcBef>
                <a:spcPts val="0"/>
              </a:spcBef>
              <a:spcAft>
                <a:spcPts val="700"/>
              </a:spcAft>
            </a:pPr>
            <a:r>
              <a:rPr sz="1130" b="1" i="0">
                <a:solidFill>
                  <a:srgbClr val="2E7D74"/>
                </a:solidFill>
                <a:latin typeface="Calibri"/>
              </a:rPr>
              <a:t>The one win for imagery.  </a:t>
            </a:r>
            <a:r>
              <a:rPr sz="1130" b="0" i="0">
                <a:solidFill>
                  <a:srgbClr val="252F3D"/>
                </a:solidFill>
                <a:latin typeface="Calibri"/>
              </a:rPr>
              <a:t>In the overcast bin (k_t &lt; 0.3) the physics-gated model beats the weather-only model, 80.9 vs 89.0 W/m². It is the only regime where it does, and n = 57 — suggestive, not established.</a:t>
            </a:r>
          </a:p>
          <a:p>
            <a:pPr>
              <a:lnSpc>
                <a:spcPct val="106000"/>
              </a:lnSpc>
              <a:spcBef>
                <a:spcPts val="0"/>
              </a:spcBef>
              <a:spcAft>
                <a:spcPts val="700"/>
              </a:spcAft>
            </a:pPr>
            <a:r>
              <a:rPr sz="1130" b="1" i="0">
                <a:solidFill>
                  <a:srgbClr val="B3282D"/>
                </a:solidFill>
                <a:latin typeface="Calibri"/>
              </a:rPr>
              <a:t>Structural error source.  </a:t>
            </a:r>
            <a:r>
              <a:rPr sz="1130" b="0" i="0">
                <a:solidFill>
                  <a:srgbClr val="252F3D"/>
                </a:solidFill>
                <a:latin typeface="Calibri"/>
              </a:rPr>
              <a:t>Targets are built with a positional shift, and the record keeps only 08:00–17:00. So 10 % / 20 % / 30 % of the t+1/2/3 h targets are the next morning, not the next hour. Restricted to genuine same-day pairs, t+1 h MAE rises 72.4 → 77.4 (LSTM-only) and 63.4 → 69.0 (LightGBM): every headline number is ~8 % optimistic. The ranking is unaffected.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OPERATIONAL SYSTEM</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What runs daily — and the train/serve divergences in it</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2E7D7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17</a:t>
            </a:r>
          </a:p>
        </p:txBody>
      </p:sp>
      <p:sp>
        <p:nvSpPr>
          <p:cNvPr id="8" name="Rectangle 7"/>
          <p:cNvSpPr/>
          <p:nvPr/>
        </p:nvSpPr>
        <p:spPr>
          <a:xfrm>
            <a:off x="502920" y="1298448"/>
            <a:ext cx="5532120" cy="2395728"/>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13232" y="1426464"/>
            <a:ext cx="5120640" cy="237744"/>
          </a:xfrm>
          <a:prstGeom prst="rect">
            <a:avLst/>
          </a:prstGeom>
          <a:noFill/>
        </p:spPr>
        <p:txBody>
          <a:bodyPr wrap="square" anchor="t" lIns="0" rIns="0" tIns="0" bIns="0">
            <a:spAutoFit/>
          </a:bodyPr>
          <a:lstStyle/>
          <a:p>
            <a:pPr algn="l">
              <a:lnSpc>
                <a:spcPct val="100000"/>
              </a:lnSpc>
            </a:pPr>
            <a:r>
              <a:rPr sz="1000" b="1" i="0">
                <a:solidFill>
                  <a:srgbClr val="2E7D74"/>
                </a:solidFill>
                <a:latin typeface="Calibri"/>
              </a:rPr>
              <a:t>THE LIVE PATH  (cron: predict 10:00 SGT, verify 13:30 SGT)</a:t>
            </a:r>
          </a:p>
        </p:txBody>
      </p:sp>
      <p:sp>
        <p:nvSpPr>
          <p:cNvPr id="10" name="TextBox 9"/>
          <p:cNvSpPr txBox="1"/>
          <p:nvPr/>
        </p:nvSpPr>
        <p:spPr>
          <a:xfrm>
            <a:off x="713232" y="1737360"/>
            <a:ext cx="1325880" cy="274320"/>
          </a:xfrm>
          <a:prstGeom prst="rect">
            <a:avLst/>
          </a:prstGeom>
          <a:noFill/>
        </p:spPr>
        <p:txBody>
          <a:bodyPr wrap="square" anchor="t" lIns="0" rIns="0" tIns="0" bIns="0">
            <a:spAutoFit/>
          </a:bodyPr>
          <a:lstStyle/>
          <a:p>
            <a:pPr algn="l">
              <a:lnSpc>
                <a:spcPct val="100000"/>
              </a:lnSpc>
            </a:pPr>
            <a:r>
              <a:rPr sz="900" b="1" i="0">
                <a:solidFill>
                  <a:srgbClr val="1F3B63"/>
                </a:solidFill>
                <a:latin typeface="Consolas"/>
              </a:rPr>
              <a:t>current_data.py</a:t>
            </a:r>
          </a:p>
        </p:txBody>
      </p:sp>
      <p:sp>
        <p:nvSpPr>
          <p:cNvPr id="11" name="TextBox 10"/>
          <p:cNvSpPr txBox="1"/>
          <p:nvPr/>
        </p:nvSpPr>
        <p:spPr>
          <a:xfrm>
            <a:off x="2103120" y="1737360"/>
            <a:ext cx="3794760" cy="402336"/>
          </a:xfrm>
          <a:prstGeom prst="rect">
            <a:avLst/>
          </a:prstGeom>
          <a:noFill/>
        </p:spPr>
        <p:txBody>
          <a:bodyPr wrap="square" anchor="t" lIns="0" rIns="0" tIns="0" bIns="0">
            <a:spAutoFit/>
          </a:bodyPr>
          <a:lstStyle/>
          <a:p>
            <a:pPr algn="l">
              <a:lnSpc>
                <a:spcPct val="98000"/>
              </a:lnSpc>
            </a:pPr>
            <a:r>
              <a:rPr sz="900" b="0" i="0">
                <a:solidFill>
                  <a:srgbClr val="252F3D"/>
                </a:solidFill>
                <a:latin typeface="Calibri"/>
              </a:rPr>
              <a:t>fetches frames t, t−1 h, t−2 h. Each tile is validated for brightness and structure; a failed tile is retried at 10-min steps across up to four sources.</a:t>
            </a:r>
          </a:p>
        </p:txBody>
      </p:sp>
      <p:sp>
        <p:nvSpPr>
          <p:cNvPr id="12" name="TextBox 11"/>
          <p:cNvSpPr txBox="1"/>
          <p:nvPr/>
        </p:nvSpPr>
        <p:spPr>
          <a:xfrm>
            <a:off x="713232" y="2121408"/>
            <a:ext cx="1325880" cy="274320"/>
          </a:xfrm>
          <a:prstGeom prst="rect">
            <a:avLst/>
          </a:prstGeom>
          <a:noFill/>
        </p:spPr>
        <p:txBody>
          <a:bodyPr wrap="square" anchor="t" lIns="0" rIns="0" tIns="0" bIns="0">
            <a:spAutoFit/>
          </a:bodyPr>
          <a:lstStyle/>
          <a:p>
            <a:pPr algn="l">
              <a:lnSpc>
                <a:spcPct val="100000"/>
              </a:lnSpc>
            </a:pPr>
            <a:r>
              <a:rPr sz="900" b="1" i="0">
                <a:solidFill>
                  <a:srgbClr val="1F3B63"/>
                </a:solidFill>
                <a:latin typeface="Consolas"/>
              </a:rPr>
              <a:t>model.py helpers</a:t>
            </a:r>
          </a:p>
        </p:txBody>
      </p:sp>
      <p:sp>
        <p:nvSpPr>
          <p:cNvPr id="13" name="TextBox 12"/>
          <p:cNvSpPr txBox="1"/>
          <p:nvPr/>
        </p:nvSpPr>
        <p:spPr>
          <a:xfrm>
            <a:off x="2103120" y="2121408"/>
            <a:ext cx="3794760" cy="402336"/>
          </a:xfrm>
          <a:prstGeom prst="rect">
            <a:avLst/>
          </a:prstGeom>
          <a:noFill/>
        </p:spPr>
        <p:txBody>
          <a:bodyPr wrap="square" anchor="t" lIns="0" rIns="0" tIns="0" bIns="0">
            <a:spAutoFit/>
          </a:bodyPr>
          <a:lstStyle/>
          <a:p>
            <a:pPr algn="l">
              <a:lnSpc>
                <a:spcPct val="98000"/>
              </a:lnSpc>
            </a:pPr>
            <a:r>
              <a:rPr sz="900" b="0" i="0">
                <a:solidFill>
                  <a:srgbClr val="252F3D"/>
                </a:solidFill>
                <a:latin typeface="Calibri"/>
              </a:rPr>
              <a:t>load the CSV, top it up from the live API (the archive lags ~5 days), build the 24-step window, normalise with train_stats.json.</a:t>
            </a:r>
          </a:p>
        </p:txBody>
      </p:sp>
      <p:sp>
        <p:nvSpPr>
          <p:cNvPr id="14" name="TextBox 13"/>
          <p:cNvSpPr txBox="1"/>
          <p:nvPr/>
        </p:nvSpPr>
        <p:spPr>
          <a:xfrm>
            <a:off x="713232" y="2505456"/>
            <a:ext cx="1325880" cy="274320"/>
          </a:xfrm>
          <a:prstGeom prst="rect">
            <a:avLst/>
          </a:prstGeom>
          <a:noFill/>
        </p:spPr>
        <p:txBody>
          <a:bodyPr wrap="square" anchor="t" lIns="0" rIns="0" tIns="0" bIns="0">
            <a:spAutoFit/>
          </a:bodyPr>
          <a:lstStyle/>
          <a:p>
            <a:pPr algn="l">
              <a:lnSpc>
                <a:spcPct val="100000"/>
              </a:lnSpc>
            </a:pPr>
            <a:r>
              <a:rPr sz="900" b="1" i="0">
                <a:solidFill>
                  <a:srgbClr val="1F3B63"/>
                </a:solidFill>
                <a:latin typeface="Consolas"/>
              </a:rPr>
              <a:t>load_model()</a:t>
            </a:r>
          </a:p>
        </p:txBody>
      </p:sp>
      <p:sp>
        <p:nvSpPr>
          <p:cNvPr id="15" name="TextBox 14"/>
          <p:cNvSpPr txBox="1"/>
          <p:nvPr/>
        </p:nvSpPr>
        <p:spPr>
          <a:xfrm>
            <a:off x="2103120" y="2505456"/>
            <a:ext cx="3794760" cy="402336"/>
          </a:xfrm>
          <a:prstGeom prst="rect">
            <a:avLst/>
          </a:prstGeom>
          <a:noFill/>
        </p:spPr>
        <p:txBody>
          <a:bodyPr wrap="square" anchor="t" lIns="0" rIns="0" tIns="0" bIns="0">
            <a:spAutoFit/>
          </a:bodyPr>
          <a:lstStyle/>
          <a:p>
            <a:pPr algn="l">
              <a:lnSpc>
                <a:spcPct val="98000"/>
              </a:lnSpc>
            </a:pPr>
            <a:r>
              <a:rPr sz="900" b="0" i="0">
                <a:solidFill>
                  <a:srgbClr val="252F3D"/>
                </a:solidFill>
                <a:latin typeface="Calibri"/>
              </a:rPr>
              <a:t>reads the .config.json sidecar, so width, head count and ablation are reconstructed exactly — head count is not recoverable from shapes.</a:t>
            </a:r>
          </a:p>
        </p:txBody>
      </p:sp>
      <p:sp>
        <p:nvSpPr>
          <p:cNvPr id="16" name="TextBox 15"/>
          <p:cNvSpPr txBox="1"/>
          <p:nvPr/>
        </p:nvSpPr>
        <p:spPr>
          <a:xfrm>
            <a:off x="713232" y="2889503"/>
            <a:ext cx="1325880" cy="274320"/>
          </a:xfrm>
          <a:prstGeom prst="rect">
            <a:avLst/>
          </a:prstGeom>
          <a:noFill/>
        </p:spPr>
        <p:txBody>
          <a:bodyPr wrap="square" anchor="t" lIns="0" rIns="0" tIns="0" bIns="0">
            <a:spAutoFit/>
          </a:bodyPr>
          <a:lstStyle/>
          <a:p>
            <a:pPr algn="l">
              <a:lnSpc>
                <a:spcPct val="100000"/>
              </a:lnSpc>
            </a:pPr>
            <a:r>
              <a:rPr sz="900" b="1" i="0">
                <a:solidFill>
                  <a:srgbClr val="1F3B63"/>
                </a:solidFill>
                <a:latin typeface="Consolas"/>
              </a:rPr>
              <a:t>apply_physics_cap()</a:t>
            </a:r>
          </a:p>
        </p:txBody>
      </p:sp>
      <p:sp>
        <p:nvSpPr>
          <p:cNvPr id="17" name="TextBox 16"/>
          <p:cNvSpPr txBox="1"/>
          <p:nvPr/>
        </p:nvSpPr>
        <p:spPr>
          <a:xfrm>
            <a:off x="2103120" y="2889503"/>
            <a:ext cx="3794760" cy="402336"/>
          </a:xfrm>
          <a:prstGeom prst="rect">
            <a:avLst/>
          </a:prstGeom>
          <a:noFill/>
        </p:spPr>
        <p:txBody>
          <a:bodyPr wrap="square" anchor="t" lIns="0" rIns="0" tIns="0" bIns="0">
            <a:spAutoFit/>
          </a:bodyPr>
          <a:lstStyle/>
          <a:p>
            <a:pPr algn="l">
              <a:lnSpc>
                <a:spcPct val="98000"/>
              </a:lnSpc>
            </a:pPr>
            <a:r>
              <a:rPr sz="900" b="0" i="0">
                <a:solidFill>
                  <a:srgbClr val="252F3D"/>
                </a:solidFill>
                <a:latin typeface="Calibri"/>
              </a:rPr>
              <a:t>clamps μ to 1.15 × the preceding-hour-mean clear-sky GHI and rebuilds the 90 % band around the clamped mean.</a:t>
            </a:r>
          </a:p>
        </p:txBody>
      </p:sp>
      <p:sp>
        <p:nvSpPr>
          <p:cNvPr id="18" name="TextBox 17"/>
          <p:cNvSpPr txBox="1"/>
          <p:nvPr/>
        </p:nvSpPr>
        <p:spPr>
          <a:xfrm>
            <a:off x="713232" y="3273551"/>
            <a:ext cx="1325880" cy="274320"/>
          </a:xfrm>
          <a:prstGeom prst="rect">
            <a:avLst/>
          </a:prstGeom>
          <a:noFill/>
        </p:spPr>
        <p:txBody>
          <a:bodyPr wrap="square" anchor="t" lIns="0" rIns="0" tIns="0" bIns="0">
            <a:spAutoFit/>
          </a:bodyPr>
          <a:lstStyle/>
          <a:p>
            <a:pPr algn="l">
              <a:lnSpc>
                <a:spcPct val="100000"/>
              </a:lnSpc>
            </a:pPr>
            <a:r>
              <a:rPr sz="900" b="1" i="0">
                <a:solidFill>
                  <a:srgbClr val="1F3B63"/>
                </a:solidFill>
                <a:latin typeface="Consolas"/>
              </a:rPr>
              <a:t>forecast_latest.json</a:t>
            </a:r>
          </a:p>
        </p:txBody>
      </p:sp>
      <p:sp>
        <p:nvSpPr>
          <p:cNvPr id="19" name="TextBox 18"/>
          <p:cNvSpPr txBox="1"/>
          <p:nvPr/>
        </p:nvSpPr>
        <p:spPr>
          <a:xfrm>
            <a:off x="2103120" y="3273551"/>
            <a:ext cx="3794760" cy="402336"/>
          </a:xfrm>
          <a:prstGeom prst="rect">
            <a:avLst/>
          </a:prstGeom>
          <a:noFill/>
        </p:spPr>
        <p:txBody>
          <a:bodyPr wrap="square" anchor="t" lIns="0" rIns="0" tIns="0" bIns="0">
            <a:spAutoFit/>
          </a:bodyPr>
          <a:lstStyle/>
          <a:p>
            <a:pPr algn="l">
              <a:lnSpc>
                <a:spcPct val="98000"/>
              </a:lnSpc>
            </a:pPr>
            <a:r>
              <a:rPr sz="900" b="0" i="0">
                <a:solidFill>
                  <a:srgbClr val="252F3D"/>
                </a:solidFill>
                <a:latin typeface="Calibri"/>
              </a:rPr>
              <a:t>μ, 90 % interval, clear-sky value and diagnostics: image_ok, outside_training_hours, lookback_ends, capped.</a:t>
            </a:r>
          </a:p>
        </p:txBody>
      </p:sp>
      <p:sp>
        <p:nvSpPr>
          <p:cNvPr id="20" name="Rectangle 19"/>
          <p:cNvSpPr/>
          <p:nvPr/>
        </p:nvSpPr>
        <p:spPr>
          <a:xfrm>
            <a:off x="6217920" y="1298448"/>
            <a:ext cx="5468112" cy="2395728"/>
          </a:xfrm>
          <a:prstGeom prst="rect">
            <a:avLst/>
          </a:prstGeom>
          <a:solidFill>
            <a:srgbClr val="F2F8F6"/>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28232" y="1408176"/>
            <a:ext cx="5029200" cy="237744"/>
          </a:xfrm>
          <a:prstGeom prst="rect">
            <a:avLst/>
          </a:prstGeom>
          <a:noFill/>
        </p:spPr>
        <p:txBody>
          <a:bodyPr wrap="square" anchor="t" lIns="0" rIns="0" tIns="0" bIns="0">
            <a:spAutoFit/>
          </a:bodyPr>
          <a:lstStyle/>
          <a:p>
            <a:pPr algn="l">
              <a:lnSpc>
                <a:spcPct val="100000"/>
              </a:lnSpc>
            </a:pPr>
            <a:r>
              <a:rPr sz="950" b="1" i="0">
                <a:solidFill>
                  <a:srgbClr val="2E7D74"/>
                </a:solidFill>
                <a:latin typeface="Calibri"/>
              </a:rPr>
              <a:t>LIVE EVIDENCE  ·  BEFORE AND AFTER THE SATELLITE FIXES OF 20 AUG 2026</a:t>
            </a:r>
          </a:p>
        </p:txBody>
      </p:sp>
      <p:graphicFrame>
        <p:nvGraphicFramePr>
          <p:cNvPr id="22" name="Table 21"/>
          <p:cNvGraphicFramePr>
            <a:graphicFrameLocks noGrp="1"/>
          </p:cNvGraphicFramePr>
          <p:nvPr/>
        </p:nvGraphicFramePr>
        <p:xfrm>
          <a:off x="6428232" y="1682496"/>
          <a:ext cx="5074917" cy="882396"/>
        </p:xfrm>
        <a:graphic>
          <a:graphicData uri="http://schemas.openxmlformats.org/drawingml/2006/table">
            <a:tbl>
              <a:tblPr bandRow="1"/>
              <a:tblGrid>
                <a:gridCol w="584842"/>
                <a:gridCol w="584842"/>
                <a:gridCol w="584842"/>
                <a:gridCol w="622573"/>
                <a:gridCol w="622573"/>
                <a:gridCol w="735769"/>
                <a:gridCol w="679171"/>
                <a:gridCol w="660305"/>
              </a:tblGrid>
              <a:tr h="237744">
                <a:tc>
                  <a:txBody>
                    <a:bodyPr/>
                    <a:lstStyle/>
                    <a:p>
                      <a:pPr algn="l"/>
                      <a:r>
                        <a:rPr sz="840" b="1">
                          <a:solidFill>
                            <a:srgbClr val="FFFFFF"/>
                          </a:solidFill>
                          <a:latin typeface="Calibri"/>
                        </a:rPr>
                        <a:t/>
                      </a:r>
                    </a:p>
                  </a:txBody>
                  <a:tcPr marL="54864" marR="54864" marT="18288" marB="18288" anchor="ctr">
                    <a:solidFill>
                      <a:srgbClr val="1F3B63"/>
                    </a:solidFill>
                  </a:tcPr>
                </a:tc>
                <a:tc>
                  <a:txBody>
                    <a:bodyPr/>
                    <a:lstStyle/>
                    <a:p>
                      <a:pPr algn="ctr"/>
                      <a:r>
                        <a:rPr sz="840" b="1">
                          <a:solidFill>
                            <a:srgbClr val="FFFFFF"/>
                          </a:solidFill>
                          <a:latin typeface="Calibri"/>
                        </a:rPr>
                        <a:t>MAE</a:t>
                      </a:r>
                    </a:p>
                  </a:txBody>
                  <a:tcPr marL="54864" marR="54864" marT="18288" marB="18288" anchor="ctr">
                    <a:solidFill>
                      <a:srgbClr val="1F3B63"/>
                    </a:solidFill>
                  </a:tcPr>
                </a:tc>
                <a:tc>
                  <a:txBody>
                    <a:bodyPr/>
                    <a:lstStyle/>
                    <a:p>
                      <a:pPr algn="ctr"/>
                      <a:r>
                        <a:rPr sz="840" b="1">
                          <a:solidFill>
                            <a:srgbClr val="FFFFFF"/>
                          </a:solidFill>
                          <a:latin typeface="Calibri"/>
                        </a:rPr>
                        <a:t>fc sd</a:t>
                      </a:r>
                    </a:p>
                  </a:txBody>
                  <a:tcPr marL="54864" marR="54864" marT="18288" marB="18288" anchor="ctr">
                    <a:solidFill>
                      <a:srgbClr val="1F3B63"/>
                    </a:solidFill>
                  </a:tcPr>
                </a:tc>
                <a:tc>
                  <a:txBody>
                    <a:bodyPr/>
                    <a:lstStyle/>
                    <a:p>
                      <a:pPr algn="ctr"/>
                      <a:r>
                        <a:rPr sz="840" b="1">
                          <a:solidFill>
                            <a:srgbClr val="FFFFFF"/>
                          </a:solidFill>
                          <a:latin typeface="Calibri"/>
                        </a:rPr>
                        <a:t>obs sd</a:t>
                      </a:r>
                    </a:p>
                  </a:txBody>
                  <a:tcPr marL="54864" marR="54864" marT="18288" marB="18288" anchor="ctr">
                    <a:solidFill>
                      <a:srgbClr val="1F3B63"/>
                    </a:solidFill>
                  </a:tcPr>
                </a:tc>
                <a:tc>
                  <a:txBody>
                    <a:bodyPr/>
                    <a:lstStyle/>
                    <a:p>
                      <a:pPr algn="ctr"/>
                      <a:r>
                        <a:rPr sz="840" b="1">
                          <a:solidFill>
                            <a:srgbClr val="FFFFFF"/>
                          </a:solidFill>
                          <a:latin typeface="Calibri"/>
                        </a:rPr>
                        <a:t>corr</a:t>
                      </a:r>
                    </a:p>
                  </a:txBody>
                  <a:tcPr marL="54864" marR="54864" marT="18288" marB="18288" anchor="ctr">
                    <a:solidFill>
                      <a:srgbClr val="1F3B63"/>
                    </a:solidFill>
                  </a:tcPr>
                </a:tc>
                <a:tc>
                  <a:txBody>
                    <a:bodyPr/>
                    <a:lstStyle/>
                    <a:p>
                      <a:pPr algn="ctr"/>
                      <a:r>
                        <a:rPr sz="840" b="1">
                          <a:solidFill>
                            <a:srgbClr val="FFFFFF"/>
                          </a:solidFill>
                          <a:latin typeface="Calibri"/>
                        </a:rPr>
                        <a:t>21 Aug</a:t>
                      </a:r>
                    </a:p>
                  </a:txBody>
                  <a:tcPr marL="54864" marR="54864" marT="18288" marB="18288" anchor="ctr">
                    <a:solidFill>
                      <a:srgbClr val="1F3B63"/>
                    </a:solidFill>
                  </a:tcPr>
                </a:tc>
                <a:tc>
                  <a:txBody>
                    <a:bodyPr/>
                    <a:lstStyle/>
                    <a:p>
                      <a:pPr algn="ctr"/>
                      <a:r>
                        <a:rPr sz="840" b="1">
                          <a:solidFill>
                            <a:srgbClr val="FFFFFF"/>
                          </a:solidFill>
                          <a:latin typeface="Calibri"/>
                        </a:rPr>
                        <a:t>actual</a:t>
                      </a:r>
                    </a:p>
                  </a:txBody>
                  <a:tcPr marL="54864" marR="54864" marT="18288" marB="18288" anchor="ctr">
                    <a:solidFill>
                      <a:srgbClr val="1F3B63"/>
                    </a:solidFill>
                  </a:tcPr>
                </a:tc>
                <a:tc>
                  <a:txBody>
                    <a:bodyPr/>
                    <a:lstStyle/>
                    <a:p>
                      <a:pPr algn="ctr"/>
                      <a:r>
                        <a:rPr sz="840" b="1">
                          <a:solidFill>
                            <a:srgbClr val="FFFFFF"/>
                          </a:solidFill>
                          <a:latin typeface="Calibri"/>
                        </a:rPr>
                        <a:t>error</a:t>
                      </a:r>
                    </a:p>
                  </a:txBody>
                  <a:tcPr marL="54864" marR="54864" marT="18288" marB="18288" anchor="ctr">
                    <a:solidFill>
                      <a:srgbClr val="1F3B63"/>
                    </a:solidFill>
                  </a:tcPr>
                </a:tc>
              </a:tr>
              <a:tr h="214884">
                <a:tc>
                  <a:txBody>
                    <a:bodyPr/>
                    <a:lstStyle/>
                    <a:p>
                      <a:pPr algn="l"/>
                      <a:r>
                        <a:rPr sz="860" b="0">
                          <a:solidFill>
                            <a:srgbClr val="252F3D"/>
                          </a:solidFill>
                          <a:latin typeface="Calibri"/>
                        </a:rPr>
                        <a:t>t+1 h</a:t>
                      </a:r>
                    </a:p>
                  </a:txBody>
                  <a:tcPr marL="54864" marR="54864" marT="9144" marB="9144" anchor="ctr">
                    <a:solidFill>
                      <a:srgbClr val="F3F5F9"/>
                    </a:solidFill>
                  </a:tcPr>
                </a:tc>
                <a:tc>
                  <a:txBody>
                    <a:bodyPr/>
                    <a:lstStyle/>
                    <a:p>
                      <a:pPr algn="ctr"/>
                      <a:r>
                        <a:rPr sz="860" b="0">
                          <a:solidFill>
                            <a:srgbClr val="252F3D"/>
                          </a:solidFill>
                          <a:latin typeface="Calibri"/>
                        </a:rPr>
                        <a:t>65.0</a:t>
                      </a:r>
                    </a:p>
                  </a:txBody>
                  <a:tcPr marL="54864" marR="54864" marT="9144" marB="9144" anchor="ctr">
                    <a:solidFill>
                      <a:srgbClr val="F3F5F9"/>
                    </a:solidFill>
                  </a:tcPr>
                </a:tc>
                <a:tc>
                  <a:txBody>
                    <a:bodyPr/>
                    <a:lstStyle/>
                    <a:p>
                      <a:pPr algn="ctr"/>
                      <a:r>
                        <a:rPr sz="860" b="0">
                          <a:solidFill>
                            <a:srgbClr val="252F3D"/>
                          </a:solidFill>
                          <a:latin typeface="Calibri"/>
                        </a:rPr>
                        <a:t>26.3</a:t>
                      </a:r>
                    </a:p>
                  </a:txBody>
                  <a:tcPr marL="54864" marR="54864" marT="9144" marB="9144" anchor="ctr">
                    <a:solidFill>
                      <a:srgbClr val="F3F5F9"/>
                    </a:solidFill>
                  </a:tcPr>
                </a:tc>
                <a:tc>
                  <a:txBody>
                    <a:bodyPr/>
                    <a:lstStyle/>
                    <a:p>
                      <a:pPr algn="ctr"/>
                      <a:r>
                        <a:rPr sz="860" b="0">
                          <a:solidFill>
                            <a:srgbClr val="252F3D"/>
                          </a:solidFill>
                          <a:latin typeface="Calibri"/>
                        </a:rPr>
                        <a:t>61.5</a:t>
                      </a:r>
                    </a:p>
                  </a:txBody>
                  <a:tcPr marL="54864" marR="54864" marT="9144" marB="9144" anchor="ctr">
                    <a:solidFill>
                      <a:srgbClr val="F3F5F9"/>
                    </a:solidFill>
                  </a:tcPr>
                </a:tc>
                <a:tc>
                  <a:txBody>
                    <a:bodyPr/>
                    <a:lstStyle/>
                    <a:p>
                      <a:pPr algn="ctr"/>
                      <a:r>
                        <a:rPr sz="860" b="0">
                          <a:solidFill>
                            <a:srgbClr val="B3282D"/>
                          </a:solidFill>
                          <a:latin typeface="Calibri"/>
                        </a:rPr>
                        <a:t>−0.66</a:t>
                      </a:r>
                    </a:p>
                  </a:txBody>
                  <a:tcPr marL="54864" marR="54864" marT="9144" marB="9144" anchor="ctr">
                    <a:solidFill>
                      <a:srgbClr val="F3F5F9"/>
                    </a:solidFill>
                  </a:tcPr>
                </a:tc>
                <a:tc>
                  <a:txBody>
                    <a:bodyPr/>
                    <a:lstStyle/>
                    <a:p>
                      <a:pPr algn="ctr"/>
                      <a:r>
                        <a:rPr sz="860" b="0">
                          <a:solidFill>
                            <a:srgbClr val="252F3D"/>
                          </a:solidFill>
                          <a:latin typeface="Calibri"/>
                        </a:rPr>
                        <a:t>148.4</a:t>
                      </a:r>
                    </a:p>
                  </a:txBody>
                  <a:tcPr marL="54864" marR="54864" marT="9144" marB="9144" anchor="ctr">
                    <a:solidFill>
                      <a:srgbClr val="F3F5F9"/>
                    </a:solidFill>
                  </a:tcPr>
                </a:tc>
                <a:tc>
                  <a:txBody>
                    <a:bodyPr/>
                    <a:lstStyle/>
                    <a:p>
                      <a:pPr algn="ctr"/>
                      <a:r>
                        <a:rPr sz="860" b="0">
                          <a:solidFill>
                            <a:srgbClr val="252F3D"/>
                          </a:solidFill>
                          <a:latin typeface="Calibri"/>
                        </a:rPr>
                        <a:t>225.0</a:t>
                      </a:r>
                    </a:p>
                  </a:txBody>
                  <a:tcPr marL="54864" marR="54864" marT="9144" marB="9144" anchor="ctr">
                    <a:solidFill>
                      <a:srgbClr val="F3F5F9"/>
                    </a:solidFill>
                  </a:tcPr>
                </a:tc>
                <a:tc>
                  <a:txBody>
                    <a:bodyPr/>
                    <a:lstStyle/>
                    <a:p>
                      <a:pPr algn="ctr"/>
                      <a:r>
                        <a:rPr sz="860" b="0">
                          <a:solidFill>
                            <a:srgbClr val="252F3D"/>
                          </a:solidFill>
                          <a:latin typeface="Calibri"/>
                        </a:rPr>
                        <a:t>76.6</a:t>
                      </a:r>
                    </a:p>
                  </a:txBody>
                  <a:tcPr marL="54864" marR="54864" marT="9144" marB="9144" anchor="ctr">
                    <a:solidFill>
                      <a:srgbClr val="F3F5F9"/>
                    </a:solidFill>
                  </a:tcPr>
                </a:tc>
              </a:tr>
              <a:tr h="214884">
                <a:tc>
                  <a:txBody>
                    <a:bodyPr/>
                    <a:lstStyle/>
                    <a:p>
                      <a:pPr algn="l"/>
                      <a:r>
                        <a:rPr sz="860" b="0">
                          <a:solidFill>
                            <a:srgbClr val="252F3D"/>
                          </a:solidFill>
                          <a:latin typeface="Calibri"/>
                        </a:rPr>
                        <a:t>t+2 h</a:t>
                      </a:r>
                    </a:p>
                  </a:txBody>
                  <a:tcPr marL="54864" marR="54864" marT="9144" marB="9144" anchor="ctr">
                    <a:solidFill>
                      <a:srgbClr val="FFFFFF"/>
                    </a:solidFill>
                  </a:tcPr>
                </a:tc>
                <a:tc>
                  <a:txBody>
                    <a:bodyPr/>
                    <a:lstStyle/>
                    <a:p>
                      <a:pPr algn="ctr"/>
                      <a:r>
                        <a:rPr sz="860" b="0">
                          <a:solidFill>
                            <a:srgbClr val="252F3D"/>
                          </a:solidFill>
                          <a:latin typeface="Calibri"/>
                        </a:rPr>
                        <a:t>88.3</a:t>
                      </a:r>
                    </a:p>
                  </a:txBody>
                  <a:tcPr marL="54864" marR="54864" marT="9144" marB="9144" anchor="ctr">
                    <a:solidFill>
                      <a:srgbClr val="FFFFFF"/>
                    </a:solidFill>
                  </a:tcPr>
                </a:tc>
                <a:tc>
                  <a:txBody>
                    <a:bodyPr/>
                    <a:lstStyle/>
                    <a:p>
                      <a:pPr algn="ctr"/>
                      <a:r>
                        <a:rPr sz="860" b="0">
                          <a:solidFill>
                            <a:srgbClr val="252F3D"/>
                          </a:solidFill>
                          <a:latin typeface="Calibri"/>
                        </a:rPr>
                        <a:t>22.2</a:t>
                      </a:r>
                    </a:p>
                  </a:txBody>
                  <a:tcPr marL="54864" marR="54864" marT="9144" marB="9144" anchor="ctr">
                    <a:solidFill>
                      <a:srgbClr val="FFFFFF"/>
                    </a:solidFill>
                  </a:tcPr>
                </a:tc>
                <a:tc>
                  <a:txBody>
                    <a:bodyPr/>
                    <a:lstStyle/>
                    <a:p>
                      <a:pPr algn="ctr"/>
                      <a:r>
                        <a:rPr sz="860" b="0">
                          <a:solidFill>
                            <a:srgbClr val="252F3D"/>
                          </a:solidFill>
                          <a:latin typeface="Calibri"/>
                        </a:rPr>
                        <a:t>63.2</a:t>
                      </a:r>
                    </a:p>
                  </a:txBody>
                  <a:tcPr marL="54864" marR="54864" marT="9144" marB="9144" anchor="ctr">
                    <a:solidFill>
                      <a:srgbClr val="FFFFFF"/>
                    </a:solidFill>
                  </a:tcPr>
                </a:tc>
                <a:tc>
                  <a:txBody>
                    <a:bodyPr/>
                    <a:lstStyle/>
                    <a:p>
                      <a:pPr algn="ctr"/>
                      <a:r>
                        <a:rPr sz="860" b="0">
                          <a:solidFill>
                            <a:srgbClr val="B3282D"/>
                          </a:solidFill>
                          <a:latin typeface="Calibri"/>
                        </a:rPr>
                        <a:t>−0.74</a:t>
                      </a:r>
                    </a:p>
                  </a:txBody>
                  <a:tcPr marL="54864" marR="54864" marT="9144" marB="9144" anchor="ctr">
                    <a:solidFill>
                      <a:srgbClr val="FFFFFF"/>
                    </a:solidFill>
                  </a:tcPr>
                </a:tc>
                <a:tc>
                  <a:txBody>
                    <a:bodyPr/>
                    <a:lstStyle/>
                    <a:p>
                      <a:pPr algn="ctr"/>
                      <a:r>
                        <a:rPr sz="860" b="0">
                          <a:solidFill>
                            <a:srgbClr val="252F3D"/>
                          </a:solidFill>
                          <a:latin typeface="Calibri"/>
                        </a:rPr>
                        <a:t>351.9</a:t>
                      </a:r>
                    </a:p>
                  </a:txBody>
                  <a:tcPr marL="54864" marR="54864" marT="9144" marB="9144" anchor="ctr">
                    <a:solidFill>
                      <a:srgbClr val="FFFFFF"/>
                    </a:solidFill>
                  </a:tcPr>
                </a:tc>
                <a:tc>
                  <a:txBody>
                    <a:bodyPr/>
                    <a:lstStyle/>
                    <a:p>
                      <a:pPr algn="ctr"/>
                      <a:r>
                        <a:rPr sz="860" b="0">
                          <a:solidFill>
                            <a:srgbClr val="252F3D"/>
                          </a:solidFill>
                          <a:latin typeface="Calibri"/>
                        </a:rPr>
                        <a:t>449.0</a:t>
                      </a:r>
                    </a:p>
                  </a:txBody>
                  <a:tcPr marL="54864" marR="54864" marT="9144" marB="9144" anchor="ctr">
                    <a:solidFill>
                      <a:srgbClr val="FFFFFF"/>
                    </a:solidFill>
                  </a:tcPr>
                </a:tc>
                <a:tc>
                  <a:txBody>
                    <a:bodyPr/>
                    <a:lstStyle/>
                    <a:p>
                      <a:pPr algn="ctr"/>
                      <a:r>
                        <a:rPr sz="860" b="0">
                          <a:solidFill>
                            <a:srgbClr val="252F3D"/>
                          </a:solidFill>
                          <a:latin typeface="Calibri"/>
                        </a:rPr>
                        <a:t>97.1</a:t>
                      </a:r>
                    </a:p>
                  </a:txBody>
                  <a:tcPr marL="54864" marR="54864" marT="9144" marB="9144" anchor="ctr">
                    <a:solidFill>
                      <a:srgbClr val="FFFFFF"/>
                    </a:solidFill>
                  </a:tcPr>
                </a:tc>
              </a:tr>
              <a:tr h="214884">
                <a:tc>
                  <a:txBody>
                    <a:bodyPr/>
                    <a:lstStyle/>
                    <a:p>
                      <a:pPr algn="l"/>
                      <a:r>
                        <a:rPr sz="860" b="0">
                          <a:solidFill>
                            <a:srgbClr val="252F3D"/>
                          </a:solidFill>
                          <a:latin typeface="Calibri"/>
                        </a:rPr>
                        <a:t>t+3 h</a:t>
                      </a:r>
                    </a:p>
                  </a:txBody>
                  <a:tcPr marL="54864" marR="54864" marT="9144" marB="9144" anchor="ctr">
                    <a:solidFill>
                      <a:srgbClr val="F3F5F9"/>
                    </a:solidFill>
                  </a:tcPr>
                </a:tc>
                <a:tc>
                  <a:txBody>
                    <a:bodyPr/>
                    <a:lstStyle/>
                    <a:p>
                      <a:pPr algn="ctr"/>
                      <a:r>
                        <a:rPr sz="860" b="0">
                          <a:solidFill>
                            <a:srgbClr val="252F3D"/>
                          </a:solidFill>
                          <a:latin typeface="Calibri"/>
                        </a:rPr>
                        <a:t>85.0</a:t>
                      </a:r>
                    </a:p>
                  </a:txBody>
                  <a:tcPr marL="54864" marR="54864" marT="9144" marB="9144" anchor="ctr">
                    <a:solidFill>
                      <a:srgbClr val="F3F5F9"/>
                    </a:solidFill>
                  </a:tcPr>
                </a:tc>
                <a:tc>
                  <a:txBody>
                    <a:bodyPr/>
                    <a:lstStyle/>
                    <a:p>
                      <a:pPr algn="ctr"/>
                      <a:r>
                        <a:rPr sz="860" b="0">
                          <a:solidFill>
                            <a:srgbClr val="252F3D"/>
                          </a:solidFill>
                          <a:latin typeface="Calibri"/>
                        </a:rPr>
                        <a:t>28.3</a:t>
                      </a:r>
                    </a:p>
                  </a:txBody>
                  <a:tcPr marL="54864" marR="54864" marT="9144" marB="9144" anchor="ctr">
                    <a:solidFill>
                      <a:srgbClr val="F3F5F9"/>
                    </a:solidFill>
                  </a:tcPr>
                </a:tc>
                <a:tc>
                  <a:txBody>
                    <a:bodyPr/>
                    <a:lstStyle/>
                    <a:p>
                      <a:pPr algn="ctr"/>
                      <a:r>
                        <a:rPr sz="860" b="0">
                          <a:solidFill>
                            <a:srgbClr val="252F3D"/>
                          </a:solidFill>
                          <a:latin typeface="Calibri"/>
                        </a:rPr>
                        <a:t>87.6</a:t>
                      </a:r>
                    </a:p>
                  </a:txBody>
                  <a:tcPr marL="54864" marR="54864" marT="9144" marB="9144" anchor="ctr">
                    <a:solidFill>
                      <a:srgbClr val="F3F5F9"/>
                    </a:solidFill>
                  </a:tcPr>
                </a:tc>
                <a:tc>
                  <a:txBody>
                    <a:bodyPr/>
                    <a:lstStyle/>
                    <a:p>
                      <a:pPr algn="ctr"/>
                      <a:r>
                        <a:rPr sz="860" b="0">
                          <a:solidFill>
                            <a:srgbClr val="B3282D"/>
                          </a:solidFill>
                          <a:latin typeface="Calibri"/>
                        </a:rPr>
                        <a:t>−0.49</a:t>
                      </a:r>
                    </a:p>
                  </a:txBody>
                  <a:tcPr marL="54864" marR="54864" marT="9144" marB="9144" anchor="ctr">
                    <a:solidFill>
                      <a:srgbClr val="F3F5F9"/>
                    </a:solidFill>
                  </a:tcPr>
                </a:tc>
                <a:tc>
                  <a:txBody>
                    <a:bodyPr/>
                    <a:lstStyle/>
                    <a:p>
                      <a:pPr algn="ctr"/>
                      <a:r>
                        <a:rPr sz="860" b="0">
                          <a:solidFill>
                            <a:srgbClr val="252F3D"/>
                          </a:solidFill>
                          <a:latin typeface="Calibri"/>
                        </a:rPr>
                        <a:t>512.6</a:t>
                      </a:r>
                    </a:p>
                  </a:txBody>
                  <a:tcPr marL="54864" marR="54864" marT="9144" marB="9144" anchor="ctr">
                    <a:solidFill>
                      <a:srgbClr val="F3F5F9"/>
                    </a:solidFill>
                  </a:tcPr>
                </a:tc>
                <a:tc>
                  <a:txBody>
                    <a:bodyPr/>
                    <a:lstStyle/>
                    <a:p>
                      <a:pPr algn="ctr"/>
                      <a:r>
                        <a:rPr sz="860" b="0">
                          <a:solidFill>
                            <a:srgbClr val="252F3D"/>
                          </a:solidFill>
                          <a:latin typeface="Calibri"/>
                        </a:rPr>
                        <a:t>636.0</a:t>
                      </a:r>
                    </a:p>
                  </a:txBody>
                  <a:tcPr marL="54864" marR="54864" marT="9144" marB="9144" anchor="ctr">
                    <a:solidFill>
                      <a:srgbClr val="F3F5F9"/>
                    </a:solidFill>
                  </a:tcPr>
                </a:tc>
                <a:tc>
                  <a:txBody>
                    <a:bodyPr/>
                    <a:lstStyle/>
                    <a:p>
                      <a:pPr algn="ctr"/>
                      <a:r>
                        <a:rPr sz="860" b="0">
                          <a:solidFill>
                            <a:srgbClr val="252F3D"/>
                          </a:solidFill>
                          <a:latin typeface="Calibri"/>
                        </a:rPr>
                        <a:t>123.4</a:t>
                      </a:r>
                    </a:p>
                  </a:txBody>
                  <a:tcPr marL="54864" marR="54864" marT="9144" marB="9144" anchor="ctr">
                    <a:solidFill>
                      <a:srgbClr val="F3F5F9"/>
                    </a:solidFill>
                  </a:tcPr>
                </a:tc>
              </a:tr>
            </a:tbl>
          </a:graphicData>
        </a:graphic>
      </p:graphicFrame>
      <p:sp>
        <p:nvSpPr>
          <p:cNvPr id="23" name="TextBox 22"/>
          <p:cNvSpPr txBox="1"/>
          <p:nvPr/>
        </p:nvSpPr>
        <p:spPr>
          <a:xfrm>
            <a:off x="6428232" y="2615184"/>
            <a:ext cx="5074920" cy="1005840"/>
          </a:xfrm>
          <a:prstGeom prst="rect">
            <a:avLst/>
          </a:prstGeom>
          <a:noFill/>
        </p:spPr>
        <p:txBody>
          <a:bodyPr wrap="square" anchor="t" lIns="0" rIns="0" tIns="0" bIns="0">
            <a:spAutoFit/>
          </a:bodyPr>
          <a:lstStyle/>
          <a:p>
            <a:pPr algn="l">
              <a:lnSpc>
                <a:spcPct val="100000"/>
              </a:lnSpc>
            </a:pPr>
            <a:r>
              <a:rPr sz="860" b="0" i="0">
                <a:solidFill>
                  <a:srgbClr val="252F3D"/>
                </a:solidFill>
                <a:latin typeface="Calibri"/>
              </a:rPr>
              <a:t>Left block — 8 daily 10:00 SGT forecasts, 12–19 Aug 2026, verified over 24 hours, before the tile-validation and three-frame fixes. MAE 79.4 W/m² looks respectable, but the forecast varied only ~36 % as much as the outcome and correlated negatively with it at every horizon: the model was nearly constant and the MAE was flattered by a calm week. Coverage was 100 % at a band ~540 W/m² wide.
Right block — the first post-fix issue time (08:00 SGT, 21 Aug). All three inside the 90 % band, all three low. Three verified hours cannot support a conclusion.</a:t>
            </a:r>
          </a:p>
        </p:txBody>
      </p:sp>
      <p:sp>
        <p:nvSpPr>
          <p:cNvPr id="24" name="TextBox 23"/>
          <p:cNvSpPr txBox="1"/>
          <p:nvPr/>
        </p:nvSpPr>
        <p:spPr>
          <a:xfrm>
            <a:off x="502920" y="3840480"/>
            <a:ext cx="11183112" cy="256032"/>
          </a:xfrm>
          <a:prstGeom prst="rect">
            <a:avLst/>
          </a:prstGeom>
          <a:noFill/>
        </p:spPr>
        <p:txBody>
          <a:bodyPr wrap="square" anchor="t" lIns="0" rIns="0" tIns="0" bIns="0">
            <a:spAutoFit/>
          </a:bodyPr>
          <a:lstStyle/>
          <a:p>
            <a:pPr algn="l">
              <a:lnSpc>
                <a:spcPct val="100000"/>
              </a:lnSpc>
            </a:pPr>
            <a:r>
              <a:rPr sz="1100" b="1" i="0">
                <a:solidFill>
                  <a:srgbClr val="B3282D"/>
                </a:solidFill>
                <a:latin typeface="Calibri"/>
              </a:rPr>
              <a:t>FOUR TRAIN/SERVE DIVERGENCES IDENTIFIED IN THE LIVE PATH</a:t>
            </a:r>
          </a:p>
        </p:txBody>
      </p:sp>
      <p:graphicFrame>
        <p:nvGraphicFramePr>
          <p:cNvPr id="25" name="Table 24"/>
          <p:cNvGraphicFramePr>
            <a:graphicFrameLocks noGrp="1"/>
          </p:cNvGraphicFramePr>
          <p:nvPr/>
        </p:nvGraphicFramePr>
        <p:xfrm>
          <a:off x="502920" y="4160520"/>
          <a:ext cx="11183110" cy="1792224"/>
        </p:xfrm>
        <a:graphic>
          <a:graphicData uri="http://schemas.openxmlformats.org/drawingml/2006/table">
            <a:tbl>
              <a:tblPr bandRow="1"/>
              <a:tblGrid>
                <a:gridCol w="334537"/>
                <a:gridCol w="1959434"/>
                <a:gridCol w="2198389"/>
                <a:gridCol w="2724091"/>
                <a:gridCol w="3249793"/>
                <a:gridCol w="716866"/>
              </a:tblGrid>
              <a:tr h="256032">
                <a:tc>
                  <a:txBody>
                    <a:bodyPr/>
                    <a:lstStyle/>
                    <a:p>
                      <a:pPr algn="ctr"/>
                      <a:r>
                        <a:rPr sz="1050" b="1">
                          <a:solidFill>
                            <a:srgbClr val="FFFFFF"/>
                          </a:solidFill>
                          <a:latin typeface="Calibri"/>
                        </a:rPr>
                        <a:t>#</a:t>
                      </a:r>
                    </a:p>
                  </a:txBody>
                  <a:tcPr marL="54864" marR="54864" marT="18288" marB="18288" anchor="ctr">
                    <a:solidFill>
                      <a:srgbClr val="1F3B63"/>
                    </a:solidFill>
                  </a:tcPr>
                </a:tc>
                <a:tc>
                  <a:txBody>
                    <a:bodyPr/>
                    <a:lstStyle/>
                    <a:p>
                      <a:pPr algn="l"/>
                      <a:r>
                        <a:rPr sz="1050" b="1">
                          <a:solidFill>
                            <a:srgbClr val="FFFFFF"/>
                          </a:solidFill>
                          <a:latin typeface="Calibri"/>
                        </a:rPr>
                        <a:t>Divergence</a:t>
                      </a:r>
                    </a:p>
                  </a:txBody>
                  <a:tcPr marL="54864" marR="54864" marT="18288" marB="18288" anchor="ctr">
                    <a:solidFill>
                      <a:srgbClr val="1F3B63"/>
                    </a:solidFill>
                  </a:tcPr>
                </a:tc>
                <a:tc>
                  <a:txBody>
                    <a:bodyPr/>
                    <a:lstStyle/>
                    <a:p>
                      <a:pPr algn="l"/>
                      <a:r>
                        <a:rPr sz="1050" b="1">
                          <a:solidFill>
                            <a:srgbClr val="FFFFFF"/>
                          </a:solidFill>
                          <a:latin typeface="Calibri"/>
                        </a:rPr>
                        <a:t>Training behaviour</a:t>
                      </a:r>
                    </a:p>
                  </a:txBody>
                  <a:tcPr marL="54864" marR="54864" marT="18288" marB="18288" anchor="ctr">
                    <a:solidFill>
                      <a:srgbClr val="1F3B63"/>
                    </a:solidFill>
                  </a:tcPr>
                </a:tc>
                <a:tc>
                  <a:txBody>
                    <a:bodyPr/>
                    <a:lstStyle/>
                    <a:p>
                      <a:pPr algn="l"/>
                      <a:r>
                        <a:rPr sz="1050" b="1">
                          <a:solidFill>
                            <a:srgbClr val="FFFFFF"/>
                          </a:solidFill>
                          <a:latin typeface="Calibri"/>
                        </a:rPr>
                        <a:t>Serving behaviour</a:t>
                      </a:r>
                    </a:p>
                  </a:txBody>
                  <a:tcPr marL="54864" marR="54864" marT="18288" marB="18288" anchor="ctr">
                    <a:solidFill>
                      <a:srgbClr val="1F3B63"/>
                    </a:solidFill>
                  </a:tcPr>
                </a:tc>
                <a:tc>
                  <a:txBody>
                    <a:bodyPr/>
                    <a:lstStyle/>
                    <a:p>
                      <a:pPr algn="l"/>
                      <a:r>
                        <a:rPr sz="1050" b="1">
                          <a:solidFill>
                            <a:srgbClr val="FFFFFF"/>
                          </a:solidFill>
                          <a:latin typeface="Calibri"/>
                        </a:rPr>
                        <a:t>Consequence</a:t>
                      </a:r>
                    </a:p>
                  </a:txBody>
                  <a:tcPr marL="54864" marR="54864" marT="18288" marB="18288" anchor="ctr">
                    <a:solidFill>
                      <a:srgbClr val="1F3B63"/>
                    </a:solidFill>
                  </a:tcPr>
                </a:tc>
                <a:tc>
                  <a:txBody>
                    <a:bodyPr/>
                    <a:lstStyle/>
                    <a:p>
                      <a:pPr algn="l"/>
                      <a:r>
                        <a:rPr sz="1050" b="1">
                          <a:solidFill>
                            <a:srgbClr val="FFFFFF"/>
                          </a:solidFill>
                          <a:latin typeface="Calibri"/>
                        </a:rPr>
                        <a:t>Status</a:t>
                      </a:r>
                    </a:p>
                  </a:txBody>
                  <a:tcPr marL="54864" marR="54864" marT="18288" marB="18288" anchor="ctr">
                    <a:solidFill>
                      <a:srgbClr val="1F3B63"/>
                    </a:solidFill>
                  </a:tcPr>
                </a:tc>
              </a:tr>
              <a:tr h="384048">
                <a:tc>
                  <a:txBody>
                    <a:bodyPr/>
                    <a:lstStyle/>
                    <a:p>
                      <a:pPr algn="ctr"/>
                      <a:r>
                        <a:rPr sz="910" b="0">
                          <a:solidFill>
                            <a:srgbClr val="252F3D"/>
                          </a:solidFill>
                          <a:latin typeface="Calibri"/>
                        </a:rPr>
                        <a:t>1</a:t>
                      </a:r>
                    </a:p>
                  </a:txBody>
                  <a:tcPr marL="54864" marR="54864" marT="9144" marB="9144" anchor="ctr">
                    <a:solidFill>
                      <a:srgbClr val="F3F5F9"/>
                    </a:solidFill>
                  </a:tcPr>
                </a:tc>
                <a:tc>
                  <a:txBody>
                    <a:bodyPr/>
                    <a:lstStyle/>
                    <a:p>
                      <a:pPr algn="l"/>
                      <a:r>
                        <a:rPr sz="910" b="0">
                          <a:solidFill>
                            <a:srgbClr val="252F3D"/>
                          </a:solidFill>
                          <a:latin typeface="Calibri"/>
                        </a:rPr>
                        <a:t>Gate input 2 — cloud cover</a:t>
                      </a:r>
                    </a:p>
                  </a:txBody>
                  <a:tcPr marL="54864" marR="54864" marT="9144" marB="9144" anchor="ctr">
                    <a:solidFill>
                      <a:srgbClr val="F3F5F9"/>
                    </a:solidFill>
                  </a:tcPr>
                </a:tc>
                <a:tc>
                  <a:txBody>
                    <a:bodyPr/>
                    <a:lstStyle/>
                    <a:p>
                      <a:pPr algn="l"/>
                      <a:r>
                        <a:rPr sz="910" b="0">
                          <a:solidFill>
                            <a:srgbClr val="252F3D"/>
                          </a:solidFill>
                          <a:latin typeface="Calibri"/>
                        </a:rPr>
                        <a:t>real ERA5 cloud fraction</a:t>
                      </a:r>
                    </a:p>
                  </a:txBody>
                  <a:tcPr marL="54864" marR="54864" marT="9144" marB="9144" anchor="ctr">
                    <a:solidFill>
                      <a:srgbClr val="F3F5F9"/>
                    </a:solidFill>
                  </a:tcPr>
                </a:tc>
                <a:tc>
                  <a:txBody>
                    <a:bodyPr/>
                    <a:lstStyle/>
                    <a:p>
                      <a:pPr algn="l"/>
                      <a:r>
                        <a:rPr sz="910" b="0">
                          <a:solidFill>
                            <a:srgbClr val="252F3D"/>
                          </a:solidFill>
                          <a:latin typeface="Calibri"/>
                        </a:rPr>
                        <a:t>synthesised as (1 − k_t)×100</a:t>
                      </a:r>
                    </a:p>
                  </a:txBody>
                  <a:tcPr marL="54864" marR="54864" marT="9144" marB="9144" anchor="ctr">
                    <a:solidFill>
                      <a:srgbClr val="F3F5F9"/>
                    </a:solidFill>
                  </a:tcPr>
                </a:tc>
                <a:tc>
                  <a:txBody>
                    <a:bodyPr/>
                    <a:lstStyle/>
                    <a:p>
                      <a:pPr algn="l"/>
                      <a:r>
                        <a:rPr sz="910" b="0">
                          <a:solidFill>
                            <a:srgbClr val="252F3D"/>
                          </a:solidFill>
                          <a:latin typeface="Calibri"/>
                        </a:rPr>
                        <a:t>gate input 2 becomes a deterministic function of input 1</a:t>
                      </a:r>
                    </a:p>
                  </a:txBody>
                  <a:tcPr marL="54864" marR="54864" marT="9144" marB="9144" anchor="ctr">
                    <a:solidFill>
                      <a:srgbClr val="F3F5F9"/>
                    </a:solidFill>
                  </a:tcPr>
                </a:tc>
                <a:tc>
                  <a:txBody>
                    <a:bodyPr/>
                    <a:lstStyle/>
                    <a:p>
                      <a:pPr algn="l"/>
                      <a:r>
                        <a:rPr sz="910" b="0">
                          <a:solidFill>
                            <a:srgbClr val="B3282D"/>
                          </a:solidFill>
                          <a:latin typeface="Calibri"/>
                        </a:rPr>
                        <a:t>open</a:t>
                      </a:r>
                    </a:p>
                  </a:txBody>
                  <a:tcPr marL="54864" marR="54864" marT="9144" marB="9144" anchor="ctr">
                    <a:solidFill>
                      <a:srgbClr val="F3F5F9"/>
                    </a:solidFill>
                  </a:tcPr>
                </a:tc>
              </a:tr>
              <a:tr h="384048">
                <a:tc>
                  <a:txBody>
                    <a:bodyPr/>
                    <a:lstStyle/>
                    <a:p>
                      <a:pPr algn="ctr"/>
                      <a:r>
                        <a:rPr sz="910" b="0">
                          <a:solidFill>
                            <a:srgbClr val="252F3D"/>
                          </a:solidFill>
                          <a:latin typeface="Calibri"/>
                        </a:rPr>
                        <a:t>2</a:t>
                      </a:r>
                    </a:p>
                  </a:txBody>
                  <a:tcPr marL="54864" marR="54864" marT="9144" marB="9144" anchor="ctr">
                    <a:solidFill>
                      <a:srgbClr val="FFFFFF"/>
                    </a:solidFill>
                  </a:tcPr>
                </a:tc>
                <a:tc>
                  <a:txBody>
                    <a:bodyPr/>
                    <a:lstStyle/>
                    <a:p>
                      <a:pPr algn="l"/>
                      <a:r>
                        <a:rPr sz="910" b="0">
                          <a:solidFill>
                            <a:srgbClr val="252F3D"/>
                          </a:solidFill>
                          <a:latin typeface="Calibri"/>
                        </a:rPr>
                        <a:t>Lookback time base</a:t>
                      </a:r>
                    </a:p>
                  </a:txBody>
                  <a:tcPr marL="54864" marR="54864" marT="9144" marB="9144" anchor="ctr">
                    <a:solidFill>
                      <a:srgbClr val="FFFFFF"/>
                    </a:solidFill>
                  </a:tcPr>
                </a:tc>
                <a:tc>
                  <a:txBody>
                    <a:bodyPr/>
                    <a:lstStyle/>
                    <a:p>
                      <a:pPr algn="l"/>
                      <a:r>
                        <a:rPr sz="910" b="0">
                          <a:solidFill>
                            <a:srgbClr val="252F3D"/>
                          </a:solidFill>
                          <a:latin typeface="Calibri"/>
                        </a:rPr>
                        <a:t>24 consecutive daylight rows ≈ 2.4 days</a:t>
                      </a:r>
                    </a:p>
                  </a:txBody>
                  <a:tcPr marL="54864" marR="54864" marT="9144" marB="9144" anchor="ctr">
                    <a:solidFill>
                      <a:srgbClr val="FFFFFF"/>
                    </a:solidFill>
                  </a:tcPr>
                </a:tc>
                <a:tc>
                  <a:txBody>
                    <a:bodyPr/>
                    <a:lstStyle/>
                    <a:p>
                      <a:pPr algn="l"/>
                      <a:r>
                        <a:rPr sz="910" b="0">
                          <a:solidFill>
                            <a:srgbClr val="252F3D"/>
                          </a:solidFill>
                          <a:latin typeface="Calibri"/>
                        </a:rPr>
                        <a:t>24 consecutive clock hours</a:t>
                      </a:r>
                    </a:p>
                  </a:txBody>
                  <a:tcPr marL="54864" marR="54864" marT="9144" marB="9144" anchor="ctr">
                    <a:solidFill>
                      <a:srgbClr val="FFFFFF"/>
                    </a:solidFill>
                  </a:tcPr>
                </a:tc>
                <a:tc>
                  <a:txBody>
                    <a:bodyPr/>
                    <a:lstStyle/>
                    <a:p>
                      <a:pPr algn="l"/>
                      <a:r>
                        <a:rPr sz="910" b="0">
                          <a:solidFill>
                            <a:srgbClr val="252F3D"/>
                          </a:solidFill>
                          <a:latin typeface="Calibri"/>
                        </a:rPr>
                        <a:t>at a 10:00 issue time ~14 of 24 rows are night hours the model never saw</a:t>
                      </a:r>
                    </a:p>
                  </a:txBody>
                  <a:tcPr marL="54864" marR="54864" marT="9144" marB="9144" anchor="ctr">
                    <a:solidFill>
                      <a:srgbClr val="FFFFFF"/>
                    </a:solidFill>
                  </a:tcPr>
                </a:tc>
                <a:tc>
                  <a:txBody>
                    <a:bodyPr/>
                    <a:lstStyle/>
                    <a:p>
                      <a:pPr algn="l"/>
                      <a:r>
                        <a:rPr sz="910" b="0">
                          <a:solidFill>
                            <a:srgbClr val="B3282D"/>
                          </a:solidFill>
                          <a:latin typeface="Calibri"/>
                        </a:rPr>
                        <a:t>open</a:t>
                      </a:r>
                    </a:p>
                  </a:txBody>
                  <a:tcPr marL="54864" marR="54864" marT="9144" marB="9144" anchor="ctr">
                    <a:solidFill>
                      <a:srgbClr val="FFFFFF"/>
                    </a:solidFill>
                  </a:tcPr>
                </a:tc>
              </a:tr>
              <a:tr h="384048">
                <a:tc>
                  <a:txBody>
                    <a:bodyPr/>
                    <a:lstStyle/>
                    <a:p>
                      <a:pPr algn="ctr"/>
                      <a:r>
                        <a:rPr sz="910" b="0">
                          <a:solidFill>
                            <a:srgbClr val="252F3D"/>
                          </a:solidFill>
                          <a:latin typeface="Calibri"/>
                        </a:rPr>
                        <a:t>3</a:t>
                      </a:r>
                    </a:p>
                  </a:txBody>
                  <a:tcPr marL="54864" marR="54864" marT="9144" marB="9144" anchor="ctr">
                    <a:solidFill>
                      <a:srgbClr val="F3F5F9"/>
                    </a:solidFill>
                  </a:tcPr>
                </a:tc>
                <a:tc>
                  <a:txBody>
                    <a:bodyPr/>
                    <a:lstStyle/>
                    <a:p>
                      <a:pPr algn="l"/>
                      <a:r>
                        <a:rPr sz="910" b="0">
                          <a:solidFill>
                            <a:srgbClr val="252F3D"/>
                          </a:solidFill>
                          <a:latin typeface="Calibri"/>
                        </a:rPr>
                        <a:t>Station weather</a:t>
                      </a:r>
                    </a:p>
                  </a:txBody>
                  <a:tcPr marL="54864" marR="54864" marT="9144" marB="9144" anchor="ctr">
                    <a:solidFill>
                      <a:srgbClr val="F3F5F9"/>
                    </a:solidFill>
                  </a:tcPr>
                </a:tc>
                <a:tc>
                  <a:txBody>
                    <a:bodyPr/>
                    <a:lstStyle/>
                    <a:p>
                      <a:pPr algn="l"/>
                      <a:r>
                        <a:rPr sz="910" b="0">
                          <a:solidFill>
                            <a:srgbClr val="252F3D"/>
                          </a:solidFill>
                          <a:latin typeface="Calibri"/>
                        </a:rPr>
                        <a:t>not used</a:t>
                      </a:r>
                    </a:p>
                  </a:txBody>
                  <a:tcPr marL="54864" marR="54864" marT="9144" marB="9144" anchor="ctr">
                    <a:solidFill>
                      <a:srgbClr val="F3F5F9"/>
                    </a:solidFill>
                  </a:tcPr>
                </a:tc>
                <a:tc>
                  <a:txBody>
                    <a:bodyPr/>
                    <a:lstStyle/>
                    <a:p>
                      <a:pPr algn="l"/>
                      <a:r>
                        <a:rPr sz="910" b="0">
                          <a:solidFill>
                            <a:srgbClr val="252F3D"/>
                          </a:solidFill>
                          <a:latin typeface="Calibri"/>
                        </a:rPr>
                        <a:t>fetched from data.gov.sg, printed, written to JSON — never enters the tensor</a:t>
                      </a:r>
                    </a:p>
                  </a:txBody>
                  <a:tcPr marL="54864" marR="54864" marT="9144" marB="9144" anchor="ctr">
                    <a:solidFill>
                      <a:srgbClr val="F3F5F9"/>
                    </a:solidFill>
                  </a:tcPr>
                </a:tc>
                <a:tc>
                  <a:txBody>
                    <a:bodyPr/>
                    <a:lstStyle/>
                    <a:p>
                      <a:pPr algn="l"/>
                      <a:r>
                        <a:rPr sz="910" b="0">
                          <a:solidFill>
                            <a:srgbClr val="252F3D"/>
                          </a:solidFill>
                          <a:latin typeface="Calibri"/>
                        </a:rPr>
                        <a:t>misleading pipeline documentation, no numerical effect</a:t>
                      </a:r>
                    </a:p>
                  </a:txBody>
                  <a:tcPr marL="54864" marR="54864" marT="9144" marB="9144" anchor="ctr">
                    <a:solidFill>
                      <a:srgbClr val="F3F5F9"/>
                    </a:solidFill>
                  </a:tcPr>
                </a:tc>
                <a:tc>
                  <a:txBody>
                    <a:bodyPr/>
                    <a:lstStyle/>
                    <a:p>
                      <a:pPr algn="l"/>
                      <a:r>
                        <a:rPr sz="910" b="0">
                          <a:solidFill>
                            <a:srgbClr val="C4622D"/>
                          </a:solidFill>
                          <a:latin typeface="Calibri"/>
                        </a:rPr>
                        <a:t>open</a:t>
                      </a:r>
                    </a:p>
                  </a:txBody>
                  <a:tcPr marL="54864" marR="54864" marT="9144" marB="9144" anchor="ctr">
                    <a:solidFill>
                      <a:srgbClr val="F3F5F9"/>
                    </a:solidFill>
                  </a:tcPr>
                </a:tc>
              </a:tr>
              <a:tr h="384048">
                <a:tc>
                  <a:txBody>
                    <a:bodyPr/>
                    <a:lstStyle/>
                    <a:p>
                      <a:pPr algn="ctr"/>
                      <a:r>
                        <a:rPr sz="910" b="0">
                          <a:solidFill>
                            <a:srgbClr val="252F3D"/>
                          </a:solidFill>
                          <a:latin typeface="Calibri"/>
                        </a:rPr>
                        <a:t>4</a:t>
                      </a:r>
                    </a:p>
                  </a:txBody>
                  <a:tcPr marL="54864" marR="54864" marT="9144" marB="9144" anchor="ctr">
                    <a:solidFill>
                      <a:srgbClr val="FFFFFF"/>
                    </a:solidFill>
                  </a:tcPr>
                </a:tc>
                <a:tc>
                  <a:txBody>
                    <a:bodyPr/>
                    <a:lstStyle/>
                    <a:p>
                      <a:pPr algn="l"/>
                      <a:r>
                        <a:rPr sz="910" b="0">
                          <a:solidFill>
                            <a:srgbClr val="252F3D"/>
                          </a:solidFill>
                          <a:latin typeface="Calibri"/>
                        </a:rPr>
                        <a:t>Verification source</a:t>
                      </a:r>
                    </a:p>
                  </a:txBody>
                  <a:tcPr marL="54864" marR="54864" marT="9144" marB="9144" anchor="ctr">
                    <a:solidFill>
                      <a:srgbClr val="FFFFFF"/>
                    </a:solidFill>
                  </a:tcPr>
                </a:tc>
                <a:tc>
                  <a:txBody>
                    <a:bodyPr/>
                    <a:lstStyle/>
                    <a:p>
                      <a:pPr algn="l"/>
                      <a:r>
                        <a:rPr sz="910" b="0">
                          <a:solidFill>
                            <a:srgbClr val="252F3D"/>
                          </a:solidFill>
                          <a:latin typeface="Calibri"/>
                        </a:rPr>
                        <a:t>target = Open-Meteo shortwave radiation</a:t>
                      </a:r>
                    </a:p>
                  </a:txBody>
                  <a:tcPr marL="54864" marR="54864" marT="9144" marB="9144" anchor="ctr">
                    <a:solidFill>
                      <a:srgbClr val="FFFFFF"/>
                    </a:solidFill>
                  </a:tcPr>
                </a:tc>
                <a:tc>
                  <a:txBody>
                    <a:bodyPr/>
                    <a:lstStyle/>
                    <a:p>
                      <a:pPr algn="l"/>
                      <a:r>
                        <a:rPr sz="910" b="0">
                          <a:solidFill>
                            <a:srgbClr val="252F3D"/>
                          </a:solidFill>
                          <a:latin typeface="Calibri"/>
                        </a:rPr>
                        <a:t>verify.py labels the same product “measured”</a:t>
                      </a:r>
                    </a:p>
                  </a:txBody>
                  <a:tcPr marL="54864" marR="54864" marT="9144" marB="9144" anchor="ctr">
                    <a:solidFill>
                      <a:srgbClr val="FFFFFF"/>
                    </a:solidFill>
                  </a:tcPr>
                </a:tc>
                <a:tc>
                  <a:txBody>
                    <a:bodyPr/>
                    <a:lstStyle/>
                    <a:p>
                      <a:pPr algn="l"/>
                      <a:r>
                        <a:rPr sz="910" b="0">
                          <a:solidFill>
                            <a:srgbClr val="252F3D"/>
                          </a:solidFill>
                          <a:latin typeface="Calibri"/>
                        </a:rPr>
                        <a:t>verification is model-vs-analysis, not against an independent pyranometer</a:t>
                      </a:r>
                    </a:p>
                  </a:txBody>
                  <a:tcPr marL="54864" marR="54864" marT="9144" marB="9144" anchor="ctr">
                    <a:solidFill>
                      <a:srgbClr val="FFFFFF"/>
                    </a:solidFill>
                  </a:tcPr>
                </a:tc>
                <a:tc>
                  <a:txBody>
                    <a:bodyPr/>
                    <a:lstStyle/>
                    <a:p>
                      <a:pPr algn="l"/>
                      <a:r>
                        <a:rPr sz="910" b="0">
                          <a:solidFill>
                            <a:srgbClr val="C4622D"/>
                          </a:solidFill>
                          <a:latin typeface="Calibri"/>
                        </a:rPr>
                        <a:t>open</a:t>
                      </a:r>
                    </a:p>
                  </a:txBody>
                  <a:tcPr marL="54864" marR="54864" marT="9144" marB="9144" anchor="ctr">
                    <a:solidFill>
                      <a:srgbClr val="FFFFFF"/>
                    </a:solidFill>
                  </a:tcPr>
                </a:tc>
              </a:tr>
            </a:tbl>
          </a:graphicData>
        </a:graphic>
      </p:graphicFrame>
      <p:sp>
        <p:nvSpPr>
          <p:cNvPr id="26" name="TextBox 25"/>
          <p:cNvSpPr txBox="1"/>
          <p:nvPr/>
        </p:nvSpPr>
        <p:spPr>
          <a:xfrm>
            <a:off x="502920" y="6089904"/>
            <a:ext cx="11183112" cy="274320"/>
          </a:xfrm>
          <a:prstGeom prst="rect">
            <a:avLst/>
          </a:prstGeom>
          <a:noFill/>
        </p:spPr>
        <p:txBody>
          <a:bodyPr wrap="square" anchor="t" lIns="0" rIns="0" tIns="0" bIns="0">
            <a:spAutoFit/>
          </a:bodyPr>
          <a:lstStyle/>
          <a:p>
            <a:pPr algn="l">
              <a:lnSpc>
                <a:spcPct val="100000"/>
              </a:lnSpc>
            </a:pPr>
            <a:r>
              <a:rPr sz="1000" b="0" i="1">
                <a:solidFill>
                  <a:srgbClr val="1F3B63"/>
                </a:solidFill>
                <a:latin typeface="Calibri"/>
              </a:rPr>
              <a:t>Divergences 1 and 2 are one-line fixes in model.py — identified and quantified but not yet corrected. With three verified post-fix hours, this deck makes no claim about live accuracy; a fortnight of corrected forecasts is the first future-work item.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SYSTEMS &amp; REPRODUCIBILITY</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Computational cost, engineering trade-offs and reproducibility</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C462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18</a:t>
            </a:r>
          </a:p>
        </p:txBody>
      </p:sp>
      <p:sp>
        <p:nvSpPr>
          <p:cNvPr id="8" name="TextBox 7"/>
          <p:cNvSpPr txBox="1"/>
          <p:nvPr/>
        </p:nvSpPr>
        <p:spPr>
          <a:xfrm>
            <a:off x="502920" y="1280160"/>
            <a:ext cx="5486400" cy="237744"/>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COST AND CAPACITY</a:t>
            </a:r>
          </a:p>
        </p:txBody>
      </p:sp>
      <p:graphicFrame>
        <p:nvGraphicFramePr>
          <p:cNvPr id="9" name="Table 8"/>
          <p:cNvGraphicFramePr>
            <a:graphicFrameLocks noGrp="1"/>
          </p:cNvGraphicFramePr>
          <p:nvPr/>
        </p:nvGraphicFramePr>
        <p:xfrm>
          <a:off x="502920" y="1572768"/>
          <a:ext cx="5532119" cy="3392424"/>
        </p:xfrm>
        <a:graphic>
          <a:graphicData uri="http://schemas.openxmlformats.org/drawingml/2006/table">
            <a:tbl>
              <a:tblPr bandRow="1"/>
              <a:tblGrid>
                <a:gridCol w="2514600"/>
                <a:gridCol w="1965960"/>
                <a:gridCol w="1051559"/>
              </a:tblGrid>
              <a:tr h="256032">
                <a:tc>
                  <a:txBody>
                    <a:bodyPr/>
                    <a:lstStyle/>
                    <a:p>
                      <a:pPr algn="l"/>
                      <a:r>
                        <a:rPr sz="1050" b="1">
                          <a:solidFill>
                            <a:srgbClr val="FFFFFF"/>
                          </a:solidFill>
                          <a:latin typeface="Calibri"/>
                        </a:rPr>
                        <a:t>Quantity</a:t>
                      </a:r>
                    </a:p>
                  </a:txBody>
                  <a:tcPr marL="54864" marR="54864" marT="18288" marB="18288" anchor="ctr">
                    <a:solidFill>
                      <a:srgbClr val="1F3B63"/>
                    </a:solidFill>
                  </a:tcPr>
                </a:tc>
                <a:tc>
                  <a:txBody>
                    <a:bodyPr/>
                    <a:lstStyle/>
                    <a:p>
                      <a:pPr algn="l"/>
                      <a:r>
                        <a:rPr sz="1050" b="1">
                          <a:solidFill>
                            <a:srgbClr val="FFFFFF"/>
                          </a:solidFill>
                          <a:latin typeface="Calibri"/>
                        </a:rPr>
                        <a:t>Value</a:t>
                      </a:r>
                    </a:p>
                  </a:txBody>
                  <a:tcPr marL="54864" marR="54864" marT="18288" marB="18288" anchor="ctr">
                    <a:solidFill>
                      <a:srgbClr val="1F3B63"/>
                    </a:solidFill>
                  </a:tcPr>
                </a:tc>
                <a:tc>
                  <a:txBody>
                    <a:bodyPr/>
                    <a:lstStyle/>
                    <a:p>
                      <a:pPr algn="l"/>
                      <a:r>
                        <a:rPr sz="1050" b="1">
                          <a:solidFill>
                            <a:srgbClr val="FFFFFF"/>
                          </a:solidFill>
                          <a:latin typeface="Calibri"/>
                        </a:rPr>
                        <a:t>Source</a:t>
                      </a:r>
                    </a:p>
                  </a:txBody>
                  <a:tcPr marL="54864" marR="54864" marT="18288" marB="18288" anchor="ctr">
                    <a:solidFill>
                      <a:srgbClr val="1F3B63"/>
                    </a:solidFill>
                  </a:tcPr>
                </a:tc>
              </a:tr>
              <a:tr h="224028">
                <a:tc>
                  <a:txBody>
                    <a:bodyPr/>
                    <a:lstStyle/>
                    <a:p>
                      <a:pPr algn="l"/>
                      <a:r>
                        <a:rPr sz="940" b="0">
                          <a:solidFill>
                            <a:srgbClr val="252F3D"/>
                          </a:solidFill>
                          <a:latin typeface="Calibri"/>
                        </a:rPr>
                        <a:t>Total parameters</a:t>
                      </a:r>
                    </a:p>
                  </a:txBody>
                  <a:tcPr marL="54864" marR="54864" marT="9144" marB="9144" anchor="ctr">
                    <a:solidFill>
                      <a:srgbClr val="F3F5F9"/>
                    </a:solidFill>
                  </a:tcPr>
                </a:tc>
                <a:tc>
                  <a:txBody>
                    <a:bodyPr/>
                    <a:lstStyle/>
                    <a:p>
                      <a:pPr algn="l"/>
                      <a:r>
                        <a:rPr sz="940" b="0">
                          <a:solidFill>
                            <a:srgbClr val="252F3D"/>
                          </a:solidFill>
                          <a:latin typeface="Calibri"/>
                        </a:rPr>
                        <a:t>15,505,804</a:t>
                      </a:r>
                    </a:p>
                  </a:txBody>
                  <a:tcPr marL="54864" marR="54864" marT="9144" marB="9144" anchor="ctr">
                    <a:solidFill>
                      <a:srgbClr val="F3F5F9"/>
                    </a:solidFill>
                  </a:tcPr>
                </a:tc>
                <a:tc>
                  <a:txBody>
                    <a:bodyPr/>
                    <a:lstStyle/>
                    <a:p>
                      <a:pPr algn="l"/>
                      <a:r>
                        <a:rPr sz="940" b="0">
                          <a:solidFill>
                            <a:srgbClr val="252F3D"/>
                          </a:solidFill>
                          <a:latin typeface="Calibri"/>
                        </a:rPr>
                        <a:t>measured</a:t>
                      </a:r>
                    </a:p>
                  </a:txBody>
                  <a:tcPr marL="54864" marR="54864" marT="9144" marB="9144" anchor="ctr">
                    <a:solidFill>
                      <a:srgbClr val="F3F5F9"/>
                    </a:solidFill>
                  </a:tcPr>
                </a:tc>
              </a:tr>
              <a:tr h="224028">
                <a:tc>
                  <a:txBody>
                    <a:bodyPr/>
                    <a:lstStyle/>
                    <a:p>
                      <a:pPr algn="l"/>
                      <a:r>
                        <a:rPr sz="940" b="1">
                          <a:solidFill>
                            <a:srgbClr val="252F3D"/>
                          </a:solidFill>
                          <a:latin typeface="Calibri"/>
                        </a:rPr>
                        <a:t>  · image encoders (2 × B2)</a:t>
                      </a:r>
                    </a:p>
                  </a:txBody>
                  <a:tcPr marL="54864" marR="54864" marT="9144" marB="9144" anchor="ctr">
                    <a:solidFill>
                      <a:srgbClr val="FDF0E7"/>
                    </a:solidFill>
                  </a:tcPr>
                </a:tc>
                <a:tc>
                  <a:txBody>
                    <a:bodyPr/>
                    <a:lstStyle/>
                    <a:p>
                      <a:pPr algn="l"/>
                      <a:r>
                        <a:rPr sz="940" b="1">
                          <a:solidFill>
                            <a:srgbClr val="252F3D"/>
                          </a:solidFill>
                          <a:latin typeface="Calibri"/>
                        </a:rPr>
                        <a:t>14,405,124  (92.9 %)</a:t>
                      </a:r>
                    </a:p>
                  </a:txBody>
                  <a:tcPr marL="54864" marR="54864" marT="9144" marB="9144" anchor="ctr">
                    <a:solidFill>
                      <a:srgbClr val="FDF0E7"/>
                    </a:solidFill>
                  </a:tcPr>
                </a:tc>
                <a:tc>
                  <a:txBody>
                    <a:bodyPr/>
                    <a:lstStyle/>
                    <a:p>
                      <a:pPr algn="l"/>
                      <a:r>
                        <a:rPr sz="940" b="1">
                          <a:solidFill>
                            <a:srgbClr val="252F3D"/>
                          </a:solidFill>
                          <a:latin typeface="Calibri"/>
                        </a:rPr>
                        <a:t>measured</a:t>
                      </a:r>
                    </a:p>
                  </a:txBody>
                  <a:tcPr marL="54864" marR="54864" marT="9144" marB="9144" anchor="ctr">
                    <a:solidFill>
                      <a:srgbClr val="FDF0E7"/>
                    </a:solidFill>
                  </a:tcPr>
                </a:tc>
              </a:tr>
              <a:tr h="224028">
                <a:tc>
                  <a:txBody>
                    <a:bodyPr/>
                    <a:lstStyle/>
                    <a:p>
                      <a:pPr algn="l"/>
                      <a:r>
                        <a:rPr sz="940" b="0">
                          <a:solidFill>
                            <a:srgbClr val="252F3D"/>
                          </a:solidFill>
                          <a:latin typeface="Calibri"/>
                        </a:rPr>
                        <a:t>  · BiLSTM + attention pooling</a:t>
                      </a:r>
                    </a:p>
                  </a:txBody>
                  <a:tcPr marL="54864" marR="54864" marT="9144" marB="9144" anchor="ctr">
                    <a:solidFill>
                      <a:srgbClr val="F3F5F9"/>
                    </a:solidFill>
                  </a:tcPr>
                </a:tc>
                <a:tc>
                  <a:txBody>
                    <a:bodyPr/>
                    <a:lstStyle/>
                    <a:p>
                      <a:pPr algn="l"/>
                      <a:r>
                        <a:rPr sz="940" b="0">
                          <a:solidFill>
                            <a:srgbClr val="252F3D"/>
                          </a:solidFill>
                          <a:latin typeface="Calibri"/>
                        </a:rPr>
                        <a:t>572,673</a:t>
                      </a:r>
                    </a:p>
                  </a:txBody>
                  <a:tcPr marL="54864" marR="54864" marT="9144" marB="9144" anchor="ctr">
                    <a:solidFill>
                      <a:srgbClr val="F3F5F9"/>
                    </a:solidFill>
                  </a:tcPr>
                </a:tc>
                <a:tc>
                  <a:txBody>
                    <a:bodyPr/>
                    <a:lstStyle/>
                    <a:p>
                      <a:pPr algn="l"/>
                      <a:r>
                        <a:rPr sz="940" b="0">
                          <a:solidFill>
                            <a:srgbClr val="252F3D"/>
                          </a:solidFill>
                          <a:latin typeface="Calibri"/>
                        </a:rPr>
                        <a:t>measured</a:t>
                      </a:r>
                    </a:p>
                  </a:txBody>
                  <a:tcPr marL="54864" marR="54864" marT="9144" marB="9144" anchor="ctr">
                    <a:solidFill>
                      <a:srgbClr val="F3F5F9"/>
                    </a:solidFill>
                  </a:tcPr>
                </a:tc>
              </a:tr>
              <a:tr h="224028">
                <a:tc>
                  <a:txBody>
                    <a:bodyPr/>
                    <a:lstStyle/>
                    <a:p>
                      <a:pPr algn="l"/>
                      <a:r>
                        <a:rPr sz="940" b="0">
                          <a:solidFill>
                            <a:srgbClr val="252F3D"/>
                          </a:solidFill>
                          <a:latin typeface="Calibri"/>
                        </a:rPr>
                        <a:t>  · cross-attention</a:t>
                      </a:r>
                    </a:p>
                  </a:txBody>
                  <a:tcPr marL="54864" marR="54864" marT="9144" marB="9144" anchor="ctr">
                    <a:solidFill>
                      <a:srgbClr val="FFFFFF"/>
                    </a:solidFill>
                  </a:tcPr>
                </a:tc>
                <a:tc>
                  <a:txBody>
                    <a:bodyPr/>
                    <a:lstStyle/>
                    <a:p>
                      <a:pPr algn="l"/>
                      <a:r>
                        <a:rPr sz="940" b="0">
                          <a:solidFill>
                            <a:srgbClr val="252F3D"/>
                          </a:solidFill>
                          <a:latin typeface="Calibri"/>
                        </a:rPr>
                        <a:t>419,328</a:t>
                      </a:r>
                    </a:p>
                  </a:txBody>
                  <a:tcPr marL="54864" marR="54864" marT="9144" marB="9144" anchor="ctr">
                    <a:solidFill>
                      <a:srgbClr val="FFFFFF"/>
                    </a:solidFill>
                  </a:tcPr>
                </a:tc>
                <a:tc>
                  <a:txBody>
                    <a:bodyPr/>
                    <a:lstStyle/>
                    <a:p>
                      <a:pPr algn="l"/>
                      <a:r>
                        <a:rPr sz="940" b="0">
                          <a:solidFill>
                            <a:srgbClr val="252F3D"/>
                          </a:solidFill>
                          <a:latin typeface="Calibri"/>
                        </a:rPr>
                        <a:t>measured</a:t>
                      </a:r>
                    </a:p>
                  </a:txBody>
                  <a:tcPr marL="54864" marR="54864" marT="9144" marB="9144" anchor="ctr">
                    <a:solidFill>
                      <a:srgbClr val="FFFFFF"/>
                    </a:solidFill>
                  </a:tcPr>
                </a:tc>
              </a:tr>
              <a:tr h="224028">
                <a:tc>
                  <a:txBody>
                    <a:bodyPr/>
                    <a:lstStyle/>
                    <a:p>
                      <a:pPr algn="l"/>
                      <a:r>
                        <a:rPr sz="940" b="0">
                          <a:solidFill>
                            <a:srgbClr val="252F3D"/>
                          </a:solidFill>
                          <a:latin typeface="Calibri"/>
                        </a:rPr>
                        <a:t>  · physics gate</a:t>
                      </a:r>
                    </a:p>
                  </a:txBody>
                  <a:tcPr marL="54864" marR="54864" marT="9144" marB="9144" anchor="ctr">
                    <a:solidFill>
                      <a:srgbClr val="F3F5F9"/>
                    </a:solidFill>
                  </a:tcPr>
                </a:tc>
                <a:tc>
                  <a:txBody>
                    <a:bodyPr/>
                    <a:lstStyle/>
                    <a:p>
                      <a:pPr algn="l"/>
                      <a:r>
                        <a:rPr sz="940" b="0">
                          <a:solidFill>
                            <a:srgbClr val="252F3D"/>
                          </a:solidFill>
                          <a:latin typeface="Calibri"/>
                        </a:rPr>
                        <a:t>193</a:t>
                      </a:r>
                    </a:p>
                  </a:txBody>
                  <a:tcPr marL="54864" marR="54864" marT="9144" marB="9144" anchor="ctr">
                    <a:solidFill>
                      <a:srgbClr val="F3F5F9"/>
                    </a:solidFill>
                  </a:tcPr>
                </a:tc>
                <a:tc>
                  <a:txBody>
                    <a:bodyPr/>
                    <a:lstStyle/>
                    <a:p>
                      <a:pPr algn="l"/>
                      <a:r>
                        <a:rPr sz="940" b="0">
                          <a:solidFill>
                            <a:srgbClr val="252F3D"/>
                          </a:solidFill>
                          <a:latin typeface="Calibri"/>
                        </a:rPr>
                        <a:t>measured</a:t>
                      </a:r>
                    </a:p>
                  </a:txBody>
                  <a:tcPr marL="54864" marR="54864" marT="9144" marB="9144" anchor="ctr">
                    <a:solidFill>
                      <a:srgbClr val="F3F5F9"/>
                    </a:solidFill>
                  </a:tcPr>
                </a:tc>
              </a:tr>
              <a:tr h="224028">
                <a:tc>
                  <a:txBody>
                    <a:bodyPr/>
                    <a:lstStyle/>
                    <a:p>
                      <a:pPr algn="l"/>
                      <a:r>
                        <a:rPr sz="940" b="0">
                          <a:solidFill>
                            <a:srgbClr val="252F3D"/>
                          </a:solidFill>
                          <a:latin typeface="Calibri"/>
                        </a:rPr>
                        <a:t>  · enrich + head</a:t>
                      </a:r>
                    </a:p>
                  </a:txBody>
                  <a:tcPr marL="54864" marR="54864" marT="9144" marB="9144" anchor="ctr">
                    <a:solidFill>
                      <a:srgbClr val="FFFFFF"/>
                    </a:solidFill>
                  </a:tcPr>
                </a:tc>
                <a:tc>
                  <a:txBody>
                    <a:bodyPr/>
                    <a:lstStyle/>
                    <a:p>
                      <a:pPr algn="l"/>
                      <a:r>
                        <a:rPr sz="940" b="0">
                          <a:solidFill>
                            <a:srgbClr val="252F3D"/>
                          </a:solidFill>
                          <a:latin typeface="Calibri"/>
                        </a:rPr>
                        <a:t>108,486</a:t>
                      </a:r>
                    </a:p>
                  </a:txBody>
                  <a:tcPr marL="54864" marR="54864" marT="9144" marB="9144" anchor="ctr">
                    <a:solidFill>
                      <a:srgbClr val="FFFFFF"/>
                    </a:solidFill>
                  </a:tcPr>
                </a:tc>
                <a:tc>
                  <a:txBody>
                    <a:bodyPr/>
                    <a:lstStyle/>
                    <a:p>
                      <a:pPr algn="l"/>
                      <a:r>
                        <a:rPr sz="940" b="0">
                          <a:solidFill>
                            <a:srgbClr val="252F3D"/>
                          </a:solidFill>
                          <a:latin typeface="Calibri"/>
                        </a:rPr>
                        <a:t>measured</a:t>
                      </a:r>
                    </a:p>
                  </a:txBody>
                  <a:tcPr marL="54864" marR="54864" marT="9144" marB="9144" anchor="ctr">
                    <a:solidFill>
                      <a:srgbClr val="FFFFFF"/>
                    </a:solidFill>
                  </a:tcPr>
                </a:tc>
              </a:tr>
              <a:tr h="224028">
                <a:tc>
                  <a:txBody>
                    <a:bodyPr/>
                    <a:lstStyle/>
                    <a:p>
                      <a:pPr algn="l"/>
                      <a:r>
                        <a:rPr sz="940" b="0">
                          <a:solidFill>
                            <a:srgbClr val="252F3D"/>
                          </a:solidFill>
                          <a:latin typeface="Calibri"/>
                        </a:rPr>
                        <a:t>Trainable, epochs 1–20</a:t>
                      </a:r>
                    </a:p>
                  </a:txBody>
                  <a:tcPr marL="54864" marR="54864" marT="9144" marB="9144" anchor="ctr">
                    <a:solidFill>
                      <a:srgbClr val="F3F5F9"/>
                    </a:solidFill>
                  </a:tcPr>
                </a:tc>
                <a:tc>
                  <a:txBody>
                    <a:bodyPr/>
                    <a:lstStyle/>
                    <a:p>
                      <a:pPr algn="l"/>
                      <a:r>
                        <a:rPr sz="940" b="0">
                          <a:solidFill>
                            <a:srgbClr val="252F3D"/>
                          </a:solidFill>
                          <a:latin typeface="Calibri"/>
                        </a:rPr>
                        <a:t>1,100,680  (7.1 %)</a:t>
                      </a:r>
                    </a:p>
                  </a:txBody>
                  <a:tcPr marL="54864" marR="54864" marT="9144" marB="9144" anchor="ctr">
                    <a:solidFill>
                      <a:srgbClr val="F3F5F9"/>
                    </a:solidFill>
                  </a:tcPr>
                </a:tc>
                <a:tc>
                  <a:txBody>
                    <a:bodyPr/>
                    <a:lstStyle/>
                    <a:p>
                      <a:pPr algn="l"/>
                      <a:r>
                        <a:rPr sz="940" b="0">
                          <a:solidFill>
                            <a:srgbClr val="252F3D"/>
                          </a:solidFill>
                          <a:latin typeface="Calibri"/>
                        </a:rPr>
                        <a:t>notebook cell 23</a:t>
                      </a:r>
                    </a:p>
                  </a:txBody>
                  <a:tcPr marL="54864" marR="54864" marT="9144" marB="9144" anchor="ctr">
                    <a:solidFill>
                      <a:srgbClr val="F3F5F9"/>
                    </a:solidFill>
                  </a:tcPr>
                </a:tc>
              </a:tr>
              <a:tr h="224028">
                <a:tc>
                  <a:txBody>
                    <a:bodyPr/>
                    <a:lstStyle/>
                    <a:p>
                      <a:pPr algn="l"/>
                      <a:r>
                        <a:rPr sz="940" b="0">
                          <a:solidFill>
                            <a:srgbClr val="252F3D"/>
                          </a:solidFill>
                          <a:latin typeface="Calibri"/>
                        </a:rPr>
                        <a:t>Small preset</a:t>
                      </a:r>
                    </a:p>
                  </a:txBody>
                  <a:tcPr marL="54864" marR="54864" marT="9144" marB="9144" anchor="ctr">
                    <a:solidFill>
                      <a:srgbClr val="FFFFFF"/>
                    </a:solidFill>
                  </a:tcPr>
                </a:tc>
                <a:tc>
                  <a:txBody>
                    <a:bodyPr/>
                    <a:lstStyle/>
                    <a:p>
                      <a:pPr algn="l"/>
                      <a:r>
                        <a:rPr sz="940" b="0">
                          <a:solidFill>
                            <a:srgbClr val="252F3D"/>
                          </a:solidFill>
                          <a:latin typeface="Calibri"/>
                        </a:rPr>
                        <a:t>7,489,216</a:t>
                      </a:r>
                    </a:p>
                  </a:txBody>
                  <a:tcPr marL="54864" marR="54864" marT="9144" marB="9144" anchor="ctr">
                    <a:solidFill>
                      <a:srgbClr val="FFFFFF"/>
                    </a:solidFill>
                  </a:tcPr>
                </a:tc>
                <a:tc>
                  <a:txBody>
                    <a:bodyPr/>
                    <a:lstStyle/>
                    <a:p>
                      <a:pPr algn="l"/>
                      <a:r>
                        <a:rPr sz="940" b="0">
                          <a:solidFill>
                            <a:srgbClr val="252F3D"/>
                          </a:solidFill>
                          <a:latin typeface="Calibri"/>
                        </a:rPr>
                        <a:t>measured</a:t>
                      </a:r>
                    </a:p>
                  </a:txBody>
                  <a:tcPr marL="54864" marR="54864" marT="9144" marB="9144" anchor="ctr">
                    <a:solidFill>
                      <a:srgbClr val="FFFFFF"/>
                    </a:solidFill>
                  </a:tcPr>
                </a:tc>
              </a:tr>
              <a:tr h="224028">
                <a:tc>
                  <a:txBody>
                    <a:bodyPr/>
                    <a:lstStyle/>
                    <a:p>
                      <a:pPr algn="l"/>
                      <a:r>
                        <a:rPr sz="940" b="0">
                          <a:solidFill>
                            <a:srgbClr val="252F3D"/>
                          </a:solidFill>
                          <a:latin typeface="Calibri"/>
                        </a:rPr>
                        <a:t>Checkpoint on disk</a:t>
                      </a:r>
                    </a:p>
                  </a:txBody>
                  <a:tcPr marL="54864" marR="54864" marT="9144" marB="9144" anchor="ctr">
                    <a:solidFill>
                      <a:srgbClr val="F3F5F9"/>
                    </a:solidFill>
                  </a:tcPr>
                </a:tc>
                <a:tc>
                  <a:txBody>
                    <a:bodyPr/>
                    <a:lstStyle/>
                    <a:p>
                      <a:pPr algn="l"/>
                      <a:r>
                        <a:rPr sz="940" b="0">
                          <a:solidFill>
                            <a:srgbClr val="252F3D"/>
                          </a:solidFill>
                          <a:latin typeface="Calibri"/>
                        </a:rPr>
                        <a:t>62.9 MB</a:t>
                      </a:r>
                    </a:p>
                  </a:txBody>
                  <a:tcPr marL="54864" marR="54864" marT="9144" marB="9144" anchor="ctr">
                    <a:solidFill>
                      <a:srgbClr val="F3F5F9"/>
                    </a:solidFill>
                  </a:tcPr>
                </a:tc>
                <a:tc>
                  <a:txBody>
                    <a:bodyPr/>
                    <a:lstStyle/>
                    <a:p>
                      <a:pPr algn="l"/>
                      <a:r>
                        <a:rPr sz="940" b="0">
                          <a:solidFill>
                            <a:srgbClr val="252F3D"/>
                          </a:solidFill>
                          <a:latin typeface="Calibri"/>
                        </a:rPr>
                        <a:t>best_model.pt</a:t>
                      </a:r>
                    </a:p>
                  </a:txBody>
                  <a:tcPr marL="54864" marR="54864" marT="9144" marB="9144" anchor="ctr">
                    <a:solidFill>
                      <a:srgbClr val="F3F5F9"/>
                    </a:solidFill>
                  </a:tcPr>
                </a:tc>
              </a:tr>
              <a:tr h="224028">
                <a:tc>
                  <a:txBody>
                    <a:bodyPr/>
                    <a:lstStyle/>
                    <a:p>
                      <a:pPr algn="l"/>
                      <a:r>
                        <a:rPr sz="940" b="0">
                          <a:solidFill>
                            <a:srgbClr val="252F3D"/>
                          </a:solidFill>
                          <a:latin typeface="Calibri"/>
                        </a:rPr>
                        <a:t>Training, full model</a:t>
                      </a:r>
                    </a:p>
                  </a:txBody>
                  <a:tcPr marL="54864" marR="54864" marT="9144" marB="9144" anchor="ctr">
                    <a:solidFill>
                      <a:srgbClr val="FFFFFF"/>
                    </a:solidFill>
                  </a:tcPr>
                </a:tc>
                <a:tc>
                  <a:txBody>
                    <a:bodyPr/>
                    <a:lstStyle/>
                    <a:p>
                      <a:pPr algn="l"/>
                      <a:r>
                        <a:rPr sz="940" b="0">
                          <a:solidFill>
                            <a:srgbClr val="252F3D"/>
                          </a:solidFill>
                          <a:latin typeface="Calibri"/>
                        </a:rPr>
                        <a:t>16.7 min / 44 epochs</a:t>
                      </a:r>
                    </a:p>
                  </a:txBody>
                  <a:tcPr marL="54864" marR="54864" marT="9144" marB="9144" anchor="ctr">
                    <a:solidFill>
                      <a:srgbClr val="FFFFFF"/>
                    </a:solidFill>
                  </a:tcPr>
                </a:tc>
                <a:tc>
                  <a:txBody>
                    <a:bodyPr/>
                    <a:lstStyle/>
                    <a:p>
                      <a:pPr algn="l"/>
                      <a:r>
                        <a:rPr sz="940" b="0">
                          <a:solidFill>
                            <a:srgbClr val="252F3D"/>
                          </a:solidFill>
                          <a:latin typeface="Calibri"/>
                        </a:rPr>
                        <a:t>RTX 4090 log</a:t>
                      </a:r>
                    </a:p>
                  </a:txBody>
                  <a:tcPr marL="54864" marR="54864" marT="9144" marB="9144" anchor="ctr">
                    <a:solidFill>
                      <a:srgbClr val="FFFFFF"/>
                    </a:solidFill>
                  </a:tcPr>
                </a:tc>
              </a:tr>
              <a:tr h="224028">
                <a:tc>
                  <a:txBody>
                    <a:bodyPr/>
                    <a:lstStyle/>
                    <a:p>
                      <a:pPr algn="l"/>
                      <a:r>
                        <a:rPr sz="940" b="0">
                          <a:solidFill>
                            <a:srgbClr val="252F3D"/>
                          </a:solidFill>
                          <a:latin typeface="Calibri"/>
                        </a:rPr>
                        <a:t>Full experiment grid</a:t>
                      </a:r>
                    </a:p>
                  </a:txBody>
                  <a:tcPr marL="54864" marR="54864" marT="9144" marB="9144" anchor="ctr">
                    <a:solidFill>
                      <a:srgbClr val="F3F5F9"/>
                    </a:solidFill>
                  </a:tcPr>
                </a:tc>
                <a:tc>
                  <a:txBody>
                    <a:bodyPr/>
                    <a:lstStyle/>
                    <a:p>
                      <a:pPr algn="l"/>
                      <a:r>
                        <a:rPr sz="940" b="0">
                          <a:solidFill>
                            <a:srgbClr val="252F3D"/>
                          </a:solidFill>
                          <a:latin typeface="Calibri"/>
                        </a:rPr>
                        <a:t>118.7 min</a:t>
                      </a:r>
                    </a:p>
                  </a:txBody>
                  <a:tcPr marL="54864" marR="54864" marT="9144" marB="9144" anchor="ctr">
                    <a:solidFill>
                      <a:srgbClr val="F3F5F9"/>
                    </a:solidFill>
                  </a:tcPr>
                </a:tc>
                <a:tc>
                  <a:txBody>
                    <a:bodyPr/>
                    <a:lstStyle/>
                    <a:p>
                      <a:pPr algn="l"/>
                      <a:r>
                        <a:rPr sz="940" b="0">
                          <a:solidFill>
                            <a:srgbClr val="252F3D"/>
                          </a:solidFill>
                          <a:latin typeface="Calibri"/>
                        </a:rPr>
                        <a:t>notebook cell 25</a:t>
                      </a:r>
                    </a:p>
                  </a:txBody>
                  <a:tcPr marL="54864" marR="54864" marT="9144" marB="9144" anchor="ctr">
                    <a:solidFill>
                      <a:srgbClr val="F3F5F9"/>
                    </a:solidFill>
                  </a:tcPr>
                </a:tc>
              </a:tr>
              <a:tr h="224028">
                <a:tc>
                  <a:txBody>
                    <a:bodyPr/>
                    <a:lstStyle/>
                    <a:p>
                      <a:pPr algn="l"/>
                      <a:r>
                        <a:rPr sz="940" b="0">
                          <a:solidFill>
                            <a:srgbClr val="252F3D"/>
                          </a:solidFill>
                          <a:latin typeface="Calibri"/>
                        </a:rPr>
                        <a:t>Image cache</a:t>
                      </a:r>
                    </a:p>
                  </a:txBody>
                  <a:tcPr marL="54864" marR="54864" marT="9144" marB="9144" anchor="ctr">
                    <a:solidFill>
                      <a:srgbClr val="FFFFFF"/>
                    </a:solidFill>
                  </a:tcPr>
                </a:tc>
                <a:tc>
                  <a:txBody>
                    <a:bodyPr/>
                    <a:lstStyle/>
                    <a:p>
                      <a:pPr algn="l"/>
                      <a:r>
                        <a:rPr sz="940" b="0">
                          <a:solidFill>
                            <a:srgbClr val="252F3D"/>
                          </a:solidFill>
                          <a:latin typeface="Calibri"/>
                        </a:rPr>
                        <a:t>7,654 × 224² tensors ≈ 4.6 GB RAM</a:t>
                      </a:r>
                    </a:p>
                  </a:txBody>
                  <a:tcPr marL="54864" marR="54864" marT="9144" marB="9144" anchor="ctr">
                    <a:solidFill>
                      <a:srgbClr val="FFFFFF"/>
                    </a:solidFill>
                  </a:tcPr>
                </a:tc>
                <a:tc>
                  <a:txBody>
                    <a:bodyPr/>
                    <a:lstStyle/>
                    <a:p>
                      <a:pPr algn="l"/>
                      <a:r>
                        <a:rPr sz="940" b="0">
                          <a:solidFill>
                            <a:srgbClr val="252F3D"/>
                          </a:solidFill>
                          <a:latin typeface="Calibri"/>
                        </a:rPr>
                        <a:t>notebook cell 16</a:t>
                      </a:r>
                    </a:p>
                  </a:txBody>
                  <a:tcPr marL="54864" marR="54864" marT="9144" marB="9144" anchor="ctr">
                    <a:solidFill>
                      <a:srgbClr val="FFFFFF"/>
                    </a:solidFill>
                  </a:tcPr>
                </a:tc>
              </a:tr>
              <a:tr h="224028">
                <a:tc>
                  <a:txBody>
                    <a:bodyPr/>
                    <a:lstStyle/>
                    <a:p>
                      <a:pPr algn="l"/>
                      <a:r>
                        <a:rPr sz="940" b="1">
                          <a:solidFill>
                            <a:srgbClr val="252F3D"/>
                          </a:solidFill>
                          <a:latin typeface="Calibri"/>
                        </a:rPr>
                        <a:t>Inference, batch 1, CPU</a:t>
                      </a:r>
                    </a:p>
                  </a:txBody>
                  <a:tcPr marL="54864" marR="54864" marT="9144" marB="9144" anchor="ctr">
                    <a:solidFill>
                      <a:srgbClr val="FDF0E7"/>
                    </a:solidFill>
                  </a:tcPr>
                </a:tc>
                <a:tc>
                  <a:txBody>
                    <a:bodyPr/>
                    <a:lstStyle/>
                    <a:p>
                      <a:pPr algn="l"/>
                      <a:r>
                        <a:rPr sz="940" b="1">
                          <a:solidFill>
                            <a:srgbClr val="252F3D"/>
                          </a:solidFill>
                          <a:latin typeface="Calibri"/>
                        </a:rPr>
                        <a:t>755 ms  (fp32, Apple Silicon)</a:t>
                      </a:r>
                    </a:p>
                  </a:txBody>
                  <a:tcPr marL="54864" marR="54864" marT="9144" marB="9144" anchor="ctr">
                    <a:solidFill>
                      <a:srgbClr val="FDF0E7"/>
                    </a:solidFill>
                  </a:tcPr>
                </a:tc>
                <a:tc>
                  <a:txBody>
                    <a:bodyPr/>
                    <a:lstStyle/>
                    <a:p>
                      <a:pPr algn="l"/>
                      <a:r>
                        <a:rPr sz="940" b="1">
                          <a:solidFill>
                            <a:srgbClr val="252F3D"/>
                          </a:solidFill>
                          <a:latin typeface="Calibri"/>
                        </a:rPr>
                        <a:t>measured for this deck</a:t>
                      </a:r>
                    </a:p>
                  </a:txBody>
                  <a:tcPr marL="54864" marR="54864" marT="9144" marB="9144" anchor="ctr">
                    <a:solidFill>
                      <a:srgbClr val="FDF0E7"/>
                    </a:solidFill>
                  </a:tcPr>
                </a:tc>
              </a:tr>
              <a:tr h="224028">
                <a:tc>
                  <a:txBody>
                    <a:bodyPr/>
                    <a:lstStyle/>
                    <a:p>
                      <a:pPr algn="l"/>
                      <a:r>
                        <a:rPr sz="940" b="0">
                          <a:solidFill>
                            <a:srgbClr val="252F3D"/>
                          </a:solidFill>
                          <a:latin typeface="Calibri"/>
                        </a:rPr>
                        <a:t>LightGBM equivalent</a:t>
                      </a:r>
                    </a:p>
                  </a:txBody>
                  <a:tcPr marL="54864" marR="54864" marT="9144" marB="9144" anchor="ctr">
                    <a:solidFill>
                      <a:srgbClr val="FFFFFF"/>
                    </a:solidFill>
                  </a:tcPr>
                </a:tc>
                <a:tc>
                  <a:txBody>
                    <a:bodyPr/>
                    <a:lstStyle/>
                    <a:p>
                      <a:pPr algn="l"/>
                      <a:r>
                        <a:rPr sz="940" b="0">
                          <a:solidFill>
                            <a:srgbClr val="252F3D"/>
                          </a:solidFill>
                          <a:latin typeface="Calibri"/>
                        </a:rPr>
                        <a:t>600 trees, 18,600 leaves, 1.5 MB, ≈1 ms</a:t>
                      </a:r>
                    </a:p>
                  </a:txBody>
                  <a:tcPr marL="54864" marR="54864" marT="9144" marB="9144" anchor="ctr">
                    <a:solidFill>
                      <a:srgbClr val="FFFFFF"/>
                    </a:solidFill>
                  </a:tcPr>
                </a:tc>
                <a:tc>
                  <a:txBody>
                    <a:bodyPr/>
                    <a:lstStyle/>
                    <a:p>
                      <a:pPr algn="l"/>
                      <a:r>
                        <a:rPr sz="940" b="0">
                          <a:solidFill>
                            <a:srgbClr val="252F3D"/>
                          </a:solidFill>
                          <a:latin typeface="Calibri"/>
                        </a:rPr>
                        <a:t>measured for this deck</a:t>
                      </a:r>
                    </a:p>
                  </a:txBody>
                  <a:tcPr marL="54864" marR="54864" marT="9144" marB="9144" anchor="ctr">
                    <a:solidFill>
                      <a:srgbClr val="FFFFFF"/>
                    </a:solidFill>
                  </a:tcPr>
                </a:tc>
              </a:tr>
            </a:tbl>
          </a:graphicData>
        </a:graphic>
      </p:graphicFrame>
      <p:sp>
        <p:nvSpPr>
          <p:cNvPr id="10" name="TextBox 9"/>
          <p:cNvSpPr txBox="1"/>
          <p:nvPr/>
        </p:nvSpPr>
        <p:spPr>
          <a:xfrm>
            <a:off x="502920" y="5166360"/>
            <a:ext cx="5532120" cy="1188720"/>
          </a:xfrm>
          <a:prstGeom prst="rect">
            <a:avLst/>
          </a:prstGeom>
          <a:noFill/>
        </p:spPr>
        <p:txBody>
          <a:bodyPr wrap="square" lIns="0" rIns="0" tIns="0" bIns="0">
            <a:spAutoFit/>
          </a:bodyPr>
          <a:lstStyle/>
          <a:p>
            <a:pPr>
              <a:lnSpc>
                <a:spcPct val="106000"/>
              </a:lnSpc>
              <a:spcBef>
                <a:spcPts val="0"/>
              </a:spcBef>
              <a:spcAft>
                <a:spcPts val="700"/>
              </a:spcAft>
            </a:pPr>
            <a:r>
              <a:rPr sz="1130" b="1" i="0">
                <a:solidFill>
                  <a:srgbClr val="1F3B63"/>
                </a:solidFill>
                <a:latin typeface="Calibri"/>
              </a:rPr>
              <a:t>Trade-off.  </a:t>
            </a:r>
            <a:r>
              <a:rPr sz="1130" b="0" i="0">
                <a:solidFill>
                  <a:srgbClr val="252F3D"/>
                </a:solidFill>
                <a:latin typeface="Calibri"/>
              </a:rPr>
              <a:t>Against LightGBM the network costs ~700× the inference time and ~40× the model size, and is less accurate on this data. Neither latency is a constraint for an hourly forecast — the decisive argument is accuracy per parameter.</a:t>
            </a:r>
          </a:p>
        </p:txBody>
      </p:sp>
      <p:sp>
        <p:nvSpPr>
          <p:cNvPr id="11" name="TextBox 10"/>
          <p:cNvSpPr txBox="1"/>
          <p:nvPr/>
        </p:nvSpPr>
        <p:spPr>
          <a:xfrm>
            <a:off x="6355080" y="1280160"/>
            <a:ext cx="5303520" cy="237744"/>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REPRODUCIBILITY</a:t>
            </a:r>
          </a:p>
        </p:txBody>
      </p:sp>
      <p:sp>
        <p:nvSpPr>
          <p:cNvPr id="12" name="Rectangle 11"/>
          <p:cNvSpPr/>
          <p:nvPr/>
        </p:nvSpPr>
        <p:spPr>
          <a:xfrm>
            <a:off x="6355080" y="1572768"/>
            <a:ext cx="5330952" cy="2286000"/>
          </a:xfrm>
          <a:prstGeom prst="rect">
            <a:avLst/>
          </a:prstGeom>
          <a:solidFill>
            <a:srgbClr val="F3F5F9"/>
          </a:solidFill>
          <a:ln w="9525">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37960" y="1737360"/>
            <a:ext cx="1417320" cy="274320"/>
          </a:xfrm>
          <a:prstGeom prst="rect">
            <a:avLst/>
          </a:prstGeom>
          <a:noFill/>
        </p:spPr>
        <p:txBody>
          <a:bodyPr wrap="square" anchor="t" lIns="0" rIns="0" tIns="0" bIns="0">
            <a:spAutoFit/>
          </a:bodyPr>
          <a:lstStyle/>
          <a:p>
            <a:pPr algn="l">
              <a:lnSpc>
                <a:spcPct val="100000"/>
              </a:lnSpc>
            </a:pPr>
            <a:r>
              <a:rPr sz="930" b="1" i="0">
                <a:solidFill>
                  <a:srgbClr val="1F3B63"/>
                </a:solidFill>
                <a:latin typeface="Calibri"/>
              </a:rPr>
              <a:t>environment</a:t>
            </a:r>
          </a:p>
        </p:txBody>
      </p:sp>
      <p:sp>
        <p:nvSpPr>
          <p:cNvPr id="14" name="TextBox 13"/>
          <p:cNvSpPr txBox="1"/>
          <p:nvPr/>
        </p:nvSpPr>
        <p:spPr>
          <a:xfrm>
            <a:off x="8001000" y="1737360"/>
            <a:ext cx="3566160" cy="329184"/>
          </a:xfrm>
          <a:prstGeom prst="rect">
            <a:avLst/>
          </a:prstGeom>
          <a:noFill/>
        </p:spPr>
        <p:txBody>
          <a:bodyPr wrap="square" anchor="t" lIns="0" rIns="0" tIns="0" bIns="0">
            <a:spAutoFit/>
          </a:bodyPr>
          <a:lstStyle/>
          <a:p>
            <a:pPr algn="l">
              <a:lnSpc>
                <a:spcPct val="100000"/>
              </a:lnSpc>
            </a:pPr>
            <a:r>
              <a:rPr sz="919" b="0" i="0">
                <a:solidFill>
                  <a:srgbClr val="252F3D"/>
                </a:solidFill>
                <a:latin typeface="Consolas"/>
              </a:rPr>
              <a:t>Python 3.11 (training host) · torch · timm · pvlib · lightgbm · opencv</a:t>
            </a:r>
          </a:p>
        </p:txBody>
      </p:sp>
      <p:sp>
        <p:nvSpPr>
          <p:cNvPr id="15" name="TextBox 14"/>
          <p:cNvSpPr txBox="1"/>
          <p:nvPr/>
        </p:nvSpPr>
        <p:spPr>
          <a:xfrm>
            <a:off x="6537960" y="2103120"/>
            <a:ext cx="1417320" cy="274320"/>
          </a:xfrm>
          <a:prstGeom prst="rect">
            <a:avLst/>
          </a:prstGeom>
          <a:noFill/>
        </p:spPr>
        <p:txBody>
          <a:bodyPr wrap="square" anchor="t" lIns="0" rIns="0" tIns="0" bIns="0">
            <a:spAutoFit/>
          </a:bodyPr>
          <a:lstStyle/>
          <a:p>
            <a:pPr algn="l">
              <a:lnSpc>
                <a:spcPct val="100000"/>
              </a:lnSpc>
            </a:pPr>
            <a:r>
              <a:rPr sz="930" b="1" i="0">
                <a:solidFill>
                  <a:srgbClr val="1F3B63"/>
                </a:solidFill>
                <a:latin typeface="Calibri"/>
              </a:rPr>
              <a:t>1  build the table</a:t>
            </a:r>
          </a:p>
        </p:txBody>
      </p:sp>
      <p:sp>
        <p:nvSpPr>
          <p:cNvPr id="16" name="TextBox 15"/>
          <p:cNvSpPr txBox="1"/>
          <p:nvPr/>
        </p:nvSpPr>
        <p:spPr>
          <a:xfrm>
            <a:off x="8001000" y="2103120"/>
            <a:ext cx="3566160" cy="329184"/>
          </a:xfrm>
          <a:prstGeom prst="rect">
            <a:avLst/>
          </a:prstGeom>
          <a:noFill/>
        </p:spPr>
        <p:txBody>
          <a:bodyPr wrap="square" anchor="t" lIns="0" rIns="0" tIns="0" bIns="0">
            <a:spAutoFit/>
          </a:bodyPr>
          <a:lstStyle/>
          <a:p>
            <a:pPr algn="l">
              <a:lnSpc>
                <a:spcPct val="100000"/>
              </a:lnSpc>
            </a:pPr>
            <a:r>
              <a:rPr sz="919" b="0" i="0">
                <a:solidFill>
                  <a:srgbClr val="252F3D"/>
                </a:solidFill>
                <a:latin typeface="Consolas"/>
              </a:rPr>
              <a:t>python combined_dataset.py --tolerance 60</a:t>
            </a:r>
          </a:p>
        </p:txBody>
      </p:sp>
      <p:sp>
        <p:nvSpPr>
          <p:cNvPr id="17" name="TextBox 16"/>
          <p:cNvSpPr txBox="1"/>
          <p:nvPr/>
        </p:nvSpPr>
        <p:spPr>
          <a:xfrm>
            <a:off x="6537960" y="2468879"/>
            <a:ext cx="1417320" cy="274320"/>
          </a:xfrm>
          <a:prstGeom prst="rect">
            <a:avLst/>
          </a:prstGeom>
          <a:noFill/>
        </p:spPr>
        <p:txBody>
          <a:bodyPr wrap="square" anchor="t" lIns="0" rIns="0" tIns="0" bIns="0">
            <a:spAutoFit/>
          </a:bodyPr>
          <a:lstStyle/>
          <a:p>
            <a:pPr algn="l">
              <a:lnSpc>
                <a:spcPct val="100000"/>
              </a:lnSpc>
            </a:pPr>
            <a:r>
              <a:rPr sz="930" b="1" i="0">
                <a:solidFill>
                  <a:srgbClr val="1F3B63"/>
                </a:solidFill>
                <a:latin typeface="Calibri"/>
              </a:rPr>
              <a:t>2  train + evaluate</a:t>
            </a:r>
          </a:p>
        </p:txBody>
      </p:sp>
      <p:sp>
        <p:nvSpPr>
          <p:cNvPr id="18" name="TextBox 17"/>
          <p:cNvSpPr txBox="1"/>
          <p:nvPr/>
        </p:nvSpPr>
        <p:spPr>
          <a:xfrm>
            <a:off x="8001000" y="2468879"/>
            <a:ext cx="3566160" cy="329184"/>
          </a:xfrm>
          <a:prstGeom prst="rect">
            <a:avLst/>
          </a:prstGeom>
          <a:noFill/>
        </p:spPr>
        <p:txBody>
          <a:bodyPr wrap="square" anchor="t" lIns="0" rIns="0" tIns="0" bIns="0">
            <a:spAutoFit/>
          </a:bodyPr>
          <a:lstStyle/>
          <a:p>
            <a:pPr algn="l">
              <a:lnSpc>
                <a:spcPct val="100000"/>
              </a:lnSpc>
            </a:pPr>
            <a:r>
              <a:rPr sz="919" b="0" i="0">
                <a:solidFill>
                  <a:srgbClr val="252F3D"/>
                </a:solidFill>
                <a:latin typeface="Consolas"/>
              </a:rPr>
              <a:t>run solar_pv_main.ipynb (cells 1–28) on a CUDA host</a:t>
            </a:r>
          </a:p>
        </p:txBody>
      </p:sp>
      <p:sp>
        <p:nvSpPr>
          <p:cNvPr id="19" name="TextBox 18"/>
          <p:cNvSpPr txBox="1"/>
          <p:nvPr/>
        </p:nvSpPr>
        <p:spPr>
          <a:xfrm>
            <a:off x="6537960" y="2834639"/>
            <a:ext cx="1417320" cy="274320"/>
          </a:xfrm>
          <a:prstGeom prst="rect">
            <a:avLst/>
          </a:prstGeom>
          <a:noFill/>
        </p:spPr>
        <p:txBody>
          <a:bodyPr wrap="square" anchor="t" lIns="0" rIns="0" tIns="0" bIns="0">
            <a:spAutoFit/>
          </a:bodyPr>
          <a:lstStyle/>
          <a:p>
            <a:pPr algn="l">
              <a:lnSpc>
                <a:spcPct val="100000"/>
              </a:lnSpc>
            </a:pPr>
            <a:r>
              <a:rPr sz="930" b="1" i="0">
                <a:solidFill>
                  <a:srgbClr val="1F3B63"/>
                </a:solidFill>
                <a:latin typeface="Calibri"/>
              </a:rPr>
              <a:t>3  live forecast</a:t>
            </a:r>
          </a:p>
        </p:txBody>
      </p:sp>
      <p:sp>
        <p:nvSpPr>
          <p:cNvPr id="20" name="TextBox 19"/>
          <p:cNvSpPr txBox="1"/>
          <p:nvPr/>
        </p:nvSpPr>
        <p:spPr>
          <a:xfrm>
            <a:off x="8001000" y="2834639"/>
            <a:ext cx="3566160" cy="329184"/>
          </a:xfrm>
          <a:prstGeom prst="rect">
            <a:avLst/>
          </a:prstGeom>
          <a:noFill/>
        </p:spPr>
        <p:txBody>
          <a:bodyPr wrap="square" anchor="t" lIns="0" rIns="0" tIns="0" bIns="0">
            <a:spAutoFit/>
          </a:bodyPr>
          <a:lstStyle/>
          <a:p>
            <a:pPr algn="l">
              <a:lnSpc>
                <a:spcPct val="100000"/>
              </a:lnSpc>
            </a:pPr>
            <a:r>
              <a:rPr sz="919" b="0" i="0">
                <a:solidFill>
                  <a:srgbClr val="252F3D"/>
                </a:solidFill>
                <a:latin typeface="Consolas"/>
              </a:rPr>
              <a:t>python predict.py            → forecast_latest.json</a:t>
            </a:r>
          </a:p>
        </p:txBody>
      </p:sp>
      <p:sp>
        <p:nvSpPr>
          <p:cNvPr id="21" name="TextBox 20"/>
          <p:cNvSpPr txBox="1"/>
          <p:nvPr/>
        </p:nvSpPr>
        <p:spPr>
          <a:xfrm>
            <a:off x="6537960" y="3200399"/>
            <a:ext cx="1417320" cy="274320"/>
          </a:xfrm>
          <a:prstGeom prst="rect">
            <a:avLst/>
          </a:prstGeom>
          <a:noFill/>
        </p:spPr>
        <p:txBody>
          <a:bodyPr wrap="square" anchor="t" lIns="0" rIns="0" tIns="0" bIns="0">
            <a:spAutoFit/>
          </a:bodyPr>
          <a:lstStyle/>
          <a:p>
            <a:pPr algn="l">
              <a:lnSpc>
                <a:spcPct val="100000"/>
              </a:lnSpc>
            </a:pPr>
            <a:r>
              <a:rPr sz="930" b="1" i="0">
                <a:solidFill>
                  <a:srgbClr val="1F3B63"/>
                </a:solidFill>
                <a:latin typeface="Calibri"/>
              </a:rPr>
              <a:t>4  verify</a:t>
            </a:r>
          </a:p>
        </p:txBody>
      </p:sp>
      <p:sp>
        <p:nvSpPr>
          <p:cNvPr id="22" name="TextBox 21"/>
          <p:cNvSpPr txBox="1"/>
          <p:nvPr/>
        </p:nvSpPr>
        <p:spPr>
          <a:xfrm>
            <a:off x="8001000" y="3200399"/>
            <a:ext cx="3566160" cy="329184"/>
          </a:xfrm>
          <a:prstGeom prst="rect">
            <a:avLst/>
          </a:prstGeom>
          <a:noFill/>
        </p:spPr>
        <p:txBody>
          <a:bodyPr wrap="square" anchor="t" lIns="0" rIns="0" tIns="0" bIns="0">
            <a:spAutoFit/>
          </a:bodyPr>
          <a:lstStyle/>
          <a:p>
            <a:pPr algn="l">
              <a:lnSpc>
                <a:spcPct val="100000"/>
              </a:lnSpc>
            </a:pPr>
            <a:r>
              <a:rPr sz="919" b="0" i="0">
                <a:solidFill>
                  <a:srgbClr val="252F3D"/>
                </a:solidFill>
                <a:latin typeface="Consolas"/>
              </a:rPr>
              <a:t>python verify.py             → verification_log.csv</a:t>
            </a:r>
          </a:p>
        </p:txBody>
      </p:sp>
      <p:sp>
        <p:nvSpPr>
          <p:cNvPr id="23" name="TextBox 22"/>
          <p:cNvSpPr txBox="1"/>
          <p:nvPr/>
        </p:nvSpPr>
        <p:spPr>
          <a:xfrm>
            <a:off x="6537960" y="3566159"/>
            <a:ext cx="1417320" cy="274320"/>
          </a:xfrm>
          <a:prstGeom prst="rect">
            <a:avLst/>
          </a:prstGeom>
          <a:noFill/>
        </p:spPr>
        <p:txBody>
          <a:bodyPr wrap="square" anchor="t" lIns="0" rIns="0" tIns="0" bIns="0">
            <a:spAutoFit/>
          </a:bodyPr>
          <a:lstStyle/>
          <a:p>
            <a:pPr algn="l">
              <a:lnSpc>
                <a:spcPct val="100000"/>
              </a:lnSpc>
            </a:pPr>
            <a:r>
              <a:rPr sz="930" b="1" i="0">
                <a:solidFill>
                  <a:srgbClr val="1F3B63"/>
                </a:solidFill>
                <a:latin typeface="Calibri"/>
              </a:rPr>
              <a:t>5  automate</a:t>
            </a:r>
          </a:p>
        </p:txBody>
      </p:sp>
      <p:sp>
        <p:nvSpPr>
          <p:cNvPr id="24" name="TextBox 23"/>
          <p:cNvSpPr txBox="1"/>
          <p:nvPr/>
        </p:nvSpPr>
        <p:spPr>
          <a:xfrm>
            <a:off x="8001000" y="3566159"/>
            <a:ext cx="3566160" cy="329184"/>
          </a:xfrm>
          <a:prstGeom prst="rect">
            <a:avLst/>
          </a:prstGeom>
          <a:noFill/>
        </p:spPr>
        <p:txBody>
          <a:bodyPr wrap="square" anchor="t" lIns="0" rIns="0" tIns="0" bIns="0">
            <a:spAutoFit/>
          </a:bodyPr>
          <a:lstStyle/>
          <a:p>
            <a:pPr algn="l">
              <a:lnSpc>
                <a:spcPct val="100000"/>
              </a:lnSpc>
            </a:pPr>
            <a:r>
              <a:rPr sz="919" b="0" i="0">
                <a:solidFill>
                  <a:srgbClr val="252F3D"/>
                </a:solidFill>
                <a:latin typeface="Consolas"/>
              </a:rPr>
              <a:t>daily_run.sh predict | verify  (cron 10:00 / 13:30 SGT)</a:t>
            </a:r>
          </a:p>
        </p:txBody>
      </p:sp>
      <p:sp>
        <p:nvSpPr>
          <p:cNvPr id="25" name="TextBox 24"/>
          <p:cNvSpPr txBox="1"/>
          <p:nvPr/>
        </p:nvSpPr>
        <p:spPr>
          <a:xfrm>
            <a:off x="6355080" y="3977639"/>
            <a:ext cx="5330952" cy="2377440"/>
          </a:xfrm>
          <a:prstGeom prst="rect">
            <a:avLst/>
          </a:prstGeom>
          <a:noFill/>
        </p:spPr>
        <p:txBody>
          <a:bodyPr wrap="square" lIns="0" rIns="0" tIns="0" bIns="0">
            <a:spAutoFit/>
          </a:bodyPr>
          <a:lstStyle/>
          <a:p>
            <a:pPr>
              <a:lnSpc>
                <a:spcPct val="106000"/>
              </a:lnSpc>
              <a:spcBef>
                <a:spcPts val="0"/>
              </a:spcBef>
              <a:spcAft>
                <a:spcPts val="800"/>
              </a:spcAft>
            </a:pPr>
            <a:r>
              <a:rPr sz="1100" b="1" i="0">
                <a:solidFill>
                  <a:srgbClr val="2E7D74"/>
                </a:solidFill>
                <a:latin typeface="Calibri"/>
              </a:rPr>
              <a:t>Reproduced, not asserted.  </a:t>
            </a:r>
            <a:r>
              <a:rPr sz="1100" b="0" i="0">
                <a:solidFill>
                  <a:srgbClr val="252F3D"/>
                </a:solidFill>
                <a:latin typeface="Calibri"/>
              </a:rPr>
              <a:t>For this deck the entire pipeline was re-derived independently from the CSV and the committed checkpoints. The split sizes (6,675 / 914 / 18), the normalisation statistics and all six reported test MAEs were reproduced to within 1 % — the residual is fp16 autocast in training versus fp32 here. Details in Appendix A4.</a:t>
            </a:r>
          </a:p>
          <a:p>
            <a:pPr>
              <a:lnSpc>
                <a:spcPct val="106000"/>
              </a:lnSpc>
              <a:spcBef>
                <a:spcPts val="0"/>
              </a:spcBef>
              <a:spcAft>
                <a:spcPts val="800"/>
              </a:spcAft>
            </a:pPr>
            <a:r>
              <a:rPr sz="1100" b="1" i="0">
                <a:solidFill>
                  <a:srgbClr val="B3282D"/>
                </a:solidFill>
                <a:latin typeface="Calibri"/>
              </a:rPr>
              <a:t>Determinism gaps that remain.  </a:t>
            </a:r>
            <a:r>
              <a:rPr sz="1100" b="0" i="0">
                <a:solidFill>
                  <a:srgbClr val="252F3D"/>
                </a:solidFill>
                <a:latin typeface="Calibri"/>
              </a:rPr>
              <a:t>Seeds are set but cuDNN benchmark mode and TF32 are enabled, and dataloader worker order is not seeded — so runs are not bit-identical. Empirically this is worth ≈4.5 W/m² of validation MAE.</a:t>
            </a:r>
          </a:p>
          <a:p>
            <a:pPr>
              <a:lnSpc>
                <a:spcPct val="106000"/>
              </a:lnSpc>
              <a:spcBef>
                <a:spcPts val="0"/>
              </a:spcBef>
              <a:spcAft>
                <a:spcPts val="800"/>
              </a:spcAft>
            </a:pPr>
            <a:r>
              <a:rPr sz="1100" b="1" i="0">
                <a:solidFill>
                  <a:srgbClr val="B3282D"/>
                </a:solidFill>
                <a:latin typeface="Calibri"/>
              </a:rPr>
              <a:t>Data versioning gap.  </a:t>
            </a:r>
            <a:r>
              <a:rPr sz="1100" b="0" i="0">
                <a:solidFill>
                  <a:srgbClr val="252F3D"/>
                </a:solidFill>
                <a:latin typeface="Calibri"/>
              </a:rPr>
              <a:t>data/ is gitignored, so the exact CSV the checkpoints were trained on is not tracked in git; it must be rebuilt or copied. A frozen, hashed dataset file is the correct fix.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LIMITATIONS</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150" b="1" i="0">
                <a:solidFill>
                  <a:srgbClr val="1F3B63"/>
                </a:solidFill>
                <a:latin typeface="Calibri"/>
              </a:rPr>
              <a:t>Limitations — stated at the strength the evidence actually supports</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B328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19</a:t>
            </a:r>
          </a:p>
        </p:txBody>
      </p:sp>
      <p:sp>
        <p:nvSpPr>
          <p:cNvPr id="8" name="TextBox 7"/>
          <p:cNvSpPr txBox="1"/>
          <p:nvPr/>
        </p:nvSpPr>
        <p:spPr>
          <a:xfrm>
            <a:off x="502920" y="1298448"/>
            <a:ext cx="1371600" cy="274320"/>
          </a:xfrm>
          <a:prstGeom prst="rect">
            <a:avLst/>
          </a:prstGeom>
          <a:noFill/>
        </p:spPr>
        <p:txBody>
          <a:bodyPr wrap="square" anchor="t" lIns="0" rIns="0" tIns="0" bIns="0">
            <a:spAutoFit/>
          </a:bodyPr>
          <a:lstStyle/>
          <a:p>
            <a:pPr algn="l">
              <a:lnSpc>
                <a:spcPct val="100000"/>
              </a:lnSpc>
            </a:pPr>
            <a:r>
              <a:rPr sz="1050" b="1" i="0">
                <a:solidFill>
                  <a:srgbClr val="B3282D"/>
                </a:solidFill>
                <a:latin typeface="Calibri"/>
              </a:rPr>
              <a:t>Evaluation</a:t>
            </a:r>
          </a:p>
        </p:txBody>
      </p:sp>
      <p:sp>
        <p:nvSpPr>
          <p:cNvPr id="9" name="TextBox 8"/>
          <p:cNvSpPr txBox="1"/>
          <p:nvPr/>
        </p:nvSpPr>
        <p:spPr>
          <a:xfrm>
            <a:off x="1920240" y="1298448"/>
            <a:ext cx="4434840" cy="512064"/>
          </a:xfrm>
          <a:prstGeom prst="rect">
            <a:avLst/>
          </a:prstGeom>
          <a:noFill/>
        </p:spPr>
        <p:txBody>
          <a:bodyPr wrap="square" anchor="t" lIns="0" rIns="0" tIns="0" bIns="0">
            <a:spAutoFit/>
          </a:bodyPr>
          <a:lstStyle/>
          <a:p>
            <a:pPr algn="l">
              <a:lnSpc>
                <a:spcPct val="100000"/>
              </a:lnSpc>
            </a:pPr>
            <a:r>
              <a:rPr sz="1019" b="0" i="0">
                <a:solidFill>
                  <a:srgbClr val="252F3D"/>
                </a:solidFill>
                <a:latin typeface="Calibri"/>
              </a:rPr>
              <a:t>The reported held-out test split collapsed to 18 imaged samples from two days, so all results here use the 914 imaged validation rows.</a:t>
            </a:r>
          </a:p>
        </p:txBody>
      </p:sp>
      <p:sp>
        <p:nvSpPr>
          <p:cNvPr id="10" name="TextBox 9"/>
          <p:cNvSpPr txBox="1"/>
          <p:nvPr/>
        </p:nvSpPr>
        <p:spPr>
          <a:xfrm>
            <a:off x="6537960" y="1298448"/>
            <a:ext cx="5148072" cy="512064"/>
          </a:xfrm>
          <a:prstGeom prst="rect">
            <a:avLst/>
          </a:prstGeom>
          <a:noFill/>
        </p:spPr>
        <p:txBody>
          <a:bodyPr wrap="square" anchor="t" lIns="0" rIns="0" tIns="0" bIns="0">
            <a:spAutoFit/>
          </a:bodyPr>
          <a:lstStyle/>
          <a:p>
            <a:pPr algn="l">
              <a:lnSpc>
                <a:spcPct val="100000"/>
              </a:lnSpc>
            </a:pPr>
            <a:r>
              <a:rPr sz="1019" b="0" i="0">
                <a:solidFill>
                  <a:srgbClr val="6B7280"/>
                </a:solidFill>
                <a:latin typeface="Calibri"/>
              </a:rPr>
              <a:t>Those rows drove early stopping and checkpoint selection, so every deep-model number is optimistic. This is not a clean held-out test.</a:t>
            </a:r>
          </a:p>
        </p:txBody>
      </p:sp>
      <p:cxnSp>
        <p:nvCxnSpPr>
          <p:cNvPr id="11" name="Connector 10"/>
          <p:cNvCxnSpPr/>
          <p:nvPr/>
        </p:nvCxnSpPr>
        <p:spPr>
          <a:xfrm>
            <a:off x="502920" y="1801368"/>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1860804"/>
            <a:ext cx="1371600" cy="274320"/>
          </a:xfrm>
          <a:prstGeom prst="rect">
            <a:avLst/>
          </a:prstGeom>
          <a:noFill/>
        </p:spPr>
        <p:txBody>
          <a:bodyPr wrap="square" anchor="t" lIns="0" rIns="0" tIns="0" bIns="0">
            <a:spAutoFit/>
          </a:bodyPr>
          <a:lstStyle/>
          <a:p>
            <a:pPr algn="l">
              <a:lnSpc>
                <a:spcPct val="100000"/>
              </a:lnSpc>
            </a:pPr>
            <a:r>
              <a:rPr sz="1050" b="1" i="0">
                <a:solidFill>
                  <a:srgbClr val="B3282D"/>
                </a:solidFill>
                <a:latin typeface="Calibri"/>
              </a:rPr>
              <a:t>Statistics</a:t>
            </a:r>
          </a:p>
        </p:txBody>
      </p:sp>
      <p:sp>
        <p:nvSpPr>
          <p:cNvPr id="13" name="TextBox 12"/>
          <p:cNvSpPr txBox="1"/>
          <p:nvPr/>
        </p:nvSpPr>
        <p:spPr>
          <a:xfrm>
            <a:off x="1920240" y="1860804"/>
            <a:ext cx="4434840" cy="512064"/>
          </a:xfrm>
          <a:prstGeom prst="rect">
            <a:avLst/>
          </a:prstGeom>
          <a:noFill/>
        </p:spPr>
        <p:txBody>
          <a:bodyPr wrap="square" anchor="t" lIns="0" rIns="0" tIns="0" bIns="0">
            <a:spAutoFit/>
          </a:bodyPr>
          <a:lstStyle/>
          <a:p>
            <a:pPr algn="l">
              <a:lnSpc>
                <a:spcPct val="100000"/>
              </a:lnSpc>
            </a:pPr>
            <a:r>
              <a:rPr sz="1019" b="0" i="0">
                <a:solidFill>
                  <a:srgbClr val="252F3D"/>
                </a:solidFill>
                <a:latin typeface="Calibri"/>
              </a:rPr>
              <a:t>One training run per variant; no seed replication.</a:t>
            </a:r>
          </a:p>
        </p:txBody>
      </p:sp>
      <p:sp>
        <p:nvSpPr>
          <p:cNvPr id="14" name="TextBox 13"/>
          <p:cNvSpPr txBox="1"/>
          <p:nvPr/>
        </p:nvSpPr>
        <p:spPr>
          <a:xfrm>
            <a:off x="6537960" y="1860804"/>
            <a:ext cx="5148072" cy="512064"/>
          </a:xfrm>
          <a:prstGeom prst="rect">
            <a:avLst/>
          </a:prstGeom>
          <a:noFill/>
        </p:spPr>
        <p:txBody>
          <a:bodyPr wrap="square" anchor="t" lIns="0" rIns="0" tIns="0" bIns="0">
            <a:spAutoFit/>
          </a:bodyPr>
          <a:lstStyle/>
          <a:p>
            <a:pPr algn="l">
              <a:lnSpc>
                <a:spcPct val="100000"/>
              </a:lnSpc>
            </a:pPr>
            <a:r>
              <a:rPr sz="1019" b="0" i="0">
                <a:solidFill>
                  <a:srgbClr val="6B7280"/>
                </a:solidFill>
                <a:latin typeface="Calibri"/>
              </a:rPr>
              <a:t>Two runs of the same configuration differed by 4.5 W/m². Differences below that are not attributable to architecture. Three seeds × six variants ≈ 6 GPU-hours would settle it.</a:t>
            </a:r>
          </a:p>
        </p:txBody>
      </p:sp>
      <p:cxnSp>
        <p:nvCxnSpPr>
          <p:cNvPr id="15" name="Connector 14"/>
          <p:cNvCxnSpPr/>
          <p:nvPr/>
        </p:nvCxnSpPr>
        <p:spPr>
          <a:xfrm>
            <a:off x="502920" y="2363724"/>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2920" y="2423160"/>
            <a:ext cx="1371600" cy="274320"/>
          </a:xfrm>
          <a:prstGeom prst="rect">
            <a:avLst/>
          </a:prstGeom>
          <a:noFill/>
        </p:spPr>
        <p:txBody>
          <a:bodyPr wrap="square" anchor="t" lIns="0" rIns="0" tIns="0" bIns="0">
            <a:spAutoFit/>
          </a:bodyPr>
          <a:lstStyle/>
          <a:p>
            <a:pPr algn="l">
              <a:lnSpc>
                <a:spcPct val="100000"/>
              </a:lnSpc>
            </a:pPr>
            <a:r>
              <a:rPr sz="1050" b="1" i="0">
                <a:solidFill>
                  <a:srgbClr val="B3282D"/>
                </a:solidFill>
                <a:latin typeface="Calibri"/>
              </a:rPr>
              <a:t>Temporal scope</a:t>
            </a:r>
          </a:p>
        </p:txBody>
      </p:sp>
      <p:sp>
        <p:nvSpPr>
          <p:cNvPr id="17" name="TextBox 16"/>
          <p:cNvSpPr txBox="1"/>
          <p:nvPr/>
        </p:nvSpPr>
        <p:spPr>
          <a:xfrm>
            <a:off x="1920240" y="2423160"/>
            <a:ext cx="4434840" cy="512064"/>
          </a:xfrm>
          <a:prstGeom prst="rect">
            <a:avLst/>
          </a:prstGeom>
          <a:noFill/>
        </p:spPr>
        <p:txBody>
          <a:bodyPr wrap="square" anchor="t" lIns="0" rIns="0" tIns="0" bIns="0">
            <a:spAutoFit/>
          </a:bodyPr>
          <a:lstStyle/>
          <a:p>
            <a:pPr algn="l">
              <a:lnSpc>
                <a:spcPct val="100000"/>
              </a:lnSpc>
            </a:pPr>
            <a:r>
              <a:rPr sz="1019" b="0" i="0">
                <a:solidFill>
                  <a:srgbClr val="252F3D"/>
                </a:solidFill>
                <a:latin typeface="Calibri"/>
              </a:rPr>
              <a:t>The evaluation window is 2025-11-03 → 2026-02-03 — the north-east monsoon only.</a:t>
            </a:r>
          </a:p>
        </p:txBody>
      </p:sp>
      <p:sp>
        <p:nvSpPr>
          <p:cNvPr id="18" name="TextBox 17"/>
          <p:cNvSpPr txBox="1"/>
          <p:nvPr/>
        </p:nvSpPr>
        <p:spPr>
          <a:xfrm>
            <a:off x="6537960" y="2423160"/>
            <a:ext cx="5148072" cy="512064"/>
          </a:xfrm>
          <a:prstGeom prst="rect">
            <a:avLst/>
          </a:prstGeom>
          <a:noFill/>
        </p:spPr>
        <p:txBody>
          <a:bodyPr wrap="square" anchor="t" lIns="0" rIns="0" tIns="0" bIns="0">
            <a:spAutoFit/>
          </a:bodyPr>
          <a:lstStyle/>
          <a:p>
            <a:pPr algn="l">
              <a:lnSpc>
                <a:spcPct val="100000"/>
              </a:lnSpc>
            </a:pPr>
            <a:r>
              <a:rPr sz="1019" b="0" i="0">
                <a:solidFill>
                  <a:srgbClr val="6B7280"/>
                </a:solidFill>
                <a:latin typeface="Calibri"/>
              </a:rPr>
              <a:t>Nothing here shows the ranking holds through the south-west monsoon or the inter-monsoon periods. Blocked rolling-origin CV is the correct design.</a:t>
            </a:r>
          </a:p>
        </p:txBody>
      </p:sp>
      <p:cxnSp>
        <p:nvCxnSpPr>
          <p:cNvPr id="19" name="Connector 18"/>
          <p:cNvCxnSpPr/>
          <p:nvPr/>
        </p:nvCxnSpPr>
        <p:spPr>
          <a:xfrm>
            <a:off x="502920" y="2926080"/>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2920" y="2985516"/>
            <a:ext cx="1371600" cy="27432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Target construction</a:t>
            </a:r>
          </a:p>
        </p:txBody>
      </p:sp>
      <p:sp>
        <p:nvSpPr>
          <p:cNvPr id="21" name="TextBox 20"/>
          <p:cNvSpPr txBox="1"/>
          <p:nvPr/>
        </p:nvSpPr>
        <p:spPr>
          <a:xfrm>
            <a:off x="1920240" y="2985516"/>
            <a:ext cx="4434840" cy="512064"/>
          </a:xfrm>
          <a:prstGeom prst="rect">
            <a:avLst/>
          </a:prstGeom>
          <a:noFill/>
        </p:spPr>
        <p:txBody>
          <a:bodyPr wrap="square" anchor="t" lIns="0" rIns="0" tIns="0" bIns="0">
            <a:spAutoFit/>
          </a:bodyPr>
          <a:lstStyle/>
          <a:p>
            <a:pPr algn="l">
              <a:lnSpc>
                <a:spcPct val="100000"/>
              </a:lnSpc>
            </a:pPr>
            <a:r>
              <a:rPr sz="1019" b="0" i="0">
                <a:solidFill>
                  <a:srgbClr val="252F3D"/>
                </a:solidFill>
                <a:latin typeface="Calibri"/>
              </a:rPr>
              <a:t>Targets, lag features and frame offsets use a positional shift on a table containing only 08:00–17:00.</a:t>
            </a:r>
          </a:p>
        </p:txBody>
      </p:sp>
      <p:sp>
        <p:nvSpPr>
          <p:cNvPr id="22" name="TextBox 21"/>
          <p:cNvSpPr txBox="1"/>
          <p:nvPr/>
        </p:nvSpPr>
        <p:spPr>
          <a:xfrm>
            <a:off x="6537960" y="2985516"/>
            <a:ext cx="5148072" cy="512064"/>
          </a:xfrm>
          <a:prstGeom prst="rect">
            <a:avLst/>
          </a:prstGeom>
          <a:noFill/>
        </p:spPr>
        <p:txBody>
          <a:bodyPr wrap="square" anchor="t" lIns="0" rIns="0" tIns="0" bIns="0">
            <a:spAutoFit/>
          </a:bodyPr>
          <a:lstStyle/>
          <a:p>
            <a:pPr algn="l">
              <a:lnSpc>
                <a:spcPct val="100000"/>
              </a:lnSpc>
            </a:pPr>
            <a:r>
              <a:rPr sz="1019" b="0" i="0">
                <a:solidFill>
                  <a:srgbClr val="6B7280"/>
                </a:solidFill>
                <a:latin typeface="Calibri"/>
              </a:rPr>
              <a:t>10 / 20 / 30 % of t+1/2/3 h targets cross the overnight gap, making every MAE ≈8 % optimistic; the same defect corrupts the previous-frame and optical-flow pairs.</a:t>
            </a:r>
          </a:p>
        </p:txBody>
      </p:sp>
      <p:cxnSp>
        <p:nvCxnSpPr>
          <p:cNvPr id="23" name="Connector 22"/>
          <p:cNvCxnSpPr/>
          <p:nvPr/>
        </p:nvCxnSpPr>
        <p:spPr>
          <a:xfrm>
            <a:off x="502920" y="3488436"/>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3547872"/>
            <a:ext cx="1371600" cy="27432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Physics</a:t>
            </a:r>
          </a:p>
        </p:txBody>
      </p:sp>
      <p:sp>
        <p:nvSpPr>
          <p:cNvPr id="25" name="TextBox 24"/>
          <p:cNvSpPr txBox="1"/>
          <p:nvPr/>
        </p:nvSpPr>
        <p:spPr>
          <a:xfrm>
            <a:off x="1920240" y="3547872"/>
            <a:ext cx="4434840" cy="512064"/>
          </a:xfrm>
          <a:prstGeom prst="rect">
            <a:avLst/>
          </a:prstGeom>
          <a:noFill/>
        </p:spPr>
        <p:txBody>
          <a:bodyPr wrap="square" anchor="t" lIns="0" rIns="0" tIns="0" bIns="0">
            <a:spAutoFit/>
          </a:bodyPr>
          <a:lstStyle/>
          <a:p>
            <a:pPr algn="l">
              <a:lnSpc>
                <a:spcPct val="100000"/>
              </a:lnSpc>
            </a:pPr>
            <a:r>
              <a:rPr sz="1019" b="0" i="0">
                <a:solidFill>
                  <a:srgbClr val="252F3D"/>
                </a:solidFill>
                <a:latin typeface="Calibri"/>
              </a:rPr>
              <a:t>The clear-sky denominator is the instantaneous pvlib value while GHI is an hourly mean.</a:t>
            </a:r>
          </a:p>
        </p:txBody>
      </p:sp>
      <p:sp>
        <p:nvSpPr>
          <p:cNvPr id="26" name="TextBox 25"/>
          <p:cNvSpPr txBox="1"/>
          <p:nvPr/>
        </p:nvSpPr>
        <p:spPr>
          <a:xfrm>
            <a:off x="6537960" y="3547872"/>
            <a:ext cx="5148072" cy="512064"/>
          </a:xfrm>
          <a:prstGeom prst="rect">
            <a:avLst/>
          </a:prstGeom>
          <a:noFill/>
        </p:spPr>
        <p:txBody>
          <a:bodyPr wrap="square" anchor="t" lIns="0" rIns="0" tIns="0" bIns="0">
            <a:spAutoFit/>
          </a:bodyPr>
          <a:lstStyle/>
          <a:p>
            <a:pPr algn="l">
              <a:lnSpc>
                <a:spcPct val="100000"/>
              </a:lnSpc>
            </a:pPr>
            <a:r>
              <a:rPr sz="1019" b="0" i="0">
                <a:solidFill>
                  <a:srgbClr val="6B7280"/>
                </a:solidFill>
                <a:latin typeface="Calibri"/>
              </a:rPr>
              <a:t>Empirical max k_t drifts monotonically from 0.69 at 08:00 to 1.43 at 17:00 — a timestamp-convention mismatch. The hour-mean fix exists in the code but is applied only to the deployment cap, not to the dataset.</a:t>
            </a:r>
          </a:p>
        </p:txBody>
      </p:sp>
      <p:cxnSp>
        <p:nvCxnSpPr>
          <p:cNvPr id="27" name="Connector 26"/>
          <p:cNvCxnSpPr/>
          <p:nvPr/>
        </p:nvCxnSpPr>
        <p:spPr>
          <a:xfrm>
            <a:off x="502920" y="4050792"/>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920" y="4110228"/>
            <a:ext cx="1371600" cy="27432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Ground truth</a:t>
            </a:r>
          </a:p>
        </p:txBody>
      </p:sp>
      <p:sp>
        <p:nvSpPr>
          <p:cNvPr id="29" name="TextBox 28"/>
          <p:cNvSpPr txBox="1"/>
          <p:nvPr/>
        </p:nvSpPr>
        <p:spPr>
          <a:xfrm>
            <a:off x="1920240" y="4110228"/>
            <a:ext cx="4434840" cy="512064"/>
          </a:xfrm>
          <a:prstGeom prst="rect">
            <a:avLst/>
          </a:prstGeom>
          <a:noFill/>
        </p:spPr>
        <p:txBody>
          <a:bodyPr wrap="square" anchor="t" lIns="0" rIns="0" tIns="0" bIns="0">
            <a:spAutoFit/>
          </a:bodyPr>
          <a:lstStyle/>
          <a:p>
            <a:pPr algn="l">
              <a:lnSpc>
                <a:spcPct val="100000"/>
              </a:lnSpc>
            </a:pPr>
            <a:r>
              <a:rPr sz="1019" b="0" i="0">
                <a:solidFill>
                  <a:srgbClr val="252F3D"/>
                </a:solidFill>
                <a:latin typeface="Calibri"/>
              </a:rPr>
              <a:t>The target is Open-Meteo/ERA5 shortwave radiation, and verify.py scores against the same product.</a:t>
            </a:r>
          </a:p>
        </p:txBody>
      </p:sp>
      <p:sp>
        <p:nvSpPr>
          <p:cNvPr id="30" name="TextBox 29"/>
          <p:cNvSpPr txBox="1"/>
          <p:nvPr/>
        </p:nvSpPr>
        <p:spPr>
          <a:xfrm>
            <a:off x="6537960" y="4110228"/>
            <a:ext cx="5148072" cy="512064"/>
          </a:xfrm>
          <a:prstGeom prst="rect">
            <a:avLst/>
          </a:prstGeom>
          <a:noFill/>
        </p:spPr>
        <p:txBody>
          <a:bodyPr wrap="square" anchor="t" lIns="0" rIns="0" tIns="0" bIns="0">
            <a:spAutoFit/>
          </a:bodyPr>
          <a:lstStyle/>
          <a:p>
            <a:pPr algn="l">
              <a:lnSpc>
                <a:spcPct val="100000"/>
              </a:lnSpc>
            </a:pPr>
            <a:r>
              <a:rPr sz="1019" b="0" i="0">
                <a:solidFill>
                  <a:srgbClr val="6B7280"/>
                </a:solidFill>
                <a:latin typeface="Calibri"/>
              </a:rPr>
              <a:t>No independent pyranometer is involved anywhere. The system is validated against a reanalysis, not against measured irradiance.</a:t>
            </a:r>
          </a:p>
        </p:txBody>
      </p:sp>
      <p:cxnSp>
        <p:nvCxnSpPr>
          <p:cNvPr id="31" name="Connector 30"/>
          <p:cNvCxnSpPr/>
          <p:nvPr/>
        </p:nvCxnSpPr>
        <p:spPr>
          <a:xfrm>
            <a:off x="502920" y="4613148"/>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2920" y="4672584"/>
            <a:ext cx="1371600" cy="274320"/>
          </a:xfrm>
          <a:prstGeom prst="rect">
            <a:avLst/>
          </a:prstGeom>
          <a:noFill/>
        </p:spPr>
        <p:txBody>
          <a:bodyPr wrap="square" anchor="t" lIns="0" rIns="0" tIns="0" bIns="0">
            <a:spAutoFit/>
          </a:bodyPr>
          <a:lstStyle/>
          <a:p>
            <a:pPr algn="l">
              <a:lnSpc>
                <a:spcPct val="100000"/>
              </a:lnSpc>
            </a:pPr>
            <a:r>
              <a:rPr sz="1050" b="1" i="0">
                <a:solidFill>
                  <a:srgbClr val="1F3B63"/>
                </a:solidFill>
                <a:latin typeface="Calibri"/>
              </a:rPr>
              <a:t>Generality</a:t>
            </a:r>
          </a:p>
        </p:txBody>
      </p:sp>
      <p:sp>
        <p:nvSpPr>
          <p:cNvPr id="33" name="TextBox 32"/>
          <p:cNvSpPr txBox="1"/>
          <p:nvPr/>
        </p:nvSpPr>
        <p:spPr>
          <a:xfrm>
            <a:off x="1920240" y="4672584"/>
            <a:ext cx="4434840" cy="512064"/>
          </a:xfrm>
          <a:prstGeom prst="rect">
            <a:avLst/>
          </a:prstGeom>
          <a:noFill/>
        </p:spPr>
        <p:txBody>
          <a:bodyPr wrap="square" anchor="t" lIns="0" rIns="0" tIns="0" bIns="0">
            <a:spAutoFit/>
          </a:bodyPr>
          <a:lstStyle/>
          <a:p>
            <a:pPr algn="l">
              <a:lnSpc>
                <a:spcPct val="100000"/>
              </a:lnSpc>
            </a:pPr>
            <a:r>
              <a:rPr sz="1019" b="0" i="0">
                <a:solidFill>
                  <a:srgbClr val="252F3D"/>
                </a:solidFill>
                <a:latin typeface="Calibri"/>
              </a:rPr>
              <a:t>One site, one satellite, ~6.7 k training hours, 2.5 years.</a:t>
            </a:r>
          </a:p>
        </p:txBody>
      </p:sp>
      <p:sp>
        <p:nvSpPr>
          <p:cNvPr id="34" name="TextBox 33"/>
          <p:cNvSpPr txBox="1"/>
          <p:nvPr/>
        </p:nvSpPr>
        <p:spPr>
          <a:xfrm>
            <a:off x="6537960" y="4672584"/>
            <a:ext cx="5148072" cy="512064"/>
          </a:xfrm>
          <a:prstGeom prst="rect">
            <a:avLst/>
          </a:prstGeom>
          <a:noFill/>
        </p:spPr>
        <p:txBody>
          <a:bodyPr wrap="square" anchor="t" lIns="0" rIns="0" tIns="0" bIns="0">
            <a:spAutoFit/>
          </a:bodyPr>
          <a:lstStyle/>
          <a:p>
            <a:pPr algn="l">
              <a:lnSpc>
                <a:spcPct val="100000"/>
              </a:lnSpc>
            </a:pPr>
            <a:r>
              <a:rPr sz="1019" b="0" i="0">
                <a:solidFill>
                  <a:srgbClr val="6B7280"/>
                </a:solidFill>
                <a:latin typeface="Calibri"/>
              </a:rPr>
              <a:t>The negative result about imagery is a statement about this data regime, not about satellite fusion in general.</a:t>
            </a:r>
          </a:p>
        </p:txBody>
      </p:sp>
      <p:cxnSp>
        <p:nvCxnSpPr>
          <p:cNvPr id="35" name="Connector 34"/>
          <p:cNvCxnSpPr/>
          <p:nvPr/>
        </p:nvCxnSpPr>
        <p:spPr>
          <a:xfrm>
            <a:off x="502920" y="5175504"/>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02920" y="5234940"/>
            <a:ext cx="1371600" cy="274320"/>
          </a:xfrm>
          <a:prstGeom prst="rect">
            <a:avLst/>
          </a:prstGeom>
          <a:noFill/>
        </p:spPr>
        <p:txBody>
          <a:bodyPr wrap="square" anchor="t" lIns="0" rIns="0" tIns="0" bIns="0">
            <a:spAutoFit/>
          </a:bodyPr>
          <a:lstStyle/>
          <a:p>
            <a:pPr algn="l">
              <a:lnSpc>
                <a:spcPct val="100000"/>
              </a:lnSpc>
            </a:pPr>
            <a:r>
              <a:rPr sz="1050" b="1" i="0">
                <a:solidFill>
                  <a:srgbClr val="1F3B63"/>
                </a:solidFill>
                <a:latin typeface="Calibri"/>
              </a:rPr>
              <a:t>Deployment</a:t>
            </a:r>
          </a:p>
        </p:txBody>
      </p:sp>
      <p:sp>
        <p:nvSpPr>
          <p:cNvPr id="37" name="TextBox 36"/>
          <p:cNvSpPr txBox="1"/>
          <p:nvPr/>
        </p:nvSpPr>
        <p:spPr>
          <a:xfrm>
            <a:off x="1920240" y="5234940"/>
            <a:ext cx="4434840" cy="512064"/>
          </a:xfrm>
          <a:prstGeom prst="rect">
            <a:avLst/>
          </a:prstGeom>
          <a:noFill/>
        </p:spPr>
        <p:txBody>
          <a:bodyPr wrap="square" anchor="t" lIns="0" rIns="0" tIns="0" bIns="0">
            <a:spAutoFit/>
          </a:bodyPr>
          <a:lstStyle/>
          <a:p>
            <a:pPr algn="l">
              <a:lnSpc>
                <a:spcPct val="100000"/>
              </a:lnSpc>
            </a:pPr>
            <a:r>
              <a:rPr sz="1019" b="0" i="0">
                <a:solidFill>
                  <a:srgbClr val="252F3D"/>
                </a:solidFill>
                <a:latin typeface="Calibri"/>
              </a:rPr>
              <a:t>Two train/serve divergences remain open; live verification covers 24 pre-fix hours and 3 post-fix hours.</a:t>
            </a:r>
          </a:p>
        </p:txBody>
      </p:sp>
      <p:sp>
        <p:nvSpPr>
          <p:cNvPr id="38" name="TextBox 37"/>
          <p:cNvSpPr txBox="1"/>
          <p:nvPr/>
        </p:nvSpPr>
        <p:spPr>
          <a:xfrm>
            <a:off x="6537960" y="5234940"/>
            <a:ext cx="5148072" cy="512064"/>
          </a:xfrm>
          <a:prstGeom prst="rect">
            <a:avLst/>
          </a:prstGeom>
          <a:noFill/>
        </p:spPr>
        <p:txBody>
          <a:bodyPr wrap="square" anchor="t" lIns="0" rIns="0" tIns="0" bIns="0">
            <a:spAutoFit/>
          </a:bodyPr>
          <a:lstStyle/>
          <a:p>
            <a:pPr algn="l">
              <a:lnSpc>
                <a:spcPct val="100000"/>
              </a:lnSpc>
            </a:pPr>
            <a:r>
              <a:rPr sz="1019" b="0" i="0">
                <a:solidFill>
                  <a:srgbClr val="6B7280"/>
                </a:solidFill>
                <a:latin typeface="Calibri"/>
              </a:rPr>
              <a:t>The pre-fix log shows the forecast correlating negatively with the outcome at every horizon, so its 79.4 W/m² MAE is not evidence of skill. No claim is made about live accuracy.</a:t>
            </a:r>
          </a:p>
        </p:txBody>
      </p:sp>
      <p:cxnSp>
        <p:nvCxnSpPr>
          <p:cNvPr id="39" name="Connector 38"/>
          <p:cNvCxnSpPr/>
          <p:nvPr/>
        </p:nvCxnSpPr>
        <p:spPr>
          <a:xfrm>
            <a:off x="502920" y="5737860"/>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920" y="5797296"/>
            <a:ext cx="1371600" cy="274320"/>
          </a:xfrm>
          <a:prstGeom prst="rect">
            <a:avLst/>
          </a:prstGeom>
          <a:noFill/>
        </p:spPr>
        <p:txBody>
          <a:bodyPr wrap="square" anchor="t" lIns="0" rIns="0" tIns="0" bIns="0">
            <a:spAutoFit/>
          </a:bodyPr>
          <a:lstStyle/>
          <a:p>
            <a:pPr algn="l">
              <a:lnSpc>
                <a:spcPct val="100000"/>
              </a:lnSpc>
            </a:pPr>
            <a:r>
              <a:rPr sz="1050" b="1" i="0">
                <a:solidFill>
                  <a:srgbClr val="1F3B63"/>
                </a:solidFill>
                <a:latin typeface="Calibri"/>
              </a:rPr>
              <a:t>Instrumentation</a:t>
            </a:r>
          </a:p>
        </p:txBody>
      </p:sp>
      <p:sp>
        <p:nvSpPr>
          <p:cNvPr id="41" name="TextBox 40"/>
          <p:cNvSpPr txBox="1"/>
          <p:nvPr/>
        </p:nvSpPr>
        <p:spPr>
          <a:xfrm>
            <a:off x="1920240" y="5797296"/>
            <a:ext cx="4434840" cy="512064"/>
          </a:xfrm>
          <a:prstGeom prst="rect">
            <a:avLst/>
          </a:prstGeom>
          <a:noFill/>
        </p:spPr>
        <p:txBody>
          <a:bodyPr wrap="square" anchor="t" lIns="0" rIns="0" tIns="0" bIns="0">
            <a:spAutoFit/>
          </a:bodyPr>
          <a:lstStyle/>
          <a:p>
            <a:pPr algn="l">
              <a:lnSpc>
                <a:spcPct val="100000"/>
              </a:lnSpc>
            </a:pPr>
            <a:r>
              <a:rPr sz="1019" b="0" i="0">
                <a:solidFill>
                  <a:srgbClr val="252F3D"/>
                </a:solidFill>
                <a:latin typeface="Calibri"/>
              </a:rPr>
              <a:t>Non-finite training batches are skipped without being counted, and future_clearsky is fed unnormalised alongside z-scored features.</a:t>
            </a:r>
          </a:p>
        </p:txBody>
      </p:sp>
      <p:sp>
        <p:nvSpPr>
          <p:cNvPr id="42" name="TextBox 41"/>
          <p:cNvSpPr txBox="1"/>
          <p:nvPr/>
        </p:nvSpPr>
        <p:spPr>
          <a:xfrm>
            <a:off x="6537960" y="5797296"/>
            <a:ext cx="5148072" cy="512064"/>
          </a:xfrm>
          <a:prstGeom prst="rect">
            <a:avLst/>
          </a:prstGeom>
          <a:noFill/>
        </p:spPr>
        <p:txBody>
          <a:bodyPr wrap="square" anchor="t" lIns="0" rIns="0" tIns="0" bIns="0">
            <a:spAutoFit/>
          </a:bodyPr>
          <a:lstStyle/>
          <a:p>
            <a:pPr algn="l">
              <a:lnSpc>
                <a:spcPct val="100000"/>
              </a:lnSpc>
            </a:pPr>
            <a:r>
              <a:rPr sz="1019" b="0" i="0">
                <a:solidFill>
                  <a:srgbClr val="6B7280"/>
                </a:solidFill>
                <a:latin typeface="Calibri"/>
              </a:rPr>
              <a:t>The first hides a possible fp16 stability problem; the second lets three raw 0–1000 W/m² inputs dominate the scale of one layer.</a:t>
            </a:r>
          </a:p>
        </p:txBody>
      </p:sp>
      <p:cxnSp>
        <p:nvCxnSpPr>
          <p:cNvPr id="43" name="Connector 42"/>
          <p:cNvCxnSpPr/>
          <p:nvPr/>
        </p:nvCxnSpPr>
        <p:spPr>
          <a:xfrm>
            <a:off x="502920" y="6300216"/>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CLOSING</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Contributions, conclusions and what I would do next</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2E7D7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10607040" y="6419088"/>
            <a:ext cx="1078992" cy="228600"/>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20</a:t>
            </a:r>
          </a:p>
        </p:txBody>
      </p:sp>
      <p:sp>
        <p:nvSpPr>
          <p:cNvPr id="8" name="TextBox 7"/>
          <p:cNvSpPr txBox="1"/>
          <p:nvPr/>
        </p:nvSpPr>
        <p:spPr>
          <a:xfrm>
            <a:off x="502920" y="1280160"/>
            <a:ext cx="5532120" cy="237744"/>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CONTRIBUTIONS</a:t>
            </a:r>
          </a:p>
        </p:txBody>
      </p:sp>
      <p:sp>
        <p:nvSpPr>
          <p:cNvPr id="9" name="TextBox 8"/>
          <p:cNvSpPr txBox="1"/>
          <p:nvPr/>
        </p:nvSpPr>
        <p:spPr>
          <a:xfrm>
            <a:off x="502920" y="1572768"/>
            <a:ext cx="1234440" cy="274320"/>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Engineering</a:t>
            </a:r>
          </a:p>
        </p:txBody>
      </p:sp>
      <p:sp>
        <p:nvSpPr>
          <p:cNvPr id="10" name="TextBox 9"/>
          <p:cNvSpPr txBox="1"/>
          <p:nvPr/>
        </p:nvSpPr>
        <p:spPr>
          <a:xfrm>
            <a:off x="1810512" y="1572768"/>
            <a:ext cx="4224528" cy="658368"/>
          </a:xfrm>
          <a:prstGeom prst="rect">
            <a:avLst/>
          </a:prstGeom>
          <a:noFill/>
        </p:spPr>
        <p:txBody>
          <a:bodyPr wrap="square" anchor="t" lIns="0" rIns="0" tIns="0" bIns="0">
            <a:spAutoFit/>
          </a:bodyPr>
          <a:lstStyle/>
          <a:p>
            <a:pPr algn="l">
              <a:lnSpc>
                <a:spcPct val="100000"/>
              </a:lnSpc>
            </a:pPr>
            <a:r>
              <a:rPr sz="1000" b="0" i="0">
                <a:solidFill>
                  <a:srgbClr val="252F3D"/>
                </a:solidFill>
                <a:latin typeface="Calibri"/>
              </a:rPr>
              <a:t>A complete, automated pipeline from three public feeds to a verified daily forecast, with one shared model definition across training and inference, validated satellite ingestion, config sidecars and diagnostics in every output.</a:t>
            </a:r>
          </a:p>
        </p:txBody>
      </p:sp>
      <p:sp>
        <p:nvSpPr>
          <p:cNvPr id="11" name="TextBox 10"/>
          <p:cNvSpPr txBox="1"/>
          <p:nvPr/>
        </p:nvSpPr>
        <p:spPr>
          <a:xfrm>
            <a:off x="502920" y="2249424"/>
            <a:ext cx="1234440" cy="274320"/>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Implementation</a:t>
            </a:r>
          </a:p>
        </p:txBody>
      </p:sp>
      <p:sp>
        <p:nvSpPr>
          <p:cNvPr id="12" name="TextBox 11"/>
          <p:cNvSpPr txBox="1"/>
          <p:nvPr/>
        </p:nvSpPr>
        <p:spPr>
          <a:xfrm>
            <a:off x="1810512" y="2249424"/>
            <a:ext cx="4224528" cy="658368"/>
          </a:xfrm>
          <a:prstGeom prst="rect">
            <a:avLst/>
          </a:prstGeom>
          <a:noFill/>
        </p:spPr>
        <p:txBody>
          <a:bodyPr wrap="square" anchor="t" lIns="0" rIns="0" tIns="0" bIns="0">
            <a:spAutoFit/>
          </a:bodyPr>
          <a:lstStyle/>
          <a:p>
            <a:pPr algn="l">
              <a:lnSpc>
                <a:spcPct val="100000"/>
              </a:lnSpc>
            </a:pPr>
            <a:r>
              <a:rPr sz="1000" b="0" i="0">
                <a:solidFill>
                  <a:srgbClr val="252F3D"/>
                </a:solidFill>
                <a:latin typeface="Calibri"/>
              </a:rPr>
              <a:t>A physics-gated dual-branch fusion architecture with 8-head cross-attention over 196 patches, an optical-flow advection prior, SWIMSEG-pretrained encoders and a heteroscedastic 3-horizon head.</a:t>
            </a:r>
          </a:p>
        </p:txBody>
      </p:sp>
      <p:sp>
        <p:nvSpPr>
          <p:cNvPr id="13" name="TextBox 12"/>
          <p:cNvSpPr txBox="1"/>
          <p:nvPr/>
        </p:nvSpPr>
        <p:spPr>
          <a:xfrm>
            <a:off x="502920" y="2926080"/>
            <a:ext cx="1234440" cy="274320"/>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Experimental</a:t>
            </a:r>
          </a:p>
        </p:txBody>
      </p:sp>
      <p:sp>
        <p:nvSpPr>
          <p:cNvPr id="14" name="TextBox 13"/>
          <p:cNvSpPr txBox="1"/>
          <p:nvPr/>
        </p:nvSpPr>
        <p:spPr>
          <a:xfrm>
            <a:off x="1810512" y="2926080"/>
            <a:ext cx="4224528" cy="658368"/>
          </a:xfrm>
          <a:prstGeom prst="rect">
            <a:avLst/>
          </a:prstGeom>
          <a:noFill/>
        </p:spPr>
        <p:txBody>
          <a:bodyPr wrap="square" anchor="t" lIns="0" rIns="0" tIns="0" bIns="0">
            <a:spAutoFit/>
          </a:bodyPr>
          <a:lstStyle/>
          <a:p>
            <a:pPr algn="l">
              <a:lnSpc>
                <a:spcPct val="100000"/>
              </a:lnSpc>
            </a:pPr>
            <a:r>
              <a:rPr sz="1000" b="0" i="0">
                <a:solidFill>
                  <a:srgbClr val="252F3D"/>
                </a:solidFill>
                <a:latin typeface="Calibri"/>
              </a:rPr>
              <a:t>Six trained variants and five baselines scored on identical rows, with skill scores, paired Diebold–Mariano tests, CRPS and interval width — a comparison the original results could not support.</a:t>
            </a:r>
          </a:p>
        </p:txBody>
      </p:sp>
      <p:sp>
        <p:nvSpPr>
          <p:cNvPr id="15" name="TextBox 14"/>
          <p:cNvSpPr txBox="1"/>
          <p:nvPr/>
        </p:nvSpPr>
        <p:spPr>
          <a:xfrm>
            <a:off x="502920" y="3602736"/>
            <a:ext cx="1234440" cy="274320"/>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Analytical</a:t>
            </a:r>
          </a:p>
        </p:txBody>
      </p:sp>
      <p:sp>
        <p:nvSpPr>
          <p:cNvPr id="16" name="TextBox 15"/>
          <p:cNvSpPr txBox="1"/>
          <p:nvPr/>
        </p:nvSpPr>
        <p:spPr>
          <a:xfrm>
            <a:off x="1810512" y="3602736"/>
            <a:ext cx="4224528" cy="658368"/>
          </a:xfrm>
          <a:prstGeom prst="rect">
            <a:avLst/>
          </a:prstGeom>
          <a:noFill/>
        </p:spPr>
        <p:txBody>
          <a:bodyPr wrap="square" anchor="t" lIns="0" rIns="0" tIns="0" bIns="0">
            <a:spAutoFit/>
          </a:bodyPr>
          <a:lstStyle/>
          <a:p>
            <a:pPr algn="l">
              <a:lnSpc>
                <a:spcPct val="100000"/>
              </a:lnSpc>
            </a:pPr>
            <a:r>
              <a:rPr sz="1000" b="0" i="0">
                <a:solidFill>
                  <a:srgbClr val="252F3D"/>
                </a:solidFill>
                <a:latin typeface="Calibri"/>
              </a:rPr>
              <a:t>A mechanistic explanation of the negative result: the gate learned the physically correct direction but only 13 % of its available range, and 92.9 % of the parameters sit in a branch that adds variance, not signal.</a:t>
            </a:r>
          </a:p>
        </p:txBody>
      </p:sp>
      <p:sp>
        <p:nvSpPr>
          <p:cNvPr id="17" name="TextBox 16"/>
          <p:cNvSpPr txBox="1"/>
          <p:nvPr/>
        </p:nvSpPr>
        <p:spPr>
          <a:xfrm>
            <a:off x="502920" y="4279392"/>
            <a:ext cx="1234440" cy="274320"/>
          </a:xfrm>
          <a:prstGeom prst="rect">
            <a:avLst/>
          </a:prstGeom>
          <a:noFill/>
        </p:spPr>
        <p:txBody>
          <a:bodyPr wrap="square" anchor="t" lIns="0" rIns="0" tIns="0" bIns="0">
            <a:spAutoFit/>
          </a:bodyPr>
          <a:lstStyle/>
          <a:p>
            <a:pPr algn="l">
              <a:lnSpc>
                <a:spcPct val="100000"/>
              </a:lnSpc>
            </a:pPr>
            <a:r>
              <a:rPr sz="1000" b="1" i="0">
                <a:solidFill>
                  <a:srgbClr val="1F3B63"/>
                </a:solidFill>
                <a:latin typeface="Calibri"/>
              </a:rPr>
              <a:t>Methodological</a:t>
            </a:r>
          </a:p>
        </p:txBody>
      </p:sp>
      <p:sp>
        <p:nvSpPr>
          <p:cNvPr id="18" name="TextBox 17"/>
          <p:cNvSpPr txBox="1"/>
          <p:nvPr/>
        </p:nvSpPr>
        <p:spPr>
          <a:xfrm>
            <a:off x="1810512" y="4279392"/>
            <a:ext cx="4224528" cy="658368"/>
          </a:xfrm>
          <a:prstGeom prst="rect">
            <a:avLst/>
          </a:prstGeom>
          <a:noFill/>
        </p:spPr>
        <p:txBody>
          <a:bodyPr wrap="square" anchor="t" lIns="0" rIns="0" tIns="0" bIns="0">
            <a:spAutoFit/>
          </a:bodyPr>
          <a:lstStyle/>
          <a:p>
            <a:pPr algn="l">
              <a:lnSpc>
                <a:spcPct val="100000"/>
              </a:lnSpc>
            </a:pPr>
            <a:r>
              <a:rPr sz="1000" b="0" i="0">
                <a:solidFill>
                  <a:srgbClr val="252F3D"/>
                </a:solidFill>
                <a:latin typeface="Calibri"/>
              </a:rPr>
              <a:t>Self-audit as a deliverable: an 18-sample evaluation collapse, a clear-sky timestamp-convention error, an overnight-gap target defect and four train/serve divergences, each located, quantified and reported.</a:t>
            </a:r>
          </a:p>
        </p:txBody>
      </p:sp>
      <p:sp>
        <p:nvSpPr>
          <p:cNvPr id="19" name="TextBox 18"/>
          <p:cNvSpPr txBox="1"/>
          <p:nvPr/>
        </p:nvSpPr>
        <p:spPr>
          <a:xfrm>
            <a:off x="502920" y="5029200"/>
            <a:ext cx="5532120" cy="237744"/>
          </a:xfrm>
          <a:prstGeom prst="rect">
            <a:avLst/>
          </a:prstGeom>
          <a:noFill/>
        </p:spPr>
        <p:txBody>
          <a:bodyPr wrap="square" anchor="t" lIns="0" rIns="0" tIns="0" bIns="0">
            <a:spAutoFit/>
          </a:bodyPr>
          <a:lstStyle/>
          <a:p>
            <a:pPr algn="l">
              <a:lnSpc>
                <a:spcPct val="100000"/>
              </a:lnSpc>
            </a:pPr>
            <a:r>
              <a:rPr sz="1050" b="1" i="0">
                <a:solidFill>
                  <a:srgbClr val="B3282D"/>
                </a:solidFill>
                <a:latin typeface="Calibri"/>
              </a:rPr>
              <a:t>NOT CLAIMED</a:t>
            </a:r>
          </a:p>
        </p:txBody>
      </p:sp>
      <p:sp>
        <p:nvSpPr>
          <p:cNvPr id="20" name="TextBox 19"/>
          <p:cNvSpPr txBox="1"/>
          <p:nvPr/>
        </p:nvSpPr>
        <p:spPr>
          <a:xfrm>
            <a:off x="502920" y="5303520"/>
            <a:ext cx="5532120" cy="1005840"/>
          </a:xfrm>
          <a:prstGeom prst="rect">
            <a:avLst/>
          </a:prstGeom>
          <a:noFill/>
        </p:spPr>
        <p:txBody>
          <a:bodyPr wrap="square" anchor="t" lIns="0" rIns="0" tIns="0" bIns="0">
            <a:spAutoFit/>
          </a:bodyPr>
          <a:lstStyle/>
          <a:p>
            <a:pPr algn="l">
              <a:lnSpc>
                <a:spcPct val="105000"/>
              </a:lnSpc>
            </a:pPr>
            <a:r>
              <a:rPr sz="1050" b="0" i="0">
                <a:solidFill>
                  <a:srgbClr val="6B7280"/>
                </a:solidFill>
                <a:latin typeface="Calibri"/>
              </a:rPr>
              <a:t>No new algorithm, layer or loss. Every component is standard; the assembly, the evaluation protocol and the deployment are the work. No claim of state of the art, and no claim that satellite fusion fails in general — only that it does not pay for itself in this data regime.</a:t>
            </a:r>
          </a:p>
        </p:txBody>
      </p:sp>
      <p:sp>
        <p:nvSpPr>
          <p:cNvPr id="21" name="TextBox 20"/>
          <p:cNvSpPr txBox="1"/>
          <p:nvPr/>
        </p:nvSpPr>
        <p:spPr>
          <a:xfrm>
            <a:off x="6355080" y="1280160"/>
            <a:ext cx="5330952" cy="237744"/>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CONCLUSIONS</a:t>
            </a:r>
          </a:p>
        </p:txBody>
      </p:sp>
      <p:sp>
        <p:nvSpPr>
          <p:cNvPr id="22" name="Rectangle 21"/>
          <p:cNvSpPr/>
          <p:nvPr/>
        </p:nvSpPr>
        <p:spPr>
          <a:xfrm>
            <a:off x="6355080" y="1572768"/>
            <a:ext cx="292608" cy="274320"/>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FFFFFF"/>
                </a:solidFill>
                <a:latin typeface="Calibri"/>
              </a:rPr>
              <a:t>1</a:t>
            </a:r>
          </a:p>
        </p:txBody>
      </p:sp>
      <p:sp>
        <p:nvSpPr>
          <p:cNvPr id="23" name="TextBox 22"/>
          <p:cNvSpPr txBox="1"/>
          <p:nvPr/>
        </p:nvSpPr>
        <p:spPr>
          <a:xfrm>
            <a:off x="6784848" y="1591056"/>
            <a:ext cx="4901184" cy="548640"/>
          </a:xfrm>
          <a:prstGeom prst="rect">
            <a:avLst/>
          </a:prstGeom>
          <a:noFill/>
        </p:spPr>
        <p:txBody>
          <a:bodyPr wrap="square" anchor="t" lIns="0" rIns="0" tIns="0" bIns="0">
            <a:spAutoFit/>
          </a:bodyPr>
          <a:lstStyle/>
          <a:p>
            <a:pPr algn="l">
              <a:lnSpc>
                <a:spcPct val="102000"/>
              </a:lnSpc>
            </a:pPr>
            <a:r>
              <a:rPr sz="1030" b="0" i="0">
                <a:solidFill>
                  <a:srgbClr val="252F3D"/>
                </a:solidFill>
                <a:latin typeface="Calibri"/>
              </a:rPr>
              <a:t>Learned models beat the operational reference decisively, and by more as the horizon grows: +20 % skill at t+1 h to +38 % at t+3 h against smart persistence.</a:t>
            </a:r>
          </a:p>
        </p:txBody>
      </p:sp>
      <p:sp>
        <p:nvSpPr>
          <p:cNvPr id="24" name="Rectangle 23"/>
          <p:cNvSpPr/>
          <p:nvPr/>
        </p:nvSpPr>
        <p:spPr>
          <a:xfrm>
            <a:off x="6355080" y="2148840"/>
            <a:ext cx="292608" cy="274320"/>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FFFFFF"/>
                </a:solidFill>
                <a:latin typeface="Calibri"/>
              </a:rPr>
              <a:t>2</a:t>
            </a:r>
          </a:p>
        </p:txBody>
      </p:sp>
      <p:sp>
        <p:nvSpPr>
          <p:cNvPr id="25" name="TextBox 24"/>
          <p:cNvSpPr txBox="1"/>
          <p:nvPr/>
        </p:nvSpPr>
        <p:spPr>
          <a:xfrm>
            <a:off x="6784848" y="2167128"/>
            <a:ext cx="4901184" cy="548640"/>
          </a:xfrm>
          <a:prstGeom prst="rect">
            <a:avLst/>
          </a:prstGeom>
          <a:noFill/>
        </p:spPr>
        <p:txBody>
          <a:bodyPr wrap="square" anchor="t" lIns="0" rIns="0" tIns="0" bIns="0">
            <a:spAutoFit/>
          </a:bodyPr>
          <a:lstStyle/>
          <a:p>
            <a:pPr algn="l">
              <a:lnSpc>
                <a:spcPct val="102000"/>
              </a:lnSpc>
            </a:pPr>
            <a:r>
              <a:rPr sz="1030" b="0" i="0">
                <a:solidFill>
                  <a:srgbClr val="252F3D"/>
                </a:solidFill>
                <a:latin typeface="Calibri"/>
              </a:rPr>
              <a:t>Satellite imagery did not improve this forecaster. Removing the image branch is significantly better at t+1 h (p = 0.0001) and t+2 h (p = 0.019).</a:t>
            </a:r>
          </a:p>
        </p:txBody>
      </p:sp>
      <p:sp>
        <p:nvSpPr>
          <p:cNvPr id="26" name="Rectangle 25"/>
          <p:cNvSpPr/>
          <p:nvPr/>
        </p:nvSpPr>
        <p:spPr>
          <a:xfrm>
            <a:off x="6355080" y="2724912"/>
            <a:ext cx="292608" cy="274320"/>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FFFFFF"/>
                </a:solidFill>
                <a:latin typeface="Calibri"/>
              </a:rPr>
              <a:t>3</a:t>
            </a:r>
          </a:p>
        </p:txBody>
      </p:sp>
      <p:sp>
        <p:nvSpPr>
          <p:cNvPr id="27" name="TextBox 26"/>
          <p:cNvSpPr txBox="1"/>
          <p:nvPr/>
        </p:nvSpPr>
        <p:spPr>
          <a:xfrm>
            <a:off x="6784848" y="2743200"/>
            <a:ext cx="4901184" cy="548640"/>
          </a:xfrm>
          <a:prstGeom prst="rect">
            <a:avLst/>
          </a:prstGeom>
          <a:noFill/>
        </p:spPr>
        <p:txBody>
          <a:bodyPr wrap="square" anchor="t" lIns="0" rIns="0" tIns="0" bIns="0">
            <a:spAutoFit/>
          </a:bodyPr>
          <a:lstStyle/>
          <a:p>
            <a:pPr algn="l">
              <a:lnSpc>
                <a:spcPct val="102000"/>
              </a:lnSpc>
            </a:pPr>
            <a:r>
              <a:rPr sz="1030" b="0" i="0">
                <a:solidFill>
                  <a:srgbClr val="252F3D"/>
                </a:solidFill>
                <a:latin typeface="Calibri"/>
              </a:rPr>
              <a:t>The physics gate did not beat naive concatenation, because it collapsed to a near-constant 0.49 blend — directionally correct, operationally inert.</a:t>
            </a:r>
          </a:p>
        </p:txBody>
      </p:sp>
      <p:sp>
        <p:nvSpPr>
          <p:cNvPr id="28" name="Rectangle 27"/>
          <p:cNvSpPr/>
          <p:nvPr/>
        </p:nvSpPr>
        <p:spPr>
          <a:xfrm>
            <a:off x="6355080" y="3300984"/>
            <a:ext cx="292608" cy="274320"/>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FFFFFF"/>
                </a:solidFill>
                <a:latin typeface="Calibri"/>
              </a:rPr>
              <a:t>4</a:t>
            </a:r>
          </a:p>
        </p:txBody>
      </p:sp>
      <p:sp>
        <p:nvSpPr>
          <p:cNvPr id="29" name="TextBox 28"/>
          <p:cNvSpPr txBox="1"/>
          <p:nvPr/>
        </p:nvSpPr>
        <p:spPr>
          <a:xfrm>
            <a:off x="6784848" y="3319272"/>
            <a:ext cx="4901184" cy="548640"/>
          </a:xfrm>
          <a:prstGeom prst="rect">
            <a:avLst/>
          </a:prstGeom>
          <a:noFill/>
        </p:spPr>
        <p:txBody>
          <a:bodyPr wrap="square" anchor="t" lIns="0" rIns="0" tIns="0" bIns="0">
            <a:spAutoFit/>
          </a:bodyPr>
          <a:lstStyle/>
          <a:p>
            <a:pPr algn="l">
              <a:lnSpc>
                <a:spcPct val="102000"/>
              </a:lnSpc>
            </a:pPr>
            <a:r>
              <a:rPr sz="1030" b="0" i="0">
                <a:solidFill>
                  <a:srgbClr val="252F3D"/>
                </a:solidFill>
                <a:latin typeface="Calibri"/>
              </a:rPr>
              <a:t>Gradient-boosted trees on 14 tabular features are the strongest model here, significantly at t+1 h and indistinguishable beyond it.</a:t>
            </a:r>
          </a:p>
        </p:txBody>
      </p:sp>
      <p:sp>
        <p:nvSpPr>
          <p:cNvPr id="30" name="Rectangle 29"/>
          <p:cNvSpPr/>
          <p:nvPr/>
        </p:nvSpPr>
        <p:spPr>
          <a:xfrm>
            <a:off x="6355080" y="3877056"/>
            <a:ext cx="292608" cy="274320"/>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FFFFFF"/>
                </a:solidFill>
                <a:latin typeface="Calibri"/>
              </a:rPr>
              <a:t>5</a:t>
            </a:r>
          </a:p>
        </p:txBody>
      </p:sp>
      <p:sp>
        <p:nvSpPr>
          <p:cNvPr id="31" name="TextBox 30"/>
          <p:cNvSpPr txBox="1"/>
          <p:nvPr/>
        </p:nvSpPr>
        <p:spPr>
          <a:xfrm>
            <a:off x="6784848" y="3895344"/>
            <a:ext cx="4901184" cy="548640"/>
          </a:xfrm>
          <a:prstGeom prst="rect">
            <a:avLst/>
          </a:prstGeom>
          <a:noFill/>
        </p:spPr>
        <p:txBody>
          <a:bodyPr wrap="square" anchor="t" lIns="0" rIns="0" tIns="0" bIns="0">
            <a:spAutoFit/>
          </a:bodyPr>
          <a:lstStyle/>
          <a:p>
            <a:pPr algn="l">
              <a:lnSpc>
                <a:spcPct val="102000"/>
              </a:lnSpc>
            </a:pPr>
            <a:r>
              <a:rPr sz="1030" b="0" i="0">
                <a:solidFill>
                  <a:srgbClr val="252F3D"/>
                </a:solidFill>
                <a:latin typeface="Calibri"/>
              </a:rPr>
              <a:t>The probabilistic head is well calibrated without recalibration: 90–92 % coverage at a nominal 90 %, though the intervals are wide.</a:t>
            </a:r>
          </a:p>
        </p:txBody>
      </p:sp>
      <p:sp>
        <p:nvSpPr>
          <p:cNvPr id="32" name="Rectangle 31"/>
          <p:cNvSpPr/>
          <p:nvPr/>
        </p:nvSpPr>
        <p:spPr>
          <a:xfrm>
            <a:off x="6355080" y="4453128"/>
            <a:ext cx="292608" cy="274320"/>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FFFFFF"/>
                </a:solidFill>
                <a:latin typeface="Calibri"/>
              </a:rPr>
              <a:t>6</a:t>
            </a:r>
          </a:p>
        </p:txBody>
      </p:sp>
      <p:sp>
        <p:nvSpPr>
          <p:cNvPr id="33" name="TextBox 32"/>
          <p:cNvSpPr txBox="1"/>
          <p:nvPr/>
        </p:nvSpPr>
        <p:spPr>
          <a:xfrm>
            <a:off x="6784848" y="4471416"/>
            <a:ext cx="4901184" cy="548640"/>
          </a:xfrm>
          <a:prstGeom prst="rect">
            <a:avLst/>
          </a:prstGeom>
          <a:noFill/>
        </p:spPr>
        <p:txBody>
          <a:bodyPr wrap="square" anchor="t" lIns="0" rIns="0" tIns="0" bIns="0">
            <a:spAutoFit/>
          </a:bodyPr>
          <a:lstStyle/>
          <a:p>
            <a:pPr algn="l">
              <a:lnSpc>
                <a:spcPct val="102000"/>
              </a:lnSpc>
            </a:pPr>
            <a:r>
              <a:rPr sz="1030" b="0" i="0">
                <a:solidFill>
                  <a:srgbClr val="252F3D"/>
                </a:solidFill>
                <a:latin typeface="Calibri"/>
              </a:rPr>
              <a:t>Evaluation design dominated architecture: sample size changed the ranking more than any architectural choice did.</a:t>
            </a:r>
          </a:p>
        </p:txBody>
      </p:sp>
      <p:sp>
        <p:nvSpPr>
          <p:cNvPr id="34" name="TextBox 33"/>
          <p:cNvSpPr txBox="1"/>
          <p:nvPr/>
        </p:nvSpPr>
        <p:spPr>
          <a:xfrm>
            <a:off x="6355080" y="5047488"/>
            <a:ext cx="5330952" cy="237744"/>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FUTURE WORK, IN PRIORITY ORDER</a:t>
            </a:r>
          </a:p>
        </p:txBody>
      </p:sp>
      <p:sp>
        <p:nvSpPr>
          <p:cNvPr id="35" name="TextBox 34"/>
          <p:cNvSpPr txBox="1"/>
          <p:nvPr/>
        </p:nvSpPr>
        <p:spPr>
          <a:xfrm>
            <a:off x="6355080" y="5303520"/>
            <a:ext cx="228600" cy="219456"/>
          </a:xfrm>
          <a:prstGeom prst="rect">
            <a:avLst/>
          </a:prstGeom>
          <a:noFill/>
        </p:spPr>
        <p:txBody>
          <a:bodyPr wrap="square" anchor="t" lIns="0" rIns="0" tIns="0" bIns="0">
            <a:spAutoFit/>
          </a:bodyPr>
          <a:lstStyle/>
          <a:p>
            <a:pPr algn="l">
              <a:lnSpc>
                <a:spcPct val="100000"/>
              </a:lnSpc>
            </a:pPr>
            <a:r>
              <a:rPr sz="940" b="1" i="0">
                <a:solidFill>
                  <a:srgbClr val="C4622D"/>
                </a:solidFill>
                <a:latin typeface="Calibri"/>
              </a:rPr>
              <a:t>1.</a:t>
            </a:r>
          </a:p>
        </p:txBody>
      </p:sp>
      <p:sp>
        <p:nvSpPr>
          <p:cNvPr id="36" name="TextBox 35"/>
          <p:cNvSpPr txBox="1"/>
          <p:nvPr/>
        </p:nvSpPr>
        <p:spPr>
          <a:xfrm>
            <a:off x="6620256" y="5303520"/>
            <a:ext cx="5065776" cy="365760"/>
          </a:xfrm>
          <a:prstGeom prst="rect">
            <a:avLst/>
          </a:prstGeom>
          <a:noFill/>
        </p:spPr>
        <p:txBody>
          <a:bodyPr wrap="square" anchor="t" lIns="0" rIns="0" tIns="0" bIns="0">
            <a:spAutoFit/>
          </a:bodyPr>
          <a:lstStyle/>
          <a:p>
            <a:pPr algn="l">
              <a:lnSpc>
                <a:spcPct val="98000"/>
              </a:lnSpc>
            </a:pPr>
            <a:r>
              <a:rPr sz="940" b="0" i="0">
                <a:solidFill>
                  <a:srgbClr val="252F3D"/>
                </a:solidFill>
                <a:latin typeface="Calibri"/>
              </a:rPr>
              <a:t>Fix the split (filter imaged rows first, assert the size), retrain, and report a genuine ~1,100-sample two-season test.</a:t>
            </a:r>
          </a:p>
        </p:txBody>
      </p:sp>
      <p:sp>
        <p:nvSpPr>
          <p:cNvPr id="37" name="TextBox 36"/>
          <p:cNvSpPr txBox="1"/>
          <p:nvPr/>
        </p:nvSpPr>
        <p:spPr>
          <a:xfrm>
            <a:off x="6355080" y="5518404"/>
            <a:ext cx="228600" cy="219456"/>
          </a:xfrm>
          <a:prstGeom prst="rect">
            <a:avLst/>
          </a:prstGeom>
          <a:noFill/>
        </p:spPr>
        <p:txBody>
          <a:bodyPr wrap="square" anchor="t" lIns="0" rIns="0" tIns="0" bIns="0">
            <a:spAutoFit/>
          </a:bodyPr>
          <a:lstStyle/>
          <a:p>
            <a:pPr algn="l">
              <a:lnSpc>
                <a:spcPct val="100000"/>
              </a:lnSpc>
            </a:pPr>
            <a:r>
              <a:rPr sz="940" b="1" i="0">
                <a:solidFill>
                  <a:srgbClr val="C4622D"/>
                </a:solidFill>
                <a:latin typeface="Calibri"/>
              </a:rPr>
              <a:t>2.</a:t>
            </a:r>
          </a:p>
        </p:txBody>
      </p:sp>
      <p:sp>
        <p:nvSpPr>
          <p:cNvPr id="38" name="TextBox 37"/>
          <p:cNvSpPr txBox="1"/>
          <p:nvPr/>
        </p:nvSpPr>
        <p:spPr>
          <a:xfrm>
            <a:off x="6620256" y="5518404"/>
            <a:ext cx="5065776" cy="365760"/>
          </a:xfrm>
          <a:prstGeom prst="rect">
            <a:avLst/>
          </a:prstGeom>
          <a:noFill/>
        </p:spPr>
        <p:txBody>
          <a:bodyPr wrap="square" anchor="t" lIns="0" rIns="0" tIns="0" bIns="0">
            <a:spAutoFit/>
          </a:bodyPr>
          <a:lstStyle/>
          <a:p>
            <a:pPr algn="l">
              <a:lnSpc>
                <a:spcPct val="98000"/>
              </a:lnSpc>
            </a:pPr>
            <a:r>
              <a:rPr sz="940" b="0" i="0">
                <a:solidFill>
                  <a:srgbClr val="252F3D"/>
                </a:solidFill>
                <a:latin typeface="Calibri"/>
              </a:rPr>
              <a:t>Three to five seeds per variant; report mean ± sd.  ≈6 GPU-hours.</a:t>
            </a:r>
          </a:p>
        </p:txBody>
      </p:sp>
      <p:sp>
        <p:nvSpPr>
          <p:cNvPr id="39" name="TextBox 38"/>
          <p:cNvSpPr txBox="1"/>
          <p:nvPr/>
        </p:nvSpPr>
        <p:spPr>
          <a:xfrm>
            <a:off x="6355080" y="5733288"/>
            <a:ext cx="228600" cy="219456"/>
          </a:xfrm>
          <a:prstGeom prst="rect">
            <a:avLst/>
          </a:prstGeom>
          <a:noFill/>
        </p:spPr>
        <p:txBody>
          <a:bodyPr wrap="square" anchor="t" lIns="0" rIns="0" tIns="0" bIns="0">
            <a:spAutoFit/>
          </a:bodyPr>
          <a:lstStyle/>
          <a:p>
            <a:pPr algn="l">
              <a:lnSpc>
                <a:spcPct val="100000"/>
              </a:lnSpc>
            </a:pPr>
            <a:r>
              <a:rPr sz="940" b="1" i="0">
                <a:solidFill>
                  <a:srgbClr val="C4622D"/>
                </a:solidFill>
                <a:latin typeface="Calibri"/>
              </a:rPr>
              <a:t>3.</a:t>
            </a:r>
          </a:p>
        </p:txBody>
      </p:sp>
      <p:sp>
        <p:nvSpPr>
          <p:cNvPr id="40" name="TextBox 39"/>
          <p:cNvSpPr txBox="1"/>
          <p:nvPr/>
        </p:nvSpPr>
        <p:spPr>
          <a:xfrm>
            <a:off x="6620256" y="5733288"/>
            <a:ext cx="5065776" cy="365760"/>
          </a:xfrm>
          <a:prstGeom prst="rect">
            <a:avLst/>
          </a:prstGeom>
          <a:noFill/>
        </p:spPr>
        <p:txBody>
          <a:bodyPr wrap="square" anchor="t" lIns="0" rIns="0" tIns="0" bIns="0">
            <a:spAutoFit/>
          </a:bodyPr>
          <a:lstStyle/>
          <a:p>
            <a:pPr algn="l">
              <a:lnSpc>
                <a:spcPct val="98000"/>
              </a:lnSpc>
            </a:pPr>
            <a:r>
              <a:rPr sz="940" b="0" i="0">
                <a:solidFill>
                  <a:srgbClr val="252F3D"/>
                </a:solidFill>
                <a:latin typeface="Calibri"/>
              </a:rPr>
              <a:t>Rebuild the dataset on a continuous hourly index with hour-mean clear sky, then retrain once, deliberately.</a:t>
            </a:r>
          </a:p>
        </p:txBody>
      </p:sp>
      <p:sp>
        <p:nvSpPr>
          <p:cNvPr id="41" name="TextBox 40"/>
          <p:cNvSpPr txBox="1"/>
          <p:nvPr/>
        </p:nvSpPr>
        <p:spPr>
          <a:xfrm>
            <a:off x="6355080" y="5948172"/>
            <a:ext cx="228600" cy="219456"/>
          </a:xfrm>
          <a:prstGeom prst="rect">
            <a:avLst/>
          </a:prstGeom>
          <a:noFill/>
        </p:spPr>
        <p:txBody>
          <a:bodyPr wrap="square" anchor="t" lIns="0" rIns="0" tIns="0" bIns="0">
            <a:spAutoFit/>
          </a:bodyPr>
          <a:lstStyle/>
          <a:p>
            <a:pPr algn="l">
              <a:lnSpc>
                <a:spcPct val="100000"/>
              </a:lnSpc>
            </a:pPr>
            <a:r>
              <a:rPr sz="940" b="1" i="0">
                <a:solidFill>
                  <a:srgbClr val="C4622D"/>
                </a:solidFill>
                <a:latin typeface="Calibri"/>
              </a:rPr>
              <a:t>4.</a:t>
            </a:r>
          </a:p>
        </p:txBody>
      </p:sp>
      <p:sp>
        <p:nvSpPr>
          <p:cNvPr id="42" name="TextBox 41"/>
          <p:cNvSpPr txBox="1"/>
          <p:nvPr/>
        </p:nvSpPr>
        <p:spPr>
          <a:xfrm>
            <a:off x="6620256" y="5948172"/>
            <a:ext cx="5065776" cy="365760"/>
          </a:xfrm>
          <a:prstGeom prst="rect">
            <a:avLst/>
          </a:prstGeom>
          <a:noFill/>
        </p:spPr>
        <p:txBody>
          <a:bodyPr wrap="square" anchor="t" lIns="0" rIns="0" tIns="0" bIns="0">
            <a:spAutoFit/>
          </a:bodyPr>
          <a:lstStyle/>
          <a:p>
            <a:pPr algn="l">
              <a:lnSpc>
                <a:spcPct val="98000"/>
              </a:lnSpc>
            </a:pPr>
            <a:r>
              <a:rPr sz="940" b="0" i="0">
                <a:solidFill>
                  <a:srgbClr val="252F3D"/>
                </a:solidFill>
                <a:latin typeface="Calibri"/>
              </a:rPr>
              <a:t>Close divergences 1–2, run the corrected deployment for a fortnight, publish a before/after table.</a:t>
            </a:r>
          </a:p>
        </p:txBody>
      </p:sp>
      <p:sp>
        <p:nvSpPr>
          <p:cNvPr id="43" name="TextBox 42"/>
          <p:cNvSpPr txBox="1"/>
          <p:nvPr/>
        </p:nvSpPr>
        <p:spPr>
          <a:xfrm>
            <a:off x="6355080" y="6163056"/>
            <a:ext cx="228600" cy="219456"/>
          </a:xfrm>
          <a:prstGeom prst="rect">
            <a:avLst/>
          </a:prstGeom>
          <a:noFill/>
        </p:spPr>
        <p:txBody>
          <a:bodyPr wrap="square" anchor="t" lIns="0" rIns="0" tIns="0" bIns="0">
            <a:spAutoFit/>
          </a:bodyPr>
          <a:lstStyle/>
          <a:p>
            <a:pPr algn="l">
              <a:lnSpc>
                <a:spcPct val="100000"/>
              </a:lnSpc>
            </a:pPr>
            <a:r>
              <a:rPr sz="940" b="1" i="0">
                <a:solidFill>
                  <a:srgbClr val="C4622D"/>
                </a:solidFill>
                <a:latin typeface="Calibri"/>
              </a:rPr>
              <a:t>5.</a:t>
            </a:r>
          </a:p>
        </p:txBody>
      </p:sp>
      <p:sp>
        <p:nvSpPr>
          <p:cNvPr id="44" name="TextBox 43"/>
          <p:cNvSpPr txBox="1"/>
          <p:nvPr/>
        </p:nvSpPr>
        <p:spPr>
          <a:xfrm>
            <a:off x="6620256" y="6163056"/>
            <a:ext cx="5065776" cy="365760"/>
          </a:xfrm>
          <a:prstGeom prst="rect">
            <a:avLst/>
          </a:prstGeom>
          <a:noFill/>
        </p:spPr>
        <p:txBody>
          <a:bodyPr wrap="square" anchor="t" lIns="0" rIns="0" tIns="0" bIns="0">
            <a:spAutoFit/>
          </a:bodyPr>
          <a:lstStyle/>
          <a:p>
            <a:pPr algn="l">
              <a:lnSpc>
                <a:spcPct val="98000"/>
              </a:lnSpc>
            </a:pPr>
            <a:r>
              <a:rPr sz="940" b="0" i="0">
                <a:solidFill>
                  <a:srgbClr val="252F3D"/>
                </a:solidFill>
                <a:latin typeface="Calibri"/>
              </a:rPr>
              <a:t>Frozen encoder + light probe; a gate that invokes imagery only when k_t &lt; 0.3.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APPENDIX</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References</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1F3B6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502920" y="1298448"/>
            <a:ext cx="5486400" cy="219456"/>
          </a:xfrm>
          <a:prstGeom prst="rect">
            <a:avLst/>
          </a:prstGeom>
          <a:noFill/>
        </p:spPr>
        <p:txBody>
          <a:bodyPr wrap="square" anchor="t" lIns="0" rIns="0" tIns="0" bIns="0">
            <a:spAutoFit/>
          </a:bodyPr>
          <a:lstStyle/>
          <a:p>
            <a:pPr algn="l">
              <a:lnSpc>
                <a:spcPct val="100000"/>
              </a:lnSpc>
            </a:pPr>
            <a:r>
              <a:rPr sz="1000" b="1" i="0">
                <a:solidFill>
                  <a:srgbClr val="C4622D"/>
                </a:solidFill>
                <a:latin typeface="Calibri"/>
              </a:rPr>
              <a:t>DATA AND IMAGERY</a:t>
            </a:r>
          </a:p>
        </p:txBody>
      </p:sp>
      <p:sp>
        <p:nvSpPr>
          <p:cNvPr id="8" name="TextBox 7"/>
          <p:cNvSpPr txBox="1"/>
          <p:nvPr/>
        </p:nvSpPr>
        <p:spPr>
          <a:xfrm>
            <a:off x="649224" y="1536192"/>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NICT Science Cloud. Himawari-8/9 real-time web imagery, tile service D531106/4d/550. National Institute of Information and Communications Technology, Japan.</a:t>
            </a:r>
          </a:p>
        </p:txBody>
      </p:sp>
      <p:sp>
        <p:nvSpPr>
          <p:cNvPr id="9" name="TextBox 8"/>
          <p:cNvSpPr txBox="1"/>
          <p:nvPr/>
        </p:nvSpPr>
        <p:spPr>
          <a:xfrm>
            <a:off x="649224" y="1869948"/>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JAXA P-Tree. Himawari Standard Data distribution service (fallback source).</a:t>
            </a:r>
          </a:p>
        </p:txBody>
      </p:sp>
      <p:sp>
        <p:nvSpPr>
          <p:cNvPr id="10" name="TextBox 9"/>
          <p:cNvSpPr txBox="1"/>
          <p:nvPr/>
        </p:nvSpPr>
        <p:spPr>
          <a:xfrm>
            <a:off x="649224" y="2061972"/>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Open-Meteo. Historical Weather API (ERA5 reanalysis) and Forecast API. open-meteo.com.</a:t>
            </a:r>
          </a:p>
        </p:txBody>
      </p:sp>
      <p:sp>
        <p:nvSpPr>
          <p:cNvPr id="11" name="TextBox 10"/>
          <p:cNvSpPr txBox="1"/>
          <p:nvPr/>
        </p:nvSpPr>
        <p:spPr>
          <a:xfrm>
            <a:off x="649224" y="2253996"/>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European Commission JRC. PVGIS 5.3 photovoltaic geographical information system.</a:t>
            </a:r>
          </a:p>
        </p:txBody>
      </p:sp>
      <p:sp>
        <p:nvSpPr>
          <p:cNvPr id="12" name="TextBox 11"/>
          <p:cNvSpPr txBox="1"/>
          <p:nvPr/>
        </p:nvSpPr>
        <p:spPr>
          <a:xfrm>
            <a:off x="649224" y="2446020"/>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Meteorological Service Singapore / data.gov.sg. Real-time weather readings API.</a:t>
            </a:r>
          </a:p>
        </p:txBody>
      </p:sp>
      <p:sp>
        <p:nvSpPr>
          <p:cNvPr id="13" name="TextBox 12"/>
          <p:cNvSpPr txBox="1"/>
          <p:nvPr/>
        </p:nvSpPr>
        <p:spPr>
          <a:xfrm>
            <a:off x="502920" y="2747772"/>
            <a:ext cx="5486400" cy="219456"/>
          </a:xfrm>
          <a:prstGeom prst="rect">
            <a:avLst/>
          </a:prstGeom>
          <a:noFill/>
        </p:spPr>
        <p:txBody>
          <a:bodyPr wrap="square" anchor="t" lIns="0" rIns="0" tIns="0" bIns="0">
            <a:spAutoFit/>
          </a:bodyPr>
          <a:lstStyle/>
          <a:p>
            <a:pPr algn="l">
              <a:lnSpc>
                <a:spcPct val="100000"/>
              </a:lnSpc>
            </a:pPr>
            <a:r>
              <a:rPr sz="1000" b="1" i="0">
                <a:solidFill>
                  <a:srgbClr val="C4622D"/>
                </a:solidFill>
                <a:latin typeface="Calibri"/>
              </a:rPr>
              <a:t>METHODS USED IN THE IMPLEMENTATION</a:t>
            </a:r>
          </a:p>
        </p:txBody>
      </p:sp>
      <p:sp>
        <p:nvSpPr>
          <p:cNvPr id="14" name="TextBox 13"/>
          <p:cNvSpPr txBox="1"/>
          <p:nvPr/>
        </p:nvSpPr>
        <p:spPr>
          <a:xfrm>
            <a:off x="649224" y="2985515"/>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Dev, S., Lee, Y. H., Winkler, S. (2017). Color-based segmentation of sky/cloud images from ground-based cameras. IEEE J. Sel. Topics Appl. Earth Obs. Remote Sensing, 10(1). — SWIMSEG dataset used for encoder pretraining.</a:t>
            </a:r>
          </a:p>
        </p:txBody>
      </p:sp>
      <p:sp>
        <p:nvSpPr>
          <p:cNvPr id="15" name="TextBox 14"/>
          <p:cNvSpPr txBox="1"/>
          <p:nvPr/>
        </p:nvSpPr>
        <p:spPr>
          <a:xfrm>
            <a:off x="649224" y="3461003"/>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Tan, M., Le, Q. (2019). EfficientNet: rethinking model scaling for convolutional neural networks. ICML. — B0/B2 backbones via timm.</a:t>
            </a:r>
          </a:p>
        </p:txBody>
      </p:sp>
      <p:sp>
        <p:nvSpPr>
          <p:cNvPr id="16" name="TextBox 15"/>
          <p:cNvSpPr txBox="1"/>
          <p:nvPr/>
        </p:nvSpPr>
        <p:spPr>
          <a:xfrm>
            <a:off x="649224" y="3794759"/>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Vaswani, A. et al. (2017). Attention is all you need. NeurIPS. — multi-head cross-attention.</a:t>
            </a:r>
          </a:p>
        </p:txBody>
      </p:sp>
      <p:sp>
        <p:nvSpPr>
          <p:cNvPr id="17" name="TextBox 16"/>
          <p:cNvSpPr txBox="1"/>
          <p:nvPr/>
        </p:nvSpPr>
        <p:spPr>
          <a:xfrm>
            <a:off x="649224" y="3986783"/>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Hochreiter, S., Schmidhuber, J. (1997). Long short-term memory. Neural Computation, 9(8).</a:t>
            </a:r>
          </a:p>
        </p:txBody>
      </p:sp>
      <p:sp>
        <p:nvSpPr>
          <p:cNvPr id="18" name="TextBox 17"/>
          <p:cNvSpPr txBox="1"/>
          <p:nvPr/>
        </p:nvSpPr>
        <p:spPr>
          <a:xfrm>
            <a:off x="649224" y="4178807"/>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Nix, D. A., Weigend, A. S. (1994). Estimating the mean and variance of the target probability distribution. ICNN. — heteroscedastic Gaussian NLL.</a:t>
            </a:r>
          </a:p>
        </p:txBody>
      </p:sp>
      <p:sp>
        <p:nvSpPr>
          <p:cNvPr id="19" name="TextBox 18"/>
          <p:cNvSpPr txBox="1"/>
          <p:nvPr/>
        </p:nvSpPr>
        <p:spPr>
          <a:xfrm>
            <a:off x="649224" y="4512564"/>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Farnebäck, G. (2003). Two-frame motion estimation based on polynomial expansion. SCIA. — optical flow, via OpenCV.</a:t>
            </a:r>
          </a:p>
        </p:txBody>
      </p:sp>
      <p:sp>
        <p:nvSpPr>
          <p:cNvPr id="20" name="TextBox 19"/>
          <p:cNvSpPr txBox="1"/>
          <p:nvPr/>
        </p:nvSpPr>
        <p:spPr>
          <a:xfrm>
            <a:off x="649224" y="4846320"/>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Ineichen, P., Perez, R. (2002). A new airmass independent formulation for the Linke turbidity coefficient. Solar Energy, 73(3). — clear-sky model, via pvlib.</a:t>
            </a:r>
          </a:p>
        </p:txBody>
      </p:sp>
      <p:sp>
        <p:nvSpPr>
          <p:cNvPr id="21" name="TextBox 20"/>
          <p:cNvSpPr txBox="1"/>
          <p:nvPr/>
        </p:nvSpPr>
        <p:spPr>
          <a:xfrm>
            <a:off x="649224" y="5180076"/>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Loshchilov, I., Hutter, F. (2019). Decoupled weight decay regularization. ICLR. — AdamW.</a:t>
            </a:r>
          </a:p>
        </p:txBody>
      </p:sp>
      <p:sp>
        <p:nvSpPr>
          <p:cNvPr id="22" name="TextBox 21"/>
          <p:cNvSpPr txBox="1"/>
          <p:nvPr/>
        </p:nvSpPr>
        <p:spPr>
          <a:xfrm>
            <a:off x="649224" y="5372100"/>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Ke, G. et al. (2017). LightGBM: a highly efficient gradient boosting decision tree. NeurIPS.</a:t>
            </a:r>
          </a:p>
        </p:txBody>
      </p:sp>
      <p:sp>
        <p:nvSpPr>
          <p:cNvPr id="23" name="TextBox 22"/>
          <p:cNvSpPr txBox="1"/>
          <p:nvPr/>
        </p:nvSpPr>
        <p:spPr>
          <a:xfrm>
            <a:off x="649224" y="5564124"/>
            <a:ext cx="5340096"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Breiman, L. (2001). Random forests. Machine Learning, 45(1).</a:t>
            </a:r>
          </a:p>
        </p:txBody>
      </p:sp>
      <p:sp>
        <p:nvSpPr>
          <p:cNvPr id="24" name="TextBox 23"/>
          <p:cNvSpPr txBox="1"/>
          <p:nvPr/>
        </p:nvSpPr>
        <p:spPr>
          <a:xfrm>
            <a:off x="6355080" y="1298448"/>
            <a:ext cx="5330952" cy="219456"/>
          </a:xfrm>
          <a:prstGeom prst="rect">
            <a:avLst/>
          </a:prstGeom>
          <a:noFill/>
        </p:spPr>
        <p:txBody>
          <a:bodyPr wrap="square" anchor="t" lIns="0" rIns="0" tIns="0" bIns="0">
            <a:spAutoFit/>
          </a:bodyPr>
          <a:lstStyle/>
          <a:p>
            <a:pPr algn="l">
              <a:lnSpc>
                <a:spcPct val="100000"/>
              </a:lnSpc>
            </a:pPr>
            <a:r>
              <a:rPr sz="1000" b="1" i="0">
                <a:solidFill>
                  <a:srgbClr val="C4622D"/>
                </a:solidFill>
                <a:latin typeface="Calibri"/>
              </a:rPr>
              <a:t>EVALUATION METHODOLOGY</a:t>
            </a:r>
          </a:p>
        </p:txBody>
      </p:sp>
      <p:sp>
        <p:nvSpPr>
          <p:cNvPr id="25" name="TextBox 24"/>
          <p:cNvSpPr txBox="1"/>
          <p:nvPr/>
        </p:nvSpPr>
        <p:spPr>
          <a:xfrm>
            <a:off x="6501384" y="1536192"/>
            <a:ext cx="5184648"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Diebold, F. X., Mariano, R. S. (1995). Comparing predictive accuracy. J. Business &amp; Economic Statistics, 13(3).</a:t>
            </a:r>
          </a:p>
        </p:txBody>
      </p:sp>
      <p:sp>
        <p:nvSpPr>
          <p:cNvPr id="26" name="TextBox 25"/>
          <p:cNvSpPr txBox="1"/>
          <p:nvPr/>
        </p:nvSpPr>
        <p:spPr>
          <a:xfrm>
            <a:off x="6501384" y="1869948"/>
            <a:ext cx="5184648"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Harvey, D., Leybourne, S., Newbold, P. (1997). Testing the equality of prediction mean squared errors. Int. J. Forecasting, 13(2). — small-sample correction applied on slide 13.</a:t>
            </a:r>
          </a:p>
        </p:txBody>
      </p:sp>
      <p:sp>
        <p:nvSpPr>
          <p:cNvPr id="27" name="TextBox 26"/>
          <p:cNvSpPr txBox="1"/>
          <p:nvPr/>
        </p:nvSpPr>
        <p:spPr>
          <a:xfrm>
            <a:off x="6501384" y="2203704"/>
            <a:ext cx="5184648"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Gneiting, T., Raftery, A. E. (2007). Strictly proper scoring rules, prediction, and estimation. JASA, 102(477). — CRPS.</a:t>
            </a:r>
          </a:p>
        </p:txBody>
      </p:sp>
      <p:sp>
        <p:nvSpPr>
          <p:cNvPr id="28" name="TextBox 27"/>
          <p:cNvSpPr txBox="1"/>
          <p:nvPr/>
        </p:nvSpPr>
        <p:spPr>
          <a:xfrm>
            <a:off x="6501384" y="2537460"/>
            <a:ext cx="5184648"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Marquez, R., Coimbra, C. F. M. (2013). Proposed metric for evaluation of solar forecasting models. J. Solar Energy Engineering, 135(1). — skill score conventions.</a:t>
            </a:r>
          </a:p>
        </p:txBody>
      </p:sp>
      <p:sp>
        <p:nvSpPr>
          <p:cNvPr id="29" name="TextBox 28"/>
          <p:cNvSpPr txBox="1"/>
          <p:nvPr/>
        </p:nvSpPr>
        <p:spPr>
          <a:xfrm>
            <a:off x="6355080" y="2980944"/>
            <a:ext cx="5330952" cy="219456"/>
          </a:xfrm>
          <a:prstGeom prst="rect">
            <a:avLst/>
          </a:prstGeom>
          <a:noFill/>
        </p:spPr>
        <p:txBody>
          <a:bodyPr wrap="square" anchor="t" lIns="0" rIns="0" tIns="0" bIns="0">
            <a:spAutoFit/>
          </a:bodyPr>
          <a:lstStyle/>
          <a:p>
            <a:pPr algn="l">
              <a:lnSpc>
                <a:spcPct val="100000"/>
              </a:lnSpc>
            </a:pPr>
            <a:r>
              <a:rPr sz="1000" b="1" i="0">
                <a:solidFill>
                  <a:srgbClr val="C4622D"/>
                </a:solidFill>
                <a:latin typeface="Calibri"/>
              </a:rPr>
              <a:t>SOFTWARE</a:t>
            </a:r>
          </a:p>
        </p:txBody>
      </p:sp>
      <p:sp>
        <p:nvSpPr>
          <p:cNvPr id="30" name="TextBox 29"/>
          <p:cNvSpPr txBox="1"/>
          <p:nvPr/>
        </p:nvSpPr>
        <p:spPr>
          <a:xfrm>
            <a:off x="6501384" y="3218688"/>
            <a:ext cx="5184648" cy="27432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  PyTorch 2.x · timm · pvlib-python 0.15 · scikit-learn 1.8 · LightGBM 4.6 · OpenCV 5.0 · pandas · NumPy · Matplotlib · python-pptx.</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APPENDIX</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A1 · Code-to-slide traceability</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1F3B6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graphicFrame>
        <p:nvGraphicFramePr>
          <p:cNvPr id="7" name="Table 6"/>
          <p:cNvGraphicFramePr>
            <a:graphicFrameLocks noGrp="1"/>
          </p:cNvGraphicFramePr>
          <p:nvPr/>
        </p:nvGraphicFramePr>
        <p:xfrm>
          <a:off x="502920" y="1298448"/>
          <a:ext cx="11183110" cy="4509804"/>
        </p:xfrm>
        <a:graphic>
          <a:graphicData uri="http://schemas.openxmlformats.org/drawingml/2006/table">
            <a:tbl>
              <a:tblPr bandRow="1"/>
              <a:tblGrid>
                <a:gridCol w="824983"/>
                <a:gridCol w="3574929"/>
                <a:gridCol w="2933275"/>
                <a:gridCol w="3849923"/>
              </a:tblGrid>
              <a:tr h="246888">
                <a:tc>
                  <a:txBody>
                    <a:bodyPr/>
                    <a:lstStyle/>
                    <a:p>
                      <a:pPr algn="l"/>
                      <a:r>
                        <a:rPr sz="1050" b="1">
                          <a:solidFill>
                            <a:srgbClr val="FFFFFF"/>
                          </a:solidFill>
                          <a:latin typeface="Calibri"/>
                        </a:rPr>
                        <a:t>Slide</a:t>
                      </a:r>
                    </a:p>
                  </a:txBody>
                  <a:tcPr marL="54864" marR="54864" marT="18288" marB="18288" anchor="ctr">
                    <a:solidFill>
                      <a:srgbClr val="1F3B63"/>
                    </a:solidFill>
                  </a:tcPr>
                </a:tc>
                <a:tc>
                  <a:txBody>
                    <a:bodyPr/>
                    <a:lstStyle/>
                    <a:p>
                      <a:pPr algn="l"/>
                      <a:r>
                        <a:rPr sz="1050" b="1">
                          <a:solidFill>
                            <a:srgbClr val="FFFFFF"/>
                          </a:solidFill>
                          <a:latin typeface="Calibri"/>
                        </a:rPr>
                        <a:t>Claim / component</a:t>
                      </a:r>
                    </a:p>
                  </a:txBody>
                  <a:tcPr marL="54864" marR="54864" marT="18288" marB="18288" anchor="ctr">
                    <a:solidFill>
                      <a:srgbClr val="1F3B63"/>
                    </a:solidFill>
                  </a:tcPr>
                </a:tc>
                <a:tc>
                  <a:txBody>
                    <a:bodyPr/>
                    <a:lstStyle/>
                    <a:p>
                      <a:pPr algn="l"/>
                      <a:r>
                        <a:rPr sz="1050" b="1">
                          <a:solidFill>
                            <a:srgbClr val="FFFFFF"/>
                          </a:solidFill>
                          <a:latin typeface="Calibri"/>
                        </a:rPr>
                        <a:t>Repository location</a:t>
                      </a:r>
                    </a:p>
                  </a:txBody>
                  <a:tcPr marL="54864" marR="54864" marT="18288" marB="18288" anchor="ctr">
                    <a:solidFill>
                      <a:srgbClr val="1F3B63"/>
                    </a:solidFill>
                  </a:tcPr>
                </a:tc>
                <a:tc>
                  <a:txBody>
                    <a:bodyPr/>
                    <a:lstStyle/>
                    <a:p>
                      <a:pPr algn="l"/>
                      <a:r>
                        <a:rPr sz="1050" b="1">
                          <a:solidFill>
                            <a:srgbClr val="FFFFFF"/>
                          </a:solidFill>
                          <a:latin typeface="Calibri"/>
                        </a:rPr>
                        <a:t>Class · function</a:t>
                      </a:r>
                    </a:p>
                  </a:txBody>
                  <a:tcPr marL="54864" marR="54864" marT="18288" marB="18288" anchor="ctr">
                    <a:solidFill>
                      <a:srgbClr val="1F3B63"/>
                    </a:solidFill>
                  </a:tcPr>
                </a:tc>
              </a:tr>
              <a:tr h="202996">
                <a:tc>
                  <a:txBody>
                    <a:bodyPr/>
                    <a:lstStyle/>
                    <a:p>
                      <a:pPr algn="l"/>
                      <a:r>
                        <a:rPr sz="869" b="0">
                          <a:solidFill>
                            <a:srgbClr val="252F3D"/>
                          </a:solidFill>
                          <a:latin typeface="Calibri"/>
                        </a:rPr>
                        <a:t>4, 6</a:t>
                      </a:r>
                    </a:p>
                  </a:txBody>
                  <a:tcPr marL="54864" marR="54864" marT="9144" marB="9144" anchor="ctr">
                    <a:solidFill>
                      <a:srgbClr val="F3F5F9"/>
                    </a:solidFill>
                  </a:tcPr>
                </a:tc>
                <a:tc>
                  <a:txBody>
                    <a:bodyPr/>
                    <a:lstStyle/>
                    <a:p>
                      <a:pPr algn="l"/>
                      <a:r>
                        <a:rPr sz="869" b="0">
                          <a:solidFill>
                            <a:srgbClr val="252F3D"/>
                          </a:solidFill>
                          <a:latin typeface="Calibri"/>
                        </a:rPr>
                        <a:t>Architecture, tensor shapes, ablations</a:t>
                      </a:r>
                    </a:p>
                  </a:txBody>
                  <a:tcPr marL="54864" marR="54864" marT="9144" marB="9144" anchor="ctr">
                    <a:solidFill>
                      <a:srgbClr val="F3F5F9"/>
                    </a:solidFill>
                  </a:tcPr>
                </a:tc>
                <a:tc>
                  <a:txBody>
                    <a:bodyPr/>
                    <a:lstStyle/>
                    <a:p>
                      <a:pPr algn="l"/>
                      <a:r>
                        <a:rPr sz="869" b="0">
                          <a:solidFill>
                            <a:srgbClr val="252F3D"/>
                          </a:solidFill>
                          <a:latin typeface="Calibri"/>
                        </a:rPr>
                        <a:t>model.py:277-399</a:t>
                      </a:r>
                    </a:p>
                  </a:txBody>
                  <a:tcPr marL="54864" marR="54864" marT="9144" marB="9144" anchor="ctr">
                    <a:solidFill>
                      <a:srgbClr val="F3F5F9"/>
                    </a:solidFill>
                  </a:tcPr>
                </a:tc>
                <a:tc>
                  <a:txBody>
                    <a:bodyPr/>
                    <a:lstStyle/>
                    <a:p>
                      <a:pPr algn="l"/>
                      <a:r>
                        <a:rPr sz="869" b="0">
                          <a:solidFill>
                            <a:srgbClr val="252F3D"/>
                          </a:solidFill>
                          <a:latin typeface="Calibri"/>
                        </a:rPr>
                        <a:t>PhysicsGatedFusionModelV2 · forward, _image_patches</a:t>
                      </a:r>
                    </a:p>
                  </a:txBody>
                  <a:tcPr marL="54864" marR="54864" marT="9144" marB="9144" anchor="ctr">
                    <a:solidFill>
                      <a:srgbClr val="F3F5F9"/>
                    </a:solidFill>
                  </a:tcPr>
                </a:tc>
              </a:tr>
              <a:tr h="202996">
                <a:tc>
                  <a:txBody>
                    <a:bodyPr/>
                    <a:lstStyle/>
                    <a:p>
                      <a:pPr algn="l"/>
                      <a:r>
                        <a:rPr sz="869" b="0">
                          <a:solidFill>
                            <a:srgbClr val="252F3D"/>
                          </a:solidFill>
                          <a:latin typeface="Calibri"/>
                        </a:rPr>
                        <a:t>6, 7</a:t>
                      </a:r>
                    </a:p>
                  </a:txBody>
                  <a:tcPr marL="54864" marR="54864" marT="9144" marB="9144" anchor="ctr">
                    <a:solidFill>
                      <a:srgbClr val="FFFFFF"/>
                    </a:solidFill>
                  </a:tcPr>
                </a:tc>
                <a:tc>
                  <a:txBody>
                    <a:bodyPr/>
                    <a:lstStyle/>
                    <a:p>
                      <a:pPr algn="l"/>
                      <a:r>
                        <a:rPr sz="869" b="0">
                          <a:solidFill>
                            <a:srgbClr val="252F3D"/>
                          </a:solidFill>
                          <a:latin typeface="Calibri"/>
                        </a:rPr>
                        <a:t>BiLSTM + temporal attention pooling</a:t>
                      </a:r>
                    </a:p>
                  </a:txBody>
                  <a:tcPr marL="54864" marR="54864" marT="9144" marB="9144" anchor="ctr">
                    <a:solidFill>
                      <a:srgbClr val="FFFFFF"/>
                    </a:solidFill>
                  </a:tcPr>
                </a:tc>
                <a:tc>
                  <a:txBody>
                    <a:bodyPr/>
                    <a:lstStyle/>
                    <a:p>
                      <a:pPr algn="l"/>
                      <a:r>
                        <a:rPr sz="869" b="0">
                          <a:solidFill>
                            <a:srgbClr val="252F3D"/>
                          </a:solidFill>
                          <a:latin typeface="Calibri"/>
                        </a:rPr>
                        <a:t>model.py:56-80</a:t>
                      </a:r>
                    </a:p>
                  </a:txBody>
                  <a:tcPr marL="54864" marR="54864" marT="9144" marB="9144" anchor="ctr">
                    <a:solidFill>
                      <a:srgbClr val="FFFFFF"/>
                    </a:solidFill>
                  </a:tcPr>
                </a:tc>
                <a:tc>
                  <a:txBody>
                    <a:bodyPr/>
                    <a:lstStyle/>
                    <a:p>
                      <a:pPr algn="l"/>
                      <a:r>
                        <a:rPr sz="869" b="0">
                          <a:solidFill>
                            <a:srgbClr val="252F3D"/>
                          </a:solidFill>
                          <a:latin typeface="Calibri"/>
                        </a:rPr>
                        <a:t>TemporalSelfAttention, BiLSTMEncoder</a:t>
                      </a:r>
                    </a:p>
                  </a:txBody>
                  <a:tcPr marL="54864" marR="54864" marT="9144" marB="9144" anchor="ctr">
                    <a:solidFill>
                      <a:srgbClr val="FFFFFF"/>
                    </a:solidFill>
                  </a:tcPr>
                </a:tc>
              </a:tr>
              <a:tr h="202996">
                <a:tc>
                  <a:txBody>
                    <a:bodyPr/>
                    <a:lstStyle/>
                    <a:p>
                      <a:pPr algn="l"/>
                      <a:r>
                        <a:rPr sz="869" b="0">
                          <a:solidFill>
                            <a:srgbClr val="252F3D"/>
                          </a:solidFill>
                          <a:latin typeface="Calibri"/>
                        </a:rPr>
                        <a:t>6, 7</a:t>
                      </a:r>
                    </a:p>
                  </a:txBody>
                  <a:tcPr marL="54864" marR="54864" marT="9144" marB="9144" anchor="ctr">
                    <a:solidFill>
                      <a:srgbClr val="F3F5F9"/>
                    </a:solidFill>
                  </a:tcPr>
                </a:tc>
                <a:tc>
                  <a:txBody>
                    <a:bodyPr/>
                    <a:lstStyle/>
                    <a:p>
                      <a:pPr algn="l"/>
                      <a:r>
                        <a:rPr sz="869" b="0">
                          <a:solidFill>
                            <a:srgbClr val="252F3D"/>
                          </a:solidFill>
                          <a:latin typeface="Calibri"/>
                        </a:rPr>
                        <a:t>8-head cross-attention over 196 patches</a:t>
                      </a:r>
                    </a:p>
                  </a:txBody>
                  <a:tcPr marL="54864" marR="54864" marT="9144" marB="9144" anchor="ctr">
                    <a:solidFill>
                      <a:srgbClr val="F3F5F9"/>
                    </a:solidFill>
                  </a:tcPr>
                </a:tc>
                <a:tc>
                  <a:txBody>
                    <a:bodyPr/>
                    <a:lstStyle/>
                    <a:p>
                      <a:pPr algn="l"/>
                      <a:r>
                        <a:rPr sz="869" b="0">
                          <a:solidFill>
                            <a:srgbClr val="252F3D"/>
                          </a:solidFill>
                          <a:latin typeface="Calibri"/>
                        </a:rPr>
                        <a:t>model.py:256-274</a:t>
                      </a:r>
                    </a:p>
                  </a:txBody>
                  <a:tcPr marL="54864" marR="54864" marT="9144" marB="9144" anchor="ctr">
                    <a:solidFill>
                      <a:srgbClr val="F3F5F9"/>
                    </a:solidFill>
                  </a:tcPr>
                </a:tc>
                <a:tc>
                  <a:txBody>
                    <a:bodyPr/>
                    <a:lstStyle/>
                    <a:p>
                      <a:pPr algn="l"/>
                      <a:r>
                        <a:rPr sz="869" b="0">
                          <a:solidFill>
                            <a:srgbClr val="252F3D"/>
                          </a:solidFill>
                          <a:latin typeface="Calibri"/>
                        </a:rPr>
                        <a:t>MultiHeadCrossAttention</a:t>
                      </a:r>
                    </a:p>
                  </a:txBody>
                  <a:tcPr marL="54864" marR="54864" marT="9144" marB="9144" anchor="ctr">
                    <a:solidFill>
                      <a:srgbClr val="F3F5F9"/>
                    </a:solidFill>
                  </a:tcPr>
                </a:tc>
              </a:tr>
              <a:tr h="202996">
                <a:tc>
                  <a:txBody>
                    <a:bodyPr/>
                    <a:lstStyle/>
                    <a:p>
                      <a:pPr algn="l"/>
                      <a:r>
                        <a:rPr sz="869" b="0">
                          <a:solidFill>
                            <a:srgbClr val="252F3D"/>
                          </a:solidFill>
                          <a:latin typeface="Calibri"/>
                        </a:rPr>
                        <a:t>6, 7, 15</a:t>
                      </a:r>
                    </a:p>
                  </a:txBody>
                  <a:tcPr marL="54864" marR="54864" marT="9144" marB="9144" anchor="ctr">
                    <a:solidFill>
                      <a:srgbClr val="FFFFFF"/>
                    </a:solidFill>
                  </a:tcPr>
                </a:tc>
                <a:tc>
                  <a:txBody>
                    <a:bodyPr/>
                    <a:lstStyle/>
                    <a:p>
                      <a:pPr algn="l"/>
                      <a:r>
                        <a:rPr sz="869" b="0">
                          <a:solidFill>
                            <a:srgbClr val="252F3D"/>
                          </a:solidFill>
                          <a:latin typeface="Calibri"/>
                        </a:rPr>
                        <a:t>Physics gate (193 params)</a:t>
                      </a:r>
                    </a:p>
                  </a:txBody>
                  <a:tcPr marL="54864" marR="54864" marT="9144" marB="9144" anchor="ctr">
                    <a:solidFill>
                      <a:srgbClr val="FFFFFF"/>
                    </a:solidFill>
                  </a:tcPr>
                </a:tc>
                <a:tc>
                  <a:txBody>
                    <a:bodyPr/>
                    <a:lstStyle/>
                    <a:p>
                      <a:pPr algn="l"/>
                      <a:r>
                        <a:rPr sz="869" b="0">
                          <a:solidFill>
                            <a:srgbClr val="252F3D"/>
                          </a:solidFill>
                          <a:latin typeface="Calibri"/>
                        </a:rPr>
                        <a:t>model.py:326-329</a:t>
                      </a:r>
                    </a:p>
                  </a:txBody>
                  <a:tcPr marL="54864" marR="54864" marT="9144" marB="9144" anchor="ctr">
                    <a:solidFill>
                      <a:srgbClr val="FFFFFF"/>
                    </a:solidFill>
                  </a:tcPr>
                </a:tc>
                <a:tc>
                  <a:txBody>
                    <a:bodyPr/>
                    <a:lstStyle/>
                    <a:p>
                      <a:pPr algn="l"/>
                      <a:r>
                        <a:rPr sz="869" b="0">
                          <a:solidFill>
                            <a:srgbClr val="252F3D"/>
                          </a:solidFill>
                          <a:latin typeface="Calibri"/>
                        </a:rPr>
                        <a:t>self.gate (Linear 4→D/8→1, σ)</a:t>
                      </a:r>
                    </a:p>
                  </a:txBody>
                  <a:tcPr marL="54864" marR="54864" marT="9144" marB="9144" anchor="ctr">
                    <a:solidFill>
                      <a:srgbClr val="FFFFFF"/>
                    </a:solidFill>
                  </a:tcPr>
                </a:tc>
              </a:tr>
              <a:tr h="202996">
                <a:tc>
                  <a:txBody>
                    <a:bodyPr/>
                    <a:lstStyle/>
                    <a:p>
                      <a:pPr algn="l"/>
                      <a:r>
                        <a:rPr sz="869" b="0">
                          <a:solidFill>
                            <a:srgbClr val="252F3D"/>
                          </a:solidFill>
                          <a:latin typeface="Calibri"/>
                        </a:rPr>
                        <a:t>5, 7</a:t>
                      </a:r>
                    </a:p>
                  </a:txBody>
                  <a:tcPr marL="54864" marR="54864" marT="9144" marB="9144" anchor="ctr">
                    <a:solidFill>
                      <a:srgbClr val="F3F5F9"/>
                    </a:solidFill>
                  </a:tcPr>
                </a:tc>
                <a:tc>
                  <a:txBody>
                    <a:bodyPr/>
                    <a:lstStyle/>
                    <a:p>
                      <a:pPr algn="l"/>
                      <a:r>
                        <a:rPr sz="869" b="0">
                          <a:solidFill>
                            <a:srgbClr val="252F3D"/>
                          </a:solidFill>
                          <a:latin typeface="Calibri"/>
                        </a:rPr>
                        <a:t>Clear-sky index, engineered features</a:t>
                      </a:r>
                    </a:p>
                  </a:txBody>
                  <a:tcPr marL="54864" marR="54864" marT="9144" marB="9144" anchor="ctr">
                    <a:solidFill>
                      <a:srgbClr val="F3F5F9"/>
                    </a:solidFill>
                  </a:tcPr>
                </a:tc>
                <a:tc>
                  <a:txBody>
                    <a:bodyPr/>
                    <a:lstStyle/>
                    <a:p>
                      <a:pPr algn="l"/>
                      <a:r>
                        <a:rPr sz="869" b="0">
                          <a:solidFill>
                            <a:srgbClr val="252F3D"/>
                          </a:solidFill>
                          <a:latin typeface="Calibri"/>
                        </a:rPr>
                        <a:t>solar_pv_main.ipynb cell 4</a:t>
                      </a:r>
                    </a:p>
                  </a:txBody>
                  <a:tcPr marL="54864" marR="54864" marT="9144" marB="9144" anchor="ctr">
                    <a:solidFill>
                      <a:srgbClr val="F3F5F9"/>
                    </a:solidFill>
                  </a:tcPr>
                </a:tc>
                <a:tc>
                  <a:txBody>
                    <a:bodyPr/>
                    <a:lstStyle/>
                    <a:p>
                      <a:pPr algn="l"/>
                      <a:r>
                        <a:rPr sz="869" b="0">
                          <a:solidFill>
                            <a:srgbClr val="252F3D"/>
                          </a:solidFill>
                          <a:latin typeface="Calibri"/>
                        </a:rPr>
                        <a:t>clearsky_ratio, sin/cos hour &amp; month</a:t>
                      </a:r>
                    </a:p>
                  </a:txBody>
                  <a:tcPr marL="54864" marR="54864" marT="9144" marB="9144" anchor="ctr">
                    <a:solidFill>
                      <a:srgbClr val="F3F5F9"/>
                    </a:solidFill>
                  </a:tcPr>
                </a:tc>
              </a:tr>
              <a:tr h="202996">
                <a:tc>
                  <a:txBody>
                    <a:bodyPr/>
                    <a:lstStyle/>
                    <a:p>
                      <a:pPr algn="l"/>
                      <a:r>
                        <a:rPr sz="869" b="0">
                          <a:solidFill>
                            <a:srgbClr val="252F3D"/>
                          </a:solidFill>
                          <a:latin typeface="Calibri"/>
                        </a:rPr>
                        <a:t>5</a:t>
                      </a:r>
                    </a:p>
                  </a:txBody>
                  <a:tcPr marL="54864" marR="54864" marT="9144" marB="9144" anchor="ctr">
                    <a:solidFill>
                      <a:srgbClr val="FFFFFF"/>
                    </a:solidFill>
                  </a:tcPr>
                </a:tc>
                <a:tc>
                  <a:txBody>
                    <a:bodyPr/>
                    <a:lstStyle/>
                    <a:p>
                      <a:pPr algn="l"/>
                      <a:r>
                        <a:rPr sz="869" b="0">
                          <a:solidFill>
                            <a:srgbClr val="252F3D"/>
                          </a:solidFill>
                          <a:latin typeface="Calibri"/>
                        </a:rPr>
                        <a:t>Dataset assembly, ±60 min image match</a:t>
                      </a:r>
                    </a:p>
                  </a:txBody>
                  <a:tcPr marL="54864" marR="54864" marT="9144" marB="9144" anchor="ctr">
                    <a:solidFill>
                      <a:srgbClr val="FFFFFF"/>
                    </a:solidFill>
                  </a:tcPr>
                </a:tc>
                <a:tc>
                  <a:txBody>
                    <a:bodyPr/>
                    <a:lstStyle/>
                    <a:p>
                      <a:pPr algn="l"/>
                      <a:r>
                        <a:rPr sz="869" b="0">
                          <a:solidFill>
                            <a:srgbClr val="252F3D"/>
                          </a:solidFill>
                          <a:latin typeface="Calibri"/>
                        </a:rPr>
                        <a:t>combined_dataset.py:61-95, 100-207</a:t>
                      </a:r>
                    </a:p>
                  </a:txBody>
                  <a:tcPr marL="54864" marR="54864" marT="9144" marB="9144" anchor="ctr">
                    <a:solidFill>
                      <a:srgbClr val="FFFFFF"/>
                    </a:solidFill>
                  </a:tcPr>
                </a:tc>
                <a:tc>
                  <a:txBody>
                    <a:bodyPr/>
                    <a:lstStyle/>
                    <a:p>
                      <a:pPr algn="l"/>
                      <a:r>
                        <a:rPr sz="869" b="0">
                          <a:solidFill>
                            <a:srgbClr val="252F3D"/>
                          </a:solidFill>
                          <a:latin typeface="Calibri"/>
                        </a:rPr>
                        <a:t>match_images, build_combined_dataset</a:t>
                      </a:r>
                    </a:p>
                  </a:txBody>
                  <a:tcPr marL="54864" marR="54864" marT="9144" marB="9144" anchor="ctr">
                    <a:solidFill>
                      <a:srgbClr val="FFFFFF"/>
                    </a:solidFill>
                  </a:tcPr>
                </a:tc>
              </a:tr>
              <a:tr h="202996">
                <a:tc>
                  <a:txBody>
                    <a:bodyPr/>
                    <a:lstStyle/>
                    <a:p>
                      <a:pPr algn="l"/>
                      <a:r>
                        <a:rPr sz="869" b="0">
                          <a:solidFill>
                            <a:srgbClr val="252F3D"/>
                          </a:solidFill>
                          <a:latin typeface="Calibri"/>
                        </a:rPr>
                        <a:t>5</a:t>
                      </a:r>
                    </a:p>
                  </a:txBody>
                  <a:tcPr marL="54864" marR="54864" marT="9144" marB="9144" anchor="ctr">
                    <a:solidFill>
                      <a:srgbClr val="F3F5F9"/>
                    </a:solidFill>
                  </a:tcPr>
                </a:tc>
                <a:tc>
                  <a:txBody>
                    <a:bodyPr/>
                    <a:lstStyle/>
                    <a:p>
                      <a:pPr algn="l"/>
                      <a:r>
                        <a:rPr sz="869" b="0">
                          <a:solidFill>
                            <a:srgbClr val="252F3D"/>
                          </a:solidFill>
                          <a:latin typeface="Calibri"/>
                        </a:rPr>
                        <a:t>Weather + clear-sky fetch</a:t>
                      </a:r>
                    </a:p>
                  </a:txBody>
                  <a:tcPr marL="54864" marR="54864" marT="9144" marB="9144" anchor="ctr">
                    <a:solidFill>
                      <a:srgbClr val="F3F5F9"/>
                    </a:solidFill>
                  </a:tcPr>
                </a:tc>
                <a:tc>
                  <a:txBody>
                    <a:bodyPr/>
                    <a:lstStyle/>
                    <a:p>
                      <a:pPr algn="l"/>
                      <a:r>
                        <a:rPr sz="869" b="0">
                          <a:solidFill>
                            <a:srgbClr val="252F3D"/>
                          </a:solidFill>
                          <a:latin typeface="Calibri"/>
                        </a:rPr>
                        <a:t>historical_data.py:13-70</a:t>
                      </a:r>
                    </a:p>
                  </a:txBody>
                  <a:tcPr marL="54864" marR="54864" marT="9144" marB="9144" anchor="ctr">
                    <a:solidFill>
                      <a:srgbClr val="F3F5F9"/>
                    </a:solidFill>
                  </a:tcPr>
                </a:tc>
                <a:tc>
                  <a:txBody>
                    <a:bodyPr/>
                    <a:lstStyle/>
                    <a:p>
                      <a:pPr algn="l"/>
                      <a:r>
                        <a:rPr sz="869" b="0">
                          <a:solidFill>
                            <a:srgbClr val="252F3D"/>
                          </a:solidFill>
                          <a:latin typeface="Calibri"/>
                        </a:rPr>
                        <a:t>HistoricalDataCollector.fetch_data</a:t>
                      </a:r>
                    </a:p>
                  </a:txBody>
                  <a:tcPr marL="54864" marR="54864" marT="9144" marB="9144" anchor="ctr">
                    <a:solidFill>
                      <a:srgbClr val="F3F5F9"/>
                    </a:solidFill>
                  </a:tcPr>
                </a:tc>
              </a:tr>
              <a:tr h="202996">
                <a:tc>
                  <a:txBody>
                    <a:bodyPr/>
                    <a:lstStyle/>
                    <a:p>
                      <a:pPr algn="l"/>
                      <a:r>
                        <a:rPr sz="869" b="0">
                          <a:solidFill>
                            <a:srgbClr val="252F3D"/>
                          </a:solidFill>
                          <a:latin typeface="Calibri"/>
                        </a:rPr>
                        <a:t>5</a:t>
                      </a:r>
                    </a:p>
                  </a:txBody>
                  <a:tcPr marL="54864" marR="54864" marT="9144" marB="9144" anchor="ctr">
                    <a:solidFill>
                      <a:srgbClr val="FFFFFF"/>
                    </a:solidFill>
                  </a:tcPr>
                </a:tc>
                <a:tc>
                  <a:txBody>
                    <a:bodyPr/>
                    <a:lstStyle/>
                    <a:p>
                      <a:pPr algn="l"/>
                      <a:r>
                        <a:rPr sz="869" b="0">
                          <a:solidFill>
                            <a:srgbClr val="252F3D"/>
                          </a:solidFill>
                          <a:latin typeface="Calibri"/>
                        </a:rPr>
                        <a:t>PV reference series</a:t>
                      </a:r>
                    </a:p>
                  </a:txBody>
                  <a:tcPr marL="54864" marR="54864" marT="9144" marB="9144" anchor="ctr">
                    <a:solidFill>
                      <a:srgbClr val="FFFFFF"/>
                    </a:solidFill>
                  </a:tcPr>
                </a:tc>
                <a:tc>
                  <a:txBody>
                    <a:bodyPr/>
                    <a:lstStyle/>
                    <a:p>
                      <a:pPr algn="l"/>
                      <a:r>
                        <a:rPr sz="869" b="0">
                          <a:solidFill>
                            <a:srgbClr val="252F3D"/>
                          </a:solidFill>
                          <a:latin typeface="Calibri"/>
                        </a:rPr>
                        <a:t>fetch_solcast.py</a:t>
                      </a:r>
                    </a:p>
                  </a:txBody>
                  <a:tcPr marL="54864" marR="54864" marT="9144" marB="9144" anchor="ctr">
                    <a:solidFill>
                      <a:srgbClr val="FFFFFF"/>
                    </a:solidFill>
                  </a:tcPr>
                </a:tc>
                <a:tc>
                  <a:txBody>
                    <a:bodyPr/>
                    <a:lstStyle/>
                    <a:p>
                      <a:pPr algn="l"/>
                      <a:r>
                        <a:rPr sz="869" b="0">
                          <a:solidFill>
                            <a:srgbClr val="252F3D"/>
                          </a:solidFill>
                          <a:latin typeface="Calibri"/>
                        </a:rPr>
                        <a:t>PVGIS + pvlib simulation</a:t>
                      </a:r>
                    </a:p>
                  </a:txBody>
                  <a:tcPr marL="54864" marR="54864" marT="9144" marB="9144" anchor="ctr">
                    <a:solidFill>
                      <a:srgbClr val="FFFFFF"/>
                    </a:solidFill>
                  </a:tcPr>
                </a:tc>
              </a:tr>
              <a:tr h="202996">
                <a:tc>
                  <a:txBody>
                    <a:bodyPr/>
                    <a:lstStyle/>
                    <a:p>
                      <a:pPr algn="l"/>
                      <a:r>
                        <a:rPr sz="869" b="0">
                          <a:solidFill>
                            <a:srgbClr val="252F3D"/>
                          </a:solidFill>
                          <a:latin typeface="Calibri"/>
                        </a:rPr>
                        <a:t>5, 6</a:t>
                      </a:r>
                    </a:p>
                  </a:txBody>
                  <a:tcPr marL="54864" marR="54864" marT="9144" marB="9144" anchor="ctr">
                    <a:solidFill>
                      <a:srgbClr val="F3F5F9"/>
                    </a:solidFill>
                  </a:tcPr>
                </a:tc>
                <a:tc>
                  <a:txBody>
                    <a:bodyPr/>
                    <a:lstStyle/>
                    <a:p>
                      <a:pPr algn="l"/>
                      <a:r>
                        <a:rPr sz="869" b="0">
                          <a:solidFill>
                            <a:srgbClr val="252F3D"/>
                          </a:solidFill>
                          <a:latin typeface="Calibri"/>
                        </a:rPr>
                        <a:t>Image tensor cache (PNG → grayscale .npy)</a:t>
                      </a:r>
                    </a:p>
                  </a:txBody>
                  <a:tcPr marL="54864" marR="54864" marT="9144" marB="9144" anchor="ctr">
                    <a:solidFill>
                      <a:srgbClr val="F3F5F9"/>
                    </a:solidFill>
                  </a:tcPr>
                </a:tc>
                <a:tc>
                  <a:txBody>
                    <a:bodyPr/>
                    <a:lstStyle/>
                    <a:p>
                      <a:pPr algn="l"/>
                      <a:r>
                        <a:rPr sz="869" b="0">
                          <a:solidFill>
                            <a:srgbClr val="252F3D"/>
                          </a:solidFill>
                          <a:latin typeface="Calibri"/>
                        </a:rPr>
                        <a:t>solar_pv_main.ipynb cells 8-9, 16</a:t>
                      </a:r>
                    </a:p>
                  </a:txBody>
                  <a:tcPr marL="54864" marR="54864" marT="9144" marB="9144" anchor="ctr">
                    <a:solidFill>
                      <a:srgbClr val="F3F5F9"/>
                    </a:solidFill>
                  </a:tcPr>
                </a:tc>
                <a:tc>
                  <a:txBody>
                    <a:bodyPr/>
                    <a:lstStyle/>
                    <a:p>
                      <a:pPr algn="l"/>
                      <a:r>
                        <a:rPr sz="869" b="0">
                          <a:solidFill>
                            <a:srgbClr val="252F3D"/>
                          </a:solidFill>
                          <a:latin typeface="Calibri"/>
                        </a:rPr>
                        <a:t>save_images_as_npy, npy_cache</a:t>
                      </a:r>
                    </a:p>
                  </a:txBody>
                  <a:tcPr marL="54864" marR="54864" marT="9144" marB="9144" anchor="ctr">
                    <a:solidFill>
                      <a:srgbClr val="F3F5F9"/>
                    </a:solidFill>
                  </a:tcPr>
                </a:tc>
              </a:tr>
              <a:tr h="202996">
                <a:tc>
                  <a:txBody>
                    <a:bodyPr/>
                    <a:lstStyle/>
                    <a:p>
                      <a:pPr algn="l"/>
                      <a:r>
                        <a:rPr sz="869" b="0">
                          <a:solidFill>
                            <a:srgbClr val="252F3D"/>
                          </a:solidFill>
                          <a:latin typeface="Calibri"/>
                        </a:rPr>
                        <a:t>5, 7</a:t>
                      </a:r>
                    </a:p>
                  </a:txBody>
                  <a:tcPr marL="54864" marR="54864" marT="9144" marB="9144" anchor="ctr">
                    <a:solidFill>
                      <a:srgbClr val="FFFFFF"/>
                    </a:solidFill>
                  </a:tcPr>
                </a:tc>
                <a:tc>
                  <a:txBody>
                    <a:bodyPr/>
                    <a:lstStyle/>
                    <a:p>
                      <a:pPr algn="l"/>
                      <a:r>
                        <a:rPr sz="869" b="0">
                          <a:solidFill>
                            <a:srgbClr val="252F3D"/>
                          </a:solidFill>
                          <a:latin typeface="Calibri"/>
                        </a:rPr>
                        <a:t>Optical flow between hourly frames</a:t>
                      </a:r>
                    </a:p>
                  </a:txBody>
                  <a:tcPr marL="54864" marR="54864" marT="9144" marB="9144" anchor="ctr">
                    <a:solidFill>
                      <a:srgbClr val="FFFFFF"/>
                    </a:solidFill>
                  </a:tcPr>
                </a:tc>
                <a:tc>
                  <a:txBody>
                    <a:bodyPr/>
                    <a:lstStyle/>
                    <a:p>
                      <a:pPr algn="l"/>
                      <a:r>
                        <a:rPr sz="869" b="0">
                          <a:solidFill>
                            <a:srgbClr val="252F3D"/>
                          </a:solidFill>
                          <a:latin typeface="Calibri"/>
                        </a:rPr>
                        <a:t>solar_pv_main.ipynb cell 17</a:t>
                      </a:r>
                    </a:p>
                  </a:txBody>
                  <a:tcPr marL="54864" marR="54864" marT="9144" marB="9144" anchor="ctr">
                    <a:solidFill>
                      <a:srgbClr val="FFFFFF"/>
                    </a:solidFill>
                  </a:tcPr>
                </a:tc>
                <a:tc>
                  <a:txBody>
                    <a:bodyPr/>
                    <a:lstStyle/>
                    <a:p>
                      <a:pPr algn="l"/>
                      <a:r>
                        <a:rPr sz="869" b="0">
                          <a:solidFill>
                            <a:srgbClr val="252F3D"/>
                          </a:solidFill>
                          <a:latin typeface="Calibri"/>
                        </a:rPr>
                        <a:t>cv2.calcOpticalFlowFarneback, FLOW_SIZE 64</a:t>
                      </a:r>
                    </a:p>
                  </a:txBody>
                  <a:tcPr marL="54864" marR="54864" marT="9144" marB="9144" anchor="ctr">
                    <a:solidFill>
                      <a:srgbClr val="FFFFFF"/>
                    </a:solidFill>
                  </a:tcPr>
                </a:tc>
              </a:tr>
              <a:tr h="202996">
                <a:tc>
                  <a:txBody>
                    <a:bodyPr/>
                    <a:lstStyle/>
                    <a:p>
                      <a:pPr algn="l"/>
                      <a:r>
                        <a:rPr sz="869" b="0">
                          <a:solidFill>
                            <a:srgbClr val="252F3D"/>
                          </a:solidFill>
                          <a:latin typeface="Calibri"/>
                        </a:rPr>
                        <a:t>5, 9, 10</a:t>
                      </a:r>
                    </a:p>
                  </a:txBody>
                  <a:tcPr marL="54864" marR="54864" marT="9144" marB="9144" anchor="ctr">
                    <a:solidFill>
                      <a:srgbClr val="F3F5F9"/>
                    </a:solidFill>
                  </a:tcPr>
                </a:tc>
                <a:tc>
                  <a:txBody>
                    <a:bodyPr/>
                    <a:lstStyle/>
                    <a:p>
                      <a:pPr algn="l"/>
                      <a:r>
                        <a:rPr sz="869" b="0">
                          <a:solidFill>
                            <a:srgbClr val="252F3D"/>
                          </a:solidFill>
                          <a:latin typeface="Calibri"/>
                        </a:rPr>
                        <a:t>Split, windows, valid_indices</a:t>
                      </a:r>
                    </a:p>
                  </a:txBody>
                  <a:tcPr marL="54864" marR="54864" marT="9144" marB="9144" anchor="ctr">
                    <a:solidFill>
                      <a:srgbClr val="F3F5F9"/>
                    </a:solidFill>
                  </a:tcPr>
                </a:tc>
                <a:tc>
                  <a:txBody>
                    <a:bodyPr/>
                    <a:lstStyle/>
                    <a:p>
                      <a:pPr algn="l"/>
                      <a:r>
                        <a:rPr sz="869" b="0">
                          <a:solidFill>
                            <a:srgbClr val="252F3D"/>
                          </a:solidFill>
                          <a:latin typeface="Calibri"/>
                        </a:rPr>
                        <a:t>solar_pv_main.ipynb cell 19</a:t>
                      </a:r>
                    </a:p>
                  </a:txBody>
                  <a:tcPr marL="54864" marR="54864" marT="9144" marB="9144" anchor="ctr">
                    <a:solidFill>
                      <a:srgbClr val="F3F5F9"/>
                    </a:solidFill>
                  </a:tcPr>
                </a:tc>
                <a:tc>
                  <a:txBody>
                    <a:bodyPr/>
                    <a:lstStyle/>
                    <a:p>
                      <a:pPr algn="l"/>
                      <a:r>
                        <a:rPr sz="869" b="0">
                          <a:solidFill>
                            <a:srgbClr val="252F3D"/>
                          </a:solidFill>
                          <a:latin typeface="Calibri"/>
                        </a:rPr>
                        <a:t>GHIForecastDataset, 70/15/15 positional</a:t>
                      </a:r>
                    </a:p>
                  </a:txBody>
                  <a:tcPr marL="54864" marR="54864" marT="9144" marB="9144" anchor="ctr">
                    <a:solidFill>
                      <a:srgbClr val="F3F5F9"/>
                    </a:solidFill>
                  </a:tcPr>
                </a:tc>
              </a:tr>
              <a:tr h="202996">
                <a:tc>
                  <a:txBody>
                    <a:bodyPr/>
                    <a:lstStyle/>
                    <a:p>
                      <a:pPr algn="l"/>
                      <a:r>
                        <a:rPr sz="869" b="0">
                          <a:solidFill>
                            <a:srgbClr val="252F3D"/>
                          </a:solidFill>
                          <a:latin typeface="Calibri"/>
                        </a:rPr>
                        <a:t>3, 6</a:t>
                      </a:r>
                    </a:p>
                  </a:txBody>
                  <a:tcPr marL="54864" marR="54864" marT="9144" marB="9144" anchor="ctr">
                    <a:solidFill>
                      <a:srgbClr val="FFFFFF"/>
                    </a:solidFill>
                  </a:tcPr>
                </a:tc>
                <a:tc>
                  <a:txBody>
                    <a:bodyPr/>
                    <a:lstStyle/>
                    <a:p>
                      <a:pPr algn="l"/>
                      <a:r>
                        <a:rPr sz="869" b="0">
                          <a:solidFill>
                            <a:srgbClr val="252F3D"/>
                          </a:solidFill>
                          <a:latin typeface="Calibri"/>
                        </a:rPr>
                        <a:t>SWIMSEG pretraining stage</a:t>
                      </a:r>
                    </a:p>
                  </a:txBody>
                  <a:tcPr marL="54864" marR="54864" marT="9144" marB="9144" anchor="ctr">
                    <a:solidFill>
                      <a:srgbClr val="FFFFFF"/>
                    </a:solidFill>
                  </a:tcPr>
                </a:tc>
                <a:tc>
                  <a:txBody>
                    <a:bodyPr/>
                    <a:lstStyle/>
                    <a:p>
                      <a:pPr algn="l"/>
                      <a:r>
                        <a:rPr sz="869" b="0">
                          <a:solidFill>
                            <a:srgbClr val="252F3D"/>
                          </a:solidFill>
                          <a:latin typeface="Calibri"/>
                        </a:rPr>
                        <a:t>solar_pv_main.ipynb cells 11-14</a:t>
                      </a:r>
                    </a:p>
                  </a:txBody>
                  <a:tcPr marL="54864" marR="54864" marT="9144" marB="9144" anchor="ctr">
                    <a:solidFill>
                      <a:srgbClr val="FFFFFF"/>
                    </a:solidFill>
                  </a:tcPr>
                </a:tc>
                <a:tc>
                  <a:txBody>
                    <a:bodyPr/>
                    <a:lstStyle/>
                    <a:p>
                      <a:pPr algn="l"/>
                      <a:r>
                        <a:rPr sz="869" b="0">
                          <a:solidFill>
                            <a:srgbClr val="252F3D"/>
                          </a:solidFill>
                          <a:latin typeface="Calibri"/>
                        </a:rPr>
                        <a:t>SwimSegDataset, _FPNDecoder, SwimSegModel</a:t>
                      </a:r>
                    </a:p>
                  </a:txBody>
                  <a:tcPr marL="54864" marR="54864" marT="9144" marB="9144" anchor="ctr">
                    <a:solidFill>
                      <a:srgbClr val="FFFFFF"/>
                    </a:solidFill>
                  </a:tcPr>
                </a:tc>
              </a:tr>
              <a:tr h="202996">
                <a:tc>
                  <a:txBody>
                    <a:bodyPr/>
                    <a:lstStyle/>
                    <a:p>
                      <a:pPr algn="l"/>
                      <a:r>
                        <a:rPr sz="869" b="0">
                          <a:solidFill>
                            <a:srgbClr val="252F3D"/>
                          </a:solidFill>
                          <a:latin typeface="Calibri"/>
                        </a:rPr>
                        <a:t>7, 8</a:t>
                      </a:r>
                    </a:p>
                  </a:txBody>
                  <a:tcPr marL="54864" marR="54864" marT="9144" marB="9144" anchor="ctr">
                    <a:solidFill>
                      <a:srgbClr val="F3F5F9"/>
                    </a:solidFill>
                  </a:tcPr>
                </a:tc>
                <a:tc>
                  <a:txBody>
                    <a:bodyPr/>
                    <a:lstStyle/>
                    <a:p>
                      <a:pPr algn="l"/>
                      <a:r>
                        <a:rPr sz="869" b="0">
                          <a:solidFill>
                            <a:srgbClr val="252F3D"/>
                          </a:solidFill>
                          <a:latin typeface="Calibri"/>
                        </a:rPr>
                        <a:t>Gaussian NLL, two-phase schedule</a:t>
                      </a:r>
                    </a:p>
                  </a:txBody>
                  <a:tcPr marL="54864" marR="54864" marT="9144" marB="9144" anchor="ctr">
                    <a:solidFill>
                      <a:srgbClr val="F3F5F9"/>
                    </a:solidFill>
                  </a:tcPr>
                </a:tc>
                <a:tc>
                  <a:txBody>
                    <a:bodyPr/>
                    <a:lstStyle/>
                    <a:p>
                      <a:pPr algn="l"/>
                      <a:r>
                        <a:rPr sz="869" b="0">
                          <a:solidFill>
                            <a:srgbClr val="252F3D"/>
                          </a:solidFill>
                          <a:latin typeface="Calibri"/>
                        </a:rPr>
                        <a:t>solar_pv_main.ipynb cell 23</a:t>
                      </a:r>
                    </a:p>
                  </a:txBody>
                  <a:tcPr marL="54864" marR="54864" marT="9144" marB="9144" anchor="ctr">
                    <a:solidFill>
                      <a:srgbClr val="F3F5F9"/>
                    </a:solidFill>
                  </a:tcPr>
                </a:tc>
                <a:tc>
                  <a:txBody>
                    <a:bodyPr/>
                    <a:lstStyle/>
                    <a:p>
                      <a:pPr algn="l"/>
                      <a:r>
                        <a:rPr sz="869" b="0">
                          <a:solidFill>
                            <a:srgbClr val="252F3D"/>
                          </a:solidFill>
                          <a:latin typeface="Calibri"/>
                        </a:rPr>
                        <a:t>gaussian_nll_loss, train_model, unfreeze at epoch 20</a:t>
                      </a:r>
                    </a:p>
                  </a:txBody>
                  <a:tcPr marL="54864" marR="54864" marT="9144" marB="9144" anchor="ctr">
                    <a:solidFill>
                      <a:srgbClr val="F3F5F9"/>
                    </a:solidFill>
                  </a:tcPr>
                </a:tc>
              </a:tr>
              <a:tr h="202996">
                <a:tc>
                  <a:txBody>
                    <a:bodyPr/>
                    <a:lstStyle/>
                    <a:p>
                      <a:pPr algn="l"/>
                      <a:r>
                        <a:rPr sz="869" b="0">
                          <a:solidFill>
                            <a:srgbClr val="252F3D"/>
                          </a:solidFill>
                          <a:latin typeface="Calibri"/>
                        </a:rPr>
                        <a:t>9, 11</a:t>
                      </a:r>
                    </a:p>
                  </a:txBody>
                  <a:tcPr marL="54864" marR="54864" marT="9144" marB="9144" anchor="ctr">
                    <a:solidFill>
                      <a:srgbClr val="FFFFFF"/>
                    </a:solidFill>
                  </a:tcPr>
                </a:tc>
                <a:tc>
                  <a:txBody>
                    <a:bodyPr/>
                    <a:lstStyle/>
                    <a:p>
                      <a:pPr algn="l"/>
                      <a:r>
                        <a:rPr sz="869" b="0">
                          <a:solidFill>
                            <a:srgbClr val="252F3D"/>
                          </a:solidFill>
                          <a:latin typeface="Calibri"/>
                        </a:rPr>
                        <a:t>Experiment grid + evaluation</a:t>
                      </a:r>
                    </a:p>
                  </a:txBody>
                  <a:tcPr marL="54864" marR="54864" marT="9144" marB="9144" anchor="ctr">
                    <a:solidFill>
                      <a:srgbClr val="FFFFFF"/>
                    </a:solidFill>
                  </a:tcPr>
                </a:tc>
                <a:tc>
                  <a:txBody>
                    <a:bodyPr/>
                    <a:lstStyle/>
                    <a:p>
                      <a:pPr algn="l"/>
                      <a:r>
                        <a:rPr sz="869" b="0">
                          <a:solidFill>
                            <a:srgbClr val="252F3D"/>
                          </a:solidFill>
                          <a:latin typeface="Calibri"/>
                        </a:rPr>
                        <a:t>solar_pv_main.ipynb cell 25</a:t>
                      </a:r>
                    </a:p>
                  </a:txBody>
                  <a:tcPr marL="54864" marR="54864" marT="9144" marB="9144" anchor="ctr">
                    <a:solidFill>
                      <a:srgbClr val="FFFFFF"/>
                    </a:solidFill>
                  </a:tcPr>
                </a:tc>
                <a:tc>
                  <a:txBody>
                    <a:bodyPr/>
                    <a:lstStyle/>
                    <a:p>
                      <a:pPr algn="l"/>
                      <a:r>
                        <a:rPr sz="869" b="0">
                          <a:solidFill>
                            <a:srgbClr val="252F3D"/>
                          </a:solidFill>
                          <a:latin typeface="Calibri"/>
                        </a:rPr>
                        <a:t>EXPERIMENTS, evaluate_model, baseline_results</a:t>
                      </a:r>
                    </a:p>
                  </a:txBody>
                  <a:tcPr marL="54864" marR="54864" marT="9144" marB="9144" anchor="ctr">
                    <a:solidFill>
                      <a:srgbClr val="FFFFFF"/>
                    </a:solidFill>
                  </a:tcPr>
                </a:tc>
              </a:tr>
              <a:tr h="202996">
                <a:tc>
                  <a:txBody>
                    <a:bodyPr/>
                    <a:lstStyle/>
                    <a:p>
                      <a:pPr algn="l"/>
                      <a:r>
                        <a:rPr sz="869" b="0">
                          <a:solidFill>
                            <a:srgbClr val="252F3D"/>
                          </a:solidFill>
                          <a:latin typeface="Calibri"/>
                        </a:rPr>
                        <a:t>9, 11, 12</a:t>
                      </a:r>
                    </a:p>
                  </a:txBody>
                  <a:tcPr marL="54864" marR="54864" marT="9144" marB="9144" anchor="ctr">
                    <a:solidFill>
                      <a:srgbClr val="F3F5F9"/>
                    </a:solidFill>
                  </a:tcPr>
                </a:tc>
                <a:tc>
                  <a:txBody>
                    <a:bodyPr/>
                    <a:lstStyle/>
                    <a:p>
                      <a:pPr algn="l"/>
                      <a:r>
                        <a:rPr sz="869" b="0">
                          <a:solidFill>
                            <a:srgbClr val="252F3D"/>
                          </a:solidFill>
                          <a:latin typeface="Calibri"/>
                        </a:rPr>
                        <a:t>Tabular baselines</a:t>
                      </a:r>
                    </a:p>
                  </a:txBody>
                  <a:tcPr marL="54864" marR="54864" marT="9144" marB="9144" anchor="ctr">
                    <a:solidFill>
                      <a:srgbClr val="F3F5F9"/>
                    </a:solidFill>
                  </a:tcPr>
                </a:tc>
                <a:tc>
                  <a:txBody>
                    <a:bodyPr/>
                    <a:lstStyle/>
                    <a:p>
                      <a:pPr algn="l"/>
                      <a:r>
                        <a:rPr sz="869" b="0">
                          <a:solidFill>
                            <a:srgbClr val="252F3D"/>
                          </a:solidFill>
                          <a:latin typeface="Calibri"/>
                        </a:rPr>
                        <a:t>solar_pv_main.ipynb cell 6</a:t>
                      </a:r>
                    </a:p>
                  </a:txBody>
                  <a:tcPr marL="54864" marR="54864" marT="9144" marB="9144" anchor="ctr">
                    <a:solidFill>
                      <a:srgbClr val="F3F5F9"/>
                    </a:solidFill>
                  </a:tcPr>
                </a:tc>
                <a:tc>
                  <a:txBody>
                    <a:bodyPr/>
                    <a:lstStyle/>
                    <a:p>
                      <a:pPr algn="l"/>
                      <a:r>
                        <a:rPr sz="869" b="0">
                          <a:solidFill>
                            <a:srgbClr val="252F3D"/>
                          </a:solidFill>
                          <a:latin typeface="Calibri"/>
                        </a:rPr>
                        <a:t>BASELINE_FEATURES, LinearRegression / RF / LightGBM</a:t>
                      </a:r>
                    </a:p>
                  </a:txBody>
                  <a:tcPr marL="54864" marR="54864" marT="9144" marB="9144" anchor="ctr">
                    <a:solidFill>
                      <a:srgbClr val="F3F5F9"/>
                    </a:solidFill>
                  </a:tcPr>
                </a:tc>
              </a:tr>
              <a:tr h="202996">
                <a:tc>
                  <a:txBody>
                    <a:bodyPr/>
                    <a:lstStyle/>
                    <a:p>
                      <a:pPr algn="l"/>
                      <a:r>
                        <a:rPr sz="869" b="0">
                          <a:solidFill>
                            <a:srgbClr val="252F3D"/>
                          </a:solidFill>
                          <a:latin typeface="Calibri"/>
                        </a:rPr>
                        <a:t>1, 7, 12</a:t>
                      </a:r>
                    </a:p>
                  </a:txBody>
                  <a:tcPr marL="54864" marR="54864" marT="9144" marB="9144" anchor="ctr">
                    <a:solidFill>
                      <a:srgbClr val="FFFFFF"/>
                    </a:solidFill>
                  </a:tcPr>
                </a:tc>
                <a:tc>
                  <a:txBody>
                    <a:bodyPr/>
                    <a:lstStyle/>
                    <a:p>
                      <a:pPr algn="l"/>
                      <a:r>
                        <a:rPr sz="869" b="0">
                          <a:solidFill>
                            <a:srgbClr val="252F3D"/>
                          </a:solidFill>
                          <a:latin typeface="Calibri"/>
                        </a:rPr>
                        <a:t>Persistence baselines and skill</a:t>
                      </a:r>
                    </a:p>
                  </a:txBody>
                  <a:tcPr marL="54864" marR="54864" marT="9144" marB="9144" anchor="ctr">
                    <a:solidFill>
                      <a:srgbClr val="FFFFFF"/>
                    </a:solidFill>
                  </a:tcPr>
                </a:tc>
                <a:tc>
                  <a:txBody>
                    <a:bodyPr/>
                    <a:lstStyle/>
                    <a:p>
                      <a:pPr algn="l"/>
                      <a:r>
                        <a:rPr sz="869" b="0">
                          <a:solidFill>
                            <a:srgbClr val="252F3D"/>
                          </a:solidFill>
                          <a:latin typeface="Calibri"/>
                        </a:rPr>
                        <a:t>model.py:669-704</a:t>
                      </a:r>
                    </a:p>
                  </a:txBody>
                  <a:tcPr marL="54864" marR="54864" marT="9144" marB="9144" anchor="ctr">
                    <a:solidFill>
                      <a:srgbClr val="FFFFFF"/>
                    </a:solidFill>
                  </a:tcPr>
                </a:tc>
                <a:tc>
                  <a:txBody>
                    <a:bodyPr/>
                    <a:lstStyle/>
                    <a:p>
                      <a:pPr algn="l"/>
                      <a:r>
                        <a:rPr sz="869" b="0">
                          <a:solidFill>
                            <a:srgbClr val="252F3D"/>
                          </a:solidFill>
                          <a:latin typeface="Calibri"/>
                        </a:rPr>
                        <a:t>persistence_forecast, smart_persistence_forecast, skill_score</a:t>
                      </a:r>
                    </a:p>
                  </a:txBody>
                  <a:tcPr marL="54864" marR="54864" marT="9144" marB="9144" anchor="ctr">
                    <a:solidFill>
                      <a:srgbClr val="FFFFFF"/>
                    </a:solidFill>
                  </a:tcPr>
                </a:tc>
              </a:tr>
              <a:tr h="202996">
                <a:tc>
                  <a:txBody>
                    <a:bodyPr/>
                    <a:lstStyle/>
                    <a:p>
                      <a:pPr algn="l"/>
                      <a:r>
                        <a:rPr sz="869" b="0">
                          <a:solidFill>
                            <a:srgbClr val="252F3D"/>
                          </a:solidFill>
                          <a:latin typeface="Calibri"/>
                        </a:rPr>
                        <a:t>17</a:t>
                      </a:r>
                    </a:p>
                  </a:txBody>
                  <a:tcPr marL="54864" marR="54864" marT="9144" marB="9144" anchor="ctr">
                    <a:solidFill>
                      <a:srgbClr val="F3F5F9"/>
                    </a:solidFill>
                  </a:tcPr>
                </a:tc>
                <a:tc>
                  <a:txBody>
                    <a:bodyPr/>
                    <a:lstStyle/>
                    <a:p>
                      <a:pPr algn="l"/>
                      <a:r>
                        <a:rPr sz="869" b="0">
                          <a:solidFill>
                            <a:srgbClr val="252F3D"/>
                          </a:solidFill>
                          <a:latin typeface="Calibri"/>
                        </a:rPr>
                        <a:t>Validated satellite ingestion</a:t>
                      </a:r>
                    </a:p>
                  </a:txBody>
                  <a:tcPr marL="54864" marR="54864" marT="9144" marB="9144" anchor="ctr">
                    <a:solidFill>
                      <a:srgbClr val="F3F5F9"/>
                    </a:solidFill>
                  </a:tcPr>
                </a:tc>
                <a:tc>
                  <a:txBody>
                    <a:bodyPr/>
                    <a:lstStyle/>
                    <a:p>
                      <a:pPr algn="l"/>
                      <a:r>
                        <a:rPr sz="869" b="0">
                          <a:solidFill>
                            <a:srgbClr val="252F3D"/>
                          </a:solidFill>
                          <a:latin typeface="Calibri"/>
                        </a:rPr>
                        <a:t>current_data.py:105-191</a:t>
                      </a:r>
                    </a:p>
                  </a:txBody>
                  <a:tcPr marL="54864" marR="54864" marT="9144" marB="9144" anchor="ctr">
                    <a:solidFill>
                      <a:srgbClr val="F3F5F9"/>
                    </a:solidFill>
                  </a:tcPr>
                </a:tc>
                <a:tc>
                  <a:txBody>
                    <a:bodyPr/>
                    <a:lstStyle/>
                    <a:p>
                      <a:pPr algn="l"/>
                      <a:r>
                        <a:rPr sz="869" b="0">
                          <a:solidFill>
                            <a:srgbClr val="252F3D"/>
                          </a:solidFill>
                          <a:latin typeface="Calibri"/>
                        </a:rPr>
                        <a:t>validate_tile, fetch_image, fetch_frame_series</a:t>
                      </a:r>
                    </a:p>
                  </a:txBody>
                  <a:tcPr marL="54864" marR="54864" marT="9144" marB="9144" anchor="ctr">
                    <a:solidFill>
                      <a:srgbClr val="F3F5F9"/>
                    </a:solidFill>
                  </a:tcPr>
                </a:tc>
              </a:tr>
              <a:tr h="202996">
                <a:tc>
                  <a:txBody>
                    <a:bodyPr/>
                    <a:lstStyle/>
                    <a:p>
                      <a:pPr algn="l"/>
                      <a:r>
                        <a:rPr sz="869" b="0">
                          <a:solidFill>
                            <a:srgbClr val="252F3D"/>
                          </a:solidFill>
                          <a:latin typeface="Calibri"/>
                        </a:rPr>
                        <a:t>17</a:t>
                      </a:r>
                    </a:p>
                  </a:txBody>
                  <a:tcPr marL="54864" marR="54864" marT="9144" marB="9144" anchor="ctr">
                    <a:solidFill>
                      <a:srgbClr val="FFFFFF"/>
                    </a:solidFill>
                  </a:tcPr>
                </a:tc>
                <a:tc>
                  <a:txBody>
                    <a:bodyPr/>
                    <a:lstStyle/>
                    <a:p>
                      <a:pPr algn="l"/>
                      <a:r>
                        <a:rPr sz="869" b="0">
                          <a:solidFill>
                            <a:srgbClr val="252F3D"/>
                          </a:solidFill>
                          <a:latin typeface="Calibri"/>
                        </a:rPr>
                        <a:t>Lookback window + gate features at serve time</a:t>
                      </a:r>
                    </a:p>
                  </a:txBody>
                  <a:tcPr marL="54864" marR="54864" marT="9144" marB="9144" anchor="ctr">
                    <a:solidFill>
                      <a:srgbClr val="FFFFFF"/>
                    </a:solidFill>
                  </a:tcPr>
                </a:tc>
                <a:tc>
                  <a:txBody>
                    <a:bodyPr/>
                    <a:lstStyle/>
                    <a:p>
                      <a:pPr algn="l"/>
                      <a:r>
                        <a:rPr sz="869" b="0">
                          <a:solidFill>
                            <a:srgbClr val="252F3D"/>
                          </a:solidFill>
                          <a:latin typeface="Calibri"/>
                        </a:rPr>
                        <a:t>model.py:538-573</a:t>
                      </a:r>
                    </a:p>
                  </a:txBody>
                  <a:tcPr marL="54864" marR="54864" marT="9144" marB="9144" anchor="ctr">
                    <a:solidFill>
                      <a:srgbClr val="FFFFFF"/>
                    </a:solidFill>
                  </a:tcPr>
                </a:tc>
                <a:tc>
                  <a:txBody>
                    <a:bodyPr/>
                    <a:lstStyle/>
                    <a:p>
                      <a:pPr algn="l"/>
                      <a:r>
                        <a:rPr sz="869" b="0">
                          <a:solidFill>
                            <a:srgbClr val="252F3D"/>
                          </a:solidFill>
                          <a:latin typeface="Calibri"/>
                        </a:rPr>
                        <a:t>build_lookback_window, compute_gate_features</a:t>
                      </a:r>
                    </a:p>
                  </a:txBody>
                  <a:tcPr marL="54864" marR="54864" marT="9144" marB="9144" anchor="ctr">
                    <a:solidFill>
                      <a:srgbClr val="FFFFFF"/>
                    </a:solidFill>
                  </a:tcPr>
                </a:tc>
              </a:tr>
              <a:tr h="202996">
                <a:tc>
                  <a:txBody>
                    <a:bodyPr/>
                    <a:lstStyle/>
                    <a:p>
                      <a:pPr algn="l"/>
                      <a:r>
                        <a:rPr sz="869" b="0">
                          <a:solidFill>
                            <a:srgbClr val="252F3D"/>
                          </a:solidFill>
                          <a:latin typeface="Calibri"/>
                        </a:rPr>
                        <a:t>17</a:t>
                      </a:r>
                    </a:p>
                  </a:txBody>
                  <a:tcPr marL="54864" marR="54864" marT="9144" marB="9144" anchor="ctr">
                    <a:solidFill>
                      <a:srgbClr val="F3F5F9"/>
                    </a:solidFill>
                  </a:tcPr>
                </a:tc>
                <a:tc>
                  <a:txBody>
                    <a:bodyPr/>
                    <a:lstStyle/>
                    <a:p>
                      <a:pPr algn="l"/>
                      <a:r>
                        <a:rPr sz="869" b="0">
                          <a:solidFill>
                            <a:srgbClr val="252F3D"/>
                          </a:solidFill>
                          <a:latin typeface="Calibri"/>
                        </a:rPr>
                        <a:t>Live forecast, physics cap, diagnostics</a:t>
                      </a:r>
                    </a:p>
                  </a:txBody>
                  <a:tcPr marL="54864" marR="54864" marT="9144" marB="9144" anchor="ctr">
                    <a:solidFill>
                      <a:srgbClr val="F3F5F9"/>
                    </a:solidFill>
                  </a:tcPr>
                </a:tc>
                <a:tc>
                  <a:txBody>
                    <a:bodyPr/>
                    <a:lstStyle/>
                    <a:p>
                      <a:pPr algn="l"/>
                      <a:r>
                        <a:rPr sz="869" b="0">
                          <a:solidFill>
                            <a:srgbClr val="252F3D"/>
                          </a:solidFill>
                          <a:latin typeface="Calibri"/>
                        </a:rPr>
                        <a:t>predict.py:131-280</a:t>
                      </a:r>
                    </a:p>
                  </a:txBody>
                  <a:tcPr marL="54864" marR="54864" marT="9144" marB="9144" anchor="ctr">
                    <a:solidFill>
                      <a:srgbClr val="F3F5F9"/>
                    </a:solidFill>
                  </a:tcPr>
                </a:tc>
                <a:tc>
                  <a:txBody>
                    <a:bodyPr/>
                    <a:lstStyle/>
                    <a:p>
                      <a:pPr algn="l"/>
                      <a:r>
                        <a:rPr sz="869" b="0">
                          <a:solidFill>
                            <a:srgbClr val="252F3D"/>
                          </a:solidFill>
                          <a:latin typeface="Calibri"/>
                        </a:rPr>
                        <a:t>apply_physics_cap, predict</a:t>
                      </a:r>
                    </a:p>
                  </a:txBody>
                  <a:tcPr marL="54864" marR="54864" marT="9144" marB="9144" anchor="ctr">
                    <a:solidFill>
                      <a:srgbClr val="F3F5F9"/>
                    </a:solidFill>
                  </a:tcPr>
                </a:tc>
              </a:tr>
              <a:tr h="202996">
                <a:tc>
                  <a:txBody>
                    <a:bodyPr/>
                    <a:lstStyle/>
                    <a:p>
                      <a:pPr algn="l"/>
                      <a:r>
                        <a:rPr sz="869" b="0">
                          <a:solidFill>
                            <a:srgbClr val="252F3D"/>
                          </a:solidFill>
                          <a:latin typeface="Calibri"/>
                        </a:rPr>
                        <a:t>17</a:t>
                      </a:r>
                    </a:p>
                  </a:txBody>
                  <a:tcPr marL="54864" marR="54864" marT="9144" marB="9144" anchor="ctr">
                    <a:solidFill>
                      <a:srgbClr val="FFFFFF"/>
                    </a:solidFill>
                  </a:tcPr>
                </a:tc>
                <a:tc>
                  <a:txBody>
                    <a:bodyPr/>
                    <a:lstStyle/>
                    <a:p>
                      <a:pPr algn="l"/>
                      <a:r>
                        <a:rPr sz="869" b="0">
                          <a:solidFill>
                            <a:srgbClr val="252F3D"/>
                          </a:solidFill>
                          <a:latin typeface="Calibri"/>
                        </a:rPr>
                        <a:t>Verification loop</a:t>
                      </a:r>
                    </a:p>
                  </a:txBody>
                  <a:tcPr marL="54864" marR="54864" marT="9144" marB="9144" anchor="ctr">
                    <a:solidFill>
                      <a:srgbClr val="FFFFFF"/>
                    </a:solidFill>
                  </a:tcPr>
                </a:tc>
                <a:tc>
                  <a:txBody>
                    <a:bodyPr/>
                    <a:lstStyle/>
                    <a:p>
                      <a:pPr algn="l"/>
                      <a:r>
                        <a:rPr sz="869" b="0">
                          <a:solidFill>
                            <a:srgbClr val="252F3D"/>
                          </a:solidFill>
                          <a:latin typeface="Calibri"/>
                        </a:rPr>
                        <a:t>verify.py:56-272</a:t>
                      </a:r>
                    </a:p>
                  </a:txBody>
                  <a:tcPr marL="54864" marR="54864" marT="9144" marB="9144" anchor="ctr">
                    <a:solidFill>
                      <a:srgbClr val="FFFFFF"/>
                    </a:solidFill>
                  </a:tcPr>
                </a:tc>
                <a:tc>
                  <a:txBody>
                    <a:bodyPr/>
                    <a:lstStyle/>
                    <a:p>
                      <a:pPr algn="l"/>
                      <a:r>
                        <a:rPr sz="869" b="0">
                          <a:solidFill>
                            <a:srgbClr val="252F3D"/>
                          </a:solidFill>
                          <a:latin typeface="Calibri"/>
                        </a:rPr>
                        <a:t>fetch_actual_ghi, main</a:t>
                      </a:r>
                    </a:p>
                  </a:txBody>
                  <a:tcPr marL="54864" marR="54864" marT="9144" marB="9144" anchor="ctr">
                    <a:solidFill>
                      <a:srgbClr val="FFFFFF"/>
                    </a:solidFill>
                  </a:tcPr>
                </a:tc>
              </a:tr>
              <a:tr h="202996">
                <a:tc>
                  <a:txBody>
                    <a:bodyPr/>
                    <a:lstStyle/>
                    <a:p>
                      <a:pPr algn="l"/>
                      <a:r>
                        <a:rPr sz="869" b="0">
                          <a:solidFill>
                            <a:srgbClr val="252F3D"/>
                          </a:solidFill>
                          <a:latin typeface="Calibri"/>
                        </a:rPr>
                        <a:t>6, 17, 18</a:t>
                      </a:r>
                    </a:p>
                  </a:txBody>
                  <a:tcPr marL="54864" marR="54864" marT="9144" marB="9144" anchor="ctr">
                    <a:solidFill>
                      <a:srgbClr val="F3F5F9"/>
                    </a:solidFill>
                  </a:tcPr>
                </a:tc>
                <a:tc>
                  <a:txBody>
                    <a:bodyPr/>
                    <a:lstStyle/>
                    <a:p>
                      <a:pPr algn="l"/>
                      <a:r>
                        <a:rPr sz="869" b="0">
                          <a:solidFill>
                            <a:srgbClr val="252F3D"/>
                          </a:solidFill>
                          <a:latin typeface="Calibri"/>
                        </a:rPr>
                        <a:t>Checkpoint save/load with config sidecar</a:t>
                      </a:r>
                    </a:p>
                  </a:txBody>
                  <a:tcPr marL="54864" marR="54864" marT="9144" marB="9144" anchor="ctr">
                    <a:solidFill>
                      <a:srgbClr val="F3F5F9"/>
                    </a:solidFill>
                  </a:tcPr>
                </a:tc>
                <a:tc>
                  <a:txBody>
                    <a:bodyPr/>
                    <a:lstStyle/>
                    <a:p>
                      <a:pPr algn="l"/>
                      <a:r>
                        <a:rPr sz="869" b="0">
                          <a:solidFill>
                            <a:srgbClr val="252F3D"/>
                          </a:solidFill>
                          <a:latin typeface="Calibri"/>
                        </a:rPr>
                        <a:t>model.py:186-235</a:t>
                      </a:r>
                    </a:p>
                  </a:txBody>
                  <a:tcPr marL="54864" marR="54864" marT="9144" marB="9144" anchor="ctr">
                    <a:solidFill>
                      <a:srgbClr val="F3F5F9"/>
                    </a:solidFill>
                  </a:tcPr>
                </a:tc>
                <a:tc>
                  <a:txBody>
                    <a:bodyPr/>
                    <a:lstStyle/>
                    <a:p>
                      <a:pPr algn="l"/>
                      <a:r>
                        <a:rPr sz="869" b="0">
                          <a:solidFill>
                            <a:srgbClr val="252F3D"/>
                          </a:solidFill>
                          <a:latin typeface="Calibri"/>
                        </a:rPr>
                        <a:t>save_checkpoint, load_model</a:t>
                      </a:r>
                    </a:p>
                  </a:txBody>
                  <a:tcPr marL="54864" marR="54864" marT="9144" marB="9144" anchor="ctr">
                    <a:solidFill>
                      <a:srgbClr val="F3F5F9"/>
                    </a:solidFill>
                  </a:tcPr>
                </a:tc>
              </a:tr>
            </a:tbl>
          </a:graphicData>
        </a:graphic>
      </p:graphicFrame>
      <p:sp>
        <p:nvSpPr>
          <p:cNvPr id="8" name="TextBox 7"/>
          <p:cNvSpPr txBox="1"/>
          <p:nvPr/>
        </p:nvSpPr>
        <p:spPr>
          <a:xfrm>
            <a:off x="502920" y="5870448"/>
            <a:ext cx="11183112" cy="457200"/>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Line numbers refer to the state of the repository at commit 56b7371. Where a claim in this deck came from an analysis performed during preparation rather than from a committed artefact, it is marked as such on the slide and detailed in A4.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APPENDIX · VIVA PREPARATION</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A2 · Anticipated questions — architecture and data</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1F3B6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502920" y="1280160"/>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Why EfficientNet-B2 rather than a ResNet or a vision transformer?</a:t>
            </a:r>
          </a:p>
        </p:txBody>
      </p:sp>
      <p:sp>
        <p:nvSpPr>
          <p:cNvPr id="8" name="TextBox 7"/>
          <p:cNvSpPr txBox="1"/>
          <p:nvPr/>
        </p:nvSpPr>
        <p:spPr>
          <a:xfrm>
            <a:off x="822960" y="1517904"/>
            <a:ext cx="10881360" cy="429768"/>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Parameter efficiency at 224×224 with ~6.7 k training samples. B2 gives 352-channel 7×7 maps at 7.2 M parameters; a ViT would need far more data or heavier pretraining. The results show even B2 was too much capacity — the small preset used B0, but shrinking the whole network also cost the temporal branch 23 W/m².</a:t>
            </a:r>
          </a:p>
        </p:txBody>
      </p:sp>
      <p:cxnSp>
        <p:nvCxnSpPr>
          <p:cNvPr id="9" name="Connector 8"/>
          <p:cNvCxnSpPr/>
          <p:nvPr/>
        </p:nvCxnSpPr>
        <p:spPr>
          <a:xfrm>
            <a:off x="502920" y="1890903"/>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1954910"/>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Why is the attention query the BiLSTM state rather than a learned token?</a:t>
            </a:r>
          </a:p>
        </p:txBody>
      </p:sp>
      <p:sp>
        <p:nvSpPr>
          <p:cNvPr id="11" name="TextBox 10"/>
          <p:cNvSpPr txBox="1"/>
          <p:nvPr/>
        </p:nvSpPr>
        <p:spPr>
          <a:xfrm>
            <a:off x="822960" y="2192654"/>
            <a:ext cx="10881360" cy="429768"/>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So the image pooling is conditioned on the recent weather trajectory — the temporal state asks the image what to look at. The cost is that the image branch can never be evaluated independently, which is exactly why the ablation named “CNN-only” in the code is renamed “image + temporal query” in this deck.</a:t>
            </a:r>
          </a:p>
        </p:txBody>
      </p:sp>
      <p:cxnSp>
        <p:nvCxnSpPr>
          <p:cNvPr id="12" name="Connector 11"/>
          <p:cNvCxnSpPr/>
          <p:nvPr/>
        </p:nvCxnSpPr>
        <p:spPr>
          <a:xfrm>
            <a:off x="502920" y="2565654"/>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2920" y="2629661"/>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What are the tensor shapes through the image branch?</a:t>
            </a:r>
          </a:p>
        </p:txBody>
      </p:sp>
      <p:sp>
        <p:nvSpPr>
          <p:cNvPr id="14" name="TextBox 13"/>
          <p:cNvSpPr txBox="1"/>
          <p:nvPr/>
        </p:nvSpPr>
        <p:spPr>
          <a:xfrm>
            <a:off x="822960" y="2867406"/>
            <a:ext cx="10881360" cy="429768"/>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(B,9,224,224) splits into three (B,3,224,224) frames → global_enc → (B,352,7,7) each; the RoI crop (B,3,112,112) is bilinearly upsampled to 224 → roi_enc → (B,352,7,7). Each map flattens to 49 tokens, giving 4 × 49 = 196 patch tokens of 352 channels → projected to 256.</a:t>
            </a:r>
          </a:p>
        </p:txBody>
      </p:sp>
      <p:cxnSp>
        <p:nvCxnSpPr>
          <p:cNvPr id="15" name="Connector 14"/>
          <p:cNvCxnSpPr/>
          <p:nvPr/>
        </p:nvCxnSpPr>
        <p:spPr>
          <a:xfrm>
            <a:off x="502920" y="3240404"/>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2920" y="3304412"/>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Is future_clearsky leakage?</a:t>
            </a:r>
          </a:p>
        </p:txBody>
      </p:sp>
      <p:sp>
        <p:nvSpPr>
          <p:cNvPr id="17" name="TextBox 16"/>
          <p:cNvSpPr txBox="1"/>
          <p:nvPr/>
        </p:nvSpPr>
        <p:spPr>
          <a:xfrm>
            <a:off x="822960" y="3542156"/>
            <a:ext cx="10881360" cy="598932"/>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No. Clear-sky GHI is a deterministic function of latitude, longitude and time — the Ineichen model with a turbidity climatology. It contains no information about the weather at t+h and is exactly as available at issue time as the calendar is. The genuine leak risk was pv_actual (r = 0.9999 with GHI); it is excluded from every feature set.</a:t>
            </a:r>
          </a:p>
        </p:txBody>
      </p:sp>
      <p:cxnSp>
        <p:nvCxnSpPr>
          <p:cNvPr id="18" name="Connector 17"/>
          <p:cNvCxnSpPr/>
          <p:nvPr/>
        </p:nvCxnSpPr>
        <p:spPr>
          <a:xfrm>
            <a:off x="502920" y="4077271"/>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4141279"/>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Is there data leakage across the split?</a:t>
            </a:r>
          </a:p>
        </p:txBody>
      </p:sp>
      <p:sp>
        <p:nvSpPr>
          <p:cNvPr id="20" name="TextBox 19"/>
          <p:cNvSpPr txBox="1"/>
          <p:nvPr/>
        </p:nvSpPr>
        <p:spPr>
          <a:xfrm>
            <a:off x="822960" y="4379023"/>
            <a:ext cx="10881360" cy="598932"/>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No. The split is chronological and never shuffled; each split builds its own windows inside its own rows (valid_indices starts at index 23), so no validation window reaches back into training data — the first 23 rows of each split are consumed as history instead. Normalisation statistics come from the training rows only, and pv_actual is excluded everywhere. The residual contamination is model selection, not features: early stopping used these rows.</a:t>
            </a:r>
          </a:p>
        </p:txBody>
      </p:sp>
      <p:cxnSp>
        <p:nvCxnSpPr>
          <p:cNvPr id="21" name="Connector 20"/>
          <p:cNvCxnSpPr/>
          <p:nvPr/>
        </p:nvCxnSpPr>
        <p:spPr>
          <a:xfrm>
            <a:off x="502920" y="4914137"/>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2920" y="4978145"/>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How representative is 2.5 years of one equatorial site?</a:t>
            </a:r>
          </a:p>
        </p:txBody>
      </p:sp>
      <p:sp>
        <p:nvSpPr>
          <p:cNvPr id="23" name="TextBox 22"/>
          <p:cNvSpPr txBox="1"/>
          <p:nvPr/>
        </p:nvSpPr>
        <p:spPr>
          <a:xfrm>
            <a:off x="822960" y="5215889"/>
            <a:ext cx="10881360" cy="429768"/>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It covers three full monsoon cycles, which is adequate for seasonality but thin for rare events. The bigger problem is the evaluation window, which is a single north-east monsoon season — that is on the limitations slide.</a:t>
            </a:r>
          </a:p>
        </p:txBody>
      </p:sp>
      <p:cxnSp>
        <p:nvCxnSpPr>
          <p:cNvPr id="24" name="Connector 23"/>
          <p:cNvCxnSpPr/>
          <p:nvPr/>
        </p:nvCxnSpPr>
        <p:spPr>
          <a:xfrm>
            <a:off x="502920" y="5588888"/>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2920" y="5652897"/>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Why grayscale images rather than the RGB composite?</a:t>
            </a:r>
          </a:p>
        </p:txBody>
      </p:sp>
      <p:sp>
        <p:nvSpPr>
          <p:cNvPr id="26" name="TextBox 25"/>
          <p:cNvSpPr txBox="1"/>
          <p:nvPr/>
        </p:nvSpPr>
        <p:spPr>
          <a:xfrm>
            <a:off x="822960" y="5890640"/>
            <a:ext cx="10881360" cy="429768"/>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For consistency with the JAXA fallback source, which is single-channel. The tensor keeps three identical channels so ImageNet-pretrained weights still apply. The cost is any colour-based cloud-type discrimination that the RGB composite would carry.</a:t>
            </a:r>
          </a:p>
        </p:txBody>
      </p:sp>
      <p:cxnSp>
        <p:nvCxnSpPr>
          <p:cNvPr id="27" name="Connector 26"/>
          <p:cNvCxnSpPr/>
          <p:nvPr/>
        </p:nvCxnSpPr>
        <p:spPr>
          <a:xfrm>
            <a:off x="502920" y="6263640"/>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APPENDIX · VIVA PREPARATION</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A3 · Anticipated questions — training, evaluation and results</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1F3B6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502920" y="1280160"/>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Why Gaussian NLL rather than MSE or pinball loss?</a:t>
            </a:r>
          </a:p>
        </p:txBody>
      </p:sp>
      <p:sp>
        <p:nvSpPr>
          <p:cNvPr id="8" name="TextBox 7"/>
          <p:cNvSpPr txBox="1"/>
          <p:nvPr/>
        </p:nvSpPr>
        <p:spPr>
          <a:xfrm>
            <a:off x="822960" y="1517904"/>
            <a:ext cx="10881360" cy="429768"/>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The deliverable is an interval, not a point. NLL learns μ and σ jointly and gives a closed-form CRPS. Pinball loss on quantiles would be the natural alternative and avoids the Gaussian assumption — worth testing, since irradiance residuals are skewed near the clear-sky ceiling.</a:t>
            </a:r>
          </a:p>
        </p:txBody>
      </p:sp>
      <p:cxnSp>
        <p:nvCxnSpPr>
          <p:cNvPr id="9" name="Connector 8"/>
          <p:cNvCxnSpPr/>
          <p:nvPr/>
        </p:nvCxnSpPr>
        <p:spPr>
          <a:xfrm>
            <a:off x="502920" y="1913293"/>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1977301"/>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How were the hyperparameters chosen?</a:t>
            </a:r>
          </a:p>
        </p:txBody>
      </p:sp>
      <p:sp>
        <p:nvSpPr>
          <p:cNvPr id="11" name="TextBox 10"/>
          <p:cNvSpPr txBox="1"/>
          <p:nvPr/>
        </p:nvSpPr>
        <p:spPr>
          <a:xfrm>
            <a:off x="822960" y="2215045"/>
            <a:ext cx="10881360" cy="429768"/>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By hand, guided by validation NLL, not by a search. lr 3 × 10⁻⁵ because higher rates destabilised the σ head under fp16; weight decay 0.1 and dropout 0.15 as a response to the visible overfitting; batch 128 to fill the GPU. No Bayesian or grid search was run — that is a limitation, not a design choice.</a:t>
            </a:r>
          </a:p>
        </p:txBody>
      </p:sp>
      <p:cxnSp>
        <p:nvCxnSpPr>
          <p:cNvPr id="12" name="Connector 11"/>
          <p:cNvCxnSpPr/>
          <p:nvPr/>
        </p:nvCxnSpPr>
        <p:spPr>
          <a:xfrm>
            <a:off x="502920" y="2610435"/>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2920" y="2674443"/>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How did you prevent overfitting, and did it work?</a:t>
            </a:r>
          </a:p>
        </p:txBody>
      </p:sp>
      <p:sp>
        <p:nvSpPr>
          <p:cNvPr id="14" name="TextBox 13"/>
          <p:cNvSpPr txBox="1"/>
          <p:nvPr/>
        </p:nvSpPr>
        <p:spPr>
          <a:xfrm>
            <a:off x="822960" y="2912187"/>
            <a:ext cx="10881360" cy="429768"/>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Frozen encoders for 20 epochs, weight decay 0.1, dropout, gradient clipping, early stopping on validation NLL. Partially: the curves on slide 8 show validation loss turning upward four epochs after the CNN is unfrozen. Early stopping caught it, but the underlying capacity mismatch remained.</a:t>
            </a:r>
          </a:p>
        </p:txBody>
      </p:sp>
      <p:cxnSp>
        <p:nvCxnSpPr>
          <p:cNvPr id="15" name="Connector 14"/>
          <p:cNvCxnSpPr/>
          <p:nvPr/>
        </p:nvCxnSpPr>
        <p:spPr>
          <a:xfrm>
            <a:off x="502920" y="3307577"/>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2920" y="3371585"/>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Why report the validation split rather than the test split?</a:t>
            </a:r>
          </a:p>
        </p:txBody>
      </p:sp>
      <p:sp>
        <p:nvSpPr>
          <p:cNvPr id="17" name="TextBox 16"/>
          <p:cNvSpPr txBox="1"/>
          <p:nvPr/>
        </p:nvSpPr>
        <p:spPr>
          <a:xfrm>
            <a:off x="822960" y="3609329"/>
            <a:ext cx="10881360" cy="429768"/>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Because the test split contains 18 imaged samples from two days — slide 10. The validation rows are 914 samples over 93 days. They are contaminated by early stopping and I say so everywhere; a contaminated estimate on 914 samples is far more informative than a clean one on 18.</a:t>
            </a:r>
          </a:p>
        </p:txBody>
      </p:sp>
      <p:cxnSp>
        <p:nvCxnSpPr>
          <p:cNvPr id="18" name="Connector 17"/>
          <p:cNvCxnSpPr/>
          <p:nvPr/>
        </p:nvCxnSpPr>
        <p:spPr>
          <a:xfrm>
            <a:off x="502920" y="4004719"/>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4068727"/>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Is the comparison with LightGBM fair?</a:t>
            </a:r>
          </a:p>
        </p:txBody>
      </p:sp>
      <p:sp>
        <p:nvSpPr>
          <p:cNvPr id="20" name="TextBox 19"/>
          <p:cNvSpPr txBox="1"/>
          <p:nvPr/>
        </p:nvSpPr>
        <p:spPr>
          <a:xfrm>
            <a:off x="822960" y="4306471"/>
            <a:ext cx="10881360" cy="429768"/>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Yes, and deliberately generous to LightGBM: it receives 14 features at time t including three GHI lags, trained on the same rows and scored on identical samples. The deep models additionally receive 24-step history and four image tensors. If anything the deep models have the information advantage.</a:t>
            </a:r>
          </a:p>
        </p:txBody>
      </p:sp>
      <p:cxnSp>
        <p:nvCxnSpPr>
          <p:cNvPr id="21" name="Connector 20"/>
          <p:cNvCxnSpPr/>
          <p:nvPr/>
        </p:nvCxnSpPr>
        <p:spPr>
          <a:xfrm>
            <a:off x="502920" y="4701861"/>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2920" y="4765869"/>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Why does the small model perform so much worse?</a:t>
            </a:r>
          </a:p>
        </p:txBody>
      </p:sp>
      <p:sp>
        <p:nvSpPr>
          <p:cNvPr id="23" name="TextBox 22"/>
          <p:cNvSpPr txBox="1"/>
          <p:nvPr/>
        </p:nvSpPr>
        <p:spPr>
          <a:xfrm>
            <a:off x="822960" y="5003613"/>
            <a:ext cx="10881360" cy="598932"/>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It shrinks everything at once — B0 backbone, 128-d fusion, 4 heads, 64-unit LSTM, dropout 0.3. The 23 W/m² loss says the temporal branch needed the capacity even though the image branch did not. It is evidence against a naive “just make it smaller” fix, and it is why the future-work item is a frozen encoder with a light probe rather than uniform shrinkage.</a:t>
            </a:r>
          </a:p>
        </p:txBody>
      </p:sp>
      <p:cxnSp>
        <p:nvCxnSpPr>
          <p:cNvPr id="24" name="Connector 23"/>
          <p:cNvCxnSpPr/>
          <p:nvPr/>
        </p:nvCxnSpPr>
        <p:spPr>
          <a:xfrm>
            <a:off x="502920" y="5566498"/>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2920" y="5630506"/>
            <a:ext cx="11183112" cy="237744"/>
          </a:xfrm>
          <a:prstGeom prst="rect">
            <a:avLst/>
          </a:prstGeom>
          <a:noFill/>
        </p:spPr>
        <p:txBody>
          <a:bodyPr wrap="square" anchor="t" lIns="0" rIns="0" tIns="0" bIns="0">
            <a:spAutoFit/>
          </a:bodyPr>
          <a:lstStyle/>
          <a:p>
            <a:pPr algn="l">
              <a:lnSpc>
                <a:spcPct val="100000"/>
              </a:lnSpc>
            </a:pPr>
            <a:r>
              <a:rPr sz="1130" b="1" i="0">
                <a:solidFill>
                  <a:srgbClr val="1F3B63"/>
                </a:solidFill>
                <a:latin typeface="Calibri"/>
              </a:rPr>
              <a:t>Q   Which single result is the most important?</a:t>
            </a:r>
          </a:p>
        </p:txBody>
      </p:sp>
      <p:sp>
        <p:nvSpPr>
          <p:cNvPr id="26" name="TextBox 25"/>
          <p:cNvSpPr txBox="1"/>
          <p:nvPr/>
        </p:nvSpPr>
        <p:spPr>
          <a:xfrm>
            <a:off x="822960" y="5868250"/>
            <a:ext cx="10881360" cy="429768"/>
          </a:xfrm>
          <a:prstGeom prst="rect">
            <a:avLst/>
          </a:prstGeom>
          <a:noFill/>
        </p:spPr>
        <p:txBody>
          <a:bodyPr wrap="square" anchor="t" lIns="0" rIns="0" tIns="0" bIns="0">
            <a:spAutoFit/>
          </a:bodyPr>
          <a:lstStyle/>
          <a:p>
            <a:pPr algn="l">
              <a:lnSpc>
                <a:spcPct val="100000"/>
              </a:lnSpc>
            </a:pPr>
            <a:r>
              <a:rPr sz="1010" b="0" i="0">
                <a:solidFill>
                  <a:srgbClr val="252F3D"/>
                </a:solidFill>
                <a:latin typeface="Calibri"/>
              </a:rPr>
              <a:t>The skill curve on slide 12: +20 % to +38 % against smart persistence, rising with horizon. It is the only result that is large, physically explicable, consistent across every model, and robust to the defects on the limitations slide.</a:t>
            </a:r>
          </a:p>
        </p:txBody>
      </p:sp>
      <p:cxnSp>
        <p:nvCxnSpPr>
          <p:cNvPr id="27" name="Connector 26"/>
          <p:cNvCxnSpPr/>
          <p:nvPr/>
        </p:nvCxnSpPr>
        <p:spPr>
          <a:xfrm>
            <a:off x="502920" y="6263639"/>
            <a:ext cx="11183112" cy="0"/>
          </a:xfrm>
          <a:prstGeom prst="line">
            <a:avLst/>
          </a:prstGeom>
          <a:ln w="6350">
            <a:solidFill>
              <a:srgbClr val="D8DE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APPENDIX</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150" b="1" i="0">
                <a:solidFill>
                  <a:srgbClr val="1F3B63"/>
                </a:solidFill>
                <a:latin typeface="Calibri"/>
              </a:rPr>
              <a:t>A4 · Reproduction evidence and code-vs-documentation discrepancies</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1F3B6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sp>
        <p:nvSpPr>
          <p:cNvPr id="7" name="TextBox 6"/>
          <p:cNvSpPr txBox="1"/>
          <p:nvPr/>
        </p:nvSpPr>
        <p:spPr>
          <a:xfrm>
            <a:off x="502920" y="1280160"/>
            <a:ext cx="5577840" cy="237744"/>
          </a:xfrm>
          <a:prstGeom prst="rect">
            <a:avLst/>
          </a:prstGeom>
          <a:noFill/>
        </p:spPr>
        <p:txBody>
          <a:bodyPr wrap="square" anchor="t" lIns="0" rIns="0" tIns="0" bIns="0">
            <a:spAutoFit/>
          </a:bodyPr>
          <a:lstStyle/>
          <a:p>
            <a:pPr algn="l">
              <a:lnSpc>
                <a:spcPct val="100000"/>
              </a:lnSpc>
            </a:pPr>
            <a:r>
              <a:rPr sz="1000" b="1" i="0">
                <a:solidFill>
                  <a:srgbClr val="C4622D"/>
                </a:solidFill>
                <a:latin typeface="Calibri"/>
              </a:rPr>
              <a:t>INDEPENDENT REPRODUCTION PERFORMED FOR THIS DECK</a:t>
            </a:r>
          </a:p>
        </p:txBody>
      </p:sp>
      <p:sp>
        <p:nvSpPr>
          <p:cNvPr id="8" name="TextBox 7"/>
          <p:cNvSpPr txBox="1"/>
          <p:nvPr/>
        </p:nvSpPr>
        <p:spPr>
          <a:xfrm>
            <a:off x="502920" y="1536192"/>
            <a:ext cx="5577840" cy="457200"/>
          </a:xfrm>
          <a:prstGeom prst="rect">
            <a:avLst/>
          </a:prstGeom>
          <a:noFill/>
        </p:spPr>
        <p:txBody>
          <a:bodyPr wrap="square" anchor="t" lIns="0" rIns="0" tIns="0" bIns="0">
            <a:spAutoFit/>
          </a:bodyPr>
          <a:lstStyle/>
          <a:p>
            <a:pPr algn="l">
              <a:lnSpc>
                <a:spcPct val="103000"/>
              </a:lnSpc>
            </a:pPr>
            <a:r>
              <a:rPr sz="1000" b="0" i="0">
                <a:solidFill>
                  <a:srgbClr val="252F3D"/>
                </a:solidFill>
                <a:latin typeface="Calibri"/>
              </a:rPr>
              <a:t>The notebook pipeline was re-implemented from the committed CSV and checkpoints and run in fp32 on CPU/MPS. Agreement with the committed results:</a:t>
            </a:r>
          </a:p>
        </p:txBody>
      </p:sp>
      <p:graphicFrame>
        <p:nvGraphicFramePr>
          <p:cNvPr id="9" name="Table 8"/>
          <p:cNvGraphicFramePr>
            <a:graphicFrameLocks noGrp="1"/>
          </p:cNvGraphicFramePr>
          <p:nvPr/>
        </p:nvGraphicFramePr>
        <p:xfrm>
          <a:off x="502920" y="2057400"/>
          <a:ext cx="5577840" cy="2610612"/>
        </p:xfrm>
        <a:graphic>
          <a:graphicData uri="http://schemas.openxmlformats.org/drawingml/2006/table">
            <a:tbl>
              <a:tblPr bandRow="1"/>
              <a:tblGrid>
                <a:gridCol w="2377440"/>
                <a:gridCol w="1645920"/>
                <a:gridCol w="1554480"/>
              </a:tblGrid>
              <a:tr h="246888">
                <a:tc>
                  <a:txBody>
                    <a:bodyPr/>
                    <a:lstStyle/>
                    <a:p>
                      <a:pPr algn="l"/>
                      <a:r>
                        <a:rPr sz="1050" b="1">
                          <a:solidFill>
                            <a:srgbClr val="FFFFFF"/>
                          </a:solidFill>
                          <a:latin typeface="Calibri"/>
                        </a:rPr>
                        <a:t>Quantity</a:t>
                      </a:r>
                    </a:p>
                  </a:txBody>
                  <a:tcPr marL="54864" marR="54864" marT="18288" marB="18288" anchor="ctr">
                    <a:solidFill>
                      <a:srgbClr val="1F3B63"/>
                    </a:solidFill>
                  </a:tcPr>
                </a:tc>
                <a:tc>
                  <a:txBody>
                    <a:bodyPr/>
                    <a:lstStyle/>
                    <a:p>
                      <a:pPr algn="l"/>
                      <a:r>
                        <a:rPr sz="1050" b="1">
                          <a:solidFill>
                            <a:srgbClr val="FFFFFF"/>
                          </a:solidFill>
                          <a:latin typeface="Calibri"/>
                        </a:rPr>
                        <a:t>committed</a:t>
                      </a:r>
                    </a:p>
                  </a:txBody>
                  <a:tcPr marL="54864" marR="54864" marT="18288" marB="18288" anchor="ctr">
                    <a:solidFill>
                      <a:srgbClr val="1F3B63"/>
                    </a:solidFill>
                  </a:tcPr>
                </a:tc>
                <a:tc>
                  <a:txBody>
                    <a:bodyPr/>
                    <a:lstStyle/>
                    <a:p>
                      <a:pPr algn="l"/>
                      <a:r>
                        <a:rPr sz="1050" b="1">
                          <a:solidFill>
                            <a:srgbClr val="FFFFFF"/>
                          </a:solidFill>
                          <a:latin typeface="Calibri"/>
                        </a:rPr>
                        <a:t>reproduced</a:t>
                      </a:r>
                    </a:p>
                  </a:txBody>
                  <a:tcPr marL="54864" marR="54864" marT="18288" marB="18288" anchor="ctr">
                    <a:solidFill>
                      <a:srgbClr val="1F3B63"/>
                    </a:solidFill>
                  </a:tcPr>
                </a:tc>
              </a:tr>
              <a:tr h="214884">
                <a:tc>
                  <a:txBody>
                    <a:bodyPr/>
                    <a:lstStyle/>
                    <a:p>
                      <a:pPr algn="l"/>
                      <a:r>
                        <a:rPr sz="919" b="0">
                          <a:solidFill>
                            <a:srgbClr val="252F3D"/>
                          </a:solidFill>
                          <a:latin typeface="Calibri"/>
                        </a:rPr>
                        <a:t>clean rows after dropna</a:t>
                      </a:r>
                    </a:p>
                  </a:txBody>
                  <a:tcPr marL="54864" marR="54864" marT="9144" marB="9144" anchor="ctr">
                    <a:solidFill>
                      <a:srgbClr val="F3F5F9"/>
                    </a:solidFill>
                  </a:tcPr>
                </a:tc>
                <a:tc>
                  <a:txBody>
                    <a:bodyPr/>
                    <a:lstStyle/>
                    <a:p>
                      <a:pPr algn="l"/>
                      <a:r>
                        <a:rPr sz="919" b="0">
                          <a:solidFill>
                            <a:srgbClr val="252F3D"/>
                          </a:solidFill>
                          <a:latin typeface="Calibri"/>
                        </a:rPr>
                        <a:t>9,574</a:t>
                      </a:r>
                    </a:p>
                  </a:txBody>
                  <a:tcPr marL="54864" marR="54864" marT="9144" marB="9144" anchor="ctr">
                    <a:solidFill>
                      <a:srgbClr val="F3F5F9"/>
                    </a:solidFill>
                  </a:tcPr>
                </a:tc>
                <a:tc>
                  <a:txBody>
                    <a:bodyPr/>
                    <a:lstStyle/>
                    <a:p>
                      <a:pPr algn="l"/>
                      <a:r>
                        <a:rPr sz="919" b="0">
                          <a:solidFill>
                            <a:srgbClr val="252F3D"/>
                          </a:solidFill>
                          <a:latin typeface="Calibri"/>
                        </a:rPr>
                        <a:t>9,574 ✓</a:t>
                      </a:r>
                    </a:p>
                  </a:txBody>
                  <a:tcPr marL="54864" marR="54864" marT="9144" marB="9144" anchor="ctr">
                    <a:solidFill>
                      <a:srgbClr val="F3F5F9"/>
                    </a:solidFill>
                  </a:tcPr>
                </a:tc>
              </a:tr>
              <a:tr h="214884">
                <a:tc>
                  <a:txBody>
                    <a:bodyPr/>
                    <a:lstStyle/>
                    <a:p>
                      <a:pPr algn="l"/>
                      <a:r>
                        <a:rPr sz="919" b="0">
                          <a:solidFill>
                            <a:srgbClr val="252F3D"/>
                          </a:solidFill>
                          <a:latin typeface="Calibri"/>
                        </a:rPr>
                        <a:t>train / val / test rows</a:t>
                      </a:r>
                    </a:p>
                  </a:txBody>
                  <a:tcPr marL="54864" marR="54864" marT="9144" marB="9144" anchor="ctr">
                    <a:solidFill>
                      <a:srgbClr val="FFFFFF"/>
                    </a:solidFill>
                  </a:tcPr>
                </a:tc>
                <a:tc>
                  <a:txBody>
                    <a:bodyPr/>
                    <a:lstStyle/>
                    <a:p>
                      <a:pPr algn="l"/>
                      <a:r>
                        <a:rPr sz="919" b="0">
                          <a:solidFill>
                            <a:srgbClr val="252F3D"/>
                          </a:solidFill>
                          <a:latin typeface="Calibri"/>
                        </a:rPr>
                        <a:t>6,701 / 1,436 / 1,437</a:t>
                      </a:r>
                    </a:p>
                  </a:txBody>
                  <a:tcPr marL="54864" marR="54864" marT="9144" marB="9144" anchor="ctr">
                    <a:solidFill>
                      <a:srgbClr val="FFFFFF"/>
                    </a:solidFill>
                  </a:tcPr>
                </a:tc>
                <a:tc>
                  <a:txBody>
                    <a:bodyPr/>
                    <a:lstStyle/>
                    <a:p>
                      <a:pPr algn="l"/>
                      <a:r>
                        <a:rPr sz="919" b="0">
                          <a:solidFill>
                            <a:srgbClr val="252F3D"/>
                          </a:solidFill>
                          <a:latin typeface="Calibri"/>
                        </a:rPr>
                        <a:t>identical ✓</a:t>
                      </a:r>
                    </a:p>
                  </a:txBody>
                  <a:tcPr marL="54864" marR="54864" marT="9144" marB="9144" anchor="ctr">
                    <a:solidFill>
                      <a:srgbClr val="FFFFFF"/>
                    </a:solidFill>
                  </a:tcPr>
                </a:tc>
              </a:tr>
              <a:tr h="214884">
                <a:tc>
                  <a:txBody>
                    <a:bodyPr/>
                    <a:lstStyle/>
                    <a:p>
                      <a:pPr algn="l"/>
                      <a:r>
                        <a:rPr sz="919" b="0">
                          <a:solidFill>
                            <a:srgbClr val="252F3D"/>
                          </a:solidFill>
                          <a:latin typeface="Calibri"/>
                        </a:rPr>
                        <a:t>deep samples per split</a:t>
                      </a:r>
                    </a:p>
                  </a:txBody>
                  <a:tcPr marL="54864" marR="54864" marT="9144" marB="9144" anchor="ctr">
                    <a:solidFill>
                      <a:srgbClr val="F3F5F9"/>
                    </a:solidFill>
                  </a:tcPr>
                </a:tc>
                <a:tc>
                  <a:txBody>
                    <a:bodyPr/>
                    <a:lstStyle/>
                    <a:p>
                      <a:pPr algn="l"/>
                      <a:r>
                        <a:rPr sz="919" b="0">
                          <a:solidFill>
                            <a:srgbClr val="252F3D"/>
                          </a:solidFill>
                          <a:latin typeface="Calibri"/>
                        </a:rPr>
                        <a:t>6,675 / 914 / 18</a:t>
                      </a:r>
                    </a:p>
                  </a:txBody>
                  <a:tcPr marL="54864" marR="54864" marT="9144" marB="9144" anchor="ctr">
                    <a:solidFill>
                      <a:srgbClr val="F3F5F9"/>
                    </a:solidFill>
                  </a:tcPr>
                </a:tc>
                <a:tc>
                  <a:txBody>
                    <a:bodyPr/>
                    <a:lstStyle/>
                    <a:p>
                      <a:pPr algn="l"/>
                      <a:r>
                        <a:rPr sz="919" b="0">
                          <a:solidFill>
                            <a:srgbClr val="252F3D"/>
                          </a:solidFill>
                          <a:latin typeface="Calibri"/>
                        </a:rPr>
                        <a:t>identical ✓</a:t>
                      </a:r>
                    </a:p>
                  </a:txBody>
                  <a:tcPr marL="54864" marR="54864" marT="9144" marB="9144" anchor="ctr">
                    <a:solidFill>
                      <a:srgbClr val="F3F5F9"/>
                    </a:solidFill>
                  </a:tcPr>
                </a:tc>
              </a:tr>
              <a:tr h="214884">
                <a:tc>
                  <a:txBody>
                    <a:bodyPr/>
                    <a:lstStyle/>
                    <a:p>
                      <a:pPr algn="l"/>
                      <a:r>
                        <a:rPr sz="919" b="0">
                          <a:solidFill>
                            <a:srgbClr val="252F3D"/>
                          </a:solidFill>
                          <a:latin typeface="Calibri"/>
                        </a:rPr>
                        <a:t>GHI mean, std (train)</a:t>
                      </a:r>
                    </a:p>
                  </a:txBody>
                  <a:tcPr marL="54864" marR="54864" marT="9144" marB="9144" anchor="ctr">
                    <a:solidFill>
                      <a:srgbClr val="FFFFFF"/>
                    </a:solidFill>
                  </a:tcPr>
                </a:tc>
                <a:tc>
                  <a:txBody>
                    <a:bodyPr/>
                    <a:lstStyle/>
                    <a:p>
                      <a:pPr algn="l"/>
                      <a:r>
                        <a:rPr sz="919" b="0">
                          <a:solidFill>
                            <a:srgbClr val="252F3D"/>
                          </a:solidFill>
                          <a:latin typeface="Calibri"/>
                        </a:rPr>
                        <a:t>476.89 / 258.44</a:t>
                      </a:r>
                    </a:p>
                  </a:txBody>
                  <a:tcPr marL="54864" marR="54864" marT="9144" marB="9144" anchor="ctr">
                    <a:solidFill>
                      <a:srgbClr val="FFFFFF"/>
                    </a:solidFill>
                  </a:tcPr>
                </a:tc>
                <a:tc>
                  <a:txBody>
                    <a:bodyPr/>
                    <a:lstStyle/>
                    <a:p>
                      <a:pPr algn="l"/>
                      <a:r>
                        <a:rPr sz="919" b="0">
                          <a:solidFill>
                            <a:srgbClr val="252F3D"/>
                          </a:solidFill>
                          <a:latin typeface="Calibri"/>
                        </a:rPr>
                        <a:t>identical ✓</a:t>
                      </a:r>
                    </a:p>
                  </a:txBody>
                  <a:tcPr marL="54864" marR="54864" marT="9144" marB="9144" anchor="ctr">
                    <a:solidFill>
                      <a:srgbClr val="FFFFFF"/>
                    </a:solidFill>
                  </a:tcPr>
                </a:tc>
              </a:tr>
              <a:tr h="214884">
                <a:tc>
                  <a:txBody>
                    <a:bodyPr/>
                    <a:lstStyle/>
                    <a:p>
                      <a:pPr algn="l"/>
                      <a:r>
                        <a:rPr sz="919" b="0">
                          <a:solidFill>
                            <a:srgbClr val="252F3D"/>
                          </a:solidFill>
                          <a:latin typeface="Calibri"/>
                        </a:rPr>
                        <a:t>11 normalisation means/stds</a:t>
                      </a:r>
                    </a:p>
                  </a:txBody>
                  <a:tcPr marL="54864" marR="54864" marT="9144" marB="9144" anchor="ctr">
                    <a:solidFill>
                      <a:srgbClr val="F3F5F9"/>
                    </a:solidFill>
                  </a:tcPr>
                </a:tc>
                <a:tc>
                  <a:txBody>
                    <a:bodyPr/>
                    <a:lstStyle/>
                    <a:p>
                      <a:pPr algn="l"/>
                      <a:r>
                        <a:rPr sz="919" b="0">
                          <a:solidFill>
                            <a:srgbClr val="252F3D"/>
                          </a:solidFill>
                          <a:latin typeface="Calibri"/>
                        </a:rPr>
                        <a:t>train_stats.json</a:t>
                      </a:r>
                    </a:p>
                  </a:txBody>
                  <a:tcPr marL="54864" marR="54864" marT="9144" marB="9144" anchor="ctr">
                    <a:solidFill>
                      <a:srgbClr val="F3F5F9"/>
                    </a:solidFill>
                  </a:tcPr>
                </a:tc>
                <a:tc>
                  <a:txBody>
                    <a:bodyPr/>
                    <a:lstStyle/>
                    <a:p>
                      <a:pPr algn="l"/>
                      <a:r>
                        <a:rPr sz="919" b="0">
                          <a:solidFill>
                            <a:srgbClr val="252F3D"/>
                          </a:solidFill>
                          <a:latin typeface="Calibri"/>
                        </a:rPr>
                        <a:t>match to 1e-3 ✓</a:t>
                      </a:r>
                    </a:p>
                  </a:txBody>
                  <a:tcPr marL="54864" marR="54864" marT="9144" marB="9144" anchor="ctr">
                    <a:solidFill>
                      <a:srgbClr val="F3F5F9"/>
                    </a:solidFill>
                  </a:tcPr>
                </a:tc>
              </a:tr>
              <a:tr h="214884">
                <a:tc>
                  <a:txBody>
                    <a:bodyPr/>
                    <a:lstStyle/>
                    <a:p>
                      <a:pPr algn="l"/>
                      <a:r>
                        <a:rPr sz="919" b="0">
                          <a:solidFill>
                            <a:srgbClr val="252F3D"/>
                          </a:solidFill>
                          <a:latin typeface="Calibri"/>
                        </a:rPr>
                        <a:t>MAE — naive concat (n=18)</a:t>
                      </a:r>
                    </a:p>
                  </a:txBody>
                  <a:tcPr marL="54864" marR="54864" marT="9144" marB="9144" anchor="ctr">
                    <a:solidFill>
                      <a:srgbClr val="FFFFFF"/>
                    </a:solidFill>
                  </a:tcPr>
                </a:tc>
                <a:tc>
                  <a:txBody>
                    <a:bodyPr/>
                    <a:lstStyle/>
                    <a:p>
                      <a:pPr algn="l"/>
                      <a:r>
                        <a:rPr sz="919" b="0">
                          <a:solidFill>
                            <a:srgbClr val="252F3D"/>
                          </a:solidFill>
                          <a:latin typeface="Calibri"/>
                        </a:rPr>
                        <a:t>133.09</a:t>
                      </a:r>
                    </a:p>
                  </a:txBody>
                  <a:tcPr marL="54864" marR="54864" marT="9144" marB="9144" anchor="ctr">
                    <a:solidFill>
                      <a:srgbClr val="FFFFFF"/>
                    </a:solidFill>
                  </a:tcPr>
                </a:tc>
                <a:tc>
                  <a:txBody>
                    <a:bodyPr/>
                    <a:lstStyle/>
                    <a:p>
                      <a:pPr algn="l"/>
                      <a:r>
                        <a:rPr sz="919" b="0">
                          <a:solidFill>
                            <a:srgbClr val="252F3D"/>
                          </a:solidFill>
                          <a:latin typeface="Calibri"/>
                        </a:rPr>
                        <a:t>132.98</a:t>
                      </a:r>
                    </a:p>
                  </a:txBody>
                  <a:tcPr marL="54864" marR="54864" marT="9144" marB="9144" anchor="ctr">
                    <a:solidFill>
                      <a:srgbClr val="FFFFFF"/>
                    </a:solidFill>
                  </a:tcPr>
                </a:tc>
              </a:tr>
              <a:tr h="214884">
                <a:tc>
                  <a:txBody>
                    <a:bodyPr/>
                    <a:lstStyle/>
                    <a:p>
                      <a:pPr algn="l"/>
                      <a:r>
                        <a:rPr sz="919" b="0">
                          <a:solidFill>
                            <a:srgbClr val="252F3D"/>
                          </a:solidFill>
                          <a:latin typeface="Calibri"/>
                        </a:rPr>
                        <a:t>MAE — no ghi_lag1 (n=18)</a:t>
                      </a:r>
                    </a:p>
                  </a:txBody>
                  <a:tcPr marL="54864" marR="54864" marT="9144" marB="9144" anchor="ctr">
                    <a:solidFill>
                      <a:srgbClr val="F3F5F9"/>
                    </a:solidFill>
                  </a:tcPr>
                </a:tc>
                <a:tc>
                  <a:txBody>
                    <a:bodyPr/>
                    <a:lstStyle/>
                    <a:p>
                      <a:pPr algn="l"/>
                      <a:r>
                        <a:rPr sz="919" b="0">
                          <a:solidFill>
                            <a:srgbClr val="252F3D"/>
                          </a:solidFill>
                          <a:latin typeface="Calibri"/>
                        </a:rPr>
                        <a:t>138.30</a:t>
                      </a:r>
                    </a:p>
                  </a:txBody>
                  <a:tcPr marL="54864" marR="54864" marT="9144" marB="9144" anchor="ctr">
                    <a:solidFill>
                      <a:srgbClr val="F3F5F9"/>
                    </a:solidFill>
                  </a:tcPr>
                </a:tc>
                <a:tc>
                  <a:txBody>
                    <a:bodyPr/>
                    <a:lstStyle/>
                    <a:p>
                      <a:pPr algn="l"/>
                      <a:r>
                        <a:rPr sz="919" b="0">
                          <a:solidFill>
                            <a:srgbClr val="252F3D"/>
                          </a:solidFill>
                          <a:latin typeface="Calibri"/>
                        </a:rPr>
                        <a:t>138.40</a:t>
                      </a:r>
                    </a:p>
                  </a:txBody>
                  <a:tcPr marL="54864" marR="54864" marT="9144" marB="9144" anchor="ctr">
                    <a:solidFill>
                      <a:srgbClr val="F3F5F9"/>
                    </a:solidFill>
                  </a:tcPr>
                </a:tc>
              </a:tr>
              <a:tr h="214884">
                <a:tc>
                  <a:txBody>
                    <a:bodyPr/>
                    <a:lstStyle/>
                    <a:p>
                      <a:pPr algn="l"/>
                      <a:r>
                        <a:rPr sz="919" b="0">
                          <a:solidFill>
                            <a:srgbClr val="252F3D"/>
                          </a:solidFill>
                          <a:latin typeface="Calibri"/>
                        </a:rPr>
                        <a:t>MAE — image + query (n=18)</a:t>
                      </a:r>
                    </a:p>
                  </a:txBody>
                  <a:tcPr marL="54864" marR="54864" marT="9144" marB="9144" anchor="ctr">
                    <a:solidFill>
                      <a:srgbClr val="FFFFFF"/>
                    </a:solidFill>
                  </a:tcPr>
                </a:tc>
                <a:tc>
                  <a:txBody>
                    <a:bodyPr/>
                    <a:lstStyle/>
                    <a:p>
                      <a:pPr algn="l"/>
                      <a:r>
                        <a:rPr sz="919" b="0">
                          <a:solidFill>
                            <a:srgbClr val="252F3D"/>
                          </a:solidFill>
                          <a:latin typeface="Calibri"/>
                        </a:rPr>
                        <a:t>142.58</a:t>
                      </a:r>
                    </a:p>
                  </a:txBody>
                  <a:tcPr marL="54864" marR="54864" marT="9144" marB="9144" anchor="ctr">
                    <a:solidFill>
                      <a:srgbClr val="FFFFFF"/>
                    </a:solidFill>
                  </a:tcPr>
                </a:tc>
                <a:tc>
                  <a:txBody>
                    <a:bodyPr/>
                    <a:lstStyle/>
                    <a:p>
                      <a:pPr algn="l"/>
                      <a:r>
                        <a:rPr sz="919" b="0">
                          <a:solidFill>
                            <a:srgbClr val="252F3D"/>
                          </a:solidFill>
                          <a:latin typeface="Calibri"/>
                        </a:rPr>
                        <a:t>142.40</a:t>
                      </a:r>
                    </a:p>
                  </a:txBody>
                  <a:tcPr marL="54864" marR="54864" marT="9144" marB="9144" anchor="ctr">
                    <a:solidFill>
                      <a:srgbClr val="FFFFFF"/>
                    </a:solidFill>
                  </a:tcPr>
                </a:tc>
              </a:tr>
              <a:tr h="214884">
                <a:tc>
                  <a:txBody>
                    <a:bodyPr/>
                    <a:lstStyle/>
                    <a:p>
                      <a:pPr algn="l"/>
                      <a:r>
                        <a:rPr sz="919" b="0">
                          <a:solidFill>
                            <a:srgbClr val="252F3D"/>
                          </a:solidFill>
                          <a:latin typeface="Calibri"/>
                        </a:rPr>
                        <a:t>MAE — LSTM-only (n=18)</a:t>
                      </a:r>
                    </a:p>
                  </a:txBody>
                  <a:tcPr marL="54864" marR="54864" marT="9144" marB="9144" anchor="ctr">
                    <a:solidFill>
                      <a:srgbClr val="F3F5F9"/>
                    </a:solidFill>
                  </a:tcPr>
                </a:tc>
                <a:tc>
                  <a:txBody>
                    <a:bodyPr/>
                    <a:lstStyle/>
                    <a:p>
                      <a:pPr algn="l"/>
                      <a:r>
                        <a:rPr sz="919" b="0">
                          <a:solidFill>
                            <a:srgbClr val="252F3D"/>
                          </a:solidFill>
                          <a:latin typeface="Calibri"/>
                        </a:rPr>
                        <a:t>147.27</a:t>
                      </a:r>
                    </a:p>
                  </a:txBody>
                  <a:tcPr marL="54864" marR="54864" marT="9144" marB="9144" anchor="ctr">
                    <a:solidFill>
                      <a:srgbClr val="F3F5F9"/>
                    </a:solidFill>
                  </a:tcPr>
                </a:tc>
                <a:tc>
                  <a:txBody>
                    <a:bodyPr/>
                    <a:lstStyle/>
                    <a:p>
                      <a:pPr algn="l"/>
                      <a:r>
                        <a:rPr sz="919" b="0">
                          <a:solidFill>
                            <a:srgbClr val="252F3D"/>
                          </a:solidFill>
                          <a:latin typeface="Calibri"/>
                        </a:rPr>
                        <a:t>147.29</a:t>
                      </a:r>
                    </a:p>
                  </a:txBody>
                  <a:tcPr marL="54864" marR="54864" marT="9144" marB="9144" anchor="ctr">
                    <a:solidFill>
                      <a:srgbClr val="F3F5F9"/>
                    </a:solidFill>
                  </a:tcPr>
                </a:tc>
              </a:tr>
              <a:tr h="214884">
                <a:tc>
                  <a:txBody>
                    <a:bodyPr/>
                    <a:lstStyle/>
                    <a:p>
                      <a:pPr algn="l"/>
                      <a:r>
                        <a:rPr sz="919" b="0">
                          <a:solidFill>
                            <a:srgbClr val="252F3D"/>
                          </a:solidFill>
                          <a:latin typeface="Calibri"/>
                        </a:rPr>
                        <a:t>MAE — physics-gated (n=18)</a:t>
                      </a:r>
                    </a:p>
                  </a:txBody>
                  <a:tcPr marL="54864" marR="54864" marT="9144" marB="9144" anchor="ctr">
                    <a:solidFill>
                      <a:srgbClr val="FFFFFF"/>
                    </a:solidFill>
                  </a:tcPr>
                </a:tc>
                <a:tc>
                  <a:txBody>
                    <a:bodyPr/>
                    <a:lstStyle/>
                    <a:p>
                      <a:pPr algn="l"/>
                      <a:r>
                        <a:rPr sz="919" b="0">
                          <a:solidFill>
                            <a:srgbClr val="252F3D"/>
                          </a:solidFill>
                          <a:latin typeface="Calibri"/>
                        </a:rPr>
                        <a:t>148.37</a:t>
                      </a:r>
                    </a:p>
                  </a:txBody>
                  <a:tcPr marL="54864" marR="54864" marT="9144" marB="9144" anchor="ctr">
                    <a:solidFill>
                      <a:srgbClr val="FFFFFF"/>
                    </a:solidFill>
                  </a:tcPr>
                </a:tc>
                <a:tc>
                  <a:txBody>
                    <a:bodyPr/>
                    <a:lstStyle/>
                    <a:p>
                      <a:pPr algn="l"/>
                      <a:r>
                        <a:rPr sz="919" b="0">
                          <a:solidFill>
                            <a:srgbClr val="252F3D"/>
                          </a:solidFill>
                          <a:latin typeface="Calibri"/>
                        </a:rPr>
                        <a:t>148.17</a:t>
                      </a:r>
                    </a:p>
                  </a:txBody>
                  <a:tcPr marL="54864" marR="54864" marT="9144" marB="9144" anchor="ctr">
                    <a:solidFill>
                      <a:srgbClr val="FFFFFF"/>
                    </a:solidFill>
                  </a:tcPr>
                </a:tc>
              </a:tr>
              <a:tr h="214884">
                <a:tc>
                  <a:txBody>
                    <a:bodyPr/>
                    <a:lstStyle/>
                    <a:p>
                      <a:pPr algn="l"/>
                      <a:r>
                        <a:rPr sz="919" b="0">
                          <a:solidFill>
                            <a:srgbClr val="252F3D"/>
                          </a:solidFill>
                          <a:latin typeface="Calibri"/>
                        </a:rPr>
                        <a:t>MAE — small preset (n=18)</a:t>
                      </a:r>
                    </a:p>
                  </a:txBody>
                  <a:tcPr marL="54864" marR="54864" marT="9144" marB="9144" anchor="ctr">
                    <a:solidFill>
                      <a:srgbClr val="F3F5F9"/>
                    </a:solidFill>
                  </a:tcPr>
                </a:tc>
                <a:tc>
                  <a:txBody>
                    <a:bodyPr/>
                    <a:lstStyle/>
                    <a:p>
                      <a:pPr algn="l"/>
                      <a:r>
                        <a:rPr sz="919" b="0">
                          <a:solidFill>
                            <a:srgbClr val="252F3D"/>
                          </a:solidFill>
                          <a:latin typeface="Calibri"/>
                        </a:rPr>
                        <a:t>262.93</a:t>
                      </a:r>
                    </a:p>
                  </a:txBody>
                  <a:tcPr marL="54864" marR="54864" marT="9144" marB="9144" anchor="ctr">
                    <a:solidFill>
                      <a:srgbClr val="F3F5F9"/>
                    </a:solidFill>
                  </a:tcPr>
                </a:tc>
                <a:tc>
                  <a:txBody>
                    <a:bodyPr/>
                    <a:lstStyle/>
                    <a:p>
                      <a:pPr algn="l"/>
                      <a:r>
                        <a:rPr sz="919" b="0">
                          <a:solidFill>
                            <a:srgbClr val="252F3D"/>
                          </a:solidFill>
                          <a:latin typeface="Calibri"/>
                        </a:rPr>
                        <a:t>262.21</a:t>
                      </a:r>
                    </a:p>
                  </a:txBody>
                  <a:tcPr marL="54864" marR="54864" marT="9144" marB="9144" anchor="ctr">
                    <a:solidFill>
                      <a:srgbClr val="F3F5F9"/>
                    </a:solidFill>
                  </a:tcPr>
                </a:tc>
              </a:tr>
            </a:tbl>
          </a:graphicData>
        </a:graphic>
      </p:graphicFrame>
      <p:sp>
        <p:nvSpPr>
          <p:cNvPr id="10" name="TextBox 9"/>
          <p:cNvSpPr txBox="1"/>
          <p:nvPr/>
        </p:nvSpPr>
        <p:spPr>
          <a:xfrm>
            <a:off x="502920" y="4709160"/>
            <a:ext cx="5577840" cy="685800"/>
          </a:xfrm>
          <a:prstGeom prst="rect">
            <a:avLst/>
          </a:prstGeom>
          <a:noFill/>
        </p:spPr>
        <p:txBody>
          <a:bodyPr wrap="square" anchor="t" lIns="0" rIns="0" tIns="0" bIns="0">
            <a:spAutoFit/>
          </a:bodyPr>
          <a:lstStyle/>
          <a:p>
            <a:pPr algn="l">
              <a:lnSpc>
                <a:spcPct val="103000"/>
              </a:lnSpc>
            </a:pPr>
            <a:r>
              <a:rPr sz="950" b="0" i="1">
                <a:solidFill>
                  <a:srgbClr val="6B7280"/>
                </a:solidFill>
                <a:latin typeface="Calibri"/>
              </a:rPr>
              <a:t>Residual differences &lt; 1 % are attributable to fp16 autocast at evaluation time in the notebook versus fp32 here. One trap worth recording: the cached .npy tensors must be the grayscale-converted version; using the older RGB cache changes MAE by up to 46 W/m².</a:t>
            </a:r>
          </a:p>
        </p:txBody>
      </p:sp>
      <p:sp>
        <p:nvSpPr>
          <p:cNvPr id="11" name="TextBox 10"/>
          <p:cNvSpPr txBox="1"/>
          <p:nvPr/>
        </p:nvSpPr>
        <p:spPr>
          <a:xfrm>
            <a:off x="502920" y="5486400"/>
            <a:ext cx="5577840" cy="237744"/>
          </a:xfrm>
          <a:prstGeom prst="rect">
            <a:avLst/>
          </a:prstGeom>
          <a:noFill/>
        </p:spPr>
        <p:txBody>
          <a:bodyPr wrap="square" anchor="t" lIns="0" rIns="0" tIns="0" bIns="0">
            <a:spAutoFit/>
          </a:bodyPr>
          <a:lstStyle/>
          <a:p>
            <a:pPr algn="l">
              <a:lnSpc>
                <a:spcPct val="100000"/>
              </a:lnSpc>
            </a:pPr>
            <a:r>
              <a:rPr sz="1000" b="1" i="0">
                <a:solidFill>
                  <a:srgbClr val="C4622D"/>
                </a:solidFill>
                <a:latin typeface="Calibri"/>
              </a:rPr>
              <a:t>NEW ANALYSES ADDED FOR THIS DECK</a:t>
            </a:r>
          </a:p>
        </p:txBody>
      </p:sp>
      <p:sp>
        <p:nvSpPr>
          <p:cNvPr id="12" name="TextBox 11"/>
          <p:cNvSpPr txBox="1"/>
          <p:nvPr/>
        </p:nvSpPr>
        <p:spPr>
          <a:xfrm>
            <a:off x="502920" y="5742432"/>
            <a:ext cx="5577840" cy="640080"/>
          </a:xfrm>
          <a:prstGeom prst="rect">
            <a:avLst/>
          </a:prstGeom>
          <a:noFill/>
        </p:spPr>
        <p:txBody>
          <a:bodyPr wrap="square" anchor="t" lIns="0" rIns="0" tIns="0" bIns="0">
            <a:spAutoFit/>
          </a:bodyPr>
          <a:lstStyle/>
          <a:p>
            <a:pPr algn="l">
              <a:lnSpc>
                <a:spcPct val="103000"/>
              </a:lnSpc>
            </a:pPr>
            <a:r>
              <a:rPr sz="950" b="0" i="0">
                <a:solidFill>
                  <a:srgbClr val="252F3D"/>
                </a:solidFill>
                <a:latin typeface="Calibri"/>
              </a:rPr>
              <a:t>914-sample re-evaluation of all six checkpoints · tabular baselines rescored on identical rows · Diebold–Mariano tests · CRPS and interval width · gate-behaviour statistics · error stratification · same-day-only recomputation · CPU latency measurement.</a:t>
            </a:r>
          </a:p>
        </p:txBody>
      </p:sp>
      <p:sp>
        <p:nvSpPr>
          <p:cNvPr id="13" name="TextBox 12"/>
          <p:cNvSpPr txBox="1"/>
          <p:nvPr/>
        </p:nvSpPr>
        <p:spPr>
          <a:xfrm>
            <a:off x="6355080" y="1280160"/>
            <a:ext cx="5330952" cy="237744"/>
          </a:xfrm>
          <a:prstGeom prst="rect">
            <a:avLst/>
          </a:prstGeom>
          <a:noFill/>
        </p:spPr>
        <p:txBody>
          <a:bodyPr wrap="square" anchor="t" lIns="0" rIns="0" tIns="0" bIns="0">
            <a:spAutoFit/>
          </a:bodyPr>
          <a:lstStyle/>
          <a:p>
            <a:pPr algn="l">
              <a:lnSpc>
                <a:spcPct val="100000"/>
              </a:lnSpc>
            </a:pPr>
            <a:r>
              <a:rPr sz="1000" b="1" i="0">
                <a:solidFill>
                  <a:srgbClr val="C4622D"/>
                </a:solidFill>
                <a:latin typeface="Calibri"/>
              </a:rPr>
              <a:t>WHERE CODE AND DOCUMENTATION DISAGREE  (code wins)</a:t>
            </a:r>
          </a:p>
        </p:txBody>
      </p:sp>
      <p:sp>
        <p:nvSpPr>
          <p:cNvPr id="14" name="TextBox 13"/>
          <p:cNvSpPr txBox="1"/>
          <p:nvPr/>
        </p:nvSpPr>
        <p:spPr>
          <a:xfrm>
            <a:off x="6355080" y="1572768"/>
            <a:ext cx="2103120" cy="274320"/>
          </a:xfrm>
          <a:prstGeom prst="rect">
            <a:avLst/>
          </a:prstGeom>
          <a:noFill/>
        </p:spPr>
        <p:txBody>
          <a:bodyPr wrap="square" anchor="t" lIns="0" rIns="0" tIns="0" bIns="0">
            <a:spAutoFit/>
          </a:bodyPr>
          <a:lstStyle/>
          <a:p>
            <a:pPr algn="l">
              <a:lnSpc>
                <a:spcPct val="100000"/>
              </a:lnSpc>
            </a:pPr>
            <a:r>
              <a:rPr sz="919" b="1" i="0">
                <a:solidFill>
                  <a:srgbClr val="1F3B63"/>
                </a:solidFill>
                <a:latin typeface="Consolas"/>
              </a:rPr>
              <a:t>model.py:9-19 docstring</a:t>
            </a:r>
          </a:p>
        </p:txBody>
      </p:sp>
      <p:sp>
        <p:nvSpPr>
          <p:cNvPr id="15" name="TextBox 14"/>
          <p:cNvSpPr txBox="1"/>
          <p:nvPr/>
        </p:nvSpPr>
        <p:spPr>
          <a:xfrm>
            <a:off x="8549640" y="1572768"/>
            <a:ext cx="3136392" cy="68580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Calls v1 “DEPLOYED” and v2 “experimental, no trained checkpoint yet”. All six checkpoints contain global_enc.* keys — every one is v2, and v2 is what predict.py loads. The docstring is stale.</a:t>
            </a:r>
          </a:p>
        </p:txBody>
      </p:sp>
      <p:sp>
        <p:nvSpPr>
          <p:cNvPr id="16" name="TextBox 15"/>
          <p:cNvSpPr txBox="1"/>
          <p:nvPr/>
        </p:nvSpPr>
        <p:spPr>
          <a:xfrm>
            <a:off x="6355080" y="2322576"/>
            <a:ext cx="2103120" cy="274320"/>
          </a:xfrm>
          <a:prstGeom prst="rect">
            <a:avLst/>
          </a:prstGeom>
          <a:noFill/>
        </p:spPr>
        <p:txBody>
          <a:bodyPr wrap="square" anchor="t" lIns="0" rIns="0" tIns="0" bIns="0">
            <a:spAutoFit/>
          </a:bodyPr>
          <a:lstStyle/>
          <a:p>
            <a:pPr algn="l">
              <a:lnSpc>
                <a:spcPct val="100000"/>
              </a:lnSpc>
            </a:pPr>
            <a:r>
              <a:rPr sz="919" b="1" i="0">
                <a:solidFill>
                  <a:srgbClr val="1F3B63"/>
                </a:solidFill>
                <a:latin typeface="Consolas"/>
              </a:rPr>
              <a:t>Ablation name “cnn”</a:t>
            </a:r>
          </a:p>
        </p:txBody>
      </p:sp>
      <p:sp>
        <p:nvSpPr>
          <p:cNvPr id="17" name="TextBox 16"/>
          <p:cNvSpPr txBox="1"/>
          <p:nvPr/>
        </p:nvSpPr>
        <p:spPr>
          <a:xfrm>
            <a:off x="8549640" y="2322576"/>
            <a:ext cx="3136392" cy="68580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Uses H_a, whose attention query is the BiLSTM output, so the temporal branch is still trained and still drives pooling. Renamed “image + temporal query” throughout this deck.</a:t>
            </a:r>
          </a:p>
        </p:txBody>
      </p:sp>
      <p:sp>
        <p:nvSpPr>
          <p:cNvPr id="18" name="TextBox 17"/>
          <p:cNvSpPr txBox="1"/>
          <p:nvPr/>
        </p:nvSpPr>
        <p:spPr>
          <a:xfrm>
            <a:off x="6355080" y="3072384"/>
            <a:ext cx="2103120" cy="274320"/>
          </a:xfrm>
          <a:prstGeom prst="rect">
            <a:avLst/>
          </a:prstGeom>
          <a:noFill/>
        </p:spPr>
        <p:txBody>
          <a:bodyPr wrap="square" anchor="t" lIns="0" rIns="0" tIns="0" bIns="0">
            <a:spAutoFit/>
          </a:bodyPr>
          <a:lstStyle/>
          <a:p>
            <a:pPr algn="l">
              <a:lnSpc>
                <a:spcPct val="100000"/>
              </a:lnSpc>
            </a:pPr>
            <a:r>
              <a:rPr sz="919" b="1" i="0">
                <a:solidFill>
                  <a:srgbClr val="1F3B63"/>
                </a:solidFill>
                <a:latin typeface="Consolas"/>
              </a:rPr>
              <a:t>verify.py header</a:t>
            </a:r>
          </a:p>
        </p:txBody>
      </p:sp>
      <p:sp>
        <p:nvSpPr>
          <p:cNvPr id="19" name="TextBox 18"/>
          <p:cNvSpPr txBox="1"/>
          <p:nvPr/>
        </p:nvSpPr>
        <p:spPr>
          <a:xfrm>
            <a:off x="8549640" y="3072384"/>
            <a:ext cx="3136392" cy="68580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Describes the Open-Meteo shortwave radiation series as “measured”. It is the same reanalysis product used to build the training targets — analysis, not an independent instrument.</a:t>
            </a:r>
          </a:p>
        </p:txBody>
      </p:sp>
      <p:sp>
        <p:nvSpPr>
          <p:cNvPr id="20" name="TextBox 19"/>
          <p:cNvSpPr txBox="1"/>
          <p:nvPr/>
        </p:nvSpPr>
        <p:spPr>
          <a:xfrm>
            <a:off x="6355080" y="3822191"/>
            <a:ext cx="2103120" cy="274320"/>
          </a:xfrm>
          <a:prstGeom prst="rect">
            <a:avLst/>
          </a:prstGeom>
          <a:noFill/>
        </p:spPr>
        <p:txBody>
          <a:bodyPr wrap="square" anchor="t" lIns="0" rIns="0" tIns="0" bIns="0">
            <a:spAutoFit/>
          </a:bodyPr>
          <a:lstStyle/>
          <a:p>
            <a:pPr algn="l">
              <a:lnSpc>
                <a:spcPct val="100000"/>
              </a:lnSpc>
            </a:pPr>
            <a:r>
              <a:rPr sz="919" b="1" i="0">
                <a:solidFill>
                  <a:srgbClr val="1F3B63"/>
                </a:solidFill>
                <a:latin typeface="Consolas"/>
              </a:rPr>
              <a:t>compute_clearsky_hour_mean</a:t>
            </a:r>
          </a:p>
        </p:txBody>
      </p:sp>
      <p:sp>
        <p:nvSpPr>
          <p:cNvPr id="21" name="TextBox 20"/>
          <p:cNvSpPr txBox="1"/>
          <p:nvPr/>
        </p:nvSpPr>
        <p:spPr>
          <a:xfrm>
            <a:off x="8549640" y="3822191"/>
            <a:ext cx="3136392" cy="68580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The corrected hour-mean clear-sky function exists and is used by the deployment cap, but the dataset's ghi_clearsky column and therefore clearsky_ratio still use the instantaneous value.</a:t>
            </a:r>
          </a:p>
        </p:txBody>
      </p:sp>
      <p:sp>
        <p:nvSpPr>
          <p:cNvPr id="22" name="TextBox 21"/>
          <p:cNvSpPr txBox="1"/>
          <p:nvPr/>
        </p:nvSpPr>
        <p:spPr>
          <a:xfrm>
            <a:off x="6355080" y="4572000"/>
            <a:ext cx="2103120" cy="274320"/>
          </a:xfrm>
          <a:prstGeom prst="rect">
            <a:avLst/>
          </a:prstGeom>
          <a:noFill/>
        </p:spPr>
        <p:txBody>
          <a:bodyPr wrap="square" anchor="t" lIns="0" rIns="0" tIns="0" bIns="0">
            <a:spAutoFit/>
          </a:bodyPr>
          <a:lstStyle/>
          <a:p>
            <a:pPr algn="l">
              <a:lnSpc>
                <a:spcPct val="100000"/>
              </a:lnSpc>
            </a:pPr>
            <a:r>
              <a:rPr sz="919" b="1" i="0">
                <a:solidFill>
                  <a:srgbClr val="1F3B63"/>
                </a:solidFill>
                <a:latin typeface="Consolas"/>
              </a:rPr>
              <a:t>predict.py docstring</a:t>
            </a:r>
          </a:p>
        </p:txBody>
      </p:sp>
      <p:sp>
        <p:nvSpPr>
          <p:cNvPr id="23" name="TextBox 22"/>
          <p:cNvSpPr txBox="1"/>
          <p:nvPr/>
        </p:nvSpPr>
        <p:spPr>
          <a:xfrm>
            <a:off x="8549640" y="4572000"/>
            <a:ext cx="3136392" cy="68580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States that live station weather feeds the model. It is fetched, printed and written to the output JSON, but never enters the input tensor.</a:t>
            </a:r>
          </a:p>
        </p:txBody>
      </p:sp>
      <p:sp>
        <p:nvSpPr>
          <p:cNvPr id="24" name="TextBox 23"/>
          <p:cNvSpPr txBox="1"/>
          <p:nvPr/>
        </p:nvSpPr>
        <p:spPr>
          <a:xfrm>
            <a:off x="6355080" y="5321808"/>
            <a:ext cx="2103120" cy="274320"/>
          </a:xfrm>
          <a:prstGeom prst="rect">
            <a:avLst/>
          </a:prstGeom>
          <a:noFill/>
        </p:spPr>
        <p:txBody>
          <a:bodyPr wrap="square" anchor="t" lIns="0" rIns="0" tIns="0" bIns="0">
            <a:spAutoFit/>
          </a:bodyPr>
          <a:lstStyle/>
          <a:p>
            <a:pPr algn="l">
              <a:lnSpc>
                <a:spcPct val="100000"/>
              </a:lnSpc>
            </a:pPr>
            <a:r>
              <a:rPr sz="919" b="1" i="0">
                <a:solidFill>
                  <a:srgbClr val="1F3B63"/>
                </a:solidFill>
                <a:latin typeface="Consolas"/>
              </a:rPr>
              <a:t>results/*.csv</a:t>
            </a:r>
          </a:p>
        </p:txBody>
      </p:sp>
      <p:sp>
        <p:nvSpPr>
          <p:cNvPr id="25" name="TextBox 24"/>
          <p:cNvSpPr txBox="1"/>
          <p:nvPr/>
        </p:nvSpPr>
        <p:spPr>
          <a:xfrm>
            <a:off x="8549640" y="5321808"/>
            <a:ext cx="3136392" cy="685800"/>
          </a:xfrm>
          <a:prstGeom prst="rect">
            <a:avLst/>
          </a:prstGeom>
          <a:noFill/>
        </p:spPr>
        <p:txBody>
          <a:bodyPr wrap="square" anchor="t" lIns="0" rIns="0" tIns="0" bIns="0">
            <a:spAutoFit/>
          </a:bodyPr>
          <a:lstStyle/>
          <a:p>
            <a:pPr algn="l">
              <a:lnSpc>
                <a:spcPct val="100000"/>
              </a:lnSpc>
            </a:pPr>
            <a:r>
              <a:rPr sz="919" b="0" i="0">
                <a:solidFill>
                  <a:srgbClr val="252F3D"/>
                </a:solidFill>
                <a:latin typeface="Calibri"/>
              </a:rPr>
              <a:t>The two result files were produced on different evaluation sets (18 vs 1,437 rows) and were never comparable — see slide 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55680" cy="228600"/>
          </a:xfrm>
          <a:prstGeom prst="rect">
            <a:avLst/>
          </a:prstGeom>
          <a:noFill/>
        </p:spPr>
        <p:txBody>
          <a:bodyPr wrap="square" anchor="t" lIns="0" rIns="0" tIns="0" bIns="0">
            <a:spAutoFit/>
          </a:bodyPr>
          <a:lstStyle/>
          <a:p>
            <a:pPr algn="l">
              <a:lnSpc>
                <a:spcPct val="100000"/>
              </a:lnSpc>
            </a:pPr>
            <a:r>
              <a:rPr sz="1050" b="1" i="0">
                <a:solidFill>
                  <a:srgbClr val="C4622D"/>
                </a:solidFill>
                <a:latin typeface="Calibri"/>
              </a:rPr>
              <a:t>APPENDIX · PHYSICS</a:t>
            </a:r>
          </a:p>
        </p:txBody>
      </p:sp>
      <p:sp>
        <p:nvSpPr>
          <p:cNvPr id="3" name="TextBox 2"/>
          <p:cNvSpPr txBox="1"/>
          <p:nvPr/>
        </p:nvSpPr>
        <p:spPr>
          <a:xfrm>
            <a:off x="502920" y="566928"/>
            <a:ext cx="11155680" cy="457200"/>
          </a:xfrm>
          <a:prstGeom prst="rect">
            <a:avLst/>
          </a:prstGeom>
          <a:noFill/>
        </p:spPr>
        <p:txBody>
          <a:bodyPr wrap="square" anchor="t" lIns="0" rIns="0" tIns="0" bIns="0">
            <a:spAutoFit/>
          </a:bodyPr>
          <a:lstStyle/>
          <a:p>
            <a:pPr algn="l">
              <a:lnSpc>
                <a:spcPct val="100000"/>
              </a:lnSpc>
            </a:pPr>
            <a:r>
              <a:rPr sz="2400" b="1" i="0">
                <a:solidFill>
                  <a:srgbClr val="1F3B63"/>
                </a:solidFill>
                <a:latin typeface="Calibri"/>
              </a:rPr>
              <a:t>A5 · The clear-sky timestamp-convention finding</a:t>
            </a:r>
          </a:p>
        </p:txBody>
      </p:sp>
      <p:cxnSp>
        <p:nvCxnSpPr>
          <p:cNvPr id="4" name="Connector 3"/>
          <p:cNvCxnSpPr/>
          <p:nvPr/>
        </p:nvCxnSpPr>
        <p:spPr>
          <a:xfrm>
            <a:off x="502920" y="1051560"/>
            <a:ext cx="11183112" cy="0"/>
          </a:xfrm>
          <a:prstGeom prst="line">
            <a:avLst/>
          </a:prstGeom>
          <a:ln w="15875">
            <a:solidFill>
              <a:srgbClr val="D8DEE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051560"/>
            <a:ext cx="914400" cy="0"/>
          </a:xfrm>
          <a:prstGeom prst="line">
            <a:avLst/>
          </a:prstGeom>
          <a:ln w="31750">
            <a:solidFill>
              <a:srgbClr val="1F3B6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19088"/>
            <a:ext cx="8229600" cy="228600"/>
          </a:xfrm>
          <a:prstGeom prst="rect">
            <a:avLst/>
          </a:prstGeom>
          <a:noFill/>
        </p:spPr>
        <p:txBody>
          <a:bodyPr wrap="square" anchor="t" lIns="0" rIns="0" tIns="0" bIns="0">
            <a:spAutoFit/>
          </a:bodyPr>
          <a:lstStyle/>
          <a:p>
            <a:pPr algn="l">
              <a:lnSpc>
                <a:spcPct val="100000"/>
              </a:lnSpc>
            </a:pPr>
            <a:r>
              <a:rPr sz="850" b="0" i="0">
                <a:solidFill>
                  <a:srgbClr val="6B7280"/>
                </a:solidFill>
                <a:latin typeface="Calibri"/>
              </a:rPr>
              <a:t>Satellite–Weather Fusion for Short-Horizon GHI Forecasting  ·  M.Eng. Computer Engineering</a:t>
            </a:r>
          </a:p>
        </p:txBody>
      </p:sp>
      <p:pic>
        <p:nvPicPr>
          <p:cNvPr id="7" name="Picture 6" descr="f10_clearsky.png"/>
          <p:cNvPicPr>
            <a:picLocks noChangeAspect="1"/>
          </p:cNvPicPr>
          <p:nvPr/>
        </p:nvPicPr>
        <p:blipFill>
          <a:blip r:embed="rId2"/>
          <a:stretch>
            <a:fillRect/>
          </a:stretch>
        </p:blipFill>
        <p:spPr>
          <a:xfrm>
            <a:off x="502920" y="1325880"/>
            <a:ext cx="5577840" cy="2896105"/>
          </a:xfrm>
          <a:prstGeom prst="rect">
            <a:avLst/>
          </a:prstGeom>
        </p:spPr>
      </p:pic>
      <p:sp>
        <p:nvSpPr>
          <p:cNvPr id="8" name="TextBox 7"/>
          <p:cNvSpPr txBox="1"/>
          <p:nvPr/>
        </p:nvSpPr>
        <p:spPr>
          <a:xfrm>
            <a:off x="502920" y="4617720"/>
            <a:ext cx="5577840" cy="219456"/>
          </a:xfrm>
          <a:prstGeom prst="rect">
            <a:avLst/>
          </a:prstGeom>
          <a:noFill/>
        </p:spPr>
        <p:txBody>
          <a:bodyPr wrap="square" anchor="t" lIns="0" rIns="0" tIns="0" bIns="0">
            <a:spAutoFit/>
          </a:bodyPr>
          <a:lstStyle/>
          <a:p>
            <a:pPr algn="l">
              <a:lnSpc>
                <a:spcPct val="100000"/>
              </a:lnSpc>
            </a:pPr>
            <a:r>
              <a:rPr sz="950" b="0" i="1">
                <a:solidFill>
                  <a:srgbClr val="6B7280"/>
                </a:solidFill>
                <a:latin typeface="Calibri"/>
              </a:rPr>
              <a:t>Maximum observed clear-sky index by hour over all 9,580 rows. A physically meaningful k_t should cap near 1.0–1.1 at every hour.</a:t>
            </a:r>
          </a:p>
        </p:txBody>
      </p:sp>
      <p:sp>
        <p:nvSpPr>
          <p:cNvPr id="9" name="TextBox 8"/>
          <p:cNvSpPr txBox="1"/>
          <p:nvPr/>
        </p:nvSpPr>
        <p:spPr>
          <a:xfrm>
            <a:off x="6446520" y="1325880"/>
            <a:ext cx="5239512" cy="4937760"/>
          </a:xfrm>
          <a:prstGeom prst="rect">
            <a:avLst/>
          </a:prstGeom>
          <a:noFill/>
        </p:spPr>
        <p:txBody>
          <a:bodyPr wrap="square" lIns="0" rIns="0" tIns="0" bIns="0">
            <a:spAutoFit/>
          </a:bodyPr>
          <a:lstStyle/>
          <a:p>
            <a:pPr>
              <a:lnSpc>
                <a:spcPct val="106000"/>
              </a:lnSpc>
              <a:spcBef>
                <a:spcPts val="0"/>
              </a:spcBef>
              <a:spcAft>
                <a:spcPts val="700"/>
              </a:spcAft>
            </a:pPr>
            <a:r>
              <a:rPr sz="1150" b="1" i="0">
                <a:solidFill>
                  <a:srgbClr val="1F3B63"/>
                </a:solidFill>
                <a:latin typeface="Calibri"/>
              </a:rPr>
              <a:t>The symptom.  </a:t>
            </a:r>
            <a:r>
              <a:rPr sz="1150" b="0" i="0">
                <a:solidFill>
                  <a:srgbClr val="252F3D"/>
                </a:solidFill>
                <a:latin typeface="Calibri"/>
              </a:rPr>
              <a:t>Maximum k_t drifts monotonically from 0.69 at 08:00 to 1.43 at 17:00. 425 rows exceed 1.1. A cloud-enhancement excursion would be scattered across the day; a monotone morning-to-evening ramp is systematic.</a:t>
            </a:r>
          </a:p>
          <a:p>
            <a:pPr>
              <a:lnSpc>
                <a:spcPct val="106000"/>
              </a:lnSpc>
              <a:spcBef>
                <a:spcPts val="0"/>
              </a:spcBef>
              <a:spcAft>
                <a:spcPts val="700"/>
              </a:spcAft>
            </a:pPr>
            <a:r>
              <a:rPr sz="1150" b="1" i="0">
                <a:solidFill>
                  <a:srgbClr val="1F3B63"/>
                </a:solidFill>
                <a:latin typeface="Calibri"/>
              </a:rPr>
              <a:t>The cause.  </a:t>
            </a:r>
            <a:r>
              <a:rPr sz="1150" b="0" i="0">
                <a:solidFill>
                  <a:srgbClr val="252F3D"/>
                </a:solidFill>
                <a:latin typeface="Calibri"/>
              </a:rPr>
              <a:t>Open-Meteo labels each hourly irradiance with the END of its averaging window — the 14:00 value is the mean over 13:00→14:00. pvlib's get_clearsky returns the INSTANTANEOUS value at 14:00. With the sun rising the instantaneous value exceeds the hourly mean, so k_t is suppressed; with the sun setting the reverse. Hence the ramp.</a:t>
            </a:r>
          </a:p>
          <a:p>
            <a:pPr>
              <a:lnSpc>
                <a:spcPct val="106000"/>
              </a:lnSpc>
              <a:spcBef>
                <a:spcPts val="0"/>
              </a:spcBef>
              <a:spcAft>
                <a:spcPts val="700"/>
              </a:spcAft>
            </a:pPr>
            <a:r>
              <a:rPr sz="1150" b="1" i="0">
                <a:solidFill>
                  <a:srgbClr val="1F3B63"/>
                </a:solidFill>
                <a:latin typeface="Calibri"/>
              </a:rPr>
              <a:t>Where it propagates.  </a:t>
            </a:r>
            <a:r>
              <a:rPr sz="1150" b="0" i="0">
                <a:solidFill>
                  <a:srgbClr val="252F3D"/>
                </a:solidFill>
                <a:latin typeface="Calibri"/>
              </a:rPr>
              <a:t>clearsky_ratio is tabular feature #1 and gate input #1; ghi_clearsky is a tabular feature; future_clearsky enters the enrich layer; and the smart-persistence baseline is built from the same ratio. The bias touches models and baselines alike.</a:t>
            </a:r>
          </a:p>
          <a:p>
            <a:pPr>
              <a:lnSpc>
                <a:spcPct val="106000"/>
              </a:lnSpc>
              <a:spcBef>
                <a:spcPts val="0"/>
              </a:spcBef>
              <a:spcAft>
                <a:spcPts val="700"/>
              </a:spcAft>
            </a:pPr>
            <a:r>
              <a:rPr sz="1150" b="1" i="0">
                <a:solidFill>
                  <a:srgbClr val="2E7D74"/>
                </a:solidFill>
                <a:latin typeface="Calibri"/>
              </a:rPr>
              <a:t>The fix, already in the codebase.  </a:t>
            </a:r>
            <a:r>
              <a:rPr sz="1150" b="0" i="0">
                <a:solidFill>
                  <a:srgbClr val="252F3D"/>
                </a:solidFill>
                <a:latin typeface="Calibri"/>
              </a:rPr>
              <a:t>compute_clearsky_hour_mean() averages pvlib's clear sky over the preceding hour at 10-minute steps — the matching convention. It is applied to the deployment physics cap but not to the dataset column, so the training features were never rebuilt with it.</a:t>
            </a:r>
          </a:p>
          <a:p>
            <a:pPr>
              <a:lnSpc>
                <a:spcPct val="106000"/>
              </a:lnSpc>
              <a:spcBef>
                <a:spcPts val="0"/>
              </a:spcBef>
              <a:spcAft>
                <a:spcPts val="700"/>
              </a:spcAft>
            </a:pPr>
            <a:r>
              <a:rPr sz="1150" b="1" i="0">
                <a:solidFill>
                  <a:srgbClr val="C4622D"/>
                </a:solidFill>
                <a:latin typeface="Calibri"/>
              </a:rPr>
              <a:t>Why it is future work rather than a patch.  </a:t>
            </a:r>
            <a:r>
              <a:rPr sz="1150" b="0" i="0">
                <a:solidFill>
                  <a:srgbClr val="252F3D"/>
                </a:solidFill>
                <a:latin typeface="Calibri"/>
              </a:rPr>
              <a:t>Correcting the column changes every feature, every target-adjacent quantity and every baseline, so it requires a dataset rebuild and a full retrain. It should be done once, together with the continuous-hourly-index fix, and reported as a v1-versus-v2 comparison.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