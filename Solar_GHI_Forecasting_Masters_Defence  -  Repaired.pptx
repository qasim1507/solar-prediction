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4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499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(30 s):
"Good morning. My project is a short-horizon solar irradiance forecasting system for Singapore. It predicts Global Horizontal Irradiance — GHI, in watts per square metre — one, two and three hours ahead, with a calibrated uncertainty band, by fusing geostationary satellite imagery with reanalysis weather and exact solar geometry."
FRAME THE TALK:
"There are three things I want you to take away. One: I built a complete, working pipeline — data acquisition, training, evaluation and a live deployed forecaster that has been verified against measurements. Two: I ran a controlled ablation of a cross-modal fusion architecture. Three — and this is the part I want to defend most carefully — the fusion architecture did NOT beat the simpler models. I will show you exactly why, with evidence, rather than hide it."
KEY TERMS TO DEFINE EARLY (examiners will ask):
- GHI = total shortwave irradiance on a horizontal surface, W/m².
- Clear-sky GHI = what the irradiance would be with no clouds, computed from solar geometry.
- Clear-sky index k_t = GHI / clear-sky GHI, in [0,1.2]. This is the "cloud attenuation factor" and it is the quantity that is actually hard to predict.
LIKELY Q: "Why GHI and not PV power output?"
A: The repository contains a pv_actual column, but I verified it correlates with GHI at r = 0.99994 — because it is itself a pvlib simulation driven by the same GHI. Training on it would be circular. So GHI is the honest target; converting GHI to plant AC power is a well-understood, separable modelling step.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slide is the whole talk in one minute. Deliver it confidently — do not apologise for the negative result.
WHAT TO SAY:
"Three deliverables: the data pipeline, the ablation, and the deployed service. And one headline finding: the fusion architecture I set out to build is beaten by gradient-boosted trees on the same eleven features. I'll show you the evidence for why, because I think the 'why' is the actual contribution."
THE NUMBERS — memorise these five:
- 78.9 W/m² — LightGBM, mean MAE over t+1/2/3h, on the identical 1,120 test samples the deep models saw.
- 84.7 — LSTM-only, the best deep variant.
- 97.6 — the full physics-gated fusion. Worst of the four deep variants.
- +0.28 — LSTM-only's forecast skill score against smart persistence; so the deep models ARE learning something real, they are just not the best tool.
- 79.4 — live operational MAE over 24 verified forecast-hours in August 2026, which is remarkably close to the offline test MAE.
WHY THE NEGATIVE RESULT IS DEFENSIBLE: 7,635 usable images is a very small dataset for a 14.4 M-parameter dual-CNN image branch. The result is exactly what learning theory predicts. I will quantify this later with the training curves.
LIKELY Q: "Isn't a negative result a failed project?"
A: "The project's objective was to test whether satellite-image fusion improves sub-3-hour GHI forecasting at this data scale. It answers that question with a controlled experiment and a mechanistic explanation. A result that only counts if it is positive isn't an experiment, it's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forecasting problem is entirely a cloud problem, and the 1–3 h window is where neither trivial extrapolation nor NWP is adequate.
THE DECOMPOSITION — say it explicitly, examiners reward this:
"I decompose GHI into a product of a fully known astronomical term and an unknown atmospheric term. The clear-sky GHI is a closed-form function of solar zenith angle, air mass and Linke turbidity — pvlib's Ineichen model — and I can evaluate it for any future timestamp because it depends only on the ephemeris. That means the model never has to learn the diurnal cycle or the seasonal cycle. It only has to learn k_t, the clear-sky index, which is bounded roughly in [0, 1.2] and is what clouds actually control."
WHY THIS MATTERS FOR THE ARCHITECTURE: I feed future clear-sky GHI in as an input (a 3-vector for t+1,+2,+3). That is not leakage — it's deterministic astronomy. It's the single most valuable feature in the system.
SINGAPORE SPECIFICS: equatorial maritime tropics, near-zero seasonal solar variation but very high convective variability. Monthly mean k_t across my dataset ranges 0.57 to 0.82. Roughly 67% of my test samples involve an hour-to-hour GHI change exceeding 100 W/m².
LIKELY Q: "Why not forecast k_t directly instead of GHI?"
A: Excellent question and I would do it differently now. Predicting k_t and multiplying by the known clear-sky curve is the standard formulation and it removes the diurnal scale from the target, which would make normalisation and loss weighting much better behaved. I predict normalised GHI instead, which forces the network to spend capacity re-learning the diurnal envelope. That is on my future-work slide.
LIKELY Q: "What is Linke turbidity and did you tune it?"
A: It's an aerosol/water-vapour opacity factor. I use pvlib's default climatological lookup — I did not tune it for Singapore's haze episodes, which is a limitation I acknowledge.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real operational problem at a site where it is genuinely hard.
BE HONEST ABOUT PROVENANCE: I flag on the slide that the repository has no written motivation section — these four points are my reconstruction from what the code actually does (Singapore coordinates hard-coded at 1.3521 N, 103.8198 E; 1-3 h horizons; probabilistic output head). Say that out loud. Examiners test whether you can distinguish what you documented from what you are inferring now.
THE ASYMMETRIC COST POINT: under-forecast and the operator holds unnecessary spinning reserve, which costs fuel; over-forecast and you risk an unserved-energy event, which costs far more. This is why a probabilistic forecast is worth more than a point forecast — the operator can size to a quantile, not to the mean.
QUANTIFY THE VARIABILITY when asked: from my own analysis of the test set, 67.1% of samples have |GHI(t+1h) − GHI(t)| &gt; 100 W/m², 28.9% exceed 200, and 9.5% exceed 300. Naive persistence therefore scores a catastrophic 243.7 W/m² MAE. That number is the reason the problem is non-trivial.
LIKELY Q: "Is Singapore's grid actually solar-constrained?"
A: Singapore's target is roughly 2 GWp of solar by 2030 on a system peak near 8 GW, and it is an islanded grid with almost no interconnection and no hydro buffer — so variability has to be absorbed domestically. I should be careful here: that framing is context, not something my repository measures.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separate what the repository documents from what I am reconstructing. Do this openly.
HOW TO DELIVER: "The left column is what the code demonstrably sets out to do — I can point at the file and line for each. The right column is my reconstruction of the research questions, because the repository never wrote them down as questions. I want to be explicit about that distinction."
MAP RQ → EXPERIMENT (have this ready):
- RQ1 is answered by CNN-only and Fusion vs LSTM-only.
- RQ2 is answered by Fusion vs Naive-concat — same inputs, same budget, only the fusion operator differs.
- RQ3 is only partially answered: I pretrained on SwimSeg but never ran the ImageNet-initialised control, so I cannot isolate its effect. I say so on the limitations slide. Do not oversell this one.
- RQ4 is answered by the calibration slide.
LIKELY Q: "You listed RQ3 but didn't run the control. Why not?"
A: Honest answer — the SwimSeg encoder was pretrained once and cached, and every subsequent run loaded it, including all four ablations. Re-running with imagenet_init=True is a single-flag change (model.py line 239) and about 12 minutes of GPU time. It is the first experiment I would run next.
LIKELY Q: "Why exclude PV power conversion?"
A: Because the only PV series available to me is itself a pvlib simulation of GHI, so 'predicting' it would be predicting my own input. GHI is the honest boundary of what this data supports.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place the project in the literature and be honest that families 1 and 3 are context, not implementation.
WHAT I ACTUALLY IMPLEMENTED FROM THIS SLIDE: family 2 in full (Linear Regression, Random Forest, LightGBM, in notebook §2), plus persistence and smart persistence which I computed myself for this defence. Sky cameras — family 3 — I use only indirectly: the SwimSeg dataset is sky-camera imagery, but I use it for encoder pretraining, not for nowcasting.
THE KEY TENSION to set up for the next slide: family 4 is where the interesting research is, and it is also the family with the worst data-efficiency. Published satellite deep-learning forecasters typically train on hundreds of thousands to millions of samples. I have 5,312 training samples. That mismatch is the single most important context for my results.
DEFINE SMART PERSISTENCE if asked: k_t(t) is held constant and multiplied by the known clear-sky curve at t+h. It is much stronger than raw persistence because it removes the diurnal trend — 117.7 vs 243.7 W/m². It is the reference I use for skill scores.
LIKELY Q: "Which specific papers?"
A: Be honest — the repository contains no bibliography. I can name the standard reference points (Inman/Pedro/Coimbra reviews on solar forecasting; the Kurtz/Chu sky-imager line of work; ConvLSTM-style satellite nowcasting) but I should not claim to have replicated any specific paper, and my architecture is my own composition rather than a reimplementation.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state the hypothesis crisply and honestly, and foreshadow that it failed. Do not let the examiner discover the gate collapse before you present it.
THE ARGUMENT FOR THE DESIGN: "A naive concatenation has to learn the regime-switching rule from data. But I already know the rule from physics — clouds are the only reason the temporal extrapolation breaks down. So I inject the physical state directly into a small gating MLP and let it produce one scalar. In principle that's a strong inductive bias: it costs 193 parameters and it encodes something true about the physics."
WHY IT'S A REASONABLE HYPOTHESIS, EVEN THOUGH IT FAILED: gating is a standard mechanism — it's the same idea as LSTM gates, mixture-of-experts routing, and squeeze-and-excitation. Conditioning it on domain state rather than on the features themselves is the specific choice here.
FORESHADOW THE FAILURE — say it now: "I'll show you on slide 28 that the gate collapsed to a constant. It never left a band 0.05 wide. That means what I actually trained was a fixed 45/55 average of the two branches, not a gate."
LIKELY Q: "Why a single scalar α rather than a per-dimension gate?"
A: A vector gate — one α per feature dimension, 256 of them — is the obvious next step and would be far more expressive. I chose a scalar for interpretability: I wanted to be able to plot α against cloud cover and read off what the model learned. That interpretability is exactly what let me diagnose the collapse, so I don't regret it, but a vector gate is the right fix.
LIKELY Q: "Why does the gate see optical flow?"
A: Cloud advection speed determines how far ahead the current image is informative. Fast-moving cloud means the image decorrelates quickly, so the temporal branch should get more weight. That was the reasoning.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complete system, not a notebook. Walk it top to bottom in about 90 seconds.
THE WALKTHROUGH:
"Four public sources at the top. Open-Meteo's ERA5 archive gives me hourly weather and shortwave radiation, which is my target. NICT's public Himawari tile server gives me the satellite image — level 4d, tile row 1 column 1, which is the tile containing Singapore at 550-pixel resolution. pvlib gives me clear-sky GHI analytically. PVGIS and SwimSeg are auxiliary.
combined_dataset.py joins them: it floors every weather timestamp to the hour, filters to 08:00–17:00 Singapore time, and then does a nearest-neighbour match in time between each weather row and the satellite images, with a 60-minute tolerance. The mean absolute time offset achieved is 0.05 minutes — effectively exact.
The notebook then converts every PNG to a 224×224 grayscale-RGB float array, caches all 7,625 of them in RAM, and precomputes Farnebäck optical flow between consecutive frames.
Three modelling stages, then the operational loop at the bottom, which is a cron job."
THE ENGINEERING POINT — emphasise this, it's a genuine contribution: model.py is imported by the notebook AND by predict.py AND by verify.py. There is exactly one definition of the architecture and of TABULAR_COLS in the whole repository. This is the fix for the single most common failure mode in ML projects — training/serving skew from a duplicated model definition.
LIKELY Q: "What happens if a data source fails at inference time?"
A: Each stage degrades rather than crashes. load_image_tensor returns a zero tensor and prints a warning if the image is missing. The satellite fetch tries NICT first and falls back to JAXA's P-Tree FTP. extend_with_recent returns the unmodified dataframe if the live API call fails. predict.py warns if the satellite image is more than 2 hours old or the lookback data is more than 6 hours stale. I'd argue these should be hard failures rather than silent zeros — that's on my limitations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know exactly where every number comes from, and I know the weaknesses of my ground truth.
THE LEAKAGE CATCH — lead with this, it's the strongest thing on the slide:
"The repository contains a pv_actual column that looks like PV ground truth. In the EDA I found it correlates with GHI at r = 0.99994. I traced it back through fetch_solcast.py and for 2024 onward it is literally GHI times a temperature derating factor — it is a simulation of my own input. So I excluded it. If I hadn't caught that, I'd be reporting an R² of 0.9999 and the whole project would be worthless."
THE REANALYSIS CAVEAT — say it before they ask:
"My target is ERA5 shortwave radiation, not a measured pyranometer. That matters in two directions. First, ERA5 is spatially and temporally smoothed, so real sub-hourly variability at a point is higher than what I'm predicting — my task is easier than the true task. Second, my satellite image sees the actual instantaneous cloud field, which is partly de-correlated from the smoothed target. That is one plausible reason the image branch struggles, and I'd list it as an interpretation rather than a demonstrated cause."
TILE GEOMETRY — be ready: level '4d' is NICT's 4×4 subdivision of the full disk at 550 px per tile, so tile (1,1) covers roughly a quadrant of the visible hemisphere. Singapore is inside it but is NOT centred — which is why the model also gets a centre-crop 'region of interest' input. I should be honest that I never verified the exact geolocation of Singapore within the tile pixel grid; that's a real weakness.
LIKELY Q: "Is one visible channel enough? Himawari has 16 bands."
A: No, and this is a significant limitation. I use the RGB browse product converted to grayscale — effectively one visible band. The infrared bands would give cloud-top temperature and therefore cloud height and optical thickness, which is exactly what determines attenuation. The JAXA P-Tree fallback path in current_data.py does read albedo_03 from NetCDF, so the plumbing for band-level access exists, but the training data is browse imagery.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join is the unglamorous part and it's where projects silently break. Show that I checked it.
THE ALIGNMENT NUMBER — quote it: mean absolute time offset between a weather row and its matched satellite frame is 0.05 minutes, and 7,635 of 7,640 rows have an image. That is essentially exact matching, because the image fetcher was itself run on the hour. The ±60-minute tolerance almost never binds.
WHY THE DAYLIGHT FILTER MATTERS: if I kept all 24 hours, 14 of every 24 rows would have GHI ≈ 0. A model that predicts zero at night would score a fantastic MAE while learning nothing. Filtering to 08:00–17:00 keeps the loss focused on hours where the answer is non-trivial. The cost is a discontinuity between 17:00 and the next 08:00 — which I'll return to on slide 31 because it turned out to matter more than I expected.
WHY BINARY SEARCH: 7,640 weather rows against 9,186 images. searchsorted on the sorted image timestamp index checks only the two candidates bracketing each target, so the match is O(n log m) rather than O(n·m).
LIKELY Q: "Why floor rather than round to the nearest hour?"
A: Because Open-Meteo labels each hourly value with the END of its averaging window — the value at 18:00 is the 17:00-to-18:00 mean. Flooring keeps that convention consistent across the join. This same convention is why my physics clamp at inference uses a preceding-hour-MEAN clear-sky value rather than the instantaneous one; that was an actual bug I found and fixed, in commit 97bb429.
LIKELY Q: "Any missing data?"
A: Five rows out of 7,640 have no image. Those rows are excluded from the deep model's valid-index list but are still available to the tabular baselines. There are no NaNs in the weather columns.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split is chronological and leak-free, and I can prove it.
WALK THE FIGURE: the line is monthly mean clear-sky index across the whole dataset. The three shaded bands are train, validation and test. Note the test band, October 2025 to February 2026, includes the north-east monsoon — December 2025 has the lowest k_t in the test period at 0.666. So the test set is, if anything, harder than average.
THE THREE CHECKS — this is the anti-leakage argument, deliver it deliberately:
1. Strict time cut, no shuffle. Random splitting on an hourly time series is the classic fatal error: adjacent hours are ~99% correlated, so a shuffled test set is effectively in the training set.
2. Each split gets its own Dataset instance, so valid_indices starts at window_size − 1 WITHIN that split. A lookback window can never straddle the boundary. That's why 5,343 rows becomes 5,312 samples — exactly 23 lost at the start, and 8 more at the end for the 3-step target horizon.
3. Every input is available at issue time. The only future-dated input is clear-sky GHI, and that's ephemeris.
DISTRIBUTION SHIFT — be honest, I checked this: train mean k_t is 0.708, test is 0.715, so the target distribution is stable. But cloud_cover is 86.8 in train vs 92.2 in test, and relative humidity 77.3 vs 71.3. There is mild covariate shift. It does not explain the ranking of models, since all models see the same shift.
LIKELY Q: "Why 70/15/15 and not k-fold?"
A: For time series, k-fold requires blocked or expanding-window cross-validation, not random folds. A single chronological hold-out is the cheapest defensible option, and I chose it. Its weakness is real: with one test window I have no confidence interval on any of my metrics. Rolling-origin evaluation is the correct upgrade and it's on my future-work slide.
LIKELY Q: "1,120 test samples — is that enough to rank models?"
A: For the LightGBM-vs-Fusion gap of 18.7 W/m² on a distribution with sd 259, almost certainly yes. For the 3 W/m² gap between CNN-only and naive-concat, no — I would not defend that ordering.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every feature has a physical justification, and normalisation is done in a way that cannot leak.
THE LEAKAGE-SAFE NORMALISATION ARGUMENT — examiners love this one:
"Mean and standard deviation are computed on the training split only. GHIForecastDataset takes is_train=True for the training set and computes them; validation and test take is_train=False and receive the training statistics. Then §9 dumps them to train_stats.json, and predict.py loads that same file at inference. So there is exactly one set of normalisation constants in the entire system's life."
WHY CYCLICAL ENCODING: if I fed 'hour = 23' and 'hour = 0' as raw integers, the model would see them as maximally distant when they're adjacent. Mapping to (sin 2πh/24, cos 2πh/24) puts them next to each other on a circle. Same for month.
WHY NO IMAGE AUGMENTATION — this is a real design decision, defend it:
"A horizontal flip of a satellite tile moves Singapore to the wrong side of the frame. The image is georeferenced; pixel position carries geographic meaning. Also, at 08:00 the terminator and the illumination gradient run a specific way, and that gradient tells the model the time of day. Flipping would corrupt both. SwimSeg is different — it's an upward-pointing fisheye camera, so orientation is arbitrary and flips are legitimate."
THE COUNTER-ARGUMENT I SHOULD CONCEDE: with only 5,312 training samples and 14.4 M image-branch parameters, I badly needed regularisation, and refusing geometric augmentation removed my cheapest option. Small random translations of a few pixels, or brightness jitter, would have been geometrically defensible and would have helped. That's an honest miss.
LIKELY Q: "temperature correlates 0.86 with GHI — is that a real feature or circular?"
A: It's real but lagged and confounded. Air temperature responds to accumulated insolation over hours, so at issue time it's a legitimate observable that encodes recent sky history. It is not derived from the target the way pv_actual was.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be able to state every tensor shape from memory. This slide is pure viva ammunition.
REHEARSE THE SHAPES: (24,11) tabular, (9,224,224) multi-frame, (3,224,224) RoI, (3,) future clear-sky, (4,) gate, (3,) targets. With batch 128 that's 128×9×224×224×4 bytes ≈ 231 MB for the multi-frame tensor alone — which is why batch size drops to 16 on non-CUDA hardware.
THE 24-STEP SUBTLETY — raise it yourself, don't wait to be caught:
"I want to flag something about the lookback window. Because I filter to 08:00–17:00, my rows are not uniformly spaced. Consecutive rows are one hour apart inside a day and fifteen hours apart across the night. So the 24-step window covers 2.4 daylight days, not 24 hours, and 'ghi_lag1' at 08:00 actually means 17:00 the previous evening. The LSTM has no explicit time-delta input, so it cannot distinguish those two cases. I'd add a Δt channel if I did this again."
WHY THE RoI: the tile is a quadrant of the full disk, so Singapore is a small patch. Without the crop, a 7×7 feature grid means one cell covers a huge geographic area and the site itself is sub-cell. The crop gives the second encoder an effectively 2× magnified view.
HONEST CAVEAT: I never verified where exactly Singapore falls in the tile's pixel grid. I assume it's near centre, which is why a centre crop is meaningful — but I did not confirm it against the tile's geolocation metadata. If Singapore is off-centre, the RoI crop is looking at the wrong sky, which would be a mundane but complete explanation for the image branch's failure. That is the first thing I would check.
LIKELY Q: "Why stack frames channel-wise instead of using a 3D convolution or a ConvLSTM?"
A: Channel stacking lets me reuse a pretrained 2D backbone unchanged — but it means the same encoder processes each frame independently and only the cross-attention sees them jointly. A ConvLSTM or a temporal-difference input would model motion far more directly. I compensate weakly by feeding optical flow into the gate.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genuinely well-motivated pretraining stage, and I must be upfront that I cannot report its IoU.
THE MISSING NUMBER — say it before they ask:
"I have to be honest about a gap. The pretraining cell guards itself with SKIP_SWIMSEG = os.path.exists(swimseg_encoder.pt). On the final training run the encoder file already existed, so the cell printed 'Skipping' and the validation IoU from the original run was never captured in a log I still have. The encoder weights are in the repository — 7.27 million parameters, 500 tensors, and they load into the backbone with zero missing and zero unexpected keys, which proves they are a genuine EfficientNet-B2 state dict — but I cannot quote you the IoU. Reproducing it is one 50-epoch run."
THE DATE-SPLIT ARGUMENT — this is the strongest point on the slide:
"SwimSeg images come in bursts from single shooting sessions. Frames minutes apart are near-duplicates. If I split randomly, near-identical images land in both train and validation and the IoU is meaningless. I split on the Date column, holding out the last 20% of distinct dates. That's session-level leakage prevention, and it's the same discipline as my chronological split on the main task."
WHY DICE + BCE: cloud fraction per image ranges from almost 0 to almost 1. Plain BCE optimises pixel accuracy, which a constant prediction can win on a mostly-clear image. Dice is a soft F1 on the positive class and is invariant to how much of the image is cloud. The 50/50 blend is a standard segmentation recipe.
WHY THE AUXILIARY HEAD: the FPN decoder gets discarded. Only the encoder is transplanted. A pure segmentation loss backpropagates mostly through the decoder and shallow stages, where the boundaries are. The auxiliary head hangs off the deepest 352-channel stage — exactly the tensor the forecasting model consumes — and regresses global cloud fraction, so that stage is forced to carry a globally meaningful summary. Weight 0.2, chosen so it regularises rather than dominates.
THE DOMAIN-GAP OBJECTION — concede it: SwimSeg is a ground-based upward-looking fisheye camera. Himawari is a downward-looking geostationary satellite. Both show cloud, but the texture statistics, resolution, and viewing geometry are entirely different. Whether cloud-boundary features transfer across that gap is exactly what RQ3 asks, and I did not run the ImageNet control needed to answer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five inputs, two encoders, a gated fusion, a probabilistic head. Trace the data flow left to right in one continuous sentence.
THE NARRATION: "Five inputs enter on the left. The tabular sequence goes through a two-layer bidirectional LSTM with an attention pooling layer to produce a single 256-dimensional summary H_t. The three satellite frames go through one shared EfficientNet-B2 — shared, so it's the same weights applied three times — and the region-of-interest crop goes through a second, separate EfficientNet-B2. Each produces a 352-channel 7×7 feature map, which I flatten to 49 patches. Four feature maps gives 196 patches. Then eight-head cross-attention, with H_t as the single query and those 196 patches as keys and values, produces H_a — a 256-dimensional image summary that has been selected by the temporal state. The gate MLP takes the four physical features and emits one scalar alpha. Alpha blends H_t and H_a. I concatenate the three future clear-sky values, project to 256, and pass through a three-layer MLP that outputs six numbers: three means and three standard deviations."
THE PARAMETER-BUDGET POINT — this is the crux of my whole result:
"92.9% of the parameters — 14.4 million of 15.5 million — sit in the two image encoders. I have 5,312 training samples. That ratio is roughly 2,700 parameters per training sample in the image branch alone. The physics gate, the piece the project is named after, is 193 parameters. The imbalance is the mechanical explanation for everything on my results slides."
WHY THE TWO ENCODERS ARE NOT SHARED WITH EACH OTHER: global and RoI see different spatial scales, so separate weights let each specialise. The cost is doubling the image parameters. Sharing them, or using a single encoder with a scale embedding, would halve the branch and is on my future-work list.
LIKELY Q: "Why is H_t both the attention query AND half the fusion?"
A: It plays two roles deliberately — it selects which image patches are relevant, and it is one of the two things being blended. The consequence is that if H_t is uninformative the attention is also poorly steered, so the two branches are not independent. A learned query token would decouple them.
LIKELY Q: "Why 256 dimensions?"
A: It matches the BiLSTM output width, 2 × 128 hidden, so alpha can blend the padded temporal vector with the attention output without a projection. It was not tuned.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table is the reference an examiner can grill me from. Do not read it aloud — point at whichever row they ask about.
PRE-COMPUTE THESE DERIVATIONS so you can answer instantly:
- BiLSTM params: layer 1 forward = 4 gates × [128×11 + 128×128 + 2×128] = 4 × (1408 + 16384 + 256) = 72,192; ×2 for bidirectional = 144,384. Layer 2 input is 256 (concatenated directions): 4 × (128×256 + 128×128 + 256) = 4 × 49,408 = 197,632; ×2 = 395,264. Total 539,648 (checks out).
- Cross-attention: q_proj 256×256+256 = 65,792; kv_proj 352×256+256 = 90,368; MultiheadAttention in_proj 3×256×256 + 3×256 = 197,376, out_proj 256×256+256 = 65,792. Total 419,328 (checks out).
- Gate: (4×32+32) + (32×1+1) = 160 + 33 = 193 (checks out).
- Enrich: 259×256 + 256 = 66,560 (checks out).
- Head: (256×128+128) + (128×64+64) + (64×6+6) + LayerNorm(128)=256 + LayerNorm(64)=128 = 32,896 + 8,256 + 390 + 384 = 41,926. +
WHY 196 PATCHES: EfficientNet-B2's final stage on a 224×224 input is 352 channels at 7×7 spatial. 7×7 = 49 tokens, each with a receptive field covering roughly a 32×32-pixel region. Four feature maps — three global frames plus the RoI — gives 4 × 49 = 196.
WHY SOFTPLUS + 1e-4 ON SIGMA: the Gaussian NLL contains log σ and division by σ². If σ can reach zero the loss goes to negative infinity and the gradient explodes. Softplus guarantees positivity and is smooth everywhere, unlike a ReLU or an absolute value. The 1e-4 floor prevents underflow in fp16 under AMP.
WHY LAYERNORM AND NOT BATCHNORM IN THE HEAD: at inference I run batch size 1. BatchNorm's behaviour depends on batch statistics during training and on running estimates at test time; LayerNorm normalises per sample and behaves identically at any batch size. Note the EfficientNet backbone does use BatchNorm — those running statistics are in the checkpoint, which is why the state dict has 15,635,444 elements versus 15,505,804 learnable parameters.
WHY GELU IN THE HEAD BUT RELU IN ENRICH AND THE GATE: honestly, inconsistency rather than principle. I would not defend it as a designed choice.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temporal branch is small, principled, and it is where the performance actually comes from.
THE BIDIRECTIONAL LEAKAGE QUESTION — an examiner will almost certainly ask this. Have the answer ready and be crisp:
"No, it does not leak. Leakage means using information not available at issue time. All 24 steps of the window are strictly in the past — the window ends at t and the targets are t+1, t+2, t+3. The backward LSTM pass reads those 24 past steps in reverse order. It never touches a timestep beyond t. What bidirectionality buys is that the representation at step i is contextualised by steps i+1 through 24, which are still past. It is exactly the same as running a CNN over the window in both directions."
WHY ATTENTION POOLING RATHER THAN THE FINAL HIDDEN STATE: with 24 steps the final state has to compress everything through one vector, and LSTMs are known to over-weight recent steps. Attention makes the pooling explicit and, in principle, inspectable — I could plot the attention weights to see which lags the model uses. I did not do that analysis, and it would have been cheap and informative. Concede that.
THE PARAMETER ARITHMETIC: 539,648 in the LSTM plus 33,025 in the attention scorer equals 572,673 — 3.7% of the model. That 3.7% is the part that works.
LIKELY Q: "Why 2 layers and 128 hidden units?"
A: Not tuned. Chosen as a conventional mid-size configuration. With 5,312 training samples I could very plausibly have done better with one layer and 64 units. I have no ablation on depth or width, which is a real gap in the experimental design.
LIKELY Q: "Why not a Transformer encoder for the sequence?"
A: With 24 timesteps and 5,312 samples, a Transformer's lack of a recurrence inductive bias makes it more data-hungry than an LSTM. The LSTM is the right default at this scale — and that reasoning is itself the argument I should have applied to the image branch.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explain the mechanism precisely, then pre-empt the failure analysis so it doesn't look like I only noticed afterwards.
THE SINGLE-QUERY INSIGHT — this is the most technically interesting thing to say:
"Note that Q has sequence length 1. So the attention softmax runs over the 196 key positions and produces a single probability distribution over patches. Mathematically this is not self-attention among patches at all — it is a learned pooling operator over the image tokens, where the pooling weights are a function of the temporal state. It costs one 256-dimensional query rather than a 196×196 attention matrix, which is why the attention itself is computationally free relative to the CNN."
WHY 8 HEADS AT 32 DIMS: PyTorch's MultiheadAttention splits the 256-dim embedding into 8 heads of 32. Different heads can, in principle, attend to different frames or different cloud structures. I did not inspect per-head attention maps — the forward pass does support return_attn=True and returns the weights, so the analysis is one function call away. I should have done it.
THE THREE FAILURE MODES — deliver these as my own diagnosis:
"I want to pre-empt the obvious question about why the gate collapsed. First, it is NOT sigmoid saturation — alpha sits at 0.446, which is the steepest part of the sigmoid, so gradients flow fine. Second, and I think this is the real mechanism: the gate only receives a useful gradient if changing alpha changes the loss. If H_a carries little information, the loss is nearly flat in alpha and there is nothing pulling it anywhere. The gate collapse is a symptom of the image branch's weakness, not an independent bug. Third, a scalar gate cannot route different feature dimensions differently — one number for all 256."
THE OPTICAL FLOW DETAIL: Farnebäck dense flow between consecutive frames, computed at 64×64 for speed, averaged over the centre 32×32, then divided by the frame size to give a dimensionless per-frame displacement. For the whole dataset this took 8 seconds. Typical magnitudes are around 0.004 — very small numbers, and I never standardised them, which means they enter the gate MLP with a far smaller scale than k_t and cloud cover. That is a plausible additional reason the flow inputs had no effect.
LIKELY Q: "Should the gate see the features themselves rather than just physical state?"
A: That would make it a standard learned gate rather than a physically conditioned one, and it would likely work better because it gets a much richer signal. The trade-off is interpretability — I'd lose the ability to say 'alpha as a function of cloud cover'. Given that the physical conditioning demonstrably didn't help, I'd take the trade.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chose a probabilistic objective on purpose, and I understand its pathology.
DERIVE THE LOSS IF ASKED: for a Gaussian, −log p(y | μ, σ) = log σ + (y−μ)²/(2σ²) + ½log(2π). The last term is constant in the parameters so I drop it. Summing over three horizons assumes conditional independence given the inputs, which is wrong — errors at t+1 and t+2 are strongly correlated — but it makes the loss separable and is standard practice.
THE HETEROSCEDASTIC TRAP — this is the sophisticated point to make:
"There is a known pathology in Gaussian NLL. The squared-error term is divided by 2σ², so a sample the model finds hard contributes less gradient once σ grows. The model can therefore reduce its loss by learning to be uncertain rather than by learning to be right. In my training logs the full fusion model's validation NLL bottomed at −0.898 at epoch 26, while its validation MAE was still improving slightly at epoch 20 and then flattened. Because I checkpoint on validation NLL, I select the model that is best-calibrated, not the one with the lowest MAE. That is a defensible choice for an operational forecaster, but it means my MAE comparison against LightGBM — which optimises squared error directly — is not entirely like-for-like."
THE PHYSICS CLAMP — be precise, it was a real bug fix:
"At deployment I cap the forecast at 115% of clear-sky GHI, because GHI physically cannot exceed the clear-sky value except briefly under cloud-edge enhancement, which can add roughly 10–15%. Critically, the cap uses the mean clear-sky value over the PRECEDING hour, not the instantaneous value, because Open-Meteo labels each hourly figure with the end of its averaging window. Using the instantaneous value made forecasts near sunrise and sunset badly wrong. That fix is commit 97bb429. The clamp is applied only in predict.py, never during training or offline evaluation, so none of my reported test metrics benefit from it."
LIKELY Q: "Why 1.645?"
A: The 95th percentile of the standard normal, so ±1.645σ is a central 90% interval under the Gaussian assumption. If the residuals are heavier-tailed than Gaussian, that interval is too narrow — which is testable, and I show the calibration curve later.
LIKELY Q: "Why not pinball loss / quantile regression?"
A: Quantile regression makes no distributional assumption and would be more robust to the non-Gaussian, bounded, skewed distribution of k_t. Gaussian NLL gives me a closed-form σ and one number to reason about. Given that irradiance residuals are demonstrably not Gaussian near the clear-sky ceiling, quantile regression is probably the better choice and it is in my future work.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protocol is deliberate and identical across variants, and I am declaring the one confound myself.
WHY SUCH A LOW LEARNING RATE (3e-5): I am fine-tuning a pretrained CNN. Typical from-scratch rates of 1e-3 would wreck the SwimSeg features immediately. 3e-5 with AdamW is a standard fine-tuning regime. After the unfreeze it drops to 3e-6.
WHY WEIGHT DECAY 0.1 — this is unusually high, so justify it:
"0.1 is ten to a hundred times the typical default. I chose it because 15.5 M parameters against 5,312 samples is an extreme regime and I expected overfitting. In hindsight it was still not enough — the training curves show the gap opening from epoch 25 — but I would defend the direction. Note AdamW decouples weight decay from the gradient update, so 0.1 here is not equivalent to L2 at 0.1 in plain Adam."
WHY EARLY STOPPING AND CHECKPOINTING ON NLL, NOT MAE: the loss is NLL, so the model selection criterion should match the objective. It does mean I select for calibration over point accuracy — I said why on the previous slide.
THE CONFOUND — raise it before they do, it costs nothing and buys credibility:
"The full model ran with patience 20; the three ablations with 15. Strictly, that is not an identical budget. But look at what actually happened: the full model early-stopped at epoch 46 with its best epoch at 26, so it had 20 epochs of no improvement — extra patience would not have helped it. LSTM-only ran all 150 epochs and never triggered early stopping, meaning it was still improving when the budget ran out. So the asymmetry disadvantaged the proposed model relative to a fair fight only in the sense that LSTM-only was budget-limited and might have done even better. The confound does not rescue the fusion model."
WHY AMP: fp16 roughly halves activation memory and speeds up the 4090's tensor cores. GradScaler prevents gradient underflow in fp16. I also guard against non-finite losses by skipping those batches, which never actually triggered in the logs.
REPRODUCIBILITY CAVEAT — be honest: seeds are set for torch and numpy, but cuDNN benchmark mode is enabled and TF32 matmuls are allowed, both of which are non-deterministic. So runs are not bitwise reproducible. My own CPU/MPS re-evaluation of the saved checkpoints landed within 1.5 W/m² of the reported numbers, which is the level of agreement I can claim.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the most diagnostic slide in the deck. The curve IS the explanation for the negative result.
WALK THE LEFT PANEL: "Blue is training NLL, orange is validation. They track each other down to about epoch 22. Then they separate. Training keeps improving to −1.42; validation bottoms out around −0.90 at epoch 26 and then climbs for twenty consecutive epochs until early stopping fires. That is a textbook overfitting signature, and the elbow is exactly where I unfroze the CNN."
WALK THE RIGHT PANEL: "Same story in MAE. Validation MAE flattens at about 93 W/m² and never improves after epoch 25, while training MAE keeps falling to 77. The model is memorising the training set."
THE ARITHMETIC THAT MAKES THE POINT: before the unfreeze, 1.1 M trainable parameters against 5,312 samples — about 207 parameters per sample. After the unfreeze, 15.5 M against 5,312 — about 2,900 per sample. A fourteen-fold jump in effective capacity in a single epoch.
THE HONESTY ON THE SPECULATION CARD: I explicitly label the 'keep the CNN frozen' idea as SPECULATION, not a finding, because I never ran it. If asked 'would freezing have fixed it?', the answer is: it is the single most likely fix, the evidence is consistent with it, and I cannot claim it without the run. That run is 13 minutes of GPU time.
THE CONTRAST WITH LSTM-ONLY: note that LSTM-only technically still instantiates both EfficientNet encoders and still unfreezes them at epoch 20 — the code path is shared — but its forward pass discards H_a entirely, so those parameters receive no gradient that affects the output. Effectively it trains 572 k useful parameters and it never overfits.
LIKELY Q: "The validation NLL for LSTM-only (−1.353) is much lower than the fusion model's (−0.898). Does that alone prove the ranking?"
A: It is consistent with the test-set ranking, yes, and it was measured on data neither model trained on. But NLL and MAE are different metrics — a model can win on NLL by being better calibrated. The test MAE ranking, which I show next, is the independent confirmation.
LIKELY Q: "Why not just early-stop before the unfreeze?"
A: That is precisely the frozen-CNN experiment I did not run, and it is my answer to 'what would you do with another week'.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seven experiments were actually run; I am explicit about what I added later and what was never done.
THE ABLATION DESIGN IS THE STRONG PART — sell it:
"E3, E4 and E5 are a proper controlled ablation. Same dataset object, same loss, same optimiser, same schedule, same seed, same hardware. The ONLY thing that changes is a string passed to the constructor that switches one line in the forward pass. Look at model.py lines 304 to 312 — four branches of one if-statement. That means any difference in the results is attributable to the fusion rule and nothing else."
BE PRECISE ABOUT WHAT THE ABLATIONS ARE: they are not separate architectures. All four instantiate the identical module, including both EfficientNet encoders. 'LSTM-only' still runs the CNNs — it just throws away H_a. That is slightly wasteful computationally but it is exactly what makes the comparison clean.
THE DERIVED-ANALYSIS DISCLOSURE — say this explicitly:
"The bottom-left box is important for honesty. Persistence baselines, per-horizon breakdowns, calibration curves, error stratification and the day-boundary audit are NOT in the repository's results files. I computed them for this defence, from the committed checkpoints and the committed dataset. I re-ran the whole test-set evaluation locally and reproduced the repository's reported MAEs to within 1.5 W/m², which is my verification that the derived analysis rests on the same artefacts."
THE 'NOT PERFORMED' BOX — do not soften it. Read it out. The examiner will respect naming your own gaps more than any defence of them. Then immediately say which one you'd run first: the ImageNet control, because it's the one that leaves a stated research question unanswered.
LIKELY Q: "Why no hyper-parameter search?"
A: Compute and time. Each fusion run is 10–30 minutes on a rented 4090 and there are four variants. A proper search over learning rate, weight decay, hidden width and unfreeze epoch is on the order of a hundred runs. I prioritised a clean ablation over a tuned single model. The consequence is that I cannot claim the fusion model was given its best shot — only that it was given the same shot as its ablations.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did not pick weak baselines to make my model look good — and I fixed a fairness problem in the repository's own comparison.
THE FAIRNESS FIX — lead with it:
"The repository's notebook evaluates the tabular baselines on 1,146 test rows and the deep models on 1,120, because the deep models lose the first 23 rows of the test split to the lookback window. Those are different test sets. For this defence I re-scored the baselines on exactly the 1,120 indices the deep models saw. LightGBM's mean MAE moves from 78.4 to 78.9 — a small change, but now it is a genuine like-for-like comparison and I can state the ranking without a caveat."
WHY PERSISTENCE MATTERS: it is the null hypothesis of forecasting. 243.7 W/m² tells you the problem is genuinely hard. Smart persistence at 117.7 is the honest reference — it removes the diurnal trend, which any competent method gets for free, and leaves only the cloud-change problem.
THE ASYMMETRY I'M CONCEDING: the baselines see 14 features including ghi_lag1, lag2, lag3 and raw ghi_clearsky. The deep models see 11 features but across 24 timesteps, plus imagery and future clear-sky. So it isn't a strict subset relationship in either direction. I flag it rather than pretend it's controlled.
WHY LIGHTGBM IS THE RIGHT BASELINE: on tabular regression with a few thousand rows, gradient-boosted trees are the empirically dominant method — this is well established. Choosing it as the comparison point is choosing the hardest available opponent, which is what makes losing to it informative rather than embarrassing.
LIKELY Q: "Did you tune LightGBM?"
A: No. 200 rounds, library defaults, seed 42. So the comparison is untuned-LightGBM against an architecture I designed. If I had tuned it, the gap would likely widen, not close.
LIKELY Q: "How did you compute smart persistence?"
A: k_t at issue time equals GHI(t) divided by clear-sky GHI(t), clipped to [0, 1.5]; the forecast is that k_t multiplied by the known clear-sky GHI at t+h. It uses only information available at issue time.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state the negative result plainly, then immediately show that the deep models are not garbage — they have real skill, they are just not the best tool.
DELIVERY — do not hedge:
"This is the central result. The model my project is named after is the worst of the four deep variants, and gradient-boosted trees on eleven engineered features beat all of them. I want to be direct about that."
THEN THE CONTEXT — this is what stops it being a failure:
"But look at the top two bars. Naive persistence is 243.7. Smart persistence, which is the reference any operational forecaster must beat, is 117.7. Every learned model here beats it. LSTM-only's forecast skill score against smart persistence is +0.28 — it removes 28% of the reference error. So the deep models are genuinely forecasting; the question was whether the satellite branch adds to that, and the answer is no."
THE MONOTONE ORDERING IS THE KEY EVIDENCE — make sure they notice it:
"The four deep variants order themselves by how much image information reaches the output. LSTM-only discards the image entirely: best. CNN-only uses only the image: worse. Concat uses both: worse still. The gated fusion, which also has the gate's parameters and its extra path: worst. That monotone pattern is not noise — it is a dose-response relationship. More image, more error. That is much stronger evidence than any single pairwise comparison."
THE VERIFICATION PARAGRAPH — this is where I earn trust:
"I did not take the repository's CSV on faith. I re-ran all four checkpoints on the committed dataset on my own machine and reproduced every number to within 1.5 W/m². The residual difference is explained: training and the original evaluation used fp16 mixed precision on CUDA, my re-run used fp32 on Apple MPS, and the optical flow came from a different OpenCV build."
LIKELY Q: "Is an 18.7 W/m² gap between LightGBM and Fusion statistically significant?"
A: I have not run a significance test, and I should have — a Diebold-Mariano test on the paired errors is the right instrument. What I can say is that 1,120 paired samples with a mean absolute difference of that magnitude, and a consistent sign across all three horizons and across every cloudiness stratum I checked, is very unlikely to be noise. But 'unlikely' is not 'tested', and I'd rather say that than overclaim.
LIKELY Q: "Would more data fix it?"
A: That's the natural hypothesis and it's consistent with the training curves, but I have not run a learning-curve study — training on 25%, 50%, 75% of the data and seeing whether the fusion gap closes. That would be the direct test and it's cheap.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horizon degradation is where the different methods reveal what they actually learned.
THE PERSISTENCE COMPARISON IS THE MOST INFORMATIVE THING HERE:
"Smart persistence goes from 81.8 at t+1h to 148.9 at t+3h — it nearly doubles, because the clear-sky index it froze becomes progressively more wrong. LSTM-only goes from 77.8 to 92.3, an 18.6% increase. That slow degradation is the signature of a model that has learned the temporal dynamics of cloud evolution rather than just carrying the present forward."
THE CONVERGENCE POINT: at t+1h the spread between best and worst learned model is 31 W/m². At t+3h it's 9.9. As the horizon lengthens, the predictable component shrinks and everything converges toward predicting the conditional mean. This is a general property of forecasting and it's worth naming.
THE THIRD CARD IS THE SHARPEST CRITIQUE OF MY OWN MODEL:
"At t+1h, smart persistence scores 81.8. CNN-only scores 87.5, naive concat 91.0, the gated fusion 94.7. All three image-using models are beaten at one hour by a formula with no parameters that just holds the current clear-sky index constant. If the satellite image were contributing anything at the shortest horizon — where the current cloud field is most informative — that should not happen. It is the clearest single indictment of the image branch."
THE COUNTERINTUITIVE EXPECTATION TO ADDRESS: one might expect the image to help MORE at longer horizons, since that's where advection matters. My data does not show that either — the fusion gap is roughly constant across horizons. The one place the image does help is large ramp events, which I show on the failure-analysis slide.
LIKELY Q: "Why is LSTM-only relatively weaker at t+1h (77.8, 14 W/m² behind LightGBM) but nearly level at t+3h (92.3 vs 90.3)?"
A: LightGBM gets three explicit GHI lags as raw features, which is close to optimal for the very short horizon where persistence dominates. The LSTM has to learn that relationship through a recurrent encoder from normalised inputs. At longer horizons the lag features lose their edge and the two converge.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clean, controlled ablation and I can state precisely what it does and does not license me to conclude.
WHY THE ABLATION IS CLEAN — say this first:
"These are not four models. They are one model class instantiated four times with a different ablation string. Look at model.py lines 304 to 312: it's a four-branch if-statement inside forward(). Same dataset object, same loss function, same optimiser, same learning rate, same seed, same GPU. So a difference in outcome is attributable to the fusion rule and to nothing else. That is the property that makes this an experiment rather than a comparison."
THE TWO DELTAS TO QUOTE:
- Image branch: 84.7 → 97.6 is +12.9 W/m². Adding the image costs 15% relative error.
- Gating vs concat: 94.8 → 97.6 is +2.8 W/m². The gate is worse than the trivial alternative.
WHY GATING IS WORSE THAN CONCAT — the information-theoretic argument, this is the sharpest thing on the slide:
"A convex combination α·H_t + (1−α)·H_a maps two 256-dimensional vectors into one 256-dimensional vector. Concatenation maps them into 512 dimensions and lets a linear layer learn any mixing it wants — including the convex combination as a special case. So the gate imposes a strict information bottleneck. That bottleneck is only worth paying for if the conditioning is informative. Mine wasn't: α is constant. So I paid the bottleneck cost and got nothing back. That is exactly what the 2.8 W/m² measures."
THE SCOPE LIMITATION — the third card is the one that keeps me honest:
"I want to be careful about what I claim. One dataset, one seed, one backbone, one schedule. I am not entitled to say 'satellite fusion doesn't work for solar forecasting'. I am entitled to say: under these specific conditions, with this much data, it did not pay, and here is the mechanism."
LIKELY Q: "CNN-only at 91.7 is better than concat at 94.8 — how can using both be worse than using only the weaker one?"
A: Genuinely interesting and I don't have a proven answer. My interpretation: the concat variant's enrich layer is 515→256 rather than 259→256, so it has twice the parameters in the fusion layer and more capacity to overfit; and it must learn to suppress the noisy image features rather than never seeing them. That's an interpretation, not a demonstration. A 512-dim concat with the image branch frozen would test it.
LIKELY Q: "PICP is around 90% for all four. Doesn't that mean they're all fine?"
A: Coverage is achieved by widening the intervals. The fusion model's mean 90% interval is 426.7 W/m² wide versus 397.6 for LSTM-only. It hits nominal coverage by being less certain, not by being more accurate.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probabilistic head works. This is the project's clearest positive result and I should present it with confidence.
LEAD WITH THE HEADLINE: "At the 90% level — the level an operator would actually use — LSTM-only covers 91.8% and the fusion model 90.2%. Both within two points of nominal, on 3,360 held-out forecast-horizon pairs. The uncertainty estimates are operationally usable."
THE z-TEST IS THE RIGOROUS VERSION: if the model is perfectly calibrated, the standardised residual (y − μ)/σ is standard normal. Mine has mean −0.003 and sd 0.931 for LSTM-only. Mean near zero means no systematic over- or under-forecasting. Sd slightly under one means σ is very slightly too large on average — the model is marginally over-cautious.
EXPLAIN THE OVER-COVERAGE AT 50% — this is the interesting diagnostic:
"Look at the 50% row: I get 57.7% coverage where I should get 50%. That means the residual distribution is more peaked than the Gaussian I fitted — there are more very small errors than a Gaussian predicts. That's exactly what you'd expect physically: the test set is a mixture of easy clear hours where the error is tiny and hard cloudy hours where it's large. A single Gaussian per sample can't represent that mixture, so it compromises: too wide in the middle, about right in the tails."
THE HONEST CAVEAT ON PICP: coverage is easy to game by widening intervals. That's why I show WIDTH alongside coverage. The fusion model achieves comparable coverage with intervals 7% wider — 427 versus 398 W/m² at the 90% level. Wider intervals for the same coverage is worse, not equal. A proper scoring rule like CRPS would penalise that automatically; I report width instead, which conveys the same thing.
LIKELY Q: "Why not report CRPS?"
A: I should have — CRPS is the standard proper score for probabilistic forecasts and it jointly penalises miscalibration and lack of sharpness in one number. It's a straightforward addition given I have μ and σ in closed form.
LIKELY Q: "A Gaussian can predict negative GHI. Is that a problem?"
A: Yes, and it's a real defect. GHI is non-negative and bounded above by roughly 1.15 times clear-sky. My lower bound is clipped to zero at inference, but the underlying likelihood is unbounded, which means probability mass is being assigned to impossible values — especially at dawn and dusk where GHI is small. A truncated normal, a beta on the clear-sky index, or quantile regression would all be more appropriate.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mechanism the project is named after did not function, I detected it, and I can explain why. Present this as a diagnosis, not a confession.
OPEN DIRECTLY: "The physics gate is in the title of this project. It did not work. Here is the evidence and here is my diagnosis."
THE NUMBERS: mean α 0.4461, standard deviation 0.0096, minimum 0.4246, maximum 0.4773. Across 1,120 test samples spanning ten hours of the day and the full range from overcast to clear, α moves by 5% of its available range. A sigmoid output that never leaves a 0.05-wide band around its centre is a constant with noise on it.
THE SUBTLE POSITIVE — don't skip this, it shows I looked carefully:
"The right panel is the interesting part. The trend is monotone and it is in the correct direction: α rises from 0.438 in the cloudiest decile to 0.454 in the clearest. Clearer sky means more weight on the temporal branch, which is exactly what I designed the gate to do. So the gate learned the correct sign of the relationship. It just learned it with a magnitude two orders of magnitude too small to matter. And critically, the repository's own §9d plot — generated during training, independently of anything I computed for this defence — shows the same band and the same monotone trend. Two independent computations agree."
THE MECHANISM — this is the answer they're waiting for:
"Why no magnitude? Consider the gradient. ∂L/∂α is proportional to the difference between the two branch representations projected onto the loss gradient. If H_a carries little information about the target, then moving α barely changes the prediction, so ∂L/∂α is near zero, so the gate never moves off its initialisation. The collapse is not a bug in the gate — it is the gate correctly reporting that there is nothing to switch between. It is a symptom of the image branch, and it is consistent with everything else in the results."
RULE OUT THE OBVIOUS ALTERNATIVE: it is not sigmoid saturation. Saturation would put α near 0 or 1 with vanishing gradient. α sits at 0.446, the steepest part of the sigmoid, where gradients are largest. So the gradient pathway is healthy; the signal is absent.
WHAT I WOULD DO: three things. Add an entropy or variance regulariser on α to penalise a degenerate distribution. Make α a 256-vector so different feature groups can route differently. And standardise the gate inputs — the optical-flow components have magnitude around 0.004 while k_t is around 0.7, so the flow features are effectively invisible to the first linear layer.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errors behave the way physics says they should, and the stratification isolates exactly where the fusion model loses.
LABEL IT CLEARLY: this analysis is not in the repository. I derived it for this defence from the reproduced predictions. Say that.
THE HOUR PANEL — pre-empt the misreading:
"Someone might look at the left panel and say the model is bad at midday. That's a scale artefact. Mean GHI at 13:00 is 727 W/m²; at 16:00 it's 497. If I normalise by the hourly mean, the relative error is roughly 15% at midday and 11% at 16:00 — much flatter. The absolute error tracks the magnitude of the quantity being predicted, which is what you'd expect from a multiplicative noise process."
THE CLOUD PANEL IS THE PHYSICALLY MEANINGFUL ONE:
"Error rises monotonically as the sky gets cloudier: 69.1 in the clearest bin, 116.9 in the overcast bin. That's exactly right — under clear sky k_t is pinned near 1 and almost deterministic; under broken convective cloud it's effectively a chaotic process on 10-minute scales. The model's error profile matches the physics of predictability."
THE THIRD CARD IS THE MOST DAMNING AND THE MOST USEFUL:
"Now compare the two models across cloud bins. Under clear sky the fusion model is 9.2 W/m² worse than LSTM-only. Under overcast it's 38.1 worse — a four-fold larger penalty. The satellite branch does its most damage precisely in the cloudy regime it was introduced to handle. That inverts the entire design rationale and it is the single most informative diagnostic in the whole project."
MY INTERPRETATION — and label it as interpretation:
"Two candidate mechanisms, and I can't separate them with the data I have. First, under heavy overcast the satellite tile is nearly uniform bright white with little exploitable texture, so the image features are low-variance and the model falls back on something close to climatology — which is far too high. Second, my target is ERA5 reanalysis, which is spatially smoothed, whereas the image shows the instantaneous field; that mismatch is largest under broken cloud. The failure case on the next slide is consistent with the first mechanism."
THE SAMPLE-SIZE CAVEAT: the overcast bin has only 67 samples, so 116.9 versus 155.0 carries real uncertainty. The monotone trend across all five bins is the robust part; the exact overcast numbers are not.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looked at individual failures, found a coherent mechanism, and found one genuine win.
THE FAILURE MECHANISM — walk the chart:
"2 December 2025 was persistently overcast in Singapore — clear-sky index around 0.1, meaning 90% of the available irradiance was blocked all morning. Actual GHI at 09:00 was 27 W/m². The model forecast 502. That's an error of 557 W/m², more than twice the standard deviation of the entire dataset. And it happened three hours running.
The mechanism I read from this: under deep overcast, the satellite tile is nearly uniformly bright white. There is no texture, no cloud edge, no contrast. Feature variance collapses, the attention output becomes nearly constant, and the model has nothing to condition on — so it reverts toward its prior, which is close to the climatological mean. And the climatological mean at 10:00 in December is several hundred W/m².
LSTM-only makes the same mistake but roughly half as large — 292 versus 586 — because its ghi_lag1 feature explicitly records that the previous hour was dark. The temporal branch has a memory the image branch lacks."
THE POSITIVE FINDING — do not bury it, this is the most nuanced result in the deck:
"Now the green box. I stratified by ramp magnitude — how much GHI actually changed between t and t+1h. Above 300 W/m² of change, in 106 test samples, the fusion model is the BEST method: 86.2 W/m² versus 92.3 for LSTM-only and 374 for persistence. That is the one regime where the satellite image demonstrably earns its keep, and it is exactly the regime the architecture was designed for — rapid cloud-driven transitions.
So the honest summary is not 'the image is useless'. It is: the image helps on 9.5% of hours and hurts on the rest, and the average is negative."
THE OPERATIONAL IMPLICATION — this is a genuinely good idea to volunteer:
"That suggests a conditional architecture rather than a blended one — route to the image branch only when a ramp is likely, using recent variance as the trigger. Which is, ironically, exactly what a working gate would have done. The design intuition was right; the implementation could not realise it."
SAMPLE-SIZE HONESTY: 106 samples in the &gt;300 bin. The 6-point gap is suggestive, not established. I'd want a significance test before building on it.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audited my own methodology, found a real flaw, quantified it, and disclosed it rather than quietly fixing the numbers. Present this as a strength — it is the slide that most distinguishes a Master's-level defence from an undergraduate one.
HOW TO OPEN — own it immediately:
"I want to raise something I found while preparing this defence, because an examiner would find it and I would rather present it than be caught by it."
THE MECHANISM: targets are built with a pandas shift of −1, −2, −3 on a dataframe that has already been filtered to 08:00–17:00. So the row at 16:00 has neighbours 17:00, then 08:00 the next day, then 09:00. Its 't+3h' target is 09:00 tomorrow — seventeen hours ahead, not three.
THE COUNTERINTUITIVE PART — make sure they follow it:
"The instinct is that this makes results worse. It's the opposite. Early-morning GHI is low and highly predictable — the sun has just risen, cloud has not built up. MAE on those next-morning targets is 35 to 61 W/m², versus 83 to 119 on genuine same-day forecasts. So about 20% of my reported forecast-hours are easy cases wearing a hard case's label. Every headline number in this deck is optimistic relative to a true 1-to-3-hour task."
WHY THE RANKING SURVIVES: every model — the tabular baselines, all four deep variants, persistence — uses identical target construction. The artefact shifts all of them by the same amount. LightGBM still beats the fusion model. In fact on same-day-only samples the gap WIDENS: LSTM-only 82.5 versus fusion 101.4 at t+1h, an 18.9 W/m² gap versus 16.9 overall.
THE THIRD CARD IS A GENUINE MECHANISTIC INSIGHT: for the 10% of samples that sit at the start of a day, the 'previous frame' in the multi-frame stack is 15 hours old. The model receives it as if it were one hour old, with no Δt channel to distinguish them. So for a tenth of the samples the motion information the architecture depends on is not merely absent — it is actively misleading.
WHY I DID NOT PATCH IT: re-running with corrected targets means retraining all four variants, which invalidates the comparison against the committed checkpoints that everything else in this deck rests on. Given that the artefact is symmetric and the ranking is unaffected, disclosure is the more honest response than a partial re-run I could not fully validate in time.
IF ASKED "shouldn't you have caught this earlier?": Yes. It's a consequence of applying the daylight filter before target construction rather than after. The fix is to build targets on a continuous hourly index and then drop boundary-crossing samples.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this is a real service with real operational guards, and I found two real defects in it that I am disclosing.
THE STRONGEST ENGINEERING POINT ON THIS SLIDE — the verify.py guard:
"verify.py explicitly refuses to score a target hour that has not fully passed. Open-Meteo's forecast endpoint with past_days serves analysis values for the past and its OWN forecast for the future, in the same array, indistinguishably. Without that cutoff check, the system would be grading its forecast against another model's forecast and reporting it as verified truth. That check is commit 6e3e1a9 and it is the difference between verification and self-deception."
THE OTHER GUARDS: de-duplication on (forecast_time, horizon) so a re-run cannot pad the log with duplicate rows. Staleness warnings on both the satellite image and the lookback data. A source column in the CSV that records whether the actual came from a measurement or a model re-estimate — and all 24 logged rows say 'measured'.
THE TWO DEFECTS — volunteer them, do not wait:
"I found two defects in the live path while preparing this. First, model.py's load_weather_from_json reads a key called 'cloud-cover', but current_data.py's WeatherCollector only registers five endpoints and cloud-cover is not among them — so that lookup silently returns 0.0 every single time. You can see it in forecast_latest.json: cloud_cover is 0.0 on a day with real cloud. Second, and larger: the weather dictionary that function returns is printed to the console and written into the output JSON, but it is never used to build the model input. The 24-step lookback comes entirely from the historical CSV extended with live Open-Meteo data. So the data.gov.sg fetch is, in the current predict path, decorative.
Neither affects any offline result — training and evaluation never touch that code. But it means the live system is not using the local station network it appears to use, and I would fix that before claiming operational deployment."
WHY THAT'S ACTUALLY THE RIGHT ARCHITECTURE ANYWAY: the model was trained on ERA5 reanalysis variables. Feeding it data.gov.sg station readings at inference would be a train/serve distribution mismatch — different instruments, different spatial aggregation, different units for wind. Using the live Open-Meteo API keeps the input distribution consistent with training. So the bug is partly masking a correct decision, but it should be an explicit decision rather than an accident.
THE PHYSICS CLAMP: capped at 1.15 × clear-sky, using the preceding-hour MEAN because of Open-Meteo's end-of-window labelling convention. Applied only at inference, never in training or evaluation, so no reported test metric benefits from it.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the system genuinely ran in production and verified itself — but I must not over-read 24 samples.
WHAT MAKES THIS REAL: eight consecutive days, a cron job at 10:00 issuing forecasts and one at 13:30 verifying them, and every one of the 24 logged rows has source='measured', meaning it was scored against an actual analysis value and not against a model re-estimate. That distinction is enforced in code, and the log proves the enforcement worked.
THE HEADLINE COMPARISON: offline test MAE for this checkpoint was 97.6 W/m². Live MAE, seven months later on a completely different season, is 79.4. The model has not degraded.
NOW IMMEDIATELY UNDERCUT IT — this is the part that earns credit:
"I want to be careful not to over-read that. Twenty-four forecast-hours is a tiny sample. August in Singapore is inter-monsoon, and actual GHI across these hours averaged 727 W/m², well above the annual mean — this is a clear, easy sample. And one run, 19 August, contributes errors of 191, 212 and 198 W/m²; strip it out and MAE drops to 62.1 over the remaining 21 hours. A statistic that moves by 17 W/m² when you remove one of eight days is not a stable estimate."
THE COVERAGE CAVEAT — I am pre-empting the obvious trap:
"100% coverage looks wonderful and means almost nothing here. The intervals average roughly ±250 W/m². At a nominal 90% level with 24 samples you'd expect about 2.4 exceedances; observing zero has a probability of about 8% under the null, so it isn't even surprising. I'd need on the order of a hundred samples before claiming operational calibration."
THE BIAS FINDING IS THE MOST USEFUL: mean bias is −48.1 W/m². The system under-forecasts consistently. For a grid operator that's the safer direction — you hold slightly more reserve than needed — but it is a systematic error and worth investigating. My hypothesis is that live cloud_cover is stuck at 0.0 because of the defect on the previous slide, but that feature enters through the CSV lookback rather than the live weather dict, so I cannot claim that as the cause without checking.
THE 19 AUGUST OUTLIER: that run was issued at 11:00 rather than the usual 10:00, and it was the only run in the window where actual GHI exceeded 850 W/m². It looks like an unusually clear afternoon that the model, biased low, badly under-called.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I measured the cost, and the cost/benefit verdict goes against my own model. Say so.
BE UPFRONT ABOUT WHAT I DID NOT MEASURE: I did not compute FLOPs. I could have with thop or fvcore and I should have. What I do have is measured wall-clock latency, measured parameter counts recomputed from the class, and measured training times from the notebook logs.
THE TRADE-OFF THAT MATTERS — deliver it bluntly:
"Fifteen and a half million parameters, four EfficientNet forward passes per sample, 63 megabytes on disk, 64 milliseconds per forecast. LightGBM: 200 shallow trees, under a megabyte, sub-millisecond, and more accurate. There is no axis on which the deep model wins here. If I were deploying this tomorrow I would deploy LightGBM."
THE PARAMETER-BUDGET NUMBER TO REPEAT: 92.9% of parameters are in the two image encoders. 193 parameters are in the physics gate. The component the project is named after is 0.001% of the model.
THE RAM-CACHE DESIGN — this is a legitimate engineering decision worth defending:
"Decoding 7,625 PNGs per epoch would dominate training time. I decode once to .npy, then load all of them into RAM as normalised tensors — about 4.6 GB — and index them directly in __getitem__. That's why an epoch is 10 seconds with the CNN frozen. It's the right call at this scale and it explicitly does not generalise: past roughly 50,000 frames you'd need memory-mapped arrays or a proper streaming loader."
THE LATENCY-VERSUS-FRESHNESS POINT: compute is not the bottleneck. 64 ms against an hourly forecast cadence is four orders of magnitude of headroom. The real latency is the satellite publication delay — NICT tiles appear 20 to 30 minutes after acquisition, which is why get_latest_timestamp subtracts 30 minutes. That delay is a hard floor on how fresh the image input can be, and at a 1-hour horizon it consumes a meaningful fraction of the lead time.
LIKELY Q: "How would you scale this to many sites?"
A: The temporal branch is per-site and cheap. The satellite encoder is the expensive part, and the same tile covers a huge area — so I'd run the CNN once per tile per timestep and share the patch embeddings across every site inside it, then let each site's temporal query attend to its own neighbourhood of patches. That turns per-site cost back into roughly the LSTM cost.
LIKELY Q: "Could you quantise or distil it?"
A: Yes, but that optimises the wrong thing. The model isn't too slow; it's less accurate than a model a thousand times smaller.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name every weakness before the examiner does. Do not add a mitigating clause to each one — a bare list reads as confidence.
RANK THEM WHEN ASKED "which limitation matters most?":
"Two of them. First, data scale — 5,312 samples for a 14.4 million-parameter image branch. Everything else in my negative result follows from that. Second, the ground truth: I'm forecasting ERA5 reanalysis, not measurements. That changes what the task even is, because reanalysis smooths exactly the sub-hourly variability the satellite image would be most useful for detecting."
THE REANALYSIS POINT DESERVES EXPANSION: ERA5 is a model-assimilated product on roughly a 30 km grid, hourly. Real point irradiance at a site fluctuates far more. So my task is easier than true forecasting in one sense — the target is smoother — but harder for the image branch in another, because the instantaneous cloud field the satellite sees does not map cleanly onto a smoothed grid-cell average. That is a plausible partial explanation for the image branch's failure and I label it as an interpretation, not a result.
ON THE SINGLE-BAND LIMITATION: Himawari has 16 bands. Cloud attenuation depends on optical depth, which is far better constrained by infrared brightness temperature than by visible reflectance alone. Using an 8-bit browse JPEG-style product is the cheapest possible use of the satellite, and it is a real ceiling on what the image branch could ever have achieved. The JAXA fallback path in current_data.py already reads albedo_03 from NetCDF, so the plumbing exists.
ON 'NO TUNING' — the fair framing: the ablation is internally valid; every variant got identical treatment. But I cannot claim the fusion architecture was given its best shot, only that it was given the same shot. If an examiner says 'maybe it just needed a different learning rate', the honest answer is: possibly, and I did not test that.
IF PRESSED "isn't this too many limitations for a Master's project?": Every one of these is either inherent to the data available or a consequence of a deliberate prioritisation — I chose a clean controlled ablation over a tuned single model. What I would not accept is a project that had these limitations and did not know it.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four columns, strictly separated. Over-claiming novelty is the fastest way to lose an examiner's confidence; this slide is designed to make that impossible.
HOW TO DELIVER: "I want to be precise about attribution. Column one is entirely other people's work — the backbone, the optimiser, the attention module, the clear-sky model, the datasets. Column two is integration: existing pieces wired together in a way that required design but not invention. Column three is code I wrote. Column four is what I would actually claim as a contribution."
THE KEY DISCLAIMER — say it out loud, it's on the slide for a reason:
"I want to be explicit: I did not invent EfficientNet, I did not invent cross-attention, and gating mechanisms long predate this project. What I built is a specific composition, and what I contribute is a controlled test of whether that composition helps."
WHAT I WILL DEFEND AS GENUINELY MINE:
1. The ablation design — one class, one flag, four variants, everything else identical. That is a real experimental-design contribution and it's why the result is interpretable.
2. The gate-collapse diagnosis. I did not just report that it failed; I measured α across 1,120 samples, showed it retains the correct sign, ruled out sigmoid saturation, and gave the gradient argument for why a weak H_a starves the gate.
3. Catching the pv_actual leak. Without that the whole project would have reported a meaningless R² of 0.9999.
4. The end-to-end operational loop with the self-verification guard.
IF THE EXAMINER SAYS "so what's novel?": "Not the algorithm. What's novel is the measurement — a controlled negative result with a mechanism, at a data scale that is realistic for a single-site deployment. Most published satellite-fusion work reports positive results at 10^5 to 10^6 samples. Knowing where that approach stops paying is useful information, and it is not information you can get from the published literature, which under-reports negatives."
IF ASKED "would you frame the project differently now?": Yes — I'd frame it from the start as a data-efficiency study of multimodal fusion for solar forecasting, and design the experiments around a learning curve rather than a single architecture comparison.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four conclusions, each traceable to a specific measurement, each scoped.
DELIVERY: slow down here. This is the slide the examiner will remember. Four numbered points, each one sentence of claim followed by the evidence.
REHEARSE THE EVIDENCE FOR EACH:
1. Fusion doesn't pay → the 12.9 W/m² ablation delta, the monotone ordering across four variants, and the 78.9 versus 97.6 comparison on identical samples.
2. Gate collapse → α within [0.425, 0.477], sd 0.0096, correct sign against cloud decile, 2.8 W/m² penalty versus concat, and the gradient argument.
3. Calibration works → 91.8% and 90.2% empirical coverage at nominal 90%, z-statistics mean ≈ 0 and sd 0.93–0.99.
4. Image mis-deployed → 86.2 versus 92.3 W/m² on ramps above 300, in 106 samples.
THE FOURTH POINT IS THE ONE THAT TURNS A NEGATIVE INTO A FINDING. Emphasise it: "The image is not noise. On the hours where the sky is actually changing fast, the fusion model is the best method I tested. The information is in there. What my architecture got wrong was accessing it through an unconditional blend applied to every hour, rather than routing to it only when it's relevant. And that's exactly what the gate was supposed to do — the design intuition was correct, the implementation could not realise it."
THE SCOPE LINE AT THE BOTTOM IS DELIBERATE. If an examiner tries to push me into a general claim — 'so satellite forecasting doesn't work?' — point at it. One site, 7,640 records, one tile, one visible band, one seed, one split. Those are the boundaries of what I measured.
ANTICIPATE: "If you had to summarise the project in one sentence?"
A: "I built a complete satellite-plus-weather solar forecasting system, ran a controlled ablation on it, and found that the satellite branch costs more than it contributes at this data scale — and I can show you exactly why, and exactly where it does help."</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an ordered, costed plan — not a wish list. The ordering itself demonstrates judgement.
IF ASKED "what would you do with one more week?": Items 1 and 3. The two control runs plus fixing the target construction. Together they close the biggest gap in what I can currently claim, and they're achievable in days.
IF ASKED "what would you do with another six months?": Items 5 and 7 together — multi-band imagery and multi-site, multi-year data. Those are the two changes that could plausibly reverse the headline result, because they attack the two root causes: an information-poor input and an insufficient sample.
WHY ITEM 2 (predict k_t) IS HIGHER THAN THE GATE FIX: because it changes the loss landscape for every model, not just the fusion path. Currently the target is z-scored GHI, so midday hours with GHI near 900 dominate the squared-error term while dawn hours near 50 contribute almost nothing. Predicting k_t makes the target roughly uniform in scale across the day, which means the loss weights all hours comparably — and k_t is the quantity that is actually physically uncertain. This is the standard formulation in the solar forecasting literature and I should have used it from the start.
THE GATE-INPUT SCALING DETAIL IN ITEM 4: k_t is around 0.7, cloud cover scaled is around 0.9, but the optical-flow components are around 0.004. They enter the same 4→32 linear layer unstandardised. Whatever the flow features contained, the first layer could barely see them. That is a concrete, cheap fix.
THE HONEST FRAMING FOR ITEM 7: this is the experiment that would tell me whether my negative result is a statement about the architecture or a statement about my sample size. Right now I genuinely do not know which, and I should say that. The training curves point strongly at sample size, but a learning-curve study — train on 25%, 50%, 75%, 100% and plot the fusion gap — is the direct test and it is much cheaper than collecting more data.
DO NOT LET THIS SLIDE SOUND LIKE EXCUSES. The framing is: here is what I measured, here is what I'd measure next, and here is why in that order.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MESSAGE: cite what the code actually uses, and be explicit that the repository has no bibliography of its own.
THE DISCLOSURE BOX IS THE POINT OF THIS SLIDE. Read it if there's any doubt: "The repository doesn't contain a bibliography. What I've listed are the canonical sources for components the code demonstrably uses — I can point at the timm model string 'efficientnet_b2', at pvlib's get_clearsky call, at cv2.calcOpticalFlowFarneback. I am not claiming to have reimplemented any specific forecasting paper. The architecture is my own composition of standard parts."
IF ASKED "which paper is your architecture based on?": None specifically. The components are standard — a BiLSTM with attention pooling, cross-modal attention where one modality queries the other, and a gating mechanism. Each has a large literature. The composition, and specifically conditioning the gate on physical state rather than on the features, is mine.
IF ASKED "what related work should you have cited?": I'd name the Inman, Pedro and Coimbra review of solar forecasting methods for the taxonomy on my background slide; the sky-imager nowcasting literature for family 3; and the ConvLSTM-style satellite nowcasting work for family 4. I should have done a proper literature review and written it into the repository — that's a genuine gap in the project as submitted, not just in this deck.
ON SWIMSEG: it's from Soumyabrata Dev and colleagues at NTU Singapore, released with a licence file that's in the repository. Worth noting the dataset is Singapore sky imagery, which is why I chose it over a generic cloud dataset — same climate, same cloud types.
ON ETHICS/LICENSING: all data sources are public and free. NICT's imagery is publicly served; JAXA P-Tree requires free registration. PVGIS and Open-Meteo are open. I should note the repository's .env.example contains what appear to be live JAXA credentials — those should be scrubbed and rotated before any public release.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slide. Do not present these unless asked — they exist so that any factual challenge during the viva can be answered by jumping to the exact file and line. Know that A1 and A2 map every technical claim in the deck to a repository location, A4 lists the places where the repository's own documentation contradicts its code, and A5 onward is the prepared question bank.</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Use it if an examiner challenges any specific factual claim — jump here, read the file and symbol, and offer to open it.
The most likely challenges and where they land:
- "Where is the leakage prevented?" → row 6 (per-split Dataset objects) and row 7 (train-only normalisation).
- "Show me the ablation switch." → row 12, model.py forward() lines 304–312.
- "Where does the clear-sky value come from?" → row 2, historical_data.py line 47, and model.py compute_clearsky_ghi.</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reference table.
Note row 5 in particular: the training curves and the epoch logs come from the executed notebook stored in commit 8196803. The notebook at HEAD has had its outputs cleared. If an examiner asks how I know the epoch-by-epoch numbers, the answer is: git preserves an executed copy, and its final results table matches the committed results CSV exactly, which is how I confirmed the logs correspond to the checkpoints on disk.</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appendix.
KEY POINT IF ASKED: I did not only re-run the code — I re-ran it on different hardware (Apple MPS instead of an NVIDIA 4090), a different Python (3.14 instead of 3.11), and a different OpenCV build, and still reproduced every reported metric to within 1.5 W/m². The tabular baselines reproduced exactly, to five decimal places, because they are deterministic given the seed.
THE ONE GOTCHA I HIT AND SHOULD MENTION IF ASKED: the .npy image cache in the local data/ directory is a pre-grayscale-conversion copy — still RGB. The RunPod workspace copies had been converted in place by notebook cell 8. My first reproduction attempt gave MAE 214 instead of 97 for every image-using model, and LSTM-only reproduced exactly. That asymmetry told me immediately the problem was in the image path, not the model. Applying the grayscale conversion in memory fixed it. It's a good illustration of why the ablations are useful as a debugging tool, not just as an experiment.
ONE-COMMAND REPRODUCTION IS NOT AVAILABLE: there is no requirements.txt with pinned versions, no Dockerfile, no Makefile. The dependency list above is reconstructed from the notebook's pip cell and the imports across the modules. That is a genuine reproducibility gap I would fix.</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Discrepancy audit. This slide exists because PART 25 of good practice — and any competent examiner — requires that code, not comments, be treated as ground truth.
THE MOST IMPORTANT ONE IS ROW 1. If an examiner reads model.py's docstring they will believe the deployed model is v1: a single EfficientNet encoder, simplified dot-product cross-attention, a 2-input gate, 8.1 M parameters. That is wrong. I verified it by loading every checkpoint and checking for keys beginning 'global_enc.' — which only v2 has. All four contain them. All four are 62.9 MB, consistent with 15.6 M tensor elements at fp32; a v1 checkpoint would be roughly 33 MB. Git history confirms it: commit 0a2789e replaced 33 MB checkpoints with 63 MB ones.
WHY IT DOESN'T BREAK ANYTHING: load_model inspects the state dict keys and instantiates the matching class, so inference works correctly regardless of what the comment says. It is a documentation defect, not a functional one — but it would have sent me to the wrong architecture if I had trusted the prose.
ROWS 4 AND 5 ARE FUNCTIONAL, not cosmetic. They affect the live path. I disclose them on the deployment slide rather than burying them here.
IF ASKED "why not just fix these?": Rows 1, 2, 3 and 6 are one-line comment edits and should be fixed. Rows 4, 5 and 7 are behavioural and fixing them changes the live path, which would invalidate the eight days of verification logged against the current behaviour. I'd fix them and restart the verification window.</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question bank.
The B2-versus-smaller point is the one to concede early and clearly: 7.2 M parameters per encoder, two encoders, 5,312 samples. Even the "efficient" backbone was an order of magnitude too large for the data. If an examiner pushes, agree — this is the single design decision I would most want back.
On query length: don't be defensive. It IS an unusual use of the mechanism and naming that yourself is stronger than being caught.
On FLOPs: just say I didn't measure them and that thop or fvcore would have taken minutes. Don't invent a number.</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question bank. The leakage question is the single most likely one in the entire viva — rehearse the four-control answer until it is automatic.
The future-clear-sky question is a trap that catches many candidates. The answer must be crisp: it is ephemeris, not weather. If they push further — "but it uses climatological turbidity, isn't that data?" — concede that the Linke turbidity lookup is a climatological table and not a forecast, so it carries no information about the specific day's weather.
The reanalysis question: the key distinction is between INTERNAL validity (model comparison, unaffected) and EXTERNAL validity (absolute error figures, not comparable to pyranometer studies). Make that distinction explicitly.</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question bank.
The hyper-parameter question is where candidates most often bluff. Do not. "They were not searched" is a complete and honest answer, followed immediately by what that does and does not permit me to claim.
On the NLL-versus-MSE trade-off: the sophisticated addition is that model selection on validation NLL means I select the best-calibrated model, not the lowest-MAE one. Volunteering that shows I understand my own evaluation protocol's bias.
On the unfreeze epoch: "round number, not tuned" is honest and the follow-up — a plateau-based criterion would be better — shows I know what the principled version looks like.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question bank.
The significance question is the one most likely to expose over-claiming. The correct posture: name the test I should have run (Diebold-Mariano on paired errors), state what I can defend without it, and explicitly name the comparison I would NOT defend. Volunteering the second half is what makes the first half credible.
On the live-versus-offline apparent contradiction: the instinct is to claim it as a win. Don't. Explaining why a favourable number should not be trusted is the strongest possible demonstration of statistical judgement.
On the "single result" question: the dose-response framing is the strongest argument in the whole project, because it converts four separate comparisons into one coherent pattern with three independent corroborations.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and research question bank. These are the closing questions in most vivas — the ones that assess judgement rather than recall.
The "what would you change" answer is deliberately ordered by expected impact, not by effort. Leading with "predict k_t instead of GHI" signals that I understand the problem formulation, not just the implementation.
The contribution question: never soften "I invented no new algorithm" — state it, then immediately give the five concrete things I DID contribute. A candidate who accurately characterises a modest contribution is more credible than one who inflates it.
The six-months answer should name experiments that could REVERSE my result, not ones that would confirm it. That is what distinguishes a researcher from an advocate.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If the floor goes quiet, offer one of these to steer the discussion somewhere I am strong:
- "I'm happy to go deeper on why the gate collapsed — I think the gradient argument is the most interesting part of the project."
- "I can walk through the day-boundary artefact I found during the audit if that's useful."
- "Appendix A1 and A2 map every claim in this deck to a file and a line, if you want to check anything specific."
If challenged on the negative result being a failure, the one-sentence answer: "The project asked whether satellite fusion improves 1-to-3-hour forecasting at this data scale. It answers that with a controlled experiment, a mechanism, and a bound on the claim. That is a result."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235440" y="3794760"/>
            <a:ext cx="5120640" cy="5120640"/>
          </a:xfrm>
          <a:prstGeom prst="ellipse">
            <a:avLst/>
          </a:prstGeom>
          <a:solidFill>
            <a:srgbClr val="1C7293">
              <a:alpha val="18000"/>
            </a:srgbClr>
          </a:solidFill>
          <a:ln/>
        </p:spPr>
        <p:txBody>
          <a:bodyPr/>
          <a:lstStyle/>
          <a:p>
            <a:endParaRPr lang="en-AE"/>
          </a:p>
        </p:txBody>
      </p:sp>
      <p:sp>
        <p:nvSpPr>
          <p:cNvPr id="3" name="Shape 1"/>
          <p:cNvSpPr/>
          <p:nvPr/>
        </p:nvSpPr>
        <p:spPr>
          <a:xfrm>
            <a:off x="10972800" y="137160"/>
            <a:ext cx="2194560" cy="2194560"/>
          </a:xfrm>
          <a:prstGeom prst="ellipse">
            <a:avLst/>
          </a:prstGeom>
          <a:solidFill>
            <a:srgbClr val="E8A33D">
              <a:alpha val="20000"/>
            </a:srgbClr>
          </a:solidFill>
          <a:ln/>
        </p:spPr>
        <p:txBody>
          <a:bodyPr/>
          <a:lstStyle/>
          <a:p>
            <a:endParaRPr lang="en-AE"/>
          </a:p>
        </p:txBody>
      </p:sp>
      <p:sp>
        <p:nvSpPr>
          <p:cNvPr id="4" name="Text 2"/>
          <p:cNvSpPr/>
          <p:nvPr/>
        </p:nvSpPr>
        <p:spPr>
          <a:xfrm>
            <a:off x="777240" y="960120"/>
            <a:ext cx="10607040" cy="274320"/>
          </a:xfrm>
          <a:prstGeom prst="rect">
            <a:avLst/>
          </a:prstGeom>
          <a:noFill/>
          <a:ln/>
        </p:spPr>
        <p:txBody>
          <a:bodyPr wrap="square" lIns="0" tIns="0" rIns="0" bIns="0" rtlCol="0" anchor="ctr"/>
          <a:lstStyle/>
          <a:p>
            <a:pPr marL="0" indent="0">
              <a:buNone/>
            </a:pPr>
            <a:r>
              <a:rPr lang="en-US" sz="1150" b="1" kern="0" spc="240" dirty="0">
                <a:solidFill>
                  <a:srgbClr val="E8A33D"/>
                </a:solidFill>
                <a:latin typeface="Calibri" pitchFamily="34" charset="0"/>
                <a:ea typeface="Calibri" pitchFamily="34" charset="-122"/>
                <a:cs typeface="Calibri" pitchFamily="34" charset="-120"/>
              </a:rPr>
              <a:t>M.TECH COMPUTER ENGINEERING  ·  MASTER'S PROJECT DEFENCE</a:t>
            </a:r>
            <a:endParaRPr lang="en-US" sz="1150" dirty="0"/>
          </a:p>
        </p:txBody>
      </p:sp>
      <p:sp>
        <p:nvSpPr>
          <p:cNvPr id="5" name="Text 3"/>
          <p:cNvSpPr/>
          <p:nvPr/>
        </p:nvSpPr>
        <p:spPr>
          <a:xfrm>
            <a:off x="777240" y="1481328"/>
            <a:ext cx="8503920" cy="2377440"/>
          </a:xfrm>
          <a:prstGeom prst="rect">
            <a:avLst/>
          </a:prstGeom>
          <a:noFill/>
          <a:ln/>
        </p:spPr>
        <p:txBody>
          <a:bodyPr wrap="square" lIns="0" tIns="0" rIns="0" bIns="0" rtlCol="0" anchor="t"/>
          <a:lstStyle/>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Physics-Gated Cross-Modal Fusion</a:t>
            </a:r>
            <a:endParaRPr lang="en-US" sz="3800" dirty="0"/>
          </a:p>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for Short-Horizon Solar</a:t>
            </a:r>
            <a:endParaRPr lang="en-US" sz="3800" dirty="0"/>
          </a:p>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Irradiance Forecasting</a:t>
            </a:r>
            <a:endParaRPr lang="en-US" sz="3800" dirty="0"/>
          </a:p>
        </p:txBody>
      </p:sp>
      <p:sp>
        <p:nvSpPr>
          <p:cNvPr id="6" name="Text 4"/>
          <p:cNvSpPr/>
          <p:nvPr/>
        </p:nvSpPr>
        <p:spPr>
          <a:xfrm>
            <a:off x="777240" y="3968496"/>
            <a:ext cx="8138160" cy="777240"/>
          </a:xfrm>
          <a:prstGeom prst="rect">
            <a:avLst/>
          </a:prstGeom>
          <a:noFill/>
          <a:ln/>
        </p:spPr>
        <p:txBody>
          <a:bodyPr wrap="square" lIns="0" tIns="0" rIns="0" bIns="0" rtlCol="0" anchor="ctr"/>
          <a:lstStyle/>
          <a:p>
            <a:pPr marL="0" indent="0">
              <a:lnSpc>
                <a:spcPts val="2300"/>
              </a:lnSpc>
              <a:buNone/>
            </a:pPr>
            <a:r>
              <a:rPr lang="en-US" sz="1450" dirty="0">
                <a:solidFill>
                  <a:srgbClr val="CADCFC"/>
                </a:solidFill>
                <a:latin typeface="Calibri" pitchFamily="34" charset="0"/>
                <a:ea typeface="Calibri" pitchFamily="34" charset="-122"/>
                <a:cs typeface="Calibri" pitchFamily="34" charset="-120"/>
              </a:rPr>
              <a:t>Probabilistic 1–3 hour ahead GHI forecasting over Singapore from geostationary satellite imagery, reanalysis weather and solar geometry — with an operational, verified deployment.</a:t>
            </a:r>
            <a:endParaRPr lang="en-US" sz="1450" dirty="0"/>
          </a:p>
        </p:txBody>
      </p:sp>
      <p:sp>
        <p:nvSpPr>
          <p:cNvPr id="7" name="Shape 5"/>
          <p:cNvSpPr/>
          <p:nvPr/>
        </p:nvSpPr>
        <p:spPr>
          <a:xfrm>
            <a:off x="777240" y="4956048"/>
            <a:ext cx="2194560" cy="0"/>
          </a:xfrm>
          <a:prstGeom prst="line">
            <a:avLst/>
          </a:prstGeom>
          <a:noFill/>
          <a:ln w="25400">
            <a:solidFill>
              <a:srgbClr val="E8A33D"/>
            </a:solidFill>
            <a:prstDash val="solid"/>
          </a:ln>
        </p:spPr>
        <p:txBody>
          <a:bodyPr/>
          <a:lstStyle/>
          <a:p>
            <a:endParaRPr lang="en-AE"/>
          </a:p>
        </p:txBody>
      </p:sp>
      <p:sp>
        <p:nvSpPr>
          <p:cNvPr id="8" name="Text 6"/>
          <p:cNvSpPr/>
          <p:nvPr/>
        </p:nvSpPr>
        <p:spPr>
          <a:xfrm>
            <a:off x="777240" y="5212080"/>
            <a:ext cx="1463040" cy="310896"/>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Candidate</a:t>
            </a:r>
            <a:endParaRPr lang="en-US" sz="1200" dirty="0"/>
          </a:p>
        </p:txBody>
      </p:sp>
      <p:sp>
        <p:nvSpPr>
          <p:cNvPr id="9" name="Text 7"/>
          <p:cNvSpPr/>
          <p:nvPr/>
        </p:nvSpPr>
        <p:spPr>
          <a:xfrm>
            <a:off x="2286000" y="5212080"/>
            <a:ext cx="7863840" cy="310896"/>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Qasim Nalawala</a:t>
            </a:r>
            <a:endParaRPr lang="en-US" sz="1200" dirty="0"/>
          </a:p>
        </p:txBody>
      </p:sp>
      <p:sp>
        <p:nvSpPr>
          <p:cNvPr id="10" name="Text 8"/>
          <p:cNvSpPr/>
          <p:nvPr/>
        </p:nvSpPr>
        <p:spPr>
          <a:xfrm>
            <a:off x="777240" y="5541264"/>
            <a:ext cx="1463040" cy="310896"/>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Repository</a:t>
            </a:r>
            <a:endParaRPr lang="en-US" sz="1200" dirty="0"/>
          </a:p>
        </p:txBody>
      </p:sp>
      <p:sp>
        <p:nvSpPr>
          <p:cNvPr id="11" name="Text 9"/>
          <p:cNvSpPr/>
          <p:nvPr/>
        </p:nvSpPr>
        <p:spPr>
          <a:xfrm>
            <a:off x="2286000" y="5541264"/>
            <a:ext cx="7863840" cy="310896"/>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solar PV forecasting — branch main @ 0dc4dc7</a:t>
            </a:r>
            <a:endParaRPr lang="en-US" sz="1200" dirty="0"/>
          </a:p>
        </p:txBody>
      </p:sp>
      <p:sp>
        <p:nvSpPr>
          <p:cNvPr id="12" name="Text 10"/>
          <p:cNvSpPr/>
          <p:nvPr/>
        </p:nvSpPr>
        <p:spPr>
          <a:xfrm>
            <a:off x="777240" y="5870448"/>
            <a:ext cx="1463040" cy="310896"/>
          </a:xfrm>
          <a:prstGeom prst="rect">
            <a:avLst/>
          </a:prstGeom>
          <a:noFill/>
          <a:ln/>
        </p:spPr>
        <p:txBody>
          <a:bodyPr wrap="square" lIns="0" tIns="0" rIns="0" bIns="0" rtlCol="0" anchor="ctr"/>
          <a:lstStyle/>
          <a:p>
            <a:pPr marL="0" indent="0">
              <a:buNone/>
            </a:pPr>
            <a:r>
              <a:rPr lang="en-US" sz="1200" b="1" dirty="0">
                <a:solidFill>
                  <a:srgbClr val="E8A33D"/>
                </a:solidFill>
                <a:latin typeface="Calibri" pitchFamily="34" charset="0"/>
                <a:ea typeface="Calibri" pitchFamily="34" charset="-122"/>
                <a:cs typeface="Calibri" pitchFamily="34" charset="-120"/>
              </a:rPr>
              <a:t>Deliverables</a:t>
            </a:r>
            <a:endParaRPr lang="en-US" sz="1200" dirty="0"/>
          </a:p>
        </p:txBody>
      </p:sp>
      <p:sp>
        <p:nvSpPr>
          <p:cNvPr id="13" name="Text 11"/>
          <p:cNvSpPr/>
          <p:nvPr/>
        </p:nvSpPr>
        <p:spPr>
          <a:xfrm>
            <a:off x="2286000" y="5870448"/>
            <a:ext cx="7863840" cy="310896"/>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training notebook · shared model library · live predict / verify service</a:t>
            </a:r>
            <a:endParaRPr lang="en-US" sz="1200" dirty="0"/>
          </a:p>
        </p:txBody>
      </p:sp>
      <p:sp>
        <p:nvSpPr>
          <p:cNvPr id="14" name="Text 12"/>
          <p:cNvSpPr/>
          <p:nvPr/>
        </p:nvSpPr>
        <p:spPr>
          <a:xfrm>
            <a:off x="777240" y="6309360"/>
            <a:ext cx="8229600" cy="274320"/>
          </a:xfrm>
          <a:prstGeom prst="rect">
            <a:avLst/>
          </a:prstGeom>
          <a:noFill/>
          <a:ln/>
        </p:spPr>
        <p:txBody>
          <a:bodyPr wrap="square" lIns="0" tIns="0" rIns="0" bIns="0" rtlCol="0" anchor="ctr"/>
          <a:lstStyle/>
          <a:p>
            <a:pPr marL="0" indent="0">
              <a:buNone/>
            </a:pPr>
            <a:r>
              <a:rPr lang="en-US" sz="1000" i="1" dirty="0">
                <a:solidFill>
                  <a:srgbClr val="8FA8C0"/>
                </a:solidFill>
                <a:latin typeface="Calibri" pitchFamily="34" charset="0"/>
                <a:ea typeface="Calibri" pitchFamily="34" charset="-122"/>
                <a:cs typeface="Calibri" pitchFamily="34" charset="-120"/>
              </a:rPr>
              <a:t>All figures and numbers in this deck are reproduced from the repository.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What was built, and what it showed</a:t>
            </a:r>
            <a:endParaRPr lang="en-US" sz="3000" dirty="0"/>
          </a:p>
        </p:txBody>
      </p:sp>
      <p:sp>
        <p:nvSpPr>
          <p:cNvPr id="4" name="Shape 2"/>
          <p:cNvSpPr/>
          <p:nvPr/>
        </p:nvSpPr>
        <p:spPr>
          <a:xfrm>
            <a:off x="566928" y="1481328"/>
            <a:ext cx="3520440" cy="1874520"/>
          </a:xfrm>
          <a:prstGeom prst="roundRect">
            <a:avLst>
              <a:gd name="adj" fmla="val 2927"/>
            </a:avLst>
          </a:prstGeom>
          <a:solidFill>
            <a:srgbClr val="EFF3F7"/>
          </a:solidFill>
          <a:ln w="7620">
            <a:solidFill>
              <a:srgbClr val="CFD9E2"/>
            </a:solidFill>
            <a:prstDash val="solid"/>
          </a:ln>
        </p:spPr>
        <p:txBody>
          <a:bodyPr/>
          <a:lstStyle/>
          <a:p>
            <a:endParaRPr lang="en-AE"/>
          </a:p>
        </p:txBody>
      </p:sp>
      <p:sp>
        <p:nvSpPr>
          <p:cNvPr id="5" name="Shape 3"/>
          <p:cNvSpPr/>
          <p:nvPr/>
        </p:nvSpPr>
        <p:spPr>
          <a:xfrm>
            <a:off x="777240" y="1682496"/>
            <a:ext cx="384048" cy="384048"/>
          </a:xfrm>
          <a:prstGeom prst="ellipse">
            <a:avLst/>
          </a:prstGeom>
          <a:solidFill>
            <a:srgbClr val="E8A33D"/>
          </a:solidFill>
          <a:ln/>
        </p:spPr>
        <p:txBody>
          <a:bodyPr/>
          <a:lstStyle/>
          <a:p>
            <a:endParaRPr lang="en-AE"/>
          </a:p>
        </p:txBody>
      </p:sp>
      <p:sp>
        <p:nvSpPr>
          <p:cNvPr id="6" name="Text 4"/>
          <p:cNvSpPr/>
          <p:nvPr/>
        </p:nvSpPr>
        <p:spPr>
          <a:xfrm>
            <a:off x="777240" y="1682496"/>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80160" y="1682496"/>
            <a:ext cx="2651760" cy="384048"/>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A complete pipeline</a:t>
            </a:r>
            <a:endParaRPr lang="en-US" sz="1450" dirty="0"/>
          </a:p>
        </p:txBody>
      </p:sp>
      <p:sp>
        <p:nvSpPr>
          <p:cNvPr id="8" name="Text 6"/>
          <p:cNvSpPr/>
          <p:nvPr/>
        </p:nvSpPr>
        <p:spPr>
          <a:xfrm>
            <a:off x="777240" y="2194560"/>
            <a:ext cx="3108960" cy="1051560"/>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7,640 hourly records fusing Himawari-8/9 satellite tiles, ERA5 reanalysis weather and pvlib clear-sky geometry — collected, aligned and cached end-to-end by code in this repository.</a:t>
            </a:r>
            <a:endParaRPr lang="en-US" sz="1150" dirty="0"/>
          </a:p>
        </p:txBody>
      </p:sp>
      <p:sp>
        <p:nvSpPr>
          <p:cNvPr id="9" name="Shape 7"/>
          <p:cNvSpPr/>
          <p:nvPr/>
        </p:nvSpPr>
        <p:spPr>
          <a:xfrm>
            <a:off x="4315968" y="1481328"/>
            <a:ext cx="3520440" cy="1874520"/>
          </a:xfrm>
          <a:prstGeom prst="roundRect">
            <a:avLst>
              <a:gd name="adj" fmla="val 2927"/>
            </a:avLst>
          </a:prstGeom>
          <a:solidFill>
            <a:srgbClr val="EFF3F7"/>
          </a:solidFill>
          <a:ln w="7620">
            <a:solidFill>
              <a:srgbClr val="CFD9E2"/>
            </a:solidFill>
            <a:prstDash val="solid"/>
          </a:ln>
        </p:spPr>
        <p:txBody>
          <a:bodyPr/>
          <a:lstStyle/>
          <a:p>
            <a:endParaRPr lang="en-AE"/>
          </a:p>
        </p:txBody>
      </p:sp>
      <p:sp>
        <p:nvSpPr>
          <p:cNvPr id="10" name="Shape 8"/>
          <p:cNvSpPr/>
          <p:nvPr/>
        </p:nvSpPr>
        <p:spPr>
          <a:xfrm>
            <a:off x="4526280" y="1682496"/>
            <a:ext cx="384048" cy="384048"/>
          </a:xfrm>
          <a:prstGeom prst="ellipse">
            <a:avLst/>
          </a:prstGeom>
          <a:solidFill>
            <a:srgbClr val="E8A33D"/>
          </a:solidFill>
          <a:ln/>
        </p:spPr>
        <p:txBody>
          <a:bodyPr/>
          <a:lstStyle/>
          <a:p>
            <a:endParaRPr lang="en-AE"/>
          </a:p>
        </p:txBody>
      </p:sp>
      <p:sp>
        <p:nvSpPr>
          <p:cNvPr id="11" name="Text 9"/>
          <p:cNvSpPr/>
          <p:nvPr/>
        </p:nvSpPr>
        <p:spPr>
          <a:xfrm>
            <a:off x="4526280" y="1682496"/>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5029200" y="1682496"/>
            <a:ext cx="2651760" cy="384048"/>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A controlled ablation</a:t>
            </a:r>
            <a:endParaRPr lang="en-US" sz="1450" dirty="0"/>
          </a:p>
        </p:txBody>
      </p:sp>
      <p:sp>
        <p:nvSpPr>
          <p:cNvPr id="13" name="Text 11"/>
          <p:cNvSpPr/>
          <p:nvPr/>
        </p:nvSpPr>
        <p:spPr>
          <a:xfrm>
            <a:off x="4526280" y="2194560"/>
            <a:ext cx="3108960" cy="1051560"/>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Four variants of one 15.5 M-parameter architecture trained under identical data, loss and schedule: temporal-only, image-only, naive concatenation, and the physics-gated fusion.</a:t>
            </a:r>
            <a:endParaRPr lang="en-US" sz="1150" dirty="0"/>
          </a:p>
        </p:txBody>
      </p:sp>
      <p:sp>
        <p:nvSpPr>
          <p:cNvPr id="14" name="Shape 12"/>
          <p:cNvSpPr/>
          <p:nvPr/>
        </p:nvSpPr>
        <p:spPr>
          <a:xfrm>
            <a:off x="8065008" y="1481328"/>
            <a:ext cx="3566160" cy="1874520"/>
          </a:xfrm>
          <a:prstGeom prst="roundRect">
            <a:avLst>
              <a:gd name="adj" fmla="val 2927"/>
            </a:avLst>
          </a:prstGeom>
          <a:solidFill>
            <a:srgbClr val="EFF3F7"/>
          </a:solidFill>
          <a:ln w="7620">
            <a:solidFill>
              <a:srgbClr val="CFD9E2"/>
            </a:solidFill>
            <a:prstDash val="solid"/>
          </a:ln>
        </p:spPr>
        <p:txBody>
          <a:bodyPr/>
          <a:lstStyle/>
          <a:p>
            <a:endParaRPr lang="en-AE"/>
          </a:p>
        </p:txBody>
      </p:sp>
      <p:sp>
        <p:nvSpPr>
          <p:cNvPr id="15" name="Shape 13"/>
          <p:cNvSpPr/>
          <p:nvPr/>
        </p:nvSpPr>
        <p:spPr>
          <a:xfrm>
            <a:off x="8275320" y="1682496"/>
            <a:ext cx="384048" cy="384048"/>
          </a:xfrm>
          <a:prstGeom prst="ellipse">
            <a:avLst/>
          </a:prstGeom>
          <a:solidFill>
            <a:srgbClr val="E8A33D"/>
          </a:solidFill>
          <a:ln/>
        </p:spPr>
        <p:txBody>
          <a:bodyPr/>
          <a:lstStyle/>
          <a:p>
            <a:endParaRPr lang="en-AE"/>
          </a:p>
        </p:txBody>
      </p:sp>
      <p:sp>
        <p:nvSpPr>
          <p:cNvPr id="16" name="Text 14"/>
          <p:cNvSpPr/>
          <p:nvPr/>
        </p:nvSpPr>
        <p:spPr>
          <a:xfrm>
            <a:off x="8275320" y="1682496"/>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778240" y="1682496"/>
            <a:ext cx="2651760" cy="384048"/>
          </a:xfrm>
          <a:prstGeom prst="rect">
            <a:avLst/>
          </a:prstGeom>
          <a:noFill/>
          <a:ln/>
        </p:spPr>
        <p:txBody>
          <a:bodyPr wrap="square" lIns="0" tIns="0" rIns="0" bIns="0" rtlCol="0" anchor="ctr"/>
          <a:lstStyle/>
          <a:p>
            <a:pPr marL="0" indent="0">
              <a:buNone/>
            </a:pPr>
            <a:r>
              <a:rPr lang="en-US" sz="1450" b="1" dirty="0">
                <a:solidFill>
                  <a:srgbClr val="0B2545"/>
                </a:solidFill>
                <a:latin typeface="Calibri" pitchFamily="34" charset="0"/>
                <a:ea typeface="Calibri" pitchFamily="34" charset="-122"/>
                <a:cs typeface="Calibri" pitchFamily="34" charset="-120"/>
              </a:rPr>
              <a:t>An operational service</a:t>
            </a:r>
            <a:endParaRPr lang="en-US" sz="1450" dirty="0"/>
          </a:p>
        </p:txBody>
      </p:sp>
      <p:sp>
        <p:nvSpPr>
          <p:cNvPr id="18" name="Text 16"/>
          <p:cNvSpPr/>
          <p:nvPr/>
        </p:nvSpPr>
        <p:spPr>
          <a:xfrm>
            <a:off x="8275320" y="2194560"/>
            <a:ext cx="3154680" cy="1051560"/>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A cron-driven forecaster that fetches live data, predicts, and later verifies itself against measured irradiance — 8 consecutive days logged in verification_log.csv.</a:t>
            </a:r>
            <a:endParaRPr lang="en-US" sz="1150" dirty="0"/>
          </a:p>
        </p:txBody>
      </p:sp>
      <p:sp>
        <p:nvSpPr>
          <p:cNvPr id="19" name="Shape 17"/>
          <p:cNvSpPr/>
          <p:nvPr/>
        </p:nvSpPr>
        <p:spPr>
          <a:xfrm>
            <a:off x="566928" y="3675888"/>
            <a:ext cx="11064240" cy="1481328"/>
          </a:xfrm>
          <a:prstGeom prst="roundRect">
            <a:avLst>
              <a:gd name="adj" fmla="val 3704"/>
            </a:avLst>
          </a:prstGeom>
          <a:solidFill>
            <a:srgbClr val="0B2545"/>
          </a:solidFill>
          <a:ln/>
        </p:spPr>
        <p:txBody>
          <a:bodyPr/>
          <a:lstStyle/>
          <a:p>
            <a:endParaRPr lang="en-AE"/>
          </a:p>
        </p:txBody>
      </p:sp>
      <p:sp>
        <p:nvSpPr>
          <p:cNvPr id="20" name="Text 18"/>
          <p:cNvSpPr/>
          <p:nvPr/>
        </p:nvSpPr>
        <p:spPr>
          <a:xfrm>
            <a:off x="868680" y="3803904"/>
            <a:ext cx="10424160" cy="329184"/>
          </a:xfrm>
          <a:prstGeom prst="rect">
            <a:avLst/>
          </a:prstGeom>
          <a:noFill/>
          <a:ln/>
        </p:spPr>
        <p:txBody>
          <a:bodyPr wrap="square" lIns="0" tIns="0" rIns="0" bIns="0" rtlCol="0" anchor="ctr"/>
          <a:lstStyle/>
          <a:p>
            <a:pPr marL="0" indent="0">
              <a:buNone/>
            </a:pPr>
            <a:r>
              <a:rPr lang="en-US" sz="1450" b="1" dirty="0">
                <a:solidFill>
                  <a:srgbClr val="E8A33D"/>
                </a:solidFill>
                <a:latin typeface="Calibri" pitchFamily="34" charset="0"/>
                <a:ea typeface="Calibri" pitchFamily="34" charset="-122"/>
                <a:cs typeface="Calibri" pitchFamily="34" charset="-120"/>
              </a:rPr>
              <a:t>The headline finding is negative — and it is the most defensible part of the work</a:t>
            </a:r>
            <a:endParaRPr lang="en-US" sz="1450" dirty="0"/>
          </a:p>
        </p:txBody>
      </p:sp>
      <p:sp>
        <p:nvSpPr>
          <p:cNvPr id="21" name="Text 19"/>
          <p:cNvSpPr/>
          <p:nvPr/>
        </p:nvSpPr>
        <p:spPr>
          <a:xfrm>
            <a:off x="868680" y="4187952"/>
            <a:ext cx="10424160" cy="868680"/>
          </a:xfrm>
          <a:prstGeom prst="rect">
            <a:avLst/>
          </a:prstGeom>
          <a:noFill/>
          <a:ln/>
        </p:spPr>
        <p:txBody>
          <a:bodyPr wrap="square" lIns="0" tIns="0" rIns="0" bIns="0" rtlCol="0" anchor="ctr"/>
          <a:lstStyle/>
          <a:p>
            <a:pPr marL="0" indent="0">
              <a:lnSpc>
                <a:spcPts val="1800"/>
              </a:lnSpc>
              <a:buNone/>
            </a:pPr>
            <a:r>
              <a:rPr lang="en-US" sz="1250" dirty="0">
                <a:solidFill>
                  <a:srgbClr val="D3DEE9"/>
                </a:solidFill>
                <a:latin typeface="Calibri" pitchFamily="34" charset="0"/>
                <a:ea typeface="Calibri" pitchFamily="34" charset="-122"/>
                <a:cs typeface="Calibri" pitchFamily="34" charset="-120"/>
              </a:rPr>
              <a:t>Adding satellite imagery to a temporal model made forecasts worse, and gradient-boosted trees on eleven tabular features beat every deep variant. The physics gate that was supposed to arbitrate between the two modalities collapsed to a near-constant 0.446. The project therefore reports a measured limit of image-based fusion at this data scale, not a claimed improvement.</a:t>
            </a:r>
            <a:endParaRPr lang="en-US" sz="1250" dirty="0"/>
          </a:p>
        </p:txBody>
      </p:sp>
      <p:sp>
        <p:nvSpPr>
          <p:cNvPr id="22" name="Text 20"/>
          <p:cNvSpPr/>
          <p:nvPr/>
        </p:nvSpPr>
        <p:spPr>
          <a:xfrm>
            <a:off x="566928" y="5413248"/>
            <a:ext cx="2194560" cy="658368"/>
          </a:xfrm>
          <a:prstGeom prst="rect">
            <a:avLst/>
          </a:prstGeom>
          <a:noFill/>
          <a:ln/>
        </p:spPr>
        <p:txBody>
          <a:bodyPr wrap="square" lIns="0" tIns="0" rIns="0" bIns="0" rtlCol="0" anchor="ctr"/>
          <a:lstStyle/>
          <a:p>
            <a:pPr marL="0" indent="0" algn="ctr">
              <a:buNone/>
            </a:pPr>
            <a:r>
              <a:rPr lang="en-US" sz="4000" b="1" dirty="0">
                <a:solidFill>
                  <a:srgbClr val="0B2545"/>
                </a:solidFill>
                <a:latin typeface="Cambria" pitchFamily="34" charset="0"/>
                <a:ea typeface="Cambria" pitchFamily="34" charset="-122"/>
                <a:cs typeface="Cambria" pitchFamily="34" charset="-120"/>
              </a:rPr>
              <a:t>78.9</a:t>
            </a:r>
            <a:endParaRPr lang="en-US" sz="4000" dirty="0"/>
          </a:p>
        </p:txBody>
      </p:sp>
      <p:sp>
        <p:nvSpPr>
          <p:cNvPr id="23" name="Text 21"/>
          <p:cNvSpPr/>
          <p:nvPr/>
        </p:nvSpPr>
        <p:spPr>
          <a:xfrm>
            <a:off x="566928" y="6053328"/>
            <a:ext cx="2194560" cy="475488"/>
          </a:xfrm>
          <a:prstGeom prst="rect">
            <a:avLst/>
          </a:prstGeom>
          <a:noFill/>
          <a:ln/>
        </p:spPr>
        <p:txBody>
          <a:bodyPr wrap="square" lIns="0" tIns="0" rIns="0" bIns="0" rtlCol="0" anchor="t"/>
          <a:lstStyle/>
          <a:p>
            <a:pPr marL="0" indent="0" algn="ctr">
              <a:buNone/>
            </a:pPr>
            <a:r>
              <a:rPr lang="en-US" sz="1100" dirty="0">
                <a:solidFill>
                  <a:srgbClr val="6E7F8F"/>
                </a:solidFill>
                <a:latin typeface="Calibri" pitchFamily="34" charset="0"/>
                <a:ea typeface="Calibri" pitchFamily="34" charset="-122"/>
                <a:cs typeface="Calibri" pitchFamily="34" charset="-120"/>
              </a:rPr>
              <a:t>LightGBM test MAE (W/m²)</a:t>
            </a:r>
            <a:endParaRPr lang="en-US" sz="1100" dirty="0"/>
          </a:p>
          <a:p>
            <a:pPr marL="0" indent="0" algn="ctr">
              <a:buNone/>
            </a:pPr>
            <a:r>
              <a:rPr lang="en-US" sz="1100" dirty="0">
                <a:solidFill>
                  <a:srgbClr val="6E7F8F"/>
                </a:solidFill>
                <a:latin typeface="Calibri" pitchFamily="34" charset="0"/>
                <a:ea typeface="Calibri" pitchFamily="34" charset="-122"/>
                <a:cs typeface="Calibri" pitchFamily="34" charset="-120"/>
              </a:rPr>
              <a:t>best overall model</a:t>
            </a:r>
            <a:endParaRPr lang="en-US" sz="1100" dirty="0"/>
          </a:p>
        </p:txBody>
      </p:sp>
      <p:sp>
        <p:nvSpPr>
          <p:cNvPr id="24" name="Text 22"/>
          <p:cNvSpPr/>
          <p:nvPr/>
        </p:nvSpPr>
        <p:spPr>
          <a:xfrm>
            <a:off x="2816352" y="5413248"/>
            <a:ext cx="2194560" cy="658368"/>
          </a:xfrm>
          <a:prstGeom prst="rect">
            <a:avLst/>
          </a:prstGeom>
          <a:noFill/>
          <a:ln/>
        </p:spPr>
        <p:txBody>
          <a:bodyPr wrap="square" lIns="0" tIns="0" rIns="0" bIns="0" rtlCol="0" anchor="ctr"/>
          <a:lstStyle/>
          <a:p>
            <a:pPr marL="0" indent="0" algn="ctr">
              <a:buNone/>
            </a:pPr>
            <a:r>
              <a:rPr lang="en-US" sz="4000" b="1" dirty="0">
                <a:solidFill>
                  <a:srgbClr val="1C7293"/>
                </a:solidFill>
                <a:latin typeface="Cambria" pitchFamily="34" charset="0"/>
                <a:ea typeface="Cambria" pitchFamily="34" charset="-122"/>
                <a:cs typeface="Cambria" pitchFamily="34" charset="-120"/>
              </a:rPr>
              <a:t>84.7</a:t>
            </a:r>
            <a:endParaRPr lang="en-US" sz="4000" dirty="0"/>
          </a:p>
        </p:txBody>
      </p:sp>
      <p:sp>
        <p:nvSpPr>
          <p:cNvPr id="25" name="Text 23"/>
          <p:cNvSpPr/>
          <p:nvPr/>
        </p:nvSpPr>
        <p:spPr>
          <a:xfrm>
            <a:off x="2816352" y="6053328"/>
            <a:ext cx="2194560" cy="475488"/>
          </a:xfrm>
          <a:prstGeom prst="rect">
            <a:avLst/>
          </a:prstGeom>
          <a:noFill/>
          <a:ln/>
        </p:spPr>
        <p:txBody>
          <a:bodyPr wrap="square" lIns="0" tIns="0" rIns="0" bIns="0" rtlCol="0" anchor="t"/>
          <a:lstStyle/>
          <a:p>
            <a:pPr marL="0" indent="0" algn="ctr">
              <a:buNone/>
            </a:pPr>
            <a:r>
              <a:rPr lang="en-US" sz="1100" dirty="0">
                <a:solidFill>
                  <a:srgbClr val="6E7F8F"/>
                </a:solidFill>
                <a:latin typeface="Calibri" pitchFamily="34" charset="0"/>
                <a:ea typeface="Calibri" pitchFamily="34" charset="-122"/>
                <a:cs typeface="Calibri" pitchFamily="34" charset="-120"/>
              </a:rPr>
              <a:t>LSTM-only test MAE</a:t>
            </a:r>
            <a:endParaRPr lang="en-US" sz="1100" dirty="0"/>
          </a:p>
          <a:p>
            <a:pPr marL="0" indent="0" algn="ctr">
              <a:buNone/>
            </a:pPr>
            <a:r>
              <a:rPr lang="en-US" sz="1100" dirty="0">
                <a:solidFill>
                  <a:srgbClr val="6E7F8F"/>
                </a:solidFill>
                <a:latin typeface="Calibri" pitchFamily="34" charset="0"/>
                <a:ea typeface="Calibri" pitchFamily="34" charset="-122"/>
                <a:cs typeface="Calibri" pitchFamily="34" charset="-120"/>
              </a:rPr>
              <a:t>best deep variant</a:t>
            </a:r>
            <a:endParaRPr lang="en-US" sz="1100" dirty="0"/>
          </a:p>
        </p:txBody>
      </p:sp>
      <p:sp>
        <p:nvSpPr>
          <p:cNvPr id="26" name="Text 24"/>
          <p:cNvSpPr/>
          <p:nvPr/>
        </p:nvSpPr>
        <p:spPr>
          <a:xfrm>
            <a:off x="5065776" y="5413248"/>
            <a:ext cx="2194560" cy="658368"/>
          </a:xfrm>
          <a:prstGeom prst="rect">
            <a:avLst/>
          </a:prstGeom>
          <a:noFill/>
          <a:ln/>
        </p:spPr>
        <p:txBody>
          <a:bodyPr wrap="square" lIns="0" tIns="0" rIns="0" bIns="0" rtlCol="0" anchor="ctr"/>
          <a:lstStyle/>
          <a:p>
            <a:pPr marL="0" indent="0" algn="ctr">
              <a:buNone/>
            </a:pPr>
            <a:r>
              <a:rPr lang="en-US" sz="4000" b="1" dirty="0">
                <a:solidFill>
                  <a:srgbClr val="E8A33D"/>
                </a:solidFill>
                <a:latin typeface="Cambria" pitchFamily="34" charset="0"/>
                <a:ea typeface="Cambria" pitchFamily="34" charset="-122"/>
                <a:cs typeface="Cambria" pitchFamily="34" charset="-120"/>
              </a:rPr>
              <a:t>97.6</a:t>
            </a:r>
            <a:endParaRPr lang="en-US" sz="4000" dirty="0"/>
          </a:p>
        </p:txBody>
      </p:sp>
      <p:sp>
        <p:nvSpPr>
          <p:cNvPr id="27" name="Text 25"/>
          <p:cNvSpPr/>
          <p:nvPr/>
        </p:nvSpPr>
        <p:spPr>
          <a:xfrm>
            <a:off x="5065776" y="6053328"/>
            <a:ext cx="2194560" cy="475488"/>
          </a:xfrm>
          <a:prstGeom prst="rect">
            <a:avLst/>
          </a:prstGeom>
          <a:noFill/>
          <a:ln/>
        </p:spPr>
        <p:txBody>
          <a:bodyPr wrap="square" lIns="0" tIns="0" rIns="0" bIns="0" rtlCol="0" anchor="t"/>
          <a:lstStyle/>
          <a:p>
            <a:pPr marL="0" indent="0" algn="ctr">
              <a:buNone/>
            </a:pPr>
            <a:r>
              <a:rPr lang="en-US" sz="1100" dirty="0">
                <a:solidFill>
                  <a:srgbClr val="6E7F8F"/>
                </a:solidFill>
                <a:latin typeface="Calibri" pitchFamily="34" charset="0"/>
                <a:ea typeface="Calibri" pitchFamily="34" charset="-122"/>
                <a:cs typeface="Calibri" pitchFamily="34" charset="-120"/>
              </a:rPr>
              <a:t>Physics-gated fusion MAE</a:t>
            </a:r>
            <a:endParaRPr lang="en-US" sz="1100" dirty="0"/>
          </a:p>
          <a:p>
            <a:pPr marL="0" indent="0" algn="ctr">
              <a:buNone/>
            </a:pPr>
            <a:r>
              <a:rPr lang="en-US" sz="1100" dirty="0">
                <a:solidFill>
                  <a:srgbClr val="6E7F8F"/>
                </a:solidFill>
                <a:latin typeface="Calibri" pitchFamily="34" charset="0"/>
                <a:ea typeface="Calibri" pitchFamily="34" charset="-122"/>
                <a:cs typeface="Calibri" pitchFamily="34" charset="-120"/>
              </a:rPr>
              <a:t>full proposed model</a:t>
            </a:r>
            <a:endParaRPr lang="en-US" sz="1100" dirty="0"/>
          </a:p>
        </p:txBody>
      </p:sp>
      <p:sp>
        <p:nvSpPr>
          <p:cNvPr id="28" name="Text 26"/>
          <p:cNvSpPr/>
          <p:nvPr/>
        </p:nvSpPr>
        <p:spPr>
          <a:xfrm>
            <a:off x="7315200" y="5413248"/>
            <a:ext cx="2194560" cy="658368"/>
          </a:xfrm>
          <a:prstGeom prst="rect">
            <a:avLst/>
          </a:prstGeom>
          <a:noFill/>
          <a:ln/>
        </p:spPr>
        <p:txBody>
          <a:bodyPr wrap="square" lIns="0" tIns="0" rIns="0" bIns="0" rtlCol="0" anchor="ctr"/>
          <a:lstStyle/>
          <a:p>
            <a:pPr marL="0" indent="0" algn="ctr">
              <a:buNone/>
            </a:pPr>
            <a:r>
              <a:rPr lang="en-US" sz="4000" b="1" dirty="0">
                <a:solidFill>
                  <a:srgbClr val="2C6E49"/>
                </a:solidFill>
                <a:latin typeface="Cambria" pitchFamily="34" charset="0"/>
                <a:ea typeface="Cambria" pitchFamily="34" charset="-122"/>
                <a:cs typeface="Cambria" pitchFamily="34" charset="-120"/>
              </a:rPr>
              <a:t>+0.28</a:t>
            </a:r>
            <a:endParaRPr lang="en-US" sz="4000" dirty="0"/>
          </a:p>
        </p:txBody>
      </p:sp>
      <p:sp>
        <p:nvSpPr>
          <p:cNvPr id="29" name="Text 27"/>
          <p:cNvSpPr/>
          <p:nvPr/>
        </p:nvSpPr>
        <p:spPr>
          <a:xfrm>
            <a:off x="7315200" y="6053328"/>
            <a:ext cx="2194560" cy="475488"/>
          </a:xfrm>
          <a:prstGeom prst="rect">
            <a:avLst/>
          </a:prstGeom>
          <a:noFill/>
          <a:ln/>
        </p:spPr>
        <p:txBody>
          <a:bodyPr wrap="square" lIns="0" tIns="0" rIns="0" bIns="0" rtlCol="0" anchor="t"/>
          <a:lstStyle/>
          <a:p>
            <a:pPr marL="0" indent="0" algn="ctr">
              <a:buNone/>
            </a:pPr>
            <a:r>
              <a:rPr lang="en-US" sz="1100" dirty="0">
                <a:solidFill>
                  <a:srgbClr val="6E7F8F"/>
                </a:solidFill>
                <a:latin typeface="Calibri" pitchFamily="34" charset="0"/>
                <a:ea typeface="Calibri" pitchFamily="34" charset="-122"/>
                <a:cs typeface="Calibri" pitchFamily="34" charset="-120"/>
              </a:rPr>
              <a:t>best skill score vs</a:t>
            </a:r>
            <a:endParaRPr lang="en-US" sz="1100" dirty="0"/>
          </a:p>
          <a:p>
            <a:pPr marL="0" indent="0" algn="ctr">
              <a:buNone/>
            </a:pPr>
            <a:r>
              <a:rPr lang="en-US" sz="1100" dirty="0">
                <a:solidFill>
                  <a:srgbClr val="6E7F8F"/>
                </a:solidFill>
                <a:latin typeface="Calibri" pitchFamily="34" charset="0"/>
                <a:ea typeface="Calibri" pitchFamily="34" charset="-122"/>
                <a:cs typeface="Calibri" pitchFamily="34" charset="-120"/>
              </a:rPr>
              <a:t>smart-persistence</a:t>
            </a:r>
            <a:endParaRPr lang="en-US" sz="1100" dirty="0"/>
          </a:p>
        </p:txBody>
      </p:sp>
      <p:sp>
        <p:nvSpPr>
          <p:cNvPr id="30" name="Text 28"/>
          <p:cNvSpPr/>
          <p:nvPr/>
        </p:nvSpPr>
        <p:spPr>
          <a:xfrm>
            <a:off x="9564624" y="5413248"/>
            <a:ext cx="2066544" cy="658368"/>
          </a:xfrm>
          <a:prstGeom prst="rect">
            <a:avLst/>
          </a:prstGeom>
          <a:noFill/>
          <a:ln/>
        </p:spPr>
        <p:txBody>
          <a:bodyPr wrap="square" lIns="0" tIns="0" rIns="0" bIns="0" rtlCol="0" anchor="ctr"/>
          <a:lstStyle/>
          <a:p>
            <a:pPr marL="0" indent="0" algn="ctr">
              <a:buNone/>
            </a:pPr>
            <a:r>
              <a:rPr lang="en-US" sz="4000" b="1" dirty="0">
                <a:solidFill>
                  <a:srgbClr val="0B2545"/>
                </a:solidFill>
                <a:latin typeface="Cambria" pitchFamily="34" charset="0"/>
                <a:ea typeface="Cambria" pitchFamily="34" charset="-122"/>
                <a:cs typeface="Cambria" pitchFamily="34" charset="-120"/>
              </a:rPr>
              <a:t>79.4</a:t>
            </a:r>
            <a:endParaRPr lang="en-US" sz="4000" dirty="0"/>
          </a:p>
        </p:txBody>
      </p:sp>
      <p:sp>
        <p:nvSpPr>
          <p:cNvPr id="31" name="Text 29"/>
          <p:cNvSpPr/>
          <p:nvPr/>
        </p:nvSpPr>
        <p:spPr>
          <a:xfrm>
            <a:off x="9564624" y="6053328"/>
            <a:ext cx="2066544" cy="475488"/>
          </a:xfrm>
          <a:prstGeom prst="rect">
            <a:avLst/>
          </a:prstGeom>
          <a:noFill/>
          <a:ln/>
        </p:spPr>
        <p:txBody>
          <a:bodyPr wrap="square" lIns="0" tIns="0" rIns="0" bIns="0" rtlCol="0" anchor="t"/>
          <a:lstStyle/>
          <a:p>
            <a:pPr marL="0" indent="0" algn="ctr">
              <a:buNone/>
            </a:pPr>
            <a:r>
              <a:rPr lang="en-US" sz="1100" dirty="0">
                <a:solidFill>
                  <a:srgbClr val="6E7F8F"/>
                </a:solidFill>
                <a:latin typeface="Calibri" pitchFamily="34" charset="0"/>
                <a:ea typeface="Calibri" pitchFamily="34" charset="-122"/>
                <a:cs typeface="Calibri" pitchFamily="34" charset="-120"/>
              </a:rPr>
              <a:t>live MAE, 24 verified</a:t>
            </a:r>
            <a:endParaRPr lang="en-US" sz="1100" dirty="0"/>
          </a:p>
          <a:p>
            <a:pPr marL="0" indent="0" algn="ctr">
              <a:buNone/>
            </a:pPr>
            <a:r>
              <a:rPr lang="en-US" sz="1100" dirty="0">
                <a:solidFill>
                  <a:srgbClr val="6E7F8F"/>
                </a:solidFill>
                <a:latin typeface="Calibri" pitchFamily="34" charset="0"/>
                <a:ea typeface="Calibri" pitchFamily="34" charset="-122"/>
                <a:cs typeface="Calibri" pitchFamily="34" charset="-120"/>
              </a:rPr>
              <a:t>forecast-hours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PROBLEM STATEMENT</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Solar output is predictable in aggregate, unpredictable hour to hour</a:t>
            </a:r>
            <a:endParaRPr lang="en-US" sz="3000" dirty="0"/>
          </a:p>
        </p:txBody>
      </p:sp>
      <p:sp>
        <p:nvSpPr>
          <p:cNvPr id="4" name="Text 2"/>
          <p:cNvSpPr/>
          <p:nvPr/>
        </p:nvSpPr>
        <p:spPr>
          <a:xfrm>
            <a:off x="566928" y="1417320"/>
            <a:ext cx="5989320" cy="4023360"/>
          </a:xfrm>
          <a:prstGeom prst="rect">
            <a:avLst/>
          </a:prstGeom>
          <a:noFill/>
          <a:ln/>
        </p:spPr>
        <p:txBody>
          <a:bodyPr wrap="square" lIns="0" tIns="0" rIns="0" bIns="0" rtlCol="0" anchor="ctr"/>
          <a:lstStyle/>
          <a:p>
            <a:pPr marL="342900" indent="-342900">
              <a:lnSpc>
                <a:spcPts val="2100"/>
              </a:lnSpc>
              <a:spcAft>
                <a:spcPts val="900"/>
              </a:spcAft>
              <a:buSzPct val="100000"/>
              <a:buChar char="▪"/>
            </a:pPr>
            <a:r>
              <a:rPr lang="en-US" sz="1350" dirty="0">
                <a:solidFill>
                  <a:srgbClr val="3C5169"/>
                </a:solidFill>
                <a:latin typeface="Calibri" pitchFamily="34" charset="0"/>
                <a:ea typeface="Calibri" pitchFamily="34" charset="-122"/>
                <a:cs typeface="Calibri" pitchFamily="34" charset="-120"/>
              </a:rPr>
              <a:t>Photovoltaic output is a deterministic function of irradiance, and irradiance is a deterministic function of solar geometry — until clouds intervene. Clouds are the entire forecasting problem.</a:t>
            </a:r>
            <a:endParaRPr lang="en-US" sz="1350" dirty="0"/>
          </a:p>
          <a:p>
            <a:pPr marL="342900" indent="-342900">
              <a:lnSpc>
                <a:spcPts val="2100"/>
              </a:lnSpc>
              <a:spcAft>
                <a:spcPts val="900"/>
              </a:spcAft>
              <a:buSzPct val="100000"/>
              <a:buChar char="▪"/>
            </a:pPr>
            <a:r>
              <a:rPr lang="en-US" sz="1350" dirty="0">
                <a:solidFill>
                  <a:srgbClr val="3C5169"/>
                </a:solidFill>
                <a:latin typeface="Calibri" pitchFamily="34" charset="0"/>
                <a:ea typeface="Calibri" pitchFamily="34" charset="-122"/>
                <a:cs typeface="Calibri" pitchFamily="34" charset="-120"/>
              </a:rPr>
              <a:t>Singapore sits in the equatorial maritime tropics: deep convective cloud forms and dissipates on 10–60 minute scales, so the attenuation factor k_t swings between 0.1 and 1.0 within a single afternoon.</a:t>
            </a:r>
            <a:endParaRPr lang="en-US" sz="1350" dirty="0"/>
          </a:p>
          <a:p>
            <a:pPr marL="342900" indent="-342900">
              <a:lnSpc>
                <a:spcPts val="2100"/>
              </a:lnSpc>
              <a:spcAft>
                <a:spcPts val="900"/>
              </a:spcAft>
              <a:buSzPct val="100000"/>
              <a:buChar char="▪"/>
            </a:pPr>
            <a:r>
              <a:rPr lang="en-US" sz="1350" dirty="0">
                <a:solidFill>
                  <a:srgbClr val="3C5169"/>
                </a:solidFill>
                <a:latin typeface="Calibri" pitchFamily="34" charset="0"/>
                <a:ea typeface="Calibri" pitchFamily="34" charset="-122"/>
                <a:cs typeface="Calibri" pitchFamily="34" charset="-120"/>
              </a:rPr>
              <a:t>Grid operators must commit reserve capacity ahead of time. The economically decisive horizon is 1–3 hours: too far for a pure extrapolation of what the sky looks like now, too near for a numerical weather prediction cycle to refresh.</a:t>
            </a:r>
            <a:endParaRPr lang="en-US" sz="1350" dirty="0"/>
          </a:p>
          <a:p>
            <a:pPr marL="342900" indent="-342900">
              <a:lnSpc>
                <a:spcPts val="2100"/>
              </a:lnSpc>
              <a:spcAft>
                <a:spcPts val="900"/>
              </a:spcAft>
              <a:buSzPct val="100000"/>
              <a:buChar char="▪"/>
            </a:pPr>
            <a:r>
              <a:rPr lang="en-US" sz="1350" dirty="0">
                <a:solidFill>
                  <a:srgbClr val="3C5169"/>
                </a:solidFill>
                <a:latin typeface="Calibri" pitchFamily="34" charset="0"/>
                <a:ea typeface="Calibri" pitchFamily="34" charset="-122"/>
                <a:cs typeface="Calibri" pitchFamily="34" charset="-120"/>
              </a:rPr>
              <a:t>Formally: given observations up to time t, estimate the conditional distribution of GHI at t+1h, t+2h and t+3h — a point forecast alone is insufficient for reserve sizing.</a:t>
            </a:r>
            <a:endParaRPr lang="en-US" sz="1350" dirty="0"/>
          </a:p>
        </p:txBody>
      </p:sp>
      <p:sp>
        <p:nvSpPr>
          <p:cNvPr id="5" name="Shape 3"/>
          <p:cNvSpPr/>
          <p:nvPr/>
        </p:nvSpPr>
        <p:spPr>
          <a:xfrm>
            <a:off x="6812280" y="1417320"/>
            <a:ext cx="4828032" cy="2331720"/>
          </a:xfrm>
          <a:prstGeom prst="roundRect">
            <a:avLst>
              <a:gd name="adj" fmla="val 2353"/>
            </a:avLst>
          </a:prstGeom>
          <a:solidFill>
            <a:srgbClr val="EFF3F7"/>
          </a:solidFill>
          <a:ln w="7620">
            <a:solidFill>
              <a:srgbClr val="CFD9E2"/>
            </a:solidFill>
            <a:prstDash val="solid"/>
          </a:ln>
        </p:spPr>
        <p:txBody>
          <a:bodyPr/>
          <a:lstStyle/>
          <a:p>
            <a:endParaRPr lang="en-AE"/>
          </a:p>
        </p:txBody>
      </p:sp>
      <p:sp>
        <p:nvSpPr>
          <p:cNvPr id="6" name="Text 4"/>
          <p:cNvSpPr/>
          <p:nvPr/>
        </p:nvSpPr>
        <p:spPr>
          <a:xfrm>
            <a:off x="7086600" y="1572768"/>
            <a:ext cx="4297680" cy="310896"/>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The target quantity</a:t>
            </a:r>
            <a:endParaRPr lang="en-US" sz="1350" dirty="0"/>
          </a:p>
        </p:txBody>
      </p:sp>
      <p:sp>
        <p:nvSpPr>
          <p:cNvPr id="7" name="Text 5"/>
          <p:cNvSpPr/>
          <p:nvPr/>
        </p:nvSpPr>
        <p:spPr>
          <a:xfrm>
            <a:off x="7086600" y="2011680"/>
            <a:ext cx="4297680" cy="384048"/>
          </a:xfrm>
          <a:prstGeom prst="rect">
            <a:avLst/>
          </a:prstGeom>
          <a:noFill/>
          <a:ln/>
        </p:spPr>
        <p:txBody>
          <a:bodyPr wrap="square" lIns="0" tIns="0" rIns="0" bIns="0" rtlCol="0" anchor="ctr"/>
          <a:lstStyle/>
          <a:p>
            <a:pPr marL="0" indent="0">
              <a:buNone/>
            </a:pPr>
            <a:r>
              <a:rPr lang="en-US" sz="1600" dirty="0">
                <a:solidFill>
                  <a:srgbClr val="0B2545"/>
                </a:solidFill>
                <a:latin typeface="Cambria" pitchFamily="34" charset="0"/>
                <a:ea typeface="Cambria" pitchFamily="34" charset="-122"/>
                <a:cs typeface="Cambria" pitchFamily="34" charset="-120"/>
              </a:rPr>
              <a:t>GHI(t+h)  =  GHI</a:t>
            </a:r>
            <a:r>
              <a:rPr lang="en-US" sz="1100" baseline="-40000" dirty="0">
                <a:solidFill>
                  <a:srgbClr val="0B2545"/>
                </a:solidFill>
                <a:latin typeface="Cambria" pitchFamily="34" charset="0"/>
                <a:ea typeface="Cambria" pitchFamily="34" charset="-122"/>
                <a:cs typeface="Cambria" pitchFamily="34" charset="-120"/>
              </a:rPr>
              <a:t>clear</a:t>
            </a:r>
            <a:r>
              <a:rPr lang="en-US" sz="1600" dirty="0">
                <a:solidFill>
                  <a:srgbClr val="0B2545"/>
                </a:solidFill>
                <a:latin typeface="Cambria" pitchFamily="34" charset="0"/>
                <a:ea typeface="Cambria" pitchFamily="34" charset="-122"/>
                <a:cs typeface="Cambria" pitchFamily="34" charset="-120"/>
              </a:rPr>
              <a:t>(t+h)  ×  k</a:t>
            </a:r>
            <a:r>
              <a:rPr lang="en-US" sz="1100" baseline="-40000" dirty="0">
                <a:solidFill>
                  <a:srgbClr val="0B2545"/>
                </a:solidFill>
                <a:latin typeface="Cambria" pitchFamily="34" charset="0"/>
                <a:ea typeface="Cambria" pitchFamily="34" charset="-122"/>
                <a:cs typeface="Cambria" pitchFamily="34" charset="-120"/>
              </a:rPr>
              <a:t>t</a:t>
            </a:r>
            <a:r>
              <a:rPr lang="en-US" sz="1600" dirty="0">
                <a:solidFill>
                  <a:srgbClr val="0B2545"/>
                </a:solidFill>
                <a:latin typeface="Cambria" pitchFamily="34" charset="0"/>
                <a:ea typeface="Cambria" pitchFamily="34" charset="-122"/>
                <a:cs typeface="Cambria" pitchFamily="34" charset="-120"/>
              </a:rPr>
              <a:t>(t+h)</a:t>
            </a:r>
            <a:endParaRPr lang="en-US" sz="1600" dirty="0"/>
          </a:p>
        </p:txBody>
      </p:sp>
      <p:sp>
        <p:nvSpPr>
          <p:cNvPr id="8" name="Text 6"/>
          <p:cNvSpPr/>
          <p:nvPr/>
        </p:nvSpPr>
        <p:spPr>
          <a:xfrm>
            <a:off x="7086600" y="2487168"/>
            <a:ext cx="4297680" cy="1143000"/>
          </a:xfrm>
          <a:prstGeom prst="rect">
            <a:avLst/>
          </a:prstGeom>
          <a:noFill/>
          <a:ln/>
        </p:spPr>
        <p:txBody>
          <a:bodyPr wrap="square" lIns="0" tIns="0" rIns="0" bIns="0" rtlCol="0" anchor="ctr"/>
          <a:lstStyle/>
          <a:p>
            <a:pPr marL="0" indent="0">
              <a:lnSpc>
                <a:spcPts val="1600"/>
              </a:lnSpc>
              <a:buNone/>
            </a:pPr>
            <a:r>
              <a:rPr lang="en-US" sz="1150" b="1" dirty="0">
                <a:solidFill>
                  <a:srgbClr val="2C6E49"/>
                </a:solidFill>
                <a:latin typeface="Calibri" pitchFamily="34" charset="0"/>
                <a:ea typeface="Calibri" pitchFamily="34" charset="-122"/>
                <a:cs typeface="Calibri" pitchFamily="34" charset="-120"/>
              </a:rPr>
              <a:t>known exactly</a:t>
            </a:r>
            <a:endParaRPr lang="en-US" sz="1150" dirty="0"/>
          </a:p>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from solar geometry and site latitude — pvlib gives it years in advance</a:t>
            </a:r>
            <a:endParaRPr lang="en-US" sz="1150" dirty="0"/>
          </a:p>
          <a:p>
            <a:pPr marL="0" indent="0">
              <a:lnSpc>
                <a:spcPts val="1600"/>
              </a:lnSpc>
              <a:buNone/>
            </a:pPr>
            <a:r>
              <a:rPr lang="en-US" sz="600" dirty="0">
                <a:solidFill>
                  <a:srgbClr val="000000"/>
                </a:solidFill>
                <a:latin typeface="Calibri" pitchFamily="34" charset="0"/>
                <a:ea typeface="Calibri" pitchFamily="34" charset="-122"/>
                <a:cs typeface="Calibri" pitchFamily="34" charset="-120"/>
              </a:rPr>
              <a:t> </a:t>
            </a:r>
            <a:endParaRPr lang="en-US" sz="1150" dirty="0"/>
          </a:p>
          <a:p>
            <a:pPr marL="0" indent="0">
              <a:lnSpc>
                <a:spcPts val="1600"/>
              </a:lnSpc>
              <a:buNone/>
            </a:pPr>
            <a:r>
              <a:rPr lang="en-US" sz="1150" b="1" dirty="0">
                <a:solidFill>
                  <a:srgbClr val="B03A2E"/>
                </a:solidFill>
                <a:latin typeface="Calibri" pitchFamily="34" charset="0"/>
                <a:ea typeface="Calibri" pitchFamily="34" charset="-122"/>
                <a:cs typeface="Calibri" pitchFamily="34" charset="-120"/>
              </a:rPr>
              <a:t>the hard part</a:t>
            </a:r>
            <a:endParaRPr lang="en-US" sz="1150" dirty="0"/>
          </a:p>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clear-sky index k_t — the cloud attenuation factor. Everything the model must learn lives here.</a:t>
            </a:r>
            <a:endParaRPr lang="en-US" sz="1150" dirty="0"/>
          </a:p>
        </p:txBody>
      </p:sp>
      <p:sp>
        <p:nvSpPr>
          <p:cNvPr id="9" name="Shape 7"/>
          <p:cNvSpPr/>
          <p:nvPr/>
        </p:nvSpPr>
        <p:spPr>
          <a:xfrm>
            <a:off x="6812280" y="3913632"/>
            <a:ext cx="4828032" cy="2148840"/>
          </a:xfrm>
          <a:prstGeom prst="roundRect">
            <a:avLst>
              <a:gd name="adj" fmla="val 2553"/>
            </a:avLst>
          </a:prstGeom>
          <a:solidFill>
            <a:srgbClr val="EFF3F7"/>
          </a:solidFill>
          <a:ln w="7620">
            <a:solidFill>
              <a:srgbClr val="CFD9E2"/>
            </a:solidFill>
            <a:prstDash val="solid"/>
          </a:ln>
        </p:spPr>
        <p:txBody>
          <a:bodyPr/>
          <a:lstStyle/>
          <a:p>
            <a:endParaRPr lang="en-AE"/>
          </a:p>
        </p:txBody>
      </p:sp>
      <p:sp>
        <p:nvSpPr>
          <p:cNvPr id="10" name="Text 8"/>
          <p:cNvSpPr/>
          <p:nvPr/>
        </p:nvSpPr>
        <p:spPr>
          <a:xfrm>
            <a:off x="7086600" y="4069080"/>
            <a:ext cx="4297680" cy="310896"/>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Why 1–3 hours is the awkward gap</a:t>
            </a:r>
            <a:endParaRPr lang="en-US" sz="1350" dirty="0"/>
          </a:p>
        </p:txBody>
      </p:sp>
      <p:sp>
        <p:nvSpPr>
          <p:cNvPr id="11" name="Shape 9"/>
          <p:cNvSpPr/>
          <p:nvPr/>
        </p:nvSpPr>
        <p:spPr>
          <a:xfrm>
            <a:off x="7114032" y="4553712"/>
            <a:ext cx="109728" cy="109728"/>
          </a:xfrm>
          <a:prstGeom prst="ellipse">
            <a:avLst/>
          </a:prstGeom>
          <a:solidFill>
            <a:srgbClr val="CFD9E2"/>
          </a:solidFill>
          <a:ln/>
        </p:spPr>
        <p:txBody>
          <a:bodyPr/>
          <a:lstStyle/>
          <a:p>
            <a:endParaRPr lang="en-AE"/>
          </a:p>
        </p:txBody>
      </p:sp>
      <p:sp>
        <p:nvSpPr>
          <p:cNvPr id="12" name="Text 10"/>
          <p:cNvSpPr/>
          <p:nvPr/>
        </p:nvSpPr>
        <p:spPr>
          <a:xfrm>
            <a:off x="7333488" y="4480560"/>
            <a:ext cx="1417320" cy="274320"/>
          </a:xfrm>
          <a:prstGeom prst="rect">
            <a:avLst/>
          </a:prstGeom>
          <a:noFill/>
          <a:ln/>
        </p:spPr>
        <p:txBody>
          <a:bodyPr wrap="square" lIns="0" tIns="0" rIns="0" bIns="0" rtlCol="0" anchor="ctr"/>
          <a:lstStyle/>
          <a:p>
            <a:pPr marL="0" indent="0">
              <a:buNone/>
            </a:pPr>
            <a:r>
              <a:rPr lang="en-US" sz="1150" b="1" dirty="0">
                <a:solidFill>
                  <a:srgbClr val="6E7F8F"/>
                </a:solidFill>
                <a:latin typeface="Calibri" pitchFamily="34" charset="0"/>
                <a:ea typeface="Calibri" pitchFamily="34" charset="-122"/>
                <a:cs typeface="Calibri" pitchFamily="34" charset="-120"/>
              </a:rPr>
              <a:t>0–30 min</a:t>
            </a:r>
            <a:endParaRPr lang="en-US" sz="1150" dirty="0"/>
          </a:p>
        </p:txBody>
      </p:sp>
      <p:sp>
        <p:nvSpPr>
          <p:cNvPr id="13" name="Text 11"/>
          <p:cNvSpPr/>
          <p:nvPr/>
        </p:nvSpPr>
        <p:spPr>
          <a:xfrm>
            <a:off x="8732520" y="4480560"/>
            <a:ext cx="2697480" cy="274320"/>
          </a:xfrm>
          <a:prstGeom prst="rect">
            <a:avLst/>
          </a:prstGeom>
          <a:noFill/>
          <a:ln/>
        </p:spPr>
        <p:txBody>
          <a:bodyPr wrap="square" lIns="0" tIns="0" rIns="0" bIns="0" rtlCol="0" anchor="ctr"/>
          <a:lstStyle/>
          <a:p>
            <a:pPr marL="0" indent="0">
              <a:buNone/>
            </a:pPr>
            <a:r>
              <a:rPr lang="en-US" sz="1150" dirty="0">
                <a:solidFill>
                  <a:srgbClr val="6E7F8F"/>
                </a:solidFill>
                <a:latin typeface="Calibri" pitchFamily="34" charset="0"/>
                <a:ea typeface="Calibri" pitchFamily="34" charset="-122"/>
                <a:cs typeface="Calibri" pitchFamily="34" charset="-120"/>
              </a:rPr>
              <a:t>sky-camera / persistence works</a:t>
            </a:r>
            <a:endParaRPr lang="en-US" sz="1150" dirty="0"/>
          </a:p>
        </p:txBody>
      </p:sp>
      <p:sp>
        <p:nvSpPr>
          <p:cNvPr id="14" name="Shape 12"/>
          <p:cNvSpPr/>
          <p:nvPr/>
        </p:nvSpPr>
        <p:spPr>
          <a:xfrm>
            <a:off x="7114032" y="5029200"/>
            <a:ext cx="109728" cy="109728"/>
          </a:xfrm>
          <a:prstGeom prst="ellipse">
            <a:avLst/>
          </a:prstGeom>
          <a:solidFill>
            <a:srgbClr val="E8A33D"/>
          </a:solidFill>
          <a:ln/>
        </p:spPr>
        <p:txBody>
          <a:bodyPr/>
          <a:lstStyle/>
          <a:p>
            <a:endParaRPr lang="en-AE"/>
          </a:p>
        </p:txBody>
      </p:sp>
      <p:sp>
        <p:nvSpPr>
          <p:cNvPr id="15" name="Text 13"/>
          <p:cNvSpPr/>
          <p:nvPr/>
        </p:nvSpPr>
        <p:spPr>
          <a:xfrm>
            <a:off x="7333488" y="4956048"/>
            <a:ext cx="1417320" cy="2743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30 min–3 h</a:t>
            </a:r>
            <a:endParaRPr lang="en-US" sz="1150" dirty="0"/>
          </a:p>
        </p:txBody>
      </p:sp>
      <p:sp>
        <p:nvSpPr>
          <p:cNvPr id="16" name="Text 14"/>
          <p:cNvSpPr/>
          <p:nvPr/>
        </p:nvSpPr>
        <p:spPr>
          <a:xfrm>
            <a:off x="8732520" y="4956048"/>
            <a:ext cx="2697480" cy="274320"/>
          </a:xfrm>
          <a:prstGeom prst="rect">
            <a:avLst/>
          </a:prstGeom>
          <a:noFill/>
          <a:ln/>
        </p:spPr>
        <p:txBody>
          <a:bodyPr wrap="square" lIns="0" tIns="0" rIns="0" bIns="0" rtlCol="0" anchor="ctr"/>
          <a:lstStyle/>
          <a:p>
            <a:pPr marL="0" indent="0">
              <a:buNone/>
            </a:pPr>
            <a:r>
              <a:rPr lang="en-US" sz="1150" dirty="0">
                <a:solidFill>
                  <a:srgbClr val="3C5169"/>
                </a:solidFill>
                <a:latin typeface="Calibri" pitchFamily="34" charset="0"/>
                <a:ea typeface="Calibri" pitchFamily="34" charset="-122"/>
                <a:cs typeface="Calibri" pitchFamily="34" charset="-120"/>
              </a:rPr>
              <a:t>satellite cloud motion; this project</a:t>
            </a:r>
            <a:endParaRPr lang="en-US" sz="1150" dirty="0"/>
          </a:p>
        </p:txBody>
      </p:sp>
      <p:sp>
        <p:nvSpPr>
          <p:cNvPr id="17" name="Shape 15"/>
          <p:cNvSpPr/>
          <p:nvPr/>
        </p:nvSpPr>
        <p:spPr>
          <a:xfrm>
            <a:off x="7114032" y="5504688"/>
            <a:ext cx="109728" cy="109728"/>
          </a:xfrm>
          <a:prstGeom prst="ellipse">
            <a:avLst/>
          </a:prstGeom>
          <a:solidFill>
            <a:srgbClr val="CFD9E2"/>
          </a:solidFill>
          <a:ln/>
        </p:spPr>
        <p:txBody>
          <a:bodyPr/>
          <a:lstStyle/>
          <a:p>
            <a:endParaRPr lang="en-AE"/>
          </a:p>
        </p:txBody>
      </p:sp>
      <p:sp>
        <p:nvSpPr>
          <p:cNvPr id="18" name="Text 16"/>
          <p:cNvSpPr/>
          <p:nvPr/>
        </p:nvSpPr>
        <p:spPr>
          <a:xfrm>
            <a:off x="7333488" y="5431536"/>
            <a:ext cx="1417320" cy="274320"/>
          </a:xfrm>
          <a:prstGeom prst="rect">
            <a:avLst/>
          </a:prstGeom>
          <a:noFill/>
          <a:ln/>
        </p:spPr>
        <p:txBody>
          <a:bodyPr wrap="square" lIns="0" tIns="0" rIns="0" bIns="0" rtlCol="0" anchor="ctr"/>
          <a:lstStyle/>
          <a:p>
            <a:pPr marL="0" indent="0">
              <a:buNone/>
            </a:pPr>
            <a:r>
              <a:rPr lang="en-US" sz="1150" b="1" dirty="0">
                <a:solidFill>
                  <a:srgbClr val="6E7F8F"/>
                </a:solidFill>
                <a:latin typeface="Calibri" pitchFamily="34" charset="0"/>
                <a:ea typeface="Calibri" pitchFamily="34" charset="-122"/>
                <a:cs typeface="Calibri" pitchFamily="34" charset="-120"/>
              </a:rPr>
              <a:t>3–48 h</a:t>
            </a:r>
            <a:endParaRPr lang="en-US" sz="1150" dirty="0"/>
          </a:p>
        </p:txBody>
      </p:sp>
      <p:sp>
        <p:nvSpPr>
          <p:cNvPr id="19" name="Text 17"/>
          <p:cNvSpPr/>
          <p:nvPr/>
        </p:nvSpPr>
        <p:spPr>
          <a:xfrm>
            <a:off x="8732520" y="5431536"/>
            <a:ext cx="2697480" cy="274320"/>
          </a:xfrm>
          <a:prstGeom prst="rect">
            <a:avLst/>
          </a:prstGeom>
          <a:noFill/>
          <a:ln/>
        </p:spPr>
        <p:txBody>
          <a:bodyPr wrap="square" lIns="0" tIns="0" rIns="0" bIns="0" rtlCol="0" anchor="ctr"/>
          <a:lstStyle/>
          <a:p>
            <a:pPr marL="0" indent="0">
              <a:buNone/>
            </a:pPr>
            <a:r>
              <a:rPr lang="en-US" sz="1150" dirty="0">
                <a:solidFill>
                  <a:srgbClr val="6E7F8F"/>
                </a:solidFill>
                <a:latin typeface="Calibri" pitchFamily="34" charset="0"/>
                <a:ea typeface="Calibri" pitchFamily="34" charset="-122"/>
                <a:cs typeface="Calibri" pitchFamily="34" charset="-120"/>
              </a:rPr>
              <a:t>numerical weather prediction wins</a:t>
            </a:r>
            <a:endParaRPr lang="en-US" sz="1150" dirty="0"/>
          </a:p>
        </p:txBody>
      </p:sp>
      <p:sp>
        <p:nvSpPr>
          <p:cNvPr id="20" name="Text 18"/>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Clear-sky GHI computed with pvlib Location.get_clearsky (Ineichen model) — model.py:compute_clearsky_ghi, historical_data.py:47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Why this problem is worth solving here</a:t>
            </a:r>
            <a:endParaRPr lang="en-US" sz="3000" dirty="0"/>
          </a:p>
        </p:txBody>
      </p:sp>
      <p:sp>
        <p:nvSpPr>
          <p:cNvPr id="4" name="Shape 2"/>
          <p:cNvSpPr/>
          <p:nvPr/>
        </p:nvSpPr>
        <p:spPr>
          <a:xfrm>
            <a:off x="566928" y="1481328"/>
            <a:ext cx="5440680" cy="1975104"/>
          </a:xfrm>
          <a:prstGeom prst="roundRect">
            <a:avLst>
              <a:gd name="adj" fmla="val 2778"/>
            </a:avLst>
          </a:prstGeom>
          <a:solidFill>
            <a:srgbClr val="EFF3F7"/>
          </a:solidFill>
          <a:ln w="7620">
            <a:solidFill>
              <a:srgbClr val="CFD9E2"/>
            </a:solidFill>
            <a:prstDash val="solid"/>
          </a:ln>
        </p:spPr>
        <p:txBody>
          <a:bodyPr/>
          <a:lstStyle/>
          <a:p>
            <a:endParaRPr lang="en-AE"/>
          </a:p>
        </p:txBody>
      </p:sp>
      <p:sp>
        <p:nvSpPr>
          <p:cNvPr id="5" name="Shape 3"/>
          <p:cNvSpPr/>
          <p:nvPr/>
        </p:nvSpPr>
        <p:spPr>
          <a:xfrm>
            <a:off x="822960" y="1737360"/>
            <a:ext cx="384048" cy="384048"/>
          </a:xfrm>
          <a:prstGeom prst="ellipse">
            <a:avLst/>
          </a:prstGeom>
          <a:solidFill>
            <a:srgbClr val="E8A33D"/>
          </a:solidFill>
          <a:ln/>
        </p:spPr>
        <p:txBody>
          <a:bodyPr/>
          <a:lstStyle/>
          <a:p>
            <a:endParaRPr lang="en-AE"/>
          </a:p>
        </p:txBody>
      </p:sp>
      <p:sp>
        <p:nvSpPr>
          <p:cNvPr id="6" name="Text 4"/>
          <p:cNvSpPr/>
          <p:nvPr/>
        </p:nvSpPr>
        <p:spPr>
          <a:xfrm>
            <a:off x="822960" y="1737360"/>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35024" y="1737360"/>
            <a:ext cx="4389120" cy="384048"/>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Grid economics</a:t>
            </a:r>
            <a:endParaRPr lang="en-US" sz="1500" dirty="0"/>
          </a:p>
        </p:txBody>
      </p:sp>
      <p:sp>
        <p:nvSpPr>
          <p:cNvPr id="8" name="Text 6"/>
          <p:cNvSpPr/>
          <p:nvPr/>
        </p:nvSpPr>
        <p:spPr>
          <a:xfrm>
            <a:off x="841248" y="2267712"/>
            <a:ext cx="4892040" cy="1051560"/>
          </a:xfrm>
          <a:prstGeom prst="rect">
            <a:avLst/>
          </a:prstGeom>
          <a:noFill/>
          <a:ln/>
        </p:spPr>
        <p:txBody>
          <a:bodyPr wrap="square" lIns="0" tIns="0" rIns="0" bIns="0" rtlCol="0" anchor="ctr"/>
          <a:lstStyle/>
          <a:p>
            <a:pPr marL="0" indent="0">
              <a:lnSpc>
                <a:spcPts val="1800"/>
              </a:lnSpc>
              <a:buNone/>
            </a:pPr>
            <a:r>
              <a:rPr lang="en-US" sz="1250" dirty="0">
                <a:solidFill>
                  <a:srgbClr val="3C5169"/>
                </a:solidFill>
                <a:latin typeface="Calibri" pitchFamily="34" charset="0"/>
                <a:ea typeface="Calibri" pitchFamily="34" charset="-122"/>
                <a:cs typeface="Calibri" pitchFamily="34" charset="-120"/>
              </a:rPr>
              <a:t>Reserve capacity must be committed in advance. Under-forecasting wastes spinning reserve; over-forecasting risks a shortfall. The cost is asymmetric and it scales with forecast error, not with installed capacity.</a:t>
            </a:r>
            <a:endParaRPr lang="en-US" sz="1250" dirty="0"/>
          </a:p>
        </p:txBody>
      </p:sp>
      <p:sp>
        <p:nvSpPr>
          <p:cNvPr id="9" name="Shape 7"/>
          <p:cNvSpPr/>
          <p:nvPr/>
        </p:nvSpPr>
        <p:spPr>
          <a:xfrm>
            <a:off x="6199632" y="1481328"/>
            <a:ext cx="5440680" cy="1975104"/>
          </a:xfrm>
          <a:prstGeom prst="roundRect">
            <a:avLst>
              <a:gd name="adj" fmla="val 2778"/>
            </a:avLst>
          </a:prstGeom>
          <a:solidFill>
            <a:srgbClr val="EFF3F7"/>
          </a:solidFill>
          <a:ln w="7620">
            <a:solidFill>
              <a:srgbClr val="CFD9E2"/>
            </a:solidFill>
            <a:prstDash val="solid"/>
          </a:ln>
        </p:spPr>
        <p:txBody>
          <a:bodyPr/>
          <a:lstStyle/>
          <a:p>
            <a:endParaRPr lang="en-AE"/>
          </a:p>
        </p:txBody>
      </p:sp>
      <p:sp>
        <p:nvSpPr>
          <p:cNvPr id="10" name="Shape 8"/>
          <p:cNvSpPr/>
          <p:nvPr/>
        </p:nvSpPr>
        <p:spPr>
          <a:xfrm>
            <a:off x="6455664" y="1737360"/>
            <a:ext cx="384048" cy="384048"/>
          </a:xfrm>
          <a:prstGeom prst="ellipse">
            <a:avLst/>
          </a:prstGeom>
          <a:solidFill>
            <a:srgbClr val="E8A33D"/>
          </a:solidFill>
          <a:ln/>
        </p:spPr>
        <p:txBody>
          <a:bodyPr/>
          <a:lstStyle/>
          <a:p>
            <a:endParaRPr lang="en-AE"/>
          </a:p>
        </p:txBody>
      </p:sp>
      <p:sp>
        <p:nvSpPr>
          <p:cNvPr id="11" name="Text 9"/>
          <p:cNvSpPr/>
          <p:nvPr/>
        </p:nvSpPr>
        <p:spPr>
          <a:xfrm>
            <a:off x="6455664" y="1737360"/>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967728" y="1737360"/>
            <a:ext cx="4389120" cy="384048"/>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A dense, cloudy, equatorial site</a:t>
            </a:r>
            <a:endParaRPr lang="en-US" sz="1500" dirty="0"/>
          </a:p>
        </p:txBody>
      </p:sp>
      <p:sp>
        <p:nvSpPr>
          <p:cNvPr id="13" name="Text 11"/>
          <p:cNvSpPr/>
          <p:nvPr/>
        </p:nvSpPr>
        <p:spPr>
          <a:xfrm>
            <a:off x="6473952" y="2267712"/>
            <a:ext cx="4892040" cy="1051560"/>
          </a:xfrm>
          <a:prstGeom prst="rect">
            <a:avLst/>
          </a:prstGeom>
          <a:noFill/>
          <a:ln/>
        </p:spPr>
        <p:txBody>
          <a:bodyPr wrap="square" lIns="0" tIns="0" rIns="0" bIns="0" rtlCol="0" anchor="ctr"/>
          <a:lstStyle/>
          <a:p>
            <a:pPr marL="0" indent="0">
              <a:lnSpc>
                <a:spcPts val="1800"/>
              </a:lnSpc>
              <a:buNone/>
            </a:pPr>
            <a:r>
              <a:rPr lang="en-US" sz="1250" dirty="0">
                <a:solidFill>
                  <a:srgbClr val="3C5169"/>
                </a:solidFill>
                <a:latin typeface="Calibri" pitchFamily="34" charset="0"/>
                <a:ea typeface="Calibri" pitchFamily="34" charset="-122"/>
                <a:cs typeface="Calibri" pitchFamily="34" charset="-120"/>
              </a:rPr>
              <a:t>Singapore has high insolation but extreme sub-hourly variability. Monthly mean k_t in this dataset spans 0.57–0.82; 9.5% of test hours show a GHI ramp above 300 W/m².</a:t>
            </a:r>
            <a:endParaRPr lang="en-US" sz="1250" dirty="0"/>
          </a:p>
        </p:txBody>
      </p:sp>
      <p:sp>
        <p:nvSpPr>
          <p:cNvPr id="14" name="Shape 12"/>
          <p:cNvSpPr/>
          <p:nvPr/>
        </p:nvSpPr>
        <p:spPr>
          <a:xfrm>
            <a:off x="566928" y="3694176"/>
            <a:ext cx="5440680" cy="1975104"/>
          </a:xfrm>
          <a:prstGeom prst="roundRect">
            <a:avLst>
              <a:gd name="adj" fmla="val 2778"/>
            </a:avLst>
          </a:prstGeom>
          <a:solidFill>
            <a:srgbClr val="EFF3F7"/>
          </a:solidFill>
          <a:ln w="7620">
            <a:solidFill>
              <a:srgbClr val="CFD9E2"/>
            </a:solidFill>
            <a:prstDash val="solid"/>
          </a:ln>
        </p:spPr>
        <p:txBody>
          <a:bodyPr/>
          <a:lstStyle/>
          <a:p>
            <a:endParaRPr lang="en-AE"/>
          </a:p>
        </p:txBody>
      </p:sp>
      <p:sp>
        <p:nvSpPr>
          <p:cNvPr id="15" name="Shape 13"/>
          <p:cNvSpPr/>
          <p:nvPr/>
        </p:nvSpPr>
        <p:spPr>
          <a:xfrm>
            <a:off x="822960" y="3950208"/>
            <a:ext cx="384048" cy="384048"/>
          </a:xfrm>
          <a:prstGeom prst="ellipse">
            <a:avLst/>
          </a:prstGeom>
          <a:solidFill>
            <a:srgbClr val="E8A33D"/>
          </a:solidFill>
          <a:ln/>
        </p:spPr>
        <p:txBody>
          <a:bodyPr/>
          <a:lstStyle/>
          <a:p>
            <a:endParaRPr lang="en-AE"/>
          </a:p>
        </p:txBody>
      </p:sp>
      <p:sp>
        <p:nvSpPr>
          <p:cNvPr id="16" name="Text 14"/>
          <p:cNvSpPr/>
          <p:nvPr/>
        </p:nvSpPr>
        <p:spPr>
          <a:xfrm>
            <a:off x="822960" y="3950208"/>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335024" y="3950208"/>
            <a:ext cx="4389120" cy="384048"/>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Ground sensors are sparse; satellites are not</a:t>
            </a:r>
            <a:endParaRPr lang="en-US" sz="1500" dirty="0"/>
          </a:p>
        </p:txBody>
      </p:sp>
      <p:sp>
        <p:nvSpPr>
          <p:cNvPr id="18" name="Text 16"/>
          <p:cNvSpPr/>
          <p:nvPr/>
        </p:nvSpPr>
        <p:spPr>
          <a:xfrm>
            <a:off x="841248" y="4480560"/>
            <a:ext cx="4892040" cy="1051560"/>
          </a:xfrm>
          <a:prstGeom prst="rect">
            <a:avLst/>
          </a:prstGeom>
          <a:noFill/>
          <a:ln/>
        </p:spPr>
        <p:txBody>
          <a:bodyPr wrap="square" lIns="0" tIns="0" rIns="0" bIns="0" rtlCol="0" anchor="ctr"/>
          <a:lstStyle/>
          <a:p>
            <a:pPr marL="0" indent="0">
              <a:lnSpc>
                <a:spcPts val="1800"/>
              </a:lnSpc>
              <a:buNone/>
            </a:pPr>
            <a:r>
              <a:rPr lang="en-US" sz="1250" dirty="0">
                <a:solidFill>
                  <a:srgbClr val="3C5169"/>
                </a:solidFill>
                <a:latin typeface="Calibri" pitchFamily="34" charset="0"/>
                <a:ea typeface="Calibri" pitchFamily="34" charset="-122"/>
                <a:cs typeface="Calibri" pitchFamily="34" charset="-120"/>
              </a:rPr>
              <a:t>Himawari-8/9 provides a free, public, 10-minute full-disk observation of the cloud field upwind of the site. That is spatial information no on-site pyranometer can supply.</a:t>
            </a:r>
            <a:endParaRPr lang="en-US" sz="1250" dirty="0"/>
          </a:p>
        </p:txBody>
      </p:sp>
      <p:sp>
        <p:nvSpPr>
          <p:cNvPr id="19" name="Shape 17"/>
          <p:cNvSpPr/>
          <p:nvPr/>
        </p:nvSpPr>
        <p:spPr>
          <a:xfrm>
            <a:off x="6199632" y="3694176"/>
            <a:ext cx="5440680" cy="1975104"/>
          </a:xfrm>
          <a:prstGeom prst="roundRect">
            <a:avLst>
              <a:gd name="adj" fmla="val 2778"/>
            </a:avLst>
          </a:prstGeom>
          <a:solidFill>
            <a:srgbClr val="EFF3F7"/>
          </a:solidFill>
          <a:ln w="7620">
            <a:solidFill>
              <a:srgbClr val="CFD9E2"/>
            </a:solidFill>
            <a:prstDash val="solid"/>
          </a:ln>
        </p:spPr>
        <p:txBody>
          <a:bodyPr/>
          <a:lstStyle/>
          <a:p>
            <a:endParaRPr lang="en-AE"/>
          </a:p>
        </p:txBody>
      </p:sp>
      <p:sp>
        <p:nvSpPr>
          <p:cNvPr id="20" name="Shape 18"/>
          <p:cNvSpPr/>
          <p:nvPr/>
        </p:nvSpPr>
        <p:spPr>
          <a:xfrm>
            <a:off x="6455664" y="3950208"/>
            <a:ext cx="384048" cy="384048"/>
          </a:xfrm>
          <a:prstGeom prst="ellipse">
            <a:avLst/>
          </a:prstGeom>
          <a:solidFill>
            <a:srgbClr val="E8A33D"/>
          </a:solidFill>
          <a:ln/>
        </p:spPr>
        <p:txBody>
          <a:bodyPr/>
          <a:lstStyle/>
          <a:p>
            <a:endParaRPr lang="en-AE"/>
          </a:p>
        </p:txBody>
      </p:sp>
      <p:sp>
        <p:nvSpPr>
          <p:cNvPr id="21" name="Text 19"/>
          <p:cNvSpPr/>
          <p:nvPr/>
        </p:nvSpPr>
        <p:spPr>
          <a:xfrm>
            <a:off x="6455664" y="3950208"/>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67728" y="3950208"/>
            <a:ext cx="4389120" cy="384048"/>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Uncertainty, not just a number</a:t>
            </a:r>
            <a:endParaRPr lang="en-US" sz="1500" dirty="0"/>
          </a:p>
        </p:txBody>
      </p:sp>
      <p:sp>
        <p:nvSpPr>
          <p:cNvPr id="23" name="Text 21"/>
          <p:cNvSpPr/>
          <p:nvPr/>
        </p:nvSpPr>
        <p:spPr>
          <a:xfrm>
            <a:off x="6473952" y="4480560"/>
            <a:ext cx="4892040" cy="1051560"/>
          </a:xfrm>
          <a:prstGeom prst="rect">
            <a:avLst/>
          </a:prstGeom>
          <a:noFill/>
          <a:ln/>
        </p:spPr>
        <p:txBody>
          <a:bodyPr wrap="square" lIns="0" tIns="0" rIns="0" bIns="0" rtlCol="0" anchor="ctr"/>
          <a:lstStyle/>
          <a:p>
            <a:pPr marL="0" indent="0">
              <a:lnSpc>
                <a:spcPts val="1800"/>
              </a:lnSpc>
              <a:buNone/>
            </a:pPr>
            <a:r>
              <a:rPr lang="en-US" sz="1250" dirty="0">
                <a:solidFill>
                  <a:srgbClr val="3C5169"/>
                </a:solidFill>
                <a:latin typeface="Calibri" pitchFamily="34" charset="0"/>
                <a:ea typeface="Calibri" pitchFamily="34" charset="-122"/>
                <a:cs typeface="Calibri" pitchFamily="34" charset="-120"/>
              </a:rPr>
              <a:t>A reserve-sizing decision needs an interval. This system emits a predictive mean and standard deviation per horizon, so the operator gets a 90% band rather than a single value.</a:t>
            </a:r>
            <a:endParaRPr lang="en-US" sz="1250" dirty="0"/>
          </a:p>
        </p:txBody>
      </p:sp>
      <p:sp>
        <p:nvSpPr>
          <p:cNvPr id="24" name="Text 22"/>
          <p:cNvSpPr/>
          <p:nvPr/>
        </p:nvSpPr>
        <p:spPr>
          <a:xfrm>
            <a:off x="566928" y="6053328"/>
            <a:ext cx="11064240" cy="365760"/>
          </a:xfrm>
          <a:prstGeom prst="rect">
            <a:avLst/>
          </a:prstGeom>
          <a:noFill/>
          <a:ln/>
        </p:spPr>
        <p:txBody>
          <a:bodyPr wrap="square" lIns="0" tIns="0" rIns="0" bIns="0" rtlCol="0" anchor="ctr"/>
          <a:lstStyle/>
          <a:p>
            <a:pPr marL="0" indent="0">
              <a:buNone/>
            </a:pPr>
            <a:r>
              <a:rPr lang="en-US" sz="1100" i="1" dirty="0">
                <a:solidFill>
                  <a:srgbClr val="6E7F8F"/>
                </a:solidFill>
                <a:latin typeface="Calibri" pitchFamily="34" charset="0"/>
                <a:ea typeface="Calibri" pitchFamily="34" charset="-122"/>
                <a:cs typeface="Calibri" pitchFamily="34" charset="-120"/>
              </a:rPr>
              <a:t>Derived motivation: the repository states no formal motivation section. The four points above are inferred from the implemented site, horizon, target and output format.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SCOPE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Objectives and research questions</a:t>
            </a:r>
            <a:endParaRPr lang="en-US" sz="3000" dirty="0"/>
          </a:p>
        </p:txBody>
      </p:sp>
      <p:sp>
        <p:nvSpPr>
          <p:cNvPr id="4" name="Text 2"/>
          <p:cNvSpPr/>
          <p:nvPr/>
        </p:nvSpPr>
        <p:spPr>
          <a:xfrm>
            <a:off x="566928" y="1371600"/>
            <a:ext cx="5394960" cy="310896"/>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Documented in the repository</a:t>
            </a:r>
            <a:endParaRPr lang="en-US" sz="1300" dirty="0"/>
          </a:p>
        </p:txBody>
      </p:sp>
      <p:sp>
        <p:nvSpPr>
          <p:cNvPr id="5" name="Text 3"/>
          <p:cNvSpPr/>
          <p:nvPr/>
        </p:nvSpPr>
        <p:spPr>
          <a:xfrm>
            <a:off x="566928" y="1719072"/>
            <a:ext cx="5394960" cy="320040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Forecast GHI at t+1h, t+2h and t+3h with per-horizon uncertainty  (notebook §5 target definition; model head emits a mean and a standard deviation per horizon).</a:t>
            </a:r>
            <a:endParaRPr lang="en-US" sz="1250" dirty="0"/>
          </a:p>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Fuse a temporal weather sequence with a satellite image through a learned, physically conditioned gate  (model.py PhysicsGatedFusionModelV2).</a:t>
            </a:r>
            <a:endParaRPr lang="en-US" sz="1250" dirty="0"/>
          </a:p>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Quantify the contribution of each modality by ablation  (notebook §8 trains lstm / cnn / concat variants).</a:t>
            </a:r>
            <a:endParaRPr lang="en-US" sz="1250" dirty="0"/>
          </a:p>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Pretrain the image encoder on cloud segmentation rather than ImageNet  (notebook §3.5, SwimSeg).</a:t>
            </a:r>
            <a:endParaRPr lang="en-US" sz="1250" dirty="0"/>
          </a:p>
          <a:p>
            <a:pPr marL="342900" indent="-342900">
              <a:lnSpc>
                <a:spcPts val="1900"/>
              </a:lnSpc>
              <a:spcAft>
                <a:spcPts val="900"/>
              </a:spcAft>
              <a:buSzPct val="100000"/>
              <a:buChar char="▪"/>
            </a:pPr>
            <a:r>
              <a:rPr lang="en-US" sz="1250" dirty="0">
                <a:solidFill>
                  <a:srgbClr val="3C5169"/>
                </a:solidFill>
                <a:latin typeface="Calibri" pitchFamily="34" charset="0"/>
                <a:ea typeface="Calibri" pitchFamily="34" charset="-122"/>
                <a:cs typeface="Calibri" pitchFamily="34" charset="-120"/>
              </a:rPr>
              <a:t>Deploy and verify against measured irradiance  (predict.py, verify.py, daily_run.sh).</a:t>
            </a:r>
            <a:endParaRPr lang="en-US" sz="1250" dirty="0"/>
          </a:p>
        </p:txBody>
      </p:sp>
      <p:sp>
        <p:nvSpPr>
          <p:cNvPr id="6" name="Shape 4"/>
          <p:cNvSpPr/>
          <p:nvPr/>
        </p:nvSpPr>
        <p:spPr>
          <a:xfrm>
            <a:off x="6236208" y="1371600"/>
            <a:ext cx="5394960" cy="3657600"/>
          </a:xfrm>
          <a:prstGeom prst="roundRect">
            <a:avLst>
              <a:gd name="adj" fmla="val 1500"/>
            </a:avLst>
          </a:prstGeom>
          <a:solidFill>
            <a:srgbClr val="EFF3F7"/>
          </a:solidFill>
          <a:ln w="7620">
            <a:solidFill>
              <a:srgbClr val="CFD9E2"/>
            </a:solidFill>
            <a:prstDash val="solid"/>
          </a:ln>
        </p:spPr>
        <p:txBody>
          <a:bodyPr/>
          <a:lstStyle/>
          <a:p>
            <a:endParaRPr lang="en-AE"/>
          </a:p>
        </p:txBody>
      </p:sp>
      <p:sp>
        <p:nvSpPr>
          <p:cNvPr id="7" name="Text 5"/>
          <p:cNvSpPr/>
          <p:nvPr/>
        </p:nvSpPr>
        <p:spPr>
          <a:xfrm>
            <a:off x="6510528" y="1517904"/>
            <a:ext cx="4846320" cy="310896"/>
          </a:xfrm>
          <a:prstGeom prst="rect">
            <a:avLst/>
          </a:prstGeom>
          <a:noFill/>
          <a:ln/>
        </p:spPr>
        <p:txBody>
          <a:bodyPr wrap="square" lIns="0" tIns="0" rIns="0" bIns="0" rtlCol="0" anchor="ctr"/>
          <a:lstStyle/>
          <a:p>
            <a:pPr marL="0" indent="0">
              <a:buNone/>
            </a:pPr>
            <a:r>
              <a:rPr lang="en-US" sz="1300" b="1" dirty="0">
                <a:solidFill>
                  <a:srgbClr val="B87A1B"/>
                </a:solidFill>
                <a:latin typeface="Calibri" pitchFamily="34" charset="0"/>
                <a:ea typeface="Calibri" pitchFamily="34" charset="-122"/>
                <a:cs typeface="Calibri" pitchFamily="34" charset="-120"/>
              </a:rPr>
              <a:t>Research questions — derived</a:t>
            </a:r>
            <a:endParaRPr lang="en-US" sz="1300" dirty="0"/>
          </a:p>
        </p:txBody>
      </p:sp>
      <p:sp>
        <p:nvSpPr>
          <p:cNvPr id="8" name="Shape 6"/>
          <p:cNvSpPr/>
          <p:nvPr/>
        </p:nvSpPr>
        <p:spPr>
          <a:xfrm>
            <a:off x="6510528" y="1920240"/>
            <a:ext cx="329184" cy="329184"/>
          </a:xfrm>
          <a:prstGeom prst="ellipse">
            <a:avLst/>
          </a:prstGeom>
          <a:solidFill>
            <a:srgbClr val="0B2545"/>
          </a:solidFill>
          <a:ln/>
        </p:spPr>
        <p:txBody>
          <a:bodyPr/>
          <a:lstStyle/>
          <a:p>
            <a:endParaRPr lang="en-AE"/>
          </a:p>
        </p:txBody>
      </p:sp>
      <p:sp>
        <p:nvSpPr>
          <p:cNvPr id="9" name="Text 7"/>
          <p:cNvSpPr/>
          <p:nvPr/>
        </p:nvSpPr>
        <p:spPr>
          <a:xfrm>
            <a:off x="6510528" y="192024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6903720" y="1901952"/>
            <a:ext cx="566928" cy="2743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RQ1</a:t>
            </a:r>
            <a:endParaRPr lang="en-US" sz="1150" dirty="0"/>
          </a:p>
        </p:txBody>
      </p:sp>
      <p:sp>
        <p:nvSpPr>
          <p:cNvPr id="11" name="Text 9"/>
          <p:cNvSpPr/>
          <p:nvPr/>
        </p:nvSpPr>
        <p:spPr>
          <a:xfrm>
            <a:off x="7479792" y="1865376"/>
            <a:ext cx="3950208" cy="713232"/>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Does a geostationary satellite image add predictive information over a purely temporal model at 1–3 h, given ~7.6 k training samples?</a:t>
            </a:r>
            <a:endParaRPr lang="en-US" sz="1150" dirty="0"/>
          </a:p>
        </p:txBody>
      </p:sp>
      <p:sp>
        <p:nvSpPr>
          <p:cNvPr id="12" name="Shape 10"/>
          <p:cNvSpPr/>
          <p:nvPr/>
        </p:nvSpPr>
        <p:spPr>
          <a:xfrm>
            <a:off x="6510528" y="2679192"/>
            <a:ext cx="329184" cy="329184"/>
          </a:xfrm>
          <a:prstGeom prst="ellipse">
            <a:avLst/>
          </a:prstGeom>
          <a:solidFill>
            <a:srgbClr val="0B2545"/>
          </a:solidFill>
          <a:ln/>
        </p:spPr>
        <p:txBody>
          <a:bodyPr/>
          <a:lstStyle/>
          <a:p>
            <a:endParaRPr lang="en-AE"/>
          </a:p>
        </p:txBody>
      </p:sp>
      <p:sp>
        <p:nvSpPr>
          <p:cNvPr id="13" name="Text 11"/>
          <p:cNvSpPr/>
          <p:nvPr/>
        </p:nvSpPr>
        <p:spPr>
          <a:xfrm>
            <a:off x="6510528" y="26791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6903720" y="2660904"/>
            <a:ext cx="566928" cy="2743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RQ2</a:t>
            </a:r>
            <a:endParaRPr lang="en-US" sz="1150" dirty="0"/>
          </a:p>
        </p:txBody>
      </p:sp>
      <p:sp>
        <p:nvSpPr>
          <p:cNvPr id="15" name="Text 13"/>
          <p:cNvSpPr/>
          <p:nvPr/>
        </p:nvSpPr>
        <p:spPr>
          <a:xfrm>
            <a:off x="7479792" y="2624328"/>
            <a:ext cx="3950208" cy="713232"/>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Does conditioning the fusion weight on physical state (clear-sky index, cloud cover, cloud motion) outperform naive concatenation?</a:t>
            </a:r>
            <a:endParaRPr lang="en-US" sz="1150" dirty="0"/>
          </a:p>
        </p:txBody>
      </p:sp>
      <p:sp>
        <p:nvSpPr>
          <p:cNvPr id="16" name="Shape 14"/>
          <p:cNvSpPr/>
          <p:nvPr/>
        </p:nvSpPr>
        <p:spPr>
          <a:xfrm>
            <a:off x="6510528" y="3438144"/>
            <a:ext cx="329184" cy="329184"/>
          </a:xfrm>
          <a:prstGeom prst="ellipse">
            <a:avLst/>
          </a:prstGeom>
          <a:solidFill>
            <a:srgbClr val="0B2545"/>
          </a:solidFill>
          <a:ln/>
        </p:spPr>
        <p:txBody>
          <a:bodyPr/>
          <a:lstStyle/>
          <a:p>
            <a:endParaRPr lang="en-AE"/>
          </a:p>
        </p:txBody>
      </p:sp>
      <p:sp>
        <p:nvSpPr>
          <p:cNvPr id="17" name="Text 15"/>
          <p:cNvSpPr/>
          <p:nvPr/>
        </p:nvSpPr>
        <p:spPr>
          <a:xfrm>
            <a:off x="6510528" y="343814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6903720" y="3419856"/>
            <a:ext cx="566928" cy="2743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RQ3</a:t>
            </a:r>
            <a:endParaRPr lang="en-US" sz="1150" dirty="0"/>
          </a:p>
        </p:txBody>
      </p:sp>
      <p:sp>
        <p:nvSpPr>
          <p:cNvPr id="19" name="Text 17"/>
          <p:cNvSpPr/>
          <p:nvPr/>
        </p:nvSpPr>
        <p:spPr>
          <a:xfrm>
            <a:off x="7479792" y="3383280"/>
            <a:ext cx="3950208" cy="713232"/>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Does cloud-segmentation pretraining transfer usefully to an irradiance-regression task?</a:t>
            </a:r>
            <a:endParaRPr lang="en-US" sz="1150" dirty="0"/>
          </a:p>
        </p:txBody>
      </p:sp>
      <p:sp>
        <p:nvSpPr>
          <p:cNvPr id="20" name="Shape 18"/>
          <p:cNvSpPr/>
          <p:nvPr/>
        </p:nvSpPr>
        <p:spPr>
          <a:xfrm>
            <a:off x="6510528" y="4197096"/>
            <a:ext cx="329184" cy="329184"/>
          </a:xfrm>
          <a:prstGeom prst="ellipse">
            <a:avLst/>
          </a:prstGeom>
          <a:solidFill>
            <a:srgbClr val="0B2545"/>
          </a:solidFill>
          <a:ln/>
        </p:spPr>
        <p:txBody>
          <a:bodyPr/>
          <a:lstStyle/>
          <a:p>
            <a:endParaRPr lang="en-AE"/>
          </a:p>
        </p:txBody>
      </p:sp>
      <p:sp>
        <p:nvSpPr>
          <p:cNvPr id="21" name="Text 19"/>
          <p:cNvSpPr/>
          <p:nvPr/>
        </p:nvSpPr>
        <p:spPr>
          <a:xfrm>
            <a:off x="6510528" y="41970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03720" y="4178808"/>
            <a:ext cx="566928" cy="2743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RQ4</a:t>
            </a:r>
            <a:endParaRPr lang="en-US" sz="1150" dirty="0"/>
          </a:p>
        </p:txBody>
      </p:sp>
      <p:sp>
        <p:nvSpPr>
          <p:cNvPr id="23" name="Text 21"/>
          <p:cNvSpPr/>
          <p:nvPr/>
        </p:nvSpPr>
        <p:spPr>
          <a:xfrm>
            <a:off x="7479792" y="4142232"/>
            <a:ext cx="3950208" cy="713232"/>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Are the learned Gaussian prediction intervals calibrated well enough to be operationally usable?</a:t>
            </a:r>
            <a:endParaRPr lang="en-US" sz="1150" dirty="0"/>
          </a:p>
        </p:txBody>
      </p:sp>
      <p:sp>
        <p:nvSpPr>
          <p:cNvPr id="24" name="Shape 22"/>
          <p:cNvSpPr/>
          <p:nvPr/>
        </p:nvSpPr>
        <p:spPr>
          <a:xfrm>
            <a:off x="566928" y="5138928"/>
            <a:ext cx="11064240" cy="868680"/>
          </a:xfrm>
          <a:prstGeom prst="roundRect">
            <a:avLst>
              <a:gd name="adj" fmla="val 5263"/>
            </a:avLst>
          </a:prstGeom>
          <a:solidFill>
            <a:srgbClr val="E3EAF1"/>
          </a:solidFill>
          <a:ln/>
        </p:spPr>
        <p:txBody>
          <a:bodyPr/>
          <a:lstStyle/>
          <a:p>
            <a:endParaRPr lang="en-AE"/>
          </a:p>
        </p:txBody>
      </p:sp>
      <p:sp>
        <p:nvSpPr>
          <p:cNvPr id="25" name="Text 23"/>
          <p:cNvSpPr/>
          <p:nvPr/>
        </p:nvSpPr>
        <p:spPr>
          <a:xfrm>
            <a:off x="868680" y="5303520"/>
            <a:ext cx="10424160" cy="548640"/>
          </a:xfrm>
          <a:prstGeom prst="rect">
            <a:avLst/>
          </a:prstGeom>
          <a:noFill/>
          <a:ln/>
        </p:spPr>
        <p:txBody>
          <a:bodyPr wrap="square" lIns="0" tIns="0" rIns="0" bIns="0" rtlCol="0" anchor="ctr"/>
          <a:lstStyle/>
          <a:p>
            <a:pPr marL="0" indent="0">
              <a:lnSpc>
                <a:spcPts val="1800"/>
              </a:lnSpc>
              <a:buNone/>
            </a:pPr>
            <a:r>
              <a:rPr lang="en-US" sz="1250" dirty="0">
                <a:solidFill>
                  <a:srgbClr val="3C5169"/>
                </a:solidFill>
                <a:latin typeface="Calibri" pitchFamily="34" charset="0"/>
                <a:ea typeface="Calibri" pitchFamily="34" charset="-122"/>
                <a:cs typeface="Calibri" pitchFamily="34" charset="-120"/>
              </a:rPr>
              <a:t>Explicitly out of scope: PV plant power conversion, sub-hourly (&lt;1 h) nowcasting, multi-site or spatially distributed forecasting, and any change to the EfficientNet-B2 backbone itself.</a:t>
            </a:r>
            <a:endParaRPr lang="en-US" sz="1250" dirty="0"/>
          </a:p>
        </p:txBody>
      </p:sp>
      <p:sp>
        <p:nvSpPr>
          <p:cNvPr id="26" name="Text 24"/>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RQ1–RQ4 are inferred from the experiments the code actually runs; the repository does not state research questions in prose.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BACKGROUND — EXTERNAL LITERATURE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Four families of short-horizon irradiance forecasting</a:t>
            </a:r>
            <a:endParaRPr lang="en-US" sz="3000" dirty="0"/>
          </a:p>
        </p:txBody>
      </p:sp>
      <p:sp>
        <p:nvSpPr>
          <p:cNvPr id="4" name="Shape 2"/>
          <p:cNvSpPr/>
          <p:nvPr/>
        </p:nvSpPr>
        <p:spPr>
          <a:xfrm>
            <a:off x="566928" y="1417320"/>
            <a:ext cx="11064240" cy="1060704"/>
          </a:xfrm>
          <a:prstGeom prst="roundRect">
            <a:avLst>
              <a:gd name="adj" fmla="val 4310"/>
            </a:avLst>
          </a:prstGeom>
          <a:solidFill>
            <a:srgbClr val="EFF3F7"/>
          </a:solidFill>
          <a:ln w="7620">
            <a:solidFill>
              <a:srgbClr val="CFD9E2"/>
            </a:solidFill>
            <a:prstDash val="solid"/>
          </a:ln>
        </p:spPr>
        <p:txBody>
          <a:bodyPr/>
          <a:lstStyle/>
          <a:p>
            <a:endParaRPr lang="en-AE"/>
          </a:p>
        </p:txBody>
      </p:sp>
      <p:sp>
        <p:nvSpPr>
          <p:cNvPr id="5" name="Shape 3"/>
          <p:cNvSpPr/>
          <p:nvPr/>
        </p:nvSpPr>
        <p:spPr>
          <a:xfrm>
            <a:off x="822960" y="1746504"/>
            <a:ext cx="402336" cy="402336"/>
          </a:xfrm>
          <a:prstGeom prst="ellipse">
            <a:avLst/>
          </a:prstGeom>
          <a:solidFill>
            <a:srgbClr val="6E7F8F"/>
          </a:solidFill>
          <a:ln/>
        </p:spPr>
        <p:txBody>
          <a:bodyPr/>
          <a:lstStyle/>
          <a:p>
            <a:endParaRPr lang="en-AE"/>
          </a:p>
        </p:txBody>
      </p:sp>
      <p:sp>
        <p:nvSpPr>
          <p:cNvPr id="6" name="Text 4"/>
          <p:cNvSpPr/>
          <p:nvPr/>
        </p:nvSpPr>
        <p:spPr>
          <a:xfrm>
            <a:off x="822960" y="1746504"/>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71600" y="1563624"/>
            <a:ext cx="283464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Persistence references</a:t>
            </a:r>
            <a:endParaRPr lang="en-US" sz="1400" dirty="0"/>
          </a:p>
        </p:txBody>
      </p:sp>
      <p:sp>
        <p:nvSpPr>
          <p:cNvPr id="8" name="Text 6"/>
          <p:cNvSpPr/>
          <p:nvPr/>
        </p:nvSpPr>
        <p:spPr>
          <a:xfrm>
            <a:off x="1371600" y="1929384"/>
            <a:ext cx="3017520" cy="475488"/>
          </a:xfrm>
          <a:prstGeom prst="rect">
            <a:avLst/>
          </a:prstGeom>
          <a:noFill/>
          <a:ln/>
        </p:spPr>
        <p:txBody>
          <a:bodyPr wrap="square" lIns="0" tIns="0" rIns="0" bIns="0" rtlCol="0" anchor="ctr"/>
          <a:lstStyle/>
          <a:p>
            <a:pPr marL="0" indent="0">
              <a:lnSpc>
                <a:spcPts val="1400"/>
              </a:lnSpc>
              <a:buNone/>
            </a:pPr>
            <a:r>
              <a:rPr lang="en-US" sz="1100" dirty="0">
                <a:solidFill>
                  <a:srgbClr val="3C5169"/>
                </a:solidFill>
                <a:latin typeface="Calibri" pitchFamily="34" charset="0"/>
                <a:ea typeface="Calibri" pitchFamily="34" charset="-122"/>
                <a:cs typeface="Calibri" pitchFamily="34" charset="-120"/>
              </a:rPr>
              <a:t>Carry forward the current clear-sky index. Free, no training, and the standard reference any forecast must beat.</a:t>
            </a:r>
            <a:endParaRPr lang="en-US" sz="1100" dirty="0"/>
          </a:p>
        </p:txBody>
      </p:sp>
      <p:sp>
        <p:nvSpPr>
          <p:cNvPr id="9" name="Text 7"/>
          <p:cNvSpPr/>
          <p:nvPr/>
        </p:nvSpPr>
        <p:spPr>
          <a:xfrm>
            <a:off x="4617720" y="1563624"/>
            <a:ext cx="1280160" cy="365760"/>
          </a:xfrm>
          <a:prstGeom prst="rect">
            <a:avLst/>
          </a:prstGeom>
          <a:noFill/>
          <a:ln/>
        </p:spPr>
        <p:txBody>
          <a:bodyPr wrap="square" lIns="0" tIns="0" rIns="0" bIns="0" rtlCol="0" anchor="ctr"/>
          <a:lstStyle/>
          <a:p>
            <a:pPr marL="0" indent="0">
              <a:buNone/>
            </a:pPr>
            <a:r>
              <a:rPr lang="en-US" sz="1050" b="1" dirty="0">
                <a:solidFill>
                  <a:srgbClr val="B03A2E"/>
                </a:solidFill>
                <a:latin typeface="Calibri" pitchFamily="34" charset="0"/>
                <a:ea typeface="Calibri" pitchFamily="34" charset="-122"/>
                <a:cs typeface="Calibri" pitchFamily="34" charset="-120"/>
              </a:rPr>
              <a:t>Limitation</a:t>
            </a:r>
            <a:endParaRPr lang="en-US" sz="1050" dirty="0"/>
          </a:p>
        </p:txBody>
      </p:sp>
      <p:sp>
        <p:nvSpPr>
          <p:cNvPr id="10" name="Text 8"/>
          <p:cNvSpPr/>
          <p:nvPr/>
        </p:nvSpPr>
        <p:spPr>
          <a:xfrm>
            <a:off x="4617720" y="1874520"/>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3C5169"/>
                </a:solidFill>
                <a:latin typeface="Calibri" pitchFamily="34" charset="0"/>
                <a:ea typeface="Calibri" pitchFamily="34" charset="-122"/>
                <a:cs typeface="Calibri" pitchFamily="34" charset="-120"/>
              </a:rPr>
              <a:t>Blind to cloud advection. 243.7 W/m² MAE on this test set (117.7 for the smart variant).</a:t>
            </a:r>
            <a:endParaRPr lang="en-US" sz="1150" dirty="0"/>
          </a:p>
        </p:txBody>
      </p:sp>
      <p:sp>
        <p:nvSpPr>
          <p:cNvPr id="11" name="Shape 9"/>
          <p:cNvSpPr/>
          <p:nvPr/>
        </p:nvSpPr>
        <p:spPr>
          <a:xfrm>
            <a:off x="566928" y="2596896"/>
            <a:ext cx="11064240" cy="1060704"/>
          </a:xfrm>
          <a:prstGeom prst="roundRect">
            <a:avLst>
              <a:gd name="adj" fmla="val 4310"/>
            </a:avLst>
          </a:prstGeom>
          <a:solidFill>
            <a:srgbClr val="EFF3F7"/>
          </a:solidFill>
          <a:ln w="7620">
            <a:solidFill>
              <a:srgbClr val="CFD9E2"/>
            </a:solidFill>
            <a:prstDash val="solid"/>
          </a:ln>
        </p:spPr>
        <p:txBody>
          <a:bodyPr/>
          <a:lstStyle/>
          <a:p>
            <a:endParaRPr lang="en-AE"/>
          </a:p>
        </p:txBody>
      </p:sp>
      <p:sp>
        <p:nvSpPr>
          <p:cNvPr id="12" name="Shape 10"/>
          <p:cNvSpPr/>
          <p:nvPr/>
        </p:nvSpPr>
        <p:spPr>
          <a:xfrm>
            <a:off x="822960" y="2926080"/>
            <a:ext cx="402336" cy="402336"/>
          </a:xfrm>
          <a:prstGeom prst="ellipse">
            <a:avLst/>
          </a:prstGeom>
          <a:solidFill>
            <a:srgbClr val="1C7293"/>
          </a:solidFill>
          <a:ln/>
        </p:spPr>
        <p:txBody>
          <a:bodyPr/>
          <a:lstStyle/>
          <a:p>
            <a:endParaRPr lang="en-AE"/>
          </a:p>
        </p:txBody>
      </p:sp>
      <p:sp>
        <p:nvSpPr>
          <p:cNvPr id="13" name="Text 11"/>
          <p:cNvSpPr/>
          <p:nvPr/>
        </p:nvSpPr>
        <p:spPr>
          <a:xfrm>
            <a:off x="822960" y="2926080"/>
            <a:ext cx="402336" cy="40233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371600" y="2743200"/>
            <a:ext cx="283464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Tabular machine learning</a:t>
            </a:r>
            <a:endParaRPr lang="en-US" sz="1400" dirty="0"/>
          </a:p>
        </p:txBody>
      </p:sp>
      <p:sp>
        <p:nvSpPr>
          <p:cNvPr id="15" name="Text 13"/>
          <p:cNvSpPr/>
          <p:nvPr/>
        </p:nvSpPr>
        <p:spPr>
          <a:xfrm>
            <a:off x="1371600" y="3108960"/>
            <a:ext cx="3017520" cy="475488"/>
          </a:xfrm>
          <a:prstGeom prst="rect">
            <a:avLst/>
          </a:prstGeom>
          <a:noFill/>
          <a:ln/>
        </p:spPr>
        <p:txBody>
          <a:bodyPr wrap="square" lIns="0" tIns="0" rIns="0" bIns="0" rtlCol="0" anchor="ctr"/>
          <a:lstStyle/>
          <a:p>
            <a:pPr marL="0" indent="0">
              <a:lnSpc>
                <a:spcPts val="1400"/>
              </a:lnSpc>
              <a:buNone/>
            </a:pPr>
            <a:r>
              <a:rPr lang="en-US" sz="1100" dirty="0">
                <a:solidFill>
                  <a:srgbClr val="3C5169"/>
                </a:solidFill>
                <a:latin typeface="Calibri" pitchFamily="34" charset="0"/>
                <a:ea typeface="Calibri" pitchFamily="34" charset="-122"/>
                <a:cs typeface="Calibri" pitchFamily="34" charset="-120"/>
              </a:rPr>
              <a:t>Gradient-boosted trees or random forests over lagged irradiance, weather and solar geometry.</a:t>
            </a:r>
            <a:endParaRPr lang="en-US" sz="1100" dirty="0"/>
          </a:p>
        </p:txBody>
      </p:sp>
      <p:sp>
        <p:nvSpPr>
          <p:cNvPr id="16" name="Text 14"/>
          <p:cNvSpPr/>
          <p:nvPr/>
        </p:nvSpPr>
        <p:spPr>
          <a:xfrm>
            <a:off x="4617720" y="2743200"/>
            <a:ext cx="1280160" cy="365760"/>
          </a:xfrm>
          <a:prstGeom prst="rect">
            <a:avLst/>
          </a:prstGeom>
          <a:noFill/>
          <a:ln/>
        </p:spPr>
        <p:txBody>
          <a:bodyPr wrap="square" lIns="0" tIns="0" rIns="0" bIns="0" rtlCol="0" anchor="ctr"/>
          <a:lstStyle/>
          <a:p>
            <a:pPr marL="0" indent="0">
              <a:buNone/>
            </a:pPr>
            <a:r>
              <a:rPr lang="en-US" sz="1050" b="1" dirty="0">
                <a:solidFill>
                  <a:srgbClr val="B03A2E"/>
                </a:solidFill>
                <a:latin typeface="Calibri" pitchFamily="34" charset="0"/>
                <a:ea typeface="Calibri" pitchFamily="34" charset="-122"/>
                <a:cs typeface="Calibri" pitchFamily="34" charset="-120"/>
              </a:rPr>
              <a:t>Limitation</a:t>
            </a:r>
            <a:endParaRPr lang="en-US" sz="1050" dirty="0"/>
          </a:p>
        </p:txBody>
      </p:sp>
      <p:sp>
        <p:nvSpPr>
          <p:cNvPr id="17" name="Text 15"/>
          <p:cNvSpPr/>
          <p:nvPr/>
        </p:nvSpPr>
        <p:spPr>
          <a:xfrm>
            <a:off x="4617720" y="3054096"/>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3C5169"/>
                </a:solidFill>
                <a:latin typeface="Calibri" pitchFamily="34" charset="0"/>
                <a:ea typeface="Calibri" pitchFamily="34" charset="-122"/>
                <a:cs typeface="Calibri" pitchFamily="34" charset="-120"/>
              </a:rPr>
              <a:t>No spatial awareness — cannot see a cloud bank approaching from outside the site.</a:t>
            </a:r>
            <a:endParaRPr lang="en-US" sz="1150" dirty="0"/>
          </a:p>
        </p:txBody>
      </p:sp>
      <p:sp>
        <p:nvSpPr>
          <p:cNvPr id="18" name="Shape 16"/>
          <p:cNvSpPr/>
          <p:nvPr/>
        </p:nvSpPr>
        <p:spPr>
          <a:xfrm>
            <a:off x="566928" y="3776472"/>
            <a:ext cx="11064240" cy="1060704"/>
          </a:xfrm>
          <a:prstGeom prst="roundRect">
            <a:avLst>
              <a:gd name="adj" fmla="val 4310"/>
            </a:avLst>
          </a:prstGeom>
          <a:solidFill>
            <a:srgbClr val="EFF3F7"/>
          </a:solidFill>
          <a:ln w="7620">
            <a:solidFill>
              <a:srgbClr val="CFD9E2"/>
            </a:solidFill>
            <a:prstDash val="solid"/>
          </a:ln>
        </p:spPr>
        <p:txBody>
          <a:bodyPr/>
          <a:lstStyle/>
          <a:p>
            <a:endParaRPr lang="en-AE"/>
          </a:p>
        </p:txBody>
      </p:sp>
      <p:sp>
        <p:nvSpPr>
          <p:cNvPr id="19" name="Shape 17"/>
          <p:cNvSpPr/>
          <p:nvPr/>
        </p:nvSpPr>
        <p:spPr>
          <a:xfrm>
            <a:off x="822960" y="4105656"/>
            <a:ext cx="402336" cy="402336"/>
          </a:xfrm>
          <a:prstGeom prst="ellipse">
            <a:avLst/>
          </a:prstGeom>
          <a:solidFill>
            <a:srgbClr val="1C7293"/>
          </a:solidFill>
          <a:ln/>
        </p:spPr>
        <p:txBody>
          <a:bodyPr/>
          <a:lstStyle/>
          <a:p>
            <a:endParaRPr lang="en-AE"/>
          </a:p>
        </p:txBody>
      </p:sp>
      <p:sp>
        <p:nvSpPr>
          <p:cNvPr id="20" name="Text 18"/>
          <p:cNvSpPr/>
          <p:nvPr/>
        </p:nvSpPr>
        <p:spPr>
          <a:xfrm>
            <a:off x="822960" y="4105656"/>
            <a:ext cx="402336" cy="40233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1371600" y="3922776"/>
            <a:ext cx="283464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Sky-camera nowcasting</a:t>
            </a:r>
            <a:endParaRPr lang="en-US" sz="1400" dirty="0"/>
          </a:p>
        </p:txBody>
      </p:sp>
      <p:sp>
        <p:nvSpPr>
          <p:cNvPr id="22" name="Text 20"/>
          <p:cNvSpPr/>
          <p:nvPr/>
        </p:nvSpPr>
        <p:spPr>
          <a:xfrm>
            <a:off x="1371600" y="4288536"/>
            <a:ext cx="3017520" cy="475488"/>
          </a:xfrm>
          <a:prstGeom prst="rect">
            <a:avLst/>
          </a:prstGeom>
          <a:noFill/>
          <a:ln/>
        </p:spPr>
        <p:txBody>
          <a:bodyPr wrap="square" lIns="0" tIns="0" rIns="0" bIns="0" rtlCol="0" anchor="ctr"/>
          <a:lstStyle/>
          <a:p>
            <a:pPr marL="0" indent="0">
              <a:lnSpc>
                <a:spcPts val="1400"/>
              </a:lnSpc>
              <a:buNone/>
            </a:pPr>
            <a:r>
              <a:rPr lang="en-US" sz="1100" dirty="0">
                <a:solidFill>
                  <a:srgbClr val="3C5169"/>
                </a:solidFill>
                <a:latin typeface="Calibri" pitchFamily="34" charset="0"/>
                <a:ea typeface="Calibri" pitchFamily="34" charset="-122"/>
                <a:cs typeface="Calibri" pitchFamily="34" charset="-120"/>
              </a:rPr>
              <a:t>Ground-based hemispherical cameras segment cloud and extrapolate motion over the site.</a:t>
            </a:r>
            <a:endParaRPr lang="en-US" sz="1100" dirty="0"/>
          </a:p>
        </p:txBody>
      </p:sp>
      <p:sp>
        <p:nvSpPr>
          <p:cNvPr id="23" name="Text 21"/>
          <p:cNvSpPr/>
          <p:nvPr/>
        </p:nvSpPr>
        <p:spPr>
          <a:xfrm>
            <a:off x="4617720" y="3922776"/>
            <a:ext cx="1280160" cy="365760"/>
          </a:xfrm>
          <a:prstGeom prst="rect">
            <a:avLst/>
          </a:prstGeom>
          <a:noFill/>
          <a:ln/>
        </p:spPr>
        <p:txBody>
          <a:bodyPr wrap="square" lIns="0" tIns="0" rIns="0" bIns="0" rtlCol="0" anchor="ctr"/>
          <a:lstStyle/>
          <a:p>
            <a:pPr marL="0" indent="0">
              <a:buNone/>
            </a:pPr>
            <a:r>
              <a:rPr lang="en-US" sz="1050" b="1" dirty="0">
                <a:solidFill>
                  <a:srgbClr val="B03A2E"/>
                </a:solidFill>
                <a:latin typeface="Calibri" pitchFamily="34" charset="0"/>
                <a:ea typeface="Calibri" pitchFamily="34" charset="-122"/>
                <a:cs typeface="Calibri" pitchFamily="34" charset="-120"/>
              </a:rPr>
              <a:t>Limitation</a:t>
            </a:r>
            <a:endParaRPr lang="en-US" sz="1050" dirty="0"/>
          </a:p>
        </p:txBody>
      </p:sp>
      <p:sp>
        <p:nvSpPr>
          <p:cNvPr id="24" name="Text 22"/>
          <p:cNvSpPr/>
          <p:nvPr/>
        </p:nvSpPr>
        <p:spPr>
          <a:xfrm>
            <a:off x="4617720" y="4233672"/>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3C5169"/>
                </a:solidFill>
                <a:latin typeface="Calibri" pitchFamily="34" charset="0"/>
                <a:ea typeface="Calibri" pitchFamily="34" charset="-122"/>
                <a:cs typeface="Calibri" pitchFamily="34" charset="-120"/>
              </a:rPr>
              <a:t>Horizon limited to ~30 min by the camera's field of view; needs hardware at every site.</a:t>
            </a:r>
            <a:endParaRPr lang="en-US" sz="1150" dirty="0"/>
          </a:p>
        </p:txBody>
      </p:sp>
      <p:sp>
        <p:nvSpPr>
          <p:cNvPr id="25" name="Shape 23"/>
          <p:cNvSpPr/>
          <p:nvPr/>
        </p:nvSpPr>
        <p:spPr>
          <a:xfrm>
            <a:off x="566928" y="4956048"/>
            <a:ext cx="11064240" cy="1060704"/>
          </a:xfrm>
          <a:prstGeom prst="roundRect">
            <a:avLst>
              <a:gd name="adj" fmla="val 4310"/>
            </a:avLst>
          </a:prstGeom>
          <a:solidFill>
            <a:srgbClr val="FBF3E4"/>
          </a:solidFill>
          <a:ln w="15240">
            <a:solidFill>
              <a:srgbClr val="E8A33D"/>
            </a:solidFill>
            <a:prstDash val="solid"/>
          </a:ln>
        </p:spPr>
        <p:txBody>
          <a:bodyPr/>
          <a:lstStyle/>
          <a:p>
            <a:endParaRPr lang="en-AE"/>
          </a:p>
        </p:txBody>
      </p:sp>
      <p:sp>
        <p:nvSpPr>
          <p:cNvPr id="26" name="Shape 24"/>
          <p:cNvSpPr/>
          <p:nvPr/>
        </p:nvSpPr>
        <p:spPr>
          <a:xfrm>
            <a:off x="822960" y="5285232"/>
            <a:ext cx="402336" cy="402336"/>
          </a:xfrm>
          <a:prstGeom prst="ellipse">
            <a:avLst/>
          </a:prstGeom>
          <a:solidFill>
            <a:srgbClr val="E8A33D"/>
          </a:solidFill>
          <a:ln/>
        </p:spPr>
        <p:txBody>
          <a:bodyPr/>
          <a:lstStyle/>
          <a:p>
            <a:endParaRPr lang="en-AE"/>
          </a:p>
        </p:txBody>
      </p:sp>
      <p:sp>
        <p:nvSpPr>
          <p:cNvPr id="27" name="Text 25"/>
          <p:cNvSpPr/>
          <p:nvPr/>
        </p:nvSpPr>
        <p:spPr>
          <a:xfrm>
            <a:off x="822960" y="5285232"/>
            <a:ext cx="402336" cy="40233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1371600" y="5102352"/>
            <a:ext cx="2834640" cy="3657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Satellite + deep learning</a:t>
            </a:r>
            <a:endParaRPr lang="en-US" sz="1400" dirty="0"/>
          </a:p>
        </p:txBody>
      </p:sp>
      <p:sp>
        <p:nvSpPr>
          <p:cNvPr id="29" name="Text 27"/>
          <p:cNvSpPr/>
          <p:nvPr/>
        </p:nvSpPr>
        <p:spPr>
          <a:xfrm>
            <a:off x="1371600" y="5468112"/>
            <a:ext cx="3017520" cy="475488"/>
          </a:xfrm>
          <a:prstGeom prst="rect">
            <a:avLst/>
          </a:prstGeom>
          <a:noFill/>
          <a:ln/>
        </p:spPr>
        <p:txBody>
          <a:bodyPr wrap="square" lIns="0" tIns="0" rIns="0" bIns="0" rtlCol="0" anchor="ctr"/>
          <a:lstStyle/>
          <a:p>
            <a:pPr marL="0" indent="0">
              <a:lnSpc>
                <a:spcPts val="1400"/>
              </a:lnSpc>
              <a:buNone/>
            </a:pPr>
            <a:r>
              <a:rPr lang="en-US" sz="1100" dirty="0">
                <a:solidFill>
                  <a:srgbClr val="3C5169"/>
                </a:solidFill>
                <a:latin typeface="Calibri" pitchFamily="34" charset="0"/>
                <a:ea typeface="Calibri" pitchFamily="34" charset="-122"/>
                <a:cs typeface="Calibri" pitchFamily="34" charset="-120"/>
              </a:rPr>
              <a:t>CNN or ConvLSTM over geostationary imagery; optical flow for advection. The family this project sits in.</a:t>
            </a:r>
            <a:endParaRPr lang="en-US" sz="1100" dirty="0"/>
          </a:p>
        </p:txBody>
      </p:sp>
      <p:sp>
        <p:nvSpPr>
          <p:cNvPr id="30" name="Text 28"/>
          <p:cNvSpPr/>
          <p:nvPr/>
        </p:nvSpPr>
        <p:spPr>
          <a:xfrm>
            <a:off x="4617720" y="5102352"/>
            <a:ext cx="1280160" cy="365760"/>
          </a:xfrm>
          <a:prstGeom prst="rect">
            <a:avLst/>
          </a:prstGeom>
          <a:noFill/>
          <a:ln/>
        </p:spPr>
        <p:txBody>
          <a:bodyPr wrap="square" lIns="0" tIns="0" rIns="0" bIns="0" rtlCol="0" anchor="ctr"/>
          <a:lstStyle/>
          <a:p>
            <a:pPr marL="0" indent="0">
              <a:buNone/>
            </a:pPr>
            <a:r>
              <a:rPr lang="en-US" sz="1050" b="1" dirty="0">
                <a:solidFill>
                  <a:srgbClr val="B03A2E"/>
                </a:solidFill>
                <a:latin typeface="Calibri" pitchFamily="34" charset="0"/>
                <a:ea typeface="Calibri" pitchFamily="34" charset="-122"/>
                <a:cs typeface="Calibri" pitchFamily="34" charset="-120"/>
              </a:rPr>
              <a:t>Limitation</a:t>
            </a:r>
            <a:endParaRPr lang="en-US" sz="1050" dirty="0"/>
          </a:p>
        </p:txBody>
      </p:sp>
      <p:sp>
        <p:nvSpPr>
          <p:cNvPr id="31" name="Text 29"/>
          <p:cNvSpPr/>
          <p:nvPr/>
        </p:nvSpPr>
        <p:spPr>
          <a:xfrm>
            <a:off x="4617720" y="5413248"/>
            <a:ext cx="6720840" cy="530352"/>
          </a:xfrm>
          <a:prstGeom prst="rect">
            <a:avLst/>
          </a:prstGeom>
          <a:noFill/>
          <a:ln/>
        </p:spPr>
        <p:txBody>
          <a:bodyPr wrap="square" lIns="0" tIns="0" rIns="0" bIns="0" rtlCol="0" anchor="ctr"/>
          <a:lstStyle/>
          <a:p>
            <a:pPr marL="0" indent="0">
              <a:lnSpc>
                <a:spcPts val="1500"/>
              </a:lnSpc>
              <a:buNone/>
            </a:pPr>
            <a:r>
              <a:rPr lang="en-US" sz="1150" dirty="0">
                <a:solidFill>
                  <a:srgbClr val="3C5169"/>
                </a:solidFill>
                <a:latin typeface="Calibri" pitchFamily="34" charset="0"/>
                <a:ea typeface="Calibri" pitchFamily="34" charset="-122"/>
                <a:cs typeface="Calibri" pitchFamily="34" charset="-120"/>
              </a:rPr>
              <a:t>Data-hungry. Published successes typically use 10^5 to 10^6 samples; this project has 7.6 × 10³.</a:t>
            </a:r>
            <a:endParaRPr lang="en-US" sz="1150" dirty="0"/>
          </a:p>
        </p:txBody>
      </p:sp>
      <p:sp>
        <p:nvSpPr>
          <p:cNvPr id="32" name="Text 30"/>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EXTERNAL BACKGROUND — none of families 1–3 are implemented here except the tabular baselines (family 2) and the persistence references, which I computed for comparison.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GAP AND RATIONALE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The design hypothesis, and why it was reasonable</a:t>
            </a:r>
            <a:endParaRPr lang="en-US" sz="3000" dirty="0"/>
          </a:p>
        </p:txBody>
      </p:sp>
      <p:sp>
        <p:nvSpPr>
          <p:cNvPr id="4" name="Shape 2"/>
          <p:cNvSpPr/>
          <p:nvPr/>
        </p:nvSpPr>
        <p:spPr>
          <a:xfrm>
            <a:off x="566928" y="1417320"/>
            <a:ext cx="5349240" cy="2057400"/>
          </a:xfrm>
          <a:prstGeom prst="roundRect">
            <a:avLst>
              <a:gd name="adj" fmla="val 2667"/>
            </a:avLst>
          </a:prstGeom>
          <a:solidFill>
            <a:srgbClr val="EFF3F7"/>
          </a:solidFill>
          <a:ln w="7620">
            <a:solidFill>
              <a:srgbClr val="CFD9E2"/>
            </a:solidFill>
            <a:prstDash val="solid"/>
          </a:ln>
        </p:spPr>
        <p:txBody>
          <a:bodyPr/>
          <a:lstStyle/>
          <a:p>
            <a:endParaRPr lang="en-AE"/>
          </a:p>
        </p:txBody>
      </p:sp>
      <p:sp>
        <p:nvSpPr>
          <p:cNvPr id="5" name="Text 3"/>
          <p:cNvSpPr/>
          <p:nvPr/>
        </p:nvSpPr>
        <p:spPr>
          <a:xfrm>
            <a:off x="841248" y="1572768"/>
            <a:ext cx="4754880" cy="310896"/>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The gap</a:t>
            </a:r>
            <a:endParaRPr lang="en-US" sz="1350" dirty="0"/>
          </a:p>
        </p:txBody>
      </p:sp>
      <p:sp>
        <p:nvSpPr>
          <p:cNvPr id="6" name="Text 4"/>
          <p:cNvSpPr/>
          <p:nvPr/>
        </p:nvSpPr>
        <p:spPr>
          <a:xfrm>
            <a:off x="841248" y="1956816"/>
            <a:ext cx="4828032" cy="1371600"/>
          </a:xfrm>
          <a:prstGeom prst="rect">
            <a:avLst/>
          </a:prstGeom>
          <a:noFill/>
          <a:ln/>
        </p:spPr>
        <p:txBody>
          <a:bodyPr wrap="square" lIns="0" tIns="0" rIns="0" bIns="0" rtlCol="0" anchor="ctr"/>
          <a:lstStyle/>
          <a:p>
            <a:pPr marL="0" indent="0">
              <a:lnSpc>
                <a:spcPts val="1800"/>
              </a:lnSpc>
              <a:buNone/>
            </a:pPr>
            <a:r>
              <a:rPr lang="en-US" sz="1250" dirty="0">
                <a:solidFill>
                  <a:srgbClr val="3C5169"/>
                </a:solidFill>
                <a:latin typeface="Calibri" pitchFamily="34" charset="0"/>
                <a:ea typeface="Calibri" pitchFamily="34" charset="-122"/>
                <a:cs typeface="Calibri" pitchFamily="34" charset="-120"/>
              </a:rPr>
              <a:t>Tabular models see the site's recent history but not the sky upwind. Image models see the cloud field but have no memory. Prior fusion work typically concatenates the two representations and lets the network sort it out — which spends capacity learning when to trust each modality, from scratch, using only the training data.</a:t>
            </a:r>
            <a:endParaRPr lang="en-US" sz="1250" dirty="0"/>
          </a:p>
        </p:txBody>
      </p:sp>
      <p:sp>
        <p:nvSpPr>
          <p:cNvPr id="7" name="Shape 5"/>
          <p:cNvSpPr/>
          <p:nvPr/>
        </p:nvSpPr>
        <p:spPr>
          <a:xfrm>
            <a:off x="566928" y="3639312"/>
            <a:ext cx="5349240" cy="2331720"/>
          </a:xfrm>
          <a:prstGeom prst="roundRect">
            <a:avLst>
              <a:gd name="adj" fmla="val 2353"/>
            </a:avLst>
          </a:prstGeom>
          <a:solidFill>
            <a:srgbClr val="FBF3E4"/>
          </a:solidFill>
          <a:ln w="7620">
            <a:solidFill>
              <a:srgbClr val="CFD9E2"/>
            </a:solidFill>
            <a:prstDash val="solid"/>
          </a:ln>
        </p:spPr>
        <p:txBody>
          <a:bodyPr/>
          <a:lstStyle/>
          <a:p>
            <a:endParaRPr lang="en-AE"/>
          </a:p>
        </p:txBody>
      </p:sp>
      <p:sp>
        <p:nvSpPr>
          <p:cNvPr id="8" name="Text 6"/>
          <p:cNvSpPr/>
          <p:nvPr/>
        </p:nvSpPr>
        <p:spPr>
          <a:xfrm>
            <a:off x="841248" y="3794760"/>
            <a:ext cx="4754880" cy="310896"/>
          </a:xfrm>
          <a:prstGeom prst="rect">
            <a:avLst/>
          </a:prstGeom>
          <a:noFill/>
          <a:ln/>
        </p:spPr>
        <p:txBody>
          <a:bodyPr wrap="square" lIns="0" tIns="0" rIns="0" bIns="0" rtlCol="0" anchor="ctr"/>
          <a:lstStyle/>
          <a:p>
            <a:pPr marL="0" indent="0">
              <a:buNone/>
            </a:pPr>
            <a:r>
              <a:rPr lang="en-US" sz="1350" b="1" dirty="0">
                <a:solidFill>
                  <a:srgbClr val="B87A1B"/>
                </a:solidFill>
                <a:latin typeface="Calibri" pitchFamily="34" charset="0"/>
                <a:ea typeface="Calibri" pitchFamily="34" charset="-122"/>
                <a:cs typeface="Calibri" pitchFamily="34" charset="-120"/>
              </a:rPr>
              <a:t>The hypothesis this project tests</a:t>
            </a:r>
            <a:endParaRPr lang="en-US" sz="1350" dirty="0"/>
          </a:p>
        </p:txBody>
      </p:sp>
      <p:sp>
        <p:nvSpPr>
          <p:cNvPr id="9" name="Text 7"/>
          <p:cNvSpPr/>
          <p:nvPr/>
        </p:nvSpPr>
        <p:spPr>
          <a:xfrm>
            <a:off x="841248" y="4178808"/>
            <a:ext cx="4828032" cy="1645920"/>
          </a:xfrm>
          <a:prstGeom prst="rect">
            <a:avLst/>
          </a:prstGeom>
          <a:noFill/>
          <a:ln/>
        </p:spPr>
        <p:txBody>
          <a:bodyPr wrap="square" lIns="0" tIns="0" rIns="0" bIns="0" rtlCol="0" anchor="ctr"/>
          <a:lstStyle/>
          <a:p>
            <a:pPr marL="0" indent="0">
              <a:lnSpc>
                <a:spcPts val="1800"/>
              </a:lnSpc>
              <a:buNone/>
            </a:pPr>
            <a:r>
              <a:rPr lang="en-US" sz="1250" dirty="0">
                <a:solidFill>
                  <a:srgbClr val="3C5169"/>
                </a:solidFill>
                <a:latin typeface="Calibri" pitchFamily="34" charset="0"/>
                <a:ea typeface="Calibri" pitchFamily="34" charset="-122"/>
                <a:cs typeface="Calibri" pitchFamily="34" charset="-120"/>
              </a:rPr>
              <a:t>We already know, from physics, when each modality should matter. On a clear day the temporal trend is nearly sufficient. Under broken cloud the spatial field dominates. So supply that physical state — clear-sky index, cloud cover, and optical-flow cloud motion — to a small gating network, and let it produce a single scalar α that blends the two branches, instead of forcing the fusion layer to infer the regime implicitly.</a:t>
            </a:r>
            <a:endParaRPr lang="en-US" sz="1250" dirty="0"/>
          </a:p>
        </p:txBody>
      </p:sp>
      <p:sp>
        <p:nvSpPr>
          <p:cNvPr id="10" name="Text 8"/>
          <p:cNvSpPr/>
          <p:nvPr/>
        </p:nvSpPr>
        <p:spPr>
          <a:xfrm>
            <a:off x="6446520" y="1481328"/>
            <a:ext cx="5120640" cy="310896"/>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Intended behaviour of the gate</a:t>
            </a:r>
            <a:endParaRPr lang="en-US" sz="1350" dirty="0"/>
          </a:p>
        </p:txBody>
      </p:sp>
      <p:sp>
        <p:nvSpPr>
          <p:cNvPr id="11" name="Shape 9"/>
          <p:cNvSpPr/>
          <p:nvPr/>
        </p:nvSpPr>
        <p:spPr>
          <a:xfrm>
            <a:off x="6446520" y="1920240"/>
            <a:ext cx="2331720" cy="786384"/>
          </a:xfrm>
          <a:prstGeom prst="roundRect">
            <a:avLst>
              <a:gd name="adj" fmla="val 5814"/>
            </a:avLst>
          </a:prstGeom>
          <a:solidFill>
            <a:srgbClr val="1C7293"/>
          </a:solidFill>
          <a:ln w="10160">
            <a:solidFill>
              <a:srgbClr val="1C7293"/>
            </a:solidFill>
            <a:prstDash val="solid"/>
          </a:ln>
        </p:spPr>
        <p:txBody>
          <a:bodyPr/>
          <a:lstStyle/>
          <a:p>
            <a:endParaRPr lang="en-AE"/>
          </a:p>
        </p:txBody>
      </p:sp>
      <p:sp>
        <p:nvSpPr>
          <p:cNvPr id="12" name="Text 10"/>
          <p:cNvSpPr/>
          <p:nvPr/>
        </p:nvSpPr>
        <p:spPr>
          <a:xfrm>
            <a:off x="6483096" y="1975104"/>
            <a:ext cx="2258568" cy="256032"/>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Temporal branch H_t</a:t>
            </a:r>
            <a:endParaRPr lang="en-US" sz="1150" dirty="0"/>
          </a:p>
        </p:txBody>
      </p:sp>
      <p:sp>
        <p:nvSpPr>
          <p:cNvPr id="13" name="Text 11"/>
          <p:cNvSpPr/>
          <p:nvPr/>
        </p:nvSpPr>
        <p:spPr>
          <a:xfrm>
            <a:off x="6483096" y="2194560"/>
            <a:ext cx="2258568" cy="475488"/>
          </a:xfrm>
          <a:prstGeom prst="rect">
            <a:avLst/>
          </a:prstGeom>
          <a:noFill/>
          <a:ln/>
        </p:spPr>
        <p:txBody>
          <a:bodyPr wrap="square" lIns="0" tIns="0" rIns="0" bIns="0" rtlCol="0" anchor="t"/>
          <a:lstStyle/>
          <a:p>
            <a:pPr marL="0" indent="0" algn="ctr">
              <a:buNone/>
            </a:pPr>
            <a:r>
              <a:rPr lang="en-US" sz="950" dirty="0">
                <a:solidFill>
                  <a:srgbClr val="D8E2EC"/>
                </a:solidFill>
                <a:latin typeface="Calibri" pitchFamily="34" charset="0"/>
                <a:ea typeface="Calibri" pitchFamily="34" charset="-122"/>
                <a:cs typeface="Calibri" pitchFamily="34" charset="-120"/>
              </a:rPr>
              <a:t>BiLSTM over 24 steps</a:t>
            </a:r>
            <a:endParaRPr lang="en-US" sz="950" dirty="0"/>
          </a:p>
        </p:txBody>
      </p:sp>
      <p:sp>
        <p:nvSpPr>
          <p:cNvPr id="14" name="Shape 12"/>
          <p:cNvSpPr/>
          <p:nvPr/>
        </p:nvSpPr>
        <p:spPr>
          <a:xfrm>
            <a:off x="9235440" y="1920240"/>
            <a:ext cx="2331720" cy="786384"/>
          </a:xfrm>
          <a:prstGeom prst="roundRect">
            <a:avLst>
              <a:gd name="adj" fmla="val 5814"/>
            </a:avLst>
          </a:prstGeom>
          <a:solidFill>
            <a:srgbClr val="0B2545"/>
          </a:solidFill>
          <a:ln w="10160">
            <a:solidFill>
              <a:srgbClr val="0B2545"/>
            </a:solidFill>
            <a:prstDash val="solid"/>
          </a:ln>
        </p:spPr>
        <p:txBody>
          <a:bodyPr/>
          <a:lstStyle/>
          <a:p>
            <a:endParaRPr lang="en-AE"/>
          </a:p>
        </p:txBody>
      </p:sp>
      <p:sp>
        <p:nvSpPr>
          <p:cNvPr id="15" name="Text 13"/>
          <p:cNvSpPr/>
          <p:nvPr/>
        </p:nvSpPr>
        <p:spPr>
          <a:xfrm>
            <a:off x="9272016" y="1975104"/>
            <a:ext cx="2258568" cy="256032"/>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Image branch H_a</a:t>
            </a:r>
            <a:endParaRPr lang="en-US" sz="1150" dirty="0"/>
          </a:p>
        </p:txBody>
      </p:sp>
      <p:sp>
        <p:nvSpPr>
          <p:cNvPr id="16" name="Text 14"/>
          <p:cNvSpPr/>
          <p:nvPr/>
        </p:nvSpPr>
        <p:spPr>
          <a:xfrm>
            <a:off x="9272016" y="2194560"/>
            <a:ext cx="2258568" cy="475488"/>
          </a:xfrm>
          <a:prstGeom prst="rect">
            <a:avLst/>
          </a:prstGeom>
          <a:noFill/>
          <a:ln/>
        </p:spPr>
        <p:txBody>
          <a:bodyPr wrap="square" lIns="0" tIns="0" rIns="0" bIns="0" rtlCol="0" anchor="t"/>
          <a:lstStyle/>
          <a:p>
            <a:pPr marL="0" indent="0" algn="ctr">
              <a:buNone/>
            </a:pPr>
            <a:r>
              <a:rPr lang="en-US" sz="950" dirty="0">
                <a:solidFill>
                  <a:srgbClr val="D8E2EC"/>
                </a:solidFill>
                <a:latin typeface="Calibri" pitchFamily="34" charset="0"/>
                <a:ea typeface="Calibri" pitchFamily="34" charset="-122"/>
                <a:cs typeface="Calibri" pitchFamily="34" charset="-120"/>
              </a:rPr>
              <a:t>cross-attention over 196 patches</a:t>
            </a:r>
            <a:endParaRPr lang="en-US" sz="950" dirty="0"/>
          </a:p>
        </p:txBody>
      </p:sp>
      <p:sp>
        <p:nvSpPr>
          <p:cNvPr id="17" name="Shape 15"/>
          <p:cNvSpPr/>
          <p:nvPr/>
        </p:nvSpPr>
        <p:spPr>
          <a:xfrm>
            <a:off x="7680960" y="3063240"/>
            <a:ext cx="2651760" cy="566928"/>
          </a:xfrm>
          <a:prstGeom prst="roundRect">
            <a:avLst>
              <a:gd name="adj" fmla="val 8065"/>
            </a:avLst>
          </a:prstGeom>
          <a:solidFill>
            <a:srgbClr val="E8A33D"/>
          </a:solidFill>
          <a:ln/>
        </p:spPr>
        <p:txBody>
          <a:bodyPr/>
          <a:lstStyle/>
          <a:p>
            <a:endParaRPr lang="en-AE"/>
          </a:p>
        </p:txBody>
      </p:sp>
      <p:sp>
        <p:nvSpPr>
          <p:cNvPr id="18" name="Text 16"/>
          <p:cNvSpPr/>
          <p:nvPr/>
        </p:nvSpPr>
        <p:spPr>
          <a:xfrm>
            <a:off x="7680960" y="3063240"/>
            <a:ext cx="2651760" cy="56692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α  ←  gate( k_t , cloud , v_x , v_y )</a:t>
            </a:r>
            <a:endParaRPr lang="en-US" sz="1200" dirty="0"/>
          </a:p>
        </p:txBody>
      </p:sp>
      <p:sp>
        <p:nvSpPr>
          <p:cNvPr id="19" name="Shape 17"/>
          <p:cNvSpPr/>
          <p:nvPr/>
        </p:nvSpPr>
        <p:spPr>
          <a:xfrm>
            <a:off x="7607808" y="2706624"/>
            <a:ext cx="667512" cy="356616"/>
          </a:xfrm>
          <a:prstGeom prst="line">
            <a:avLst/>
          </a:prstGeom>
          <a:noFill/>
          <a:ln w="19050">
            <a:solidFill>
              <a:srgbClr val="1C7293"/>
            </a:solidFill>
            <a:prstDash val="solid"/>
            <a:tailEnd type="triangle"/>
          </a:ln>
        </p:spPr>
        <p:txBody>
          <a:bodyPr/>
          <a:lstStyle/>
          <a:p>
            <a:endParaRPr lang="en-AE"/>
          </a:p>
        </p:txBody>
      </p:sp>
      <p:sp>
        <p:nvSpPr>
          <p:cNvPr id="20" name="Shape 18"/>
          <p:cNvSpPr/>
          <p:nvPr/>
        </p:nvSpPr>
        <p:spPr>
          <a:xfrm flipH="1">
            <a:off x="9738360" y="2706624"/>
            <a:ext cx="658368" cy="356616"/>
          </a:xfrm>
          <a:prstGeom prst="line">
            <a:avLst/>
          </a:prstGeom>
          <a:noFill/>
          <a:ln w="19050">
            <a:solidFill>
              <a:srgbClr val="1C7293"/>
            </a:solidFill>
            <a:prstDash val="solid"/>
            <a:tailEnd type="triangle"/>
          </a:ln>
        </p:spPr>
        <p:txBody>
          <a:bodyPr/>
          <a:lstStyle/>
          <a:p>
            <a:endParaRPr lang="en-AE"/>
          </a:p>
        </p:txBody>
      </p:sp>
      <p:sp>
        <p:nvSpPr>
          <p:cNvPr id="21" name="Text 19"/>
          <p:cNvSpPr/>
          <p:nvPr/>
        </p:nvSpPr>
        <p:spPr>
          <a:xfrm>
            <a:off x="6446520" y="3803904"/>
            <a:ext cx="5120640" cy="365760"/>
          </a:xfrm>
          <a:prstGeom prst="rect">
            <a:avLst/>
          </a:prstGeom>
          <a:noFill/>
          <a:ln/>
        </p:spPr>
        <p:txBody>
          <a:bodyPr wrap="square" lIns="0" tIns="0" rIns="0" bIns="0" rtlCol="0" anchor="ctr"/>
          <a:lstStyle/>
          <a:p>
            <a:pPr marL="0" indent="0" algn="ctr">
              <a:buNone/>
            </a:pPr>
            <a:r>
              <a:rPr lang="en-US" sz="1500" b="1" dirty="0">
                <a:solidFill>
                  <a:srgbClr val="0B2545"/>
                </a:solidFill>
                <a:latin typeface="Cambria" pitchFamily="34" charset="0"/>
                <a:ea typeface="Cambria" pitchFamily="34" charset="-122"/>
                <a:cs typeface="Cambria" pitchFamily="34" charset="-120"/>
              </a:rPr>
              <a:t>fused  =  α · H_t  +  (1 − α) · H_a</a:t>
            </a:r>
            <a:endParaRPr lang="en-US" sz="1500" dirty="0"/>
          </a:p>
        </p:txBody>
      </p:sp>
      <p:sp>
        <p:nvSpPr>
          <p:cNvPr id="22" name="Shape 20"/>
          <p:cNvSpPr/>
          <p:nvPr/>
        </p:nvSpPr>
        <p:spPr>
          <a:xfrm>
            <a:off x="6446520" y="4315968"/>
            <a:ext cx="5120640" cy="1655064"/>
          </a:xfrm>
          <a:prstGeom prst="roundRect">
            <a:avLst>
              <a:gd name="adj" fmla="val 2762"/>
            </a:avLst>
          </a:prstGeom>
          <a:solidFill>
            <a:srgbClr val="EFF3F7"/>
          </a:solidFill>
          <a:ln w="7620">
            <a:solidFill>
              <a:srgbClr val="CFD9E2"/>
            </a:solidFill>
            <a:prstDash val="solid"/>
          </a:ln>
        </p:spPr>
        <p:txBody>
          <a:bodyPr/>
          <a:lstStyle/>
          <a:p>
            <a:endParaRPr lang="en-AE"/>
          </a:p>
        </p:txBody>
      </p:sp>
      <p:sp>
        <p:nvSpPr>
          <p:cNvPr id="23" name="Text 21"/>
          <p:cNvSpPr/>
          <p:nvPr/>
        </p:nvSpPr>
        <p:spPr>
          <a:xfrm>
            <a:off x="6702552" y="4480560"/>
            <a:ext cx="4617720" cy="1371600"/>
          </a:xfrm>
          <a:prstGeom prst="rect">
            <a:avLst/>
          </a:prstGeom>
          <a:noFill/>
          <a:ln/>
        </p:spPr>
        <p:txBody>
          <a:bodyPr wrap="square" lIns="0" tIns="0" rIns="0" bIns="0" rtlCol="0" anchor="ctr"/>
          <a:lstStyle/>
          <a:p>
            <a:pPr marL="0" indent="0">
              <a:lnSpc>
                <a:spcPts val="1700"/>
              </a:lnSpc>
              <a:buNone/>
            </a:pPr>
            <a:r>
              <a:rPr lang="en-US" sz="1200" b="1" dirty="0">
                <a:solidFill>
                  <a:srgbClr val="1C7293"/>
                </a:solidFill>
                <a:latin typeface="Calibri" pitchFamily="34" charset="0"/>
                <a:ea typeface="Calibri" pitchFamily="34" charset="-122"/>
                <a:cs typeface="Calibri" pitchFamily="34" charset="-120"/>
              </a:rPr>
              <a:t>α → 1  </a:t>
            </a:r>
            <a:r>
              <a:rPr lang="en-US" sz="1200" dirty="0">
                <a:solidFill>
                  <a:srgbClr val="3C5169"/>
                </a:solidFill>
                <a:latin typeface="Calibri" pitchFamily="34" charset="0"/>
                <a:ea typeface="Calibri" pitchFamily="34" charset="-122"/>
                <a:cs typeface="Calibri" pitchFamily="34" charset="-120"/>
              </a:rPr>
              <a:t>clear sky: trust the temporal trend</a:t>
            </a:r>
            <a:endParaRPr lang="en-US" sz="1200" dirty="0"/>
          </a:p>
          <a:p>
            <a:pPr marL="0" indent="0">
              <a:lnSpc>
                <a:spcPts val="1700"/>
              </a:lnSpc>
              <a:buNone/>
            </a:pPr>
            <a:r>
              <a:rPr lang="en-US" sz="1200" b="1" dirty="0">
                <a:solidFill>
                  <a:srgbClr val="0B2545"/>
                </a:solidFill>
                <a:latin typeface="Calibri" pitchFamily="34" charset="0"/>
                <a:ea typeface="Calibri" pitchFamily="34" charset="-122"/>
                <a:cs typeface="Calibri" pitchFamily="34" charset="-120"/>
              </a:rPr>
              <a:t>α → 0  </a:t>
            </a:r>
            <a:endParaRPr lang="en-US" sz="1200" dirty="0"/>
          </a:p>
          <a:p>
            <a:pPr marL="0" indent="0">
              <a:lnSpc>
                <a:spcPts val="1700"/>
              </a:lnSpc>
              <a:buNone/>
            </a:pPr>
            <a:r>
              <a:rPr lang="en-US" sz="1200" dirty="0">
                <a:solidFill>
                  <a:srgbClr val="3C5169"/>
                </a:solidFill>
                <a:latin typeface="Calibri" pitchFamily="34" charset="0"/>
                <a:ea typeface="Calibri" pitchFamily="34" charset="-122"/>
                <a:cs typeface="Calibri" pitchFamily="34" charset="-120"/>
              </a:rPr>
              <a:t>broken cloud: trust the satellite field</a:t>
            </a:r>
            <a:endParaRPr lang="en-US" sz="1200" dirty="0"/>
          </a:p>
          <a:p>
            <a:pPr marL="0" indent="0">
              <a:lnSpc>
                <a:spcPts val="1700"/>
              </a:lnSpc>
              <a:buNone/>
            </a:pPr>
            <a:endParaRPr lang="en-US" sz="1200" dirty="0"/>
          </a:p>
          <a:p>
            <a:pPr marL="0" indent="0">
              <a:lnSpc>
                <a:spcPts val="1700"/>
              </a:lnSpc>
              <a:buNone/>
            </a:pPr>
            <a:r>
              <a:rPr lang="en-US" sz="1200" b="1" dirty="0">
                <a:solidFill>
                  <a:srgbClr val="B03A2E"/>
                </a:solidFill>
                <a:latin typeface="Calibri" pitchFamily="34" charset="0"/>
                <a:ea typeface="Calibri" pitchFamily="34" charset="-122"/>
                <a:cs typeface="Calibri" pitchFamily="34" charset="-120"/>
              </a:rPr>
              <a:t>What actually happened: </a:t>
            </a:r>
            <a:endParaRPr lang="en-US" sz="1200" dirty="0"/>
          </a:p>
          <a:p>
            <a:pPr marL="0" indent="0">
              <a:lnSpc>
                <a:spcPts val="1700"/>
              </a:lnSpc>
              <a:buNone/>
            </a:pPr>
            <a:r>
              <a:rPr lang="en-US" sz="1200" dirty="0">
                <a:solidFill>
                  <a:srgbClr val="3C5169"/>
                </a:solidFill>
                <a:latin typeface="Calibri" pitchFamily="34" charset="0"/>
                <a:ea typeface="Calibri" pitchFamily="34" charset="-122"/>
                <a:cs typeface="Calibri" pitchFamily="34" charset="-120"/>
              </a:rPr>
              <a:t>α stayed in [0.425, 0.477] for every one of the 1,120 test samples. The gate never switched. Evidence and diagnosis on slide 28.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SYSTEM ARCHITECTURE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End-to-end system: from three public APIs to a verified forecast</a:t>
            </a:r>
            <a:endParaRPr lang="en-US" sz="3000" dirty="0"/>
          </a:p>
        </p:txBody>
      </p:sp>
      <p:sp>
        <p:nvSpPr>
          <p:cNvPr id="4" name="Text 2"/>
          <p:cNvSpPr/>
          <p:nvPr/>
        </p:nvSpPr>
        <p:spPr>
          <a:xfrm>
            <a:off x="566928" y="1225296"/>
            <a:ext cx="2743200" cy="219456"/>
          </a:xfrm>
          <a:prstGeom prst="rect">
            <a:avLst/>
          </a:prstGeom>
          <a:noFill/>
          <a:ln/>
        </p:spPr>
        <p:txBody>
          <a:bodyPr wrap="square" lIns="0" tIns="0" rIns="0" bIns="0" rtlCol="0" anchor="ctr"/>
          <a:lstStyle/>
          <a:p>
            <a:pPr marL="0" indent="0">
              <a:buNone/>
            </a:pPr>
            <a:r>
              <a:rPr lang="en-US" sz="950" b="1" kern="0" spc="160" dirty="0">
                <a:solidFill>
                  <a:srgbClr val="6E7F8F"/>
                </a:solidFill>
                <a:latin typeface="Calibri" pitchFamily="34" charset="0"/>
                <a:ea typeface="Calibri" pitchFamily="34" charset="-122"/>
                <a:cs typeface="Calibri" pitchFamily="34" charset="-120"/>
              </a:rPr>
              <a:t>ACQUISITION</a:t>
            </a:r>
            <a:endParaRPr lang="en-US" sz="950" dirty="0"/>
          </a:p>
        </p:txBody>
      </p:sp>
      <p:sp>
        <p:nvSpPr>
          <p:cNvPr id="5" name="Shape 3"/>
          <p:cNvSpPr/>
          <p:nvPr/>
        </p:nvSpPr>
        <p:spPr>
          <a:xfrm>
            <a:off x="566928" y="1481328"/>
            <a:ext cx="2651760" cy="676656"/>
          </a:xfrm>
          <a:prstGeom prst="roundRect">
            <a:avLst>
              <a:gd name="adj" fmla="val 6757"/>
            </a:avLst>
          </a:prstGeom>
          <a:solidFill>
            <a:srgbClr val="EFF3F7"/>
          </a:solidFill>
          <a:ln w="10160">
            <a:solidFill>
              <a:srgbClr val="CFD9E2"/>
            </a:solidFill>
            <a:prstDash val="solid"/>
          </a:ln>
        </p:spPr>
        <p:txBody>
          <a:bodyPr/>
          <a:lstStyle/>
          <a:p>
            <a:endParaRPr lang="en-AE"/>
          </a:p>
        </p:txBody>
      </p:sp>
      <p:sp>
        <p:nvSpPr>
          <p:cNvPr id="6" name="Text 4"/>
          <p:cNvSpPr/>
          <p:nvPr/>
        </p:nvSpPr>
        <p:spPr>
          <a:xfrm>
            <a:off x="603504" y="1536192"/>
            <a:ext cx="2578608" cy="256032"/>
          </a:xfrm>
          <a:prstGeom prst="rect">
            <a:avLst/>
          </a:prstGeom>
          <a:noFill/>
          <a:ln/>
        </p:spPr>
        <p:txBody>
          <a:bodyPr wrap="square" lIns="0" tIns="0" rIns="0" bIns="0" rtlCol="0" anchor="t"/>
          <a:lstStyle/>
          <a:p>
            <a:pPr marL="0" indent="0" algn="ctr">
              <a:buNone/>
            </a:pPr>
            <a:r>
              <a:rPr lang="en-US" sz="1150" b="1" dirty="0">
                <a:solidFill>
                  <a:srgbClr val="0B2545"/>
                </a:solidFill>
                <a:latin typeface="Calibri" pitchFamily="34" charset="0"/>
                <a:ea typeface="Calibri" pitchFamily="34" charset="-122"/>
                <a:cs typeface="Calibri" pitchFamily="34" charset="-120"/>
              </a:rPr>
              <a:t>Open-Meteo ERA5</a:t>
            </a:r>
            <a:endParaRPr lang="en-US" sz="1150" dirty="0"/>
          </a:p>
        </p:txBody>
      </p:sp>
      <p:sp>
        <p:nvSpPr>
          <p:cNvPr id="7" name="Text 5"/>
          <p:cNvSpPr/>
          <p:nvPr/>
        </p:nvSpPr>
        <p:spPr>
          <a:xfrm>
            <a:off x="603504" y="1755648"/>
            <a:ext cx="2578608" cy="365760"/>
          </a:xfrm>
          <a:prstGeom prst="rect">
            <a:avLst/>
          </a:prstGeom>
          <a:noFill/>
          <a:ln/>
        </p:spPr>
        <p:txBody>
          <a:bodyPr wrap="square" lIns="0" tIns="0" rIns="0" bIns="0" rtlCol="0" anchor="t"/>
          <a:lstStyle/>
          <a:p>
            <a:pPr marL="0" indent="0" algn="ctr">
              <a:buNone/>
            </a:pPr>
            <a:r>
              <a:rPr lang="en-US" sz="950" dirty="0">
                <a:solidFill>
                  <a:srgbClr val="6E7F8F"/>
                </a:solidFill>
                <a:latin typeface="Calibri" pitchFamily="34" charset="0"/>
                <a:ea typeface="Calibri" pitchFamily="34" charset="-122"/>
                <a:cs typeface="Calibri" pitchFamily="34" charset="-120"/>
              </a:rPr>
              <a:t>hourly weather + GHI</a:t>
            </a:r>
            <a:endParaRPr lang="en-US" sz="950" dirty="0"/>
          </a:p>
        </p:txBody>
      </p:sp>
      <p:sp>
        <p:nvSpPr>
          <p:cNvPr id="8" name="Shape 6"/>
          <p:cNvSpPr/>
          <p:nvPr/>
        </p:nvSpPr>
        <p:spPr>
          <a:xfrm>
            <a:off x="3364992" y="1481328"/>
            <a:ext cx="2651760" cy="676656"/>
          </a:xfrm>
          <a:prstGeom prst="roundRect">
            <a:avLst>
              <a:gd name="adj" fmla="val 6757"/>
            </a:avLst>
          </a:prstGeom>
          <a:solidFill>
            <a:srgbClr val="EFF3F7"/>
          </a:solidFill>
          <a:ln w="10160">
            <a:solidFill>
              <a:srgbClr val="CFD9E2"/>
            </a:solidFill>
            <a:prstDash val="solid"/>
          </a:ln>
        </p:spPr>
        <p:txBody>
          <a:bodyPr/>
          <a:lstStyle/>
          <a:p>
            <a:endParaRPr lang="en-AE"/>
          </a:p>
        </p:txBody>
      </p:sp>
      <p:sp>
        <p:nvSpPr>
          <p:cNvPr id="9" name="Text 7"/>
          <p:cNvSpPr/>
          <p:nvPr/>
        </p:nvSpPr>
        <p:spPr>
          <a:xfrm>
            <a:off x="3401568" y="1536192"/>
            <a:ext cx="2578608" cy="256032"/>
          </a:xfrm>
          <a:prstGeom prst="rect">
            <a:avLst/>
          </a:prstGeom>
          <a:noFill/>
          <a:ln/>
        </p:spPr>
        <p:txBody>
          <a:bodyPr wrap="square" lIns="0" tIns="0" rIns="0" bIns="0" rtlCol="0" anchor="t"/>
          <a:lstStyle/>
          <a:p>
            <a:pPr marL="0" indent="0" algn="ctr">
              <a:buNone/>
            </a:pPr>
            <a:r>
              <a:rPr lang="en-US" sz="1150" b="1" dirty="0">
                <a:solidFill>
                  <a:srgbClr val="0B2545"/>
                </a:solidFill>
                <a:latin typeface="Calibri" pitchFamily="34" charset="0"/>
                <a:ea typeface="Calibri" pitchFamily="34" charset="-122"/>
                <a:cs typeface="Calibri" pitchFamily="34" charset="-120"/>
              </a:rPr>
              <a:t>NICT Himawari 8/9</a:t>
            </a:r>
            <a:endParaRPr lang="en-US" sz="1150" dirty="0"/>
          </a:p>
        </p:txBody>
      </p:sp>
      <p:sp>
        <p:nvSpPr>
          <p:cNvPr id="10" name="Text 8"/>
          <p:cNvSpPr/>
          <p:nvPr/>
        </p:nvSpPr>
        <p:spPr>
          <a:xfrm>
            <a:off x="3401568" y="1755648"/>
            <a:ext cx="2578608" cy="365760"/>
          </a:xfrm>
          <a:prstGeom prst="rect">
            <a:avLst/>
          </a:prstGeom>
          <a:noFill/>
          <a:ln/>
        </p:spPr>
        <p:txBody>
          <a:bodyPr wrap="square" lIns="0" tIns="0" rIns="0" bIns="0" rtlCol="0" anchor="t"/>
          <a:lstStyle/>
          <a:p>
            <a:pPr marL="0" indent="0" algn="ctr">
              <a:buNone/>
            </a:pPr>
            <a:r>
              <a:rPr lang="en-US" sz="950" dirty="0">
                <a:solidFill>
                  <a:srgbClr val="6E7F8F"/>
                </a:solidFill>
                <a:latin typeface="Calibri" pitchFamily="34" charset="0"/>
                <a:ea typeface="Calibri" pitchFamily="34" charset="-122"/>
                <a:cs typeface="Calibri" pitchFamily="34" charset="-120"/>
              </a:rPr>
              <a:t>4d tile 1_1, hourly PNG</a:t>
            </a:r>
            <a:endParaRPr lang="en-US" sz="950" dirty="0"/>
          </a:p>
        </p:txBody>
      </p:sp>
      <p:sp>
        <p:nvSpPr>
          <p:cNvPr id="11" name="Shape 9"/>
          <p:cNvSpPr/>
          <p:nvPr/>
        </p:nvSpPr>
        <p:spPr>
          <a:xfrm>
            <a:off x="6163056" y="1481328"/>
            <a:ext cx="2651760" cy="676656"/>
          </a:xfrm>
          <a:prstGeom prst="roundRect">
            <a:avLst>
              <a:gd name="adj" fmla="val 6757"/>
            </a:avLst>
          </a:prstGeom>
          <a:solidFill>
            <a:srgbClr val="EFF3F7"/>
          </a:solidFill>
          <a:ln w="10160">
            <a:solidFill>
              <a:srgbClr val="CFD9E2"/>
            </a:solidFill>
            <a:prstDash val="solid"/>
          </a:ln>
        </p:spPr>
        <p:txBody>
          <a:bodyPr/>
          <a:lstStyle/>
          <a:p>
            <a:endParaRPr lang="en-AE"/>
          </a:p>
        </p:txBody>
      </p:sp>
      <p:sp>
        <p:nvSpPr>
          <p:cNvPr id="12" name="Text 10"/>
          <p:cNvSpPr/>
          <p:nvPr/>
        </p:nvSpPr>
        <p:spPr>
          <a:xfrm>
            <a:off x="6199632" y="1536192"/>
            <a:ext cx="2578608" cy="256032"/>
          </a:xfrm>
          <a:prstGeom prst="rect">
            <a:avLst/>
          </a:prstGeom>
          <a:noFill/>
          <a:ln/>
        </p:spPr>
        <p:txBody>
          <a:bodyPr wrap="square" lIns="0" tIns="0" rIns="0" bIns="0" rtlCol="0" anchor="t"/>
          <a:lstStyle/>
          <a:p>
            <a:pPr marL="0" indent="0" algn="ctr">
              <a:buNone/>
            </a:pPr>
            <a:r>
              <a:rPr lang="en-US" sz="1150" b="1" dirty="0">
                <a:solidFill>
                  <a:srgbClr val="0B2545"/>
                </a:solidFill>
                <a:latin typeface="Calibri" pitchFamily="34" charset="0"/>
                <a:ea typeface="Calibri" pitchFamily="34" charset="-122"/>
                <a:cs typeface="Calibri" pitchFamily="34" charset="-120"/>
              </a:rPr>
              <a:t>pvlib Ineichen</a:t>
            </a:r>
            <a:endParaRPr lang="en-US" sz="1150" dirty="0"/>
          </a:p>
        </p:txBody>
      </p:sp>
      <p:sp>
        <p:nvSpPr>
          <p:cNvPr id="13" name="Text 11"/>
          <p:cNvSpPr/>
          <p:nvPr/>
        </p:nvSpPr>
        <p:spPr>
          <a:xfrm>
            <a:off x="6199632" y="1755648"/>
            <a:ext cx="2578608" cy="365760"/>
          </a:xfrm>
          <a:prstGeom prst="rect">
            <a:avLst/>
          </a:prstGeom>
          <a:noFill/>
          <a:ln/>
        </p:spPr>
        <p:txBody>
          <a:bodyPr wrap="square" lIns="0" tIns="0" rIns="0" bIns="0" rtlCol="0" anchor="t"/>
          <a:lstStyle/>
          <a:p>
            <a:pPr marL="0" indent="0" algn="ctr">
              <a:buNone/>
            </a:pPr>
            <a:r>
              <a:rPr lang="en-US" sz="950" dirty="0">
                <a:solidFill>
                  <a:srgbClr val="6E7F8F"/>
                </a:solidFill>
                <a:latin typeface="Calibri" pitchFamily="34" charset="0"/>
                <a:ea typeface="Calibri" pitchFamily="34" charset="-122"/>
                <a:cs typeface="Calibri" pitchFamily="34" charset="-120"/>
              </a:rPr>
              <a:t>clear-sky GHI</a:t>
            </a:r>
            <a:endParaRPr lang="en-US" sz="950" dirty="0"/>
          </a:p>
        </p:txBody>
      </p:sp>
      <p:sp>
        <p:nvSpPr>
          <p:cNvPr id="14" name="Shape 12"/>
          <p:cNvSpPr/>
          <p:nvPr/>
        </p:nvSpPr>
        <p:spPr>
          <a:xfrm>
            <a:off x="8961120" y="1481328"/>
            <a:ext cx="2651760" cy="676656"/>
          </a:xfrm>
          <a:prstGeom prst="roundRect">
            <a:avLst>
              <a:gd name="adj" fmla="val 6757"/>
            </a:avLst>
          </a:prstGeom>
          <a:solidFill>
            <a:srgbClr val="EFF3F7"/>
          </a:solidFill>
          <a:ln w="10160">
            <a:solidFill>
              <a:srgbClr val="CFD9E2"/>
            </a:solidFill>
            <a:prstDash val="solid"/>
          </a:ln>
        </p:spPr>
        <p:txBody>
          <a:bodyPr/>
          <a:lstStyle/>
          <a:p>
            <a:endParaRPr lang="en-AE"/>
          </a:p>
        </p:txBody>
      </p:sp>
      <p:sp>
        <p:nvSpPr>
          <p:cNvPr id="15" name="Text 13"/>
          <p:cNvSpPr/>
          <p:nvPr/>
        </p:nvSpPr>
        <p:spPr>
          <a:xfrm>
            <a:off x="8997696" y="1536192"/>
            <a:ext cx="2578608" cy="256032"/>
          </a:xfrm>
          <a:prstGeom prst="rect">
            <a:avLst/>
          </a:prstGeom>
          <a:noFill/>
          <a:ln/>
        </p:spPr>
        <p:txBody>
          <a:bodyPr wrap="square" lIns="0" tIns="0" rIns="0" bIns="0" rtlCol="0" anchor="t"/>
          <a:lstStyle/>
          <a:p>
            <a:pPr marL="0" indent="0" algn="ctr">
              <a:buNone/>
            </a:pPr>
            <a:r>
              <a:rPr lang="en-US" sz="1150" b="1" dirty="0">
                <a:solidFill>
                  <a:srgbClr val="0B2545"/>
                </a:solidFill>
                <a:latin typeface="Calibri" pitchFamily="34" charset="0"/>
                <a:ea typeface="Calibri" pitchFamily="34" charset="-122"/>
                <a:cs typeface="Calibri" pitchFamily="34" charset="-120"/>
              </a:rPr>
              <a:t>PVGIS / SwimSeg</a:t>
            </a:r>
            <a:endParaRPr lang="en-US" sz="1150" dirty="0"/>
          </a:p>
        </p:txBody>
      </p:sp>
      <p:sp>
        <p:nvSpPr>
          <p:cNvPr id="16" name="Text 14"/>
          <p:cNvSpPr/>
          <p:nvPr/>
        </p:nvSpPr>
        <p:spPr>
          <a:xfrm>
            <a:off x="8997696" y="1755648"/>
            <a:ext cx="2578608" cy="365760"/>
          </a:xfrm>
          <a:prstGeom prst="rect">
            <a:avLst/>
          </a:prstGeom>
          <a:noFill/>
          <a:ln/>
        </p:spPr>
        <p:txBody>
          <a:bodyPr wrap="square" lIns="0" tIns="0" rIns="0" bIns="0" rtlCol="0" anchor="t"/>
          <a:lstStyle/>
          <a:p>
            <a:pPr marL="0" indent="0" algn="ctr">
              <a:buNone/>
            </a:pPr>
            <a:r>
              <a:rPr lang="en-US" sz="950" dirty="0">
                <a:solidFill>
                  <a:srgbClr val="6E7F8F"/>
                </a:solidFill>
                <a:latin typeface="Calibri" pitchFamily="34" charset="0"/>
                <a:ea typeface="Calibri" pitchFamily="34" charset="-122"/>
                <a:cs typeface="Calibri" pitchFamily="34" charset="-120"/>
              </a:rPr>
              <a:t>auxiliary datasets</a:t>
            </a:r>
            <a:endParaRPr lang="en-US" sz="950" dirty="0"/>
          </a:p>
        </p:txBody>
      </p:sp>
      <p:sp>
        <p:nvSpPr>
          <p:cNvPr id="17" name="Text 15"/>
          <p:cNvSpPr/>
          <p:nvPr/>
        </p:nvSpPr>
        <p:spPr>
          <a:xfrm>
            <a:off x="566928" y="2231136"/>
            <a:ext cx="3657600" cy="219456"/>
          </a:xfrm>
          <a:prstGeom prst="rect">
            <a:avLst/>
          </a:prstGeom>
          <a:noFill/>
          <a:ln/>
        </p:spPr>
        <p:txBody>
          <a:bodyPr wrap="square" lIns="0" tIns="0" rIns="0" bIns="0" rtlCol="0" anchor="ctr"/>
          <a:lstStyle/>
          <a:p>
            <a:pPr marL="0" indent="0">
              <a:buNone/>
            </a:pPr>
            <a:r>
              <a:rPr lang="en-US" sz="950" b="1" kern="0" spc="160" dirty="0">
                <a:solidFill>
                  <a:srgbClr val="6E7F8F"/>
                </a:solidFill>
                <a:latin typeface="Calibri" pitchFamily="34" charset="0"/>
                <a:ea typeface="Calibri" pitchFamily="34" charset="-122"/>
                <a:cs typeface="Calibri" pitchFamily="34" charset="-120"/>
              </a:rPr>
              <a:t>DATASET CONSTRUCTION</a:t>
            </a:r>
            <a:endParaRPr lang="en-US" sz="950" dirty="0"/>
          </a:p>
        </p:txBody>
      </p:sp>
      <p:sp>
        <p:nvSpPr>
          <p:cNvPr id="18" name="Shape 16"/>
          <p:cNvSpPr/>
          <p:nvPr/>
        </p:nvSpPr>
        <p:spPr>
          <a:xfrm>
            <a:off x="566928" y="2487168"/>
            <a:ext cx="5358384" cy="676656"/>
          </a:xfrm>
          <a:prstGeom prst="roundRect">
            <a:avLst>
              <a:gd name="adj" fmla="val 6757"/>
            </a:avLst>
          </a:prstGeom>
          <a:solidFill>
            <a:srgbClr val="1C7293"/>
          </a:solidFill>
          <a:ln w="10160">
            <a:solidFill>
              <a:srgbClr val="1C7293"/>
            </a:solidFill>
            <a:prstDash val="solid"/>
          </a:ln>
        </p:spPr>
        <p:txBody>
          <a:bodyPr/>
          <a:lstStyle/>
          <a:p>
            <a:endParaRPr lang="en-AE"/>
          </a:p>
        </p:txBody>
      </p:sp>
      <p:sp>
        <p:nvSpPr>
          <p:cNvPr id="19" name="Text 17"/>
          <p:cNvSpPr/>
          <p:nvPr/>
        </p:nvSpPr>
        <p:spPr>
          <a:xfrm>
            <a:off x="603504" y="2542032"/>
            <a:ext cx="5285232" cy="256032"/>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combined_dataset.py</a:t>
            </a:r>
            <a:endParaRPr lang="en-US" sz="1150" dirty="0"/>
          </a:p>
        </p:txBody>
      </p:sp>
      <p:sp>
        <p:nvSpPr>
          <p:cNvPr id="20" name="Text 18"/>
          <p:cNvSpPr/>
          <p:nvPr/>
        </p:nvSpPr>
        <p:spPr>
          <a:xfrm>
            <a:off x="603504" y="2761488"/>
            <a:ext cx="5285232" cy="365760"/>
          </a:xfrm>
          <a:prstGeom prst="rect">
            <a:avLst/>
          </a:prstGeom>
          <a:noFill/>
          <a:ln/>
        </p:spPr>
        <p:txBody>
          <a:bodyPr wrap="square" lIns="0" tIns="0" rIns="0" bIns="0" rtlCol="0" anchor="t"/>
          <a:lstStyle/>
          <a:p>
            <a:pPr marL="0" indent="0" algn="ctr">
              <a:buNone/>
            </a:pPr>
            <a:r>
              <a:rPr lang="en-US" sz="950" dirty="0">
                <a:solidFill>
                  <a:srgbClr val="D8E2EC"/>
                </a:solidFill>
                <a:latin typeface="Calibri" pitchFamily="34" charset="0"/>
                <a:ea typeface="Calibri" pitchFamily="34" charset="-122"/>
                <a:cs typeface="Calibri" pitchFamily="34" charset="-120"/>
              </a:rPr>
              <a:t>hour-floor · daylight filter 08–17 SGT · nearest-image match ±60 min</a:t>
            </a:r>
            <a:endParaRPr lang="en-US" sz="950" dirty="0"/>
          </a:p>
        </p:txBody>
      </p:sp>
      <p:sp>
        <p:nvSpPr>
          <p:cNvPr id="21" name="Shape 19"/>
          <p:cNvSpPr/>
          <p:nvPr/>
        </p:nvSpPr>
        <p:spPr>
          <a:xfrm>
            <a:off x="6272784" y="2487168"/>
            <a:ext cx="5358384" cy="676656"/>
          </a:xfrm>
          <a:prstGeom prst="roundRect">
            <a:avLst>
              <a:gd name="adj" fmla="val 6757"/>
            </a:avLst>
          </a:prstGeom>
          <a:solidFill>
            <a:srgbClr val="1C7293"/>
          </a:solidFill>
          <a:ln w="10160">
            <a:solidFill>
              <a:srgbClr val="1C7293"/>
            </a:solidFill>
            <a:prstDash val="solid"/>
          </a:ln>
        </p:spPr>
        <p:txBody>
          <a:bodyPr/>
          <a:lstStyle/>
          <a:p>
            <a:endParaRPr lang="en-AE"/>
          </a:p>
        </p:txBody>
      </p:sp>
      <p:sp>
        <p:nvSpPr>
          <p:cNvPr id="22" name="Text 20"/>
          <p:cNvSpPr/>
          <p:nvPr/>
        </p:nvSpPr>
        <p:spPr>
          <a:xfrm>
            <a:off x="6309360" y="2542032"/>
            <a:ext cx="5285232" cy="256032"/>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notebook §3 — image cache</a:t>
            </a:r>
            <a:endParaRPr lang="en-US" sz="1150" dirty="0"/>
          </a:p>
        </p:txBody>
      </p:sp>
      <p:sp>
        <p:nvSpPr>
          <p:cNvPr id="23" name="Text 21"/>
          <p:cNvSpPr/>
          <p:nvPr/>
        </p:nvSpPr>
        <p:spPr>
          <a:xfrm>
            <a:off x="6309360" y="2761488"/>
            <a:ext cx="5285232" cy="365760"/>
          </a:xfrm>
          <a:prstGeom prst="rect">
            <a:avLst/>
          </a:prstGeom>
          <a:noFill/>
          <a:ln/>
        </p:spPr>
        <p:txBody>
          <a:bodyPr wrap="square" lIns="0" tIns="0" rIns="0" bIns="0" rtlCol="0" anchor="t"/>
          <a:lstStyle/>
          <a:p>
            <a:pPr marL="0" indent="0" algn="ctr">
              <a:buNone/>
            </a:pPr>
            <a:r>
              <a:rPr lang="en-US" sz="950" dirty="0">
                <a:solidFill>
                  <a:srgbClr val="D8E2EC"/>
                </a:solidFill>
                <a:latin typeface="Calibri" pitchFamily="34" charset="0"/>
                <a:ea typeface="Calibri" pitchFamily="34" charset="-122"/>
                <a:cs typeface="Calibri" pitchFamily="34" charset="-120"/>
              </a:rPr>
              <a:t>PNG → grayscale → 224×224 → .npy → RAM (7,625 frames) + Farnebäck optical flow</a:t>
            </a:r>
            <a:endParaRPr lang="en-US" sz="950" dirty="0"/>
          </a:p>
        </p:txBody>
      </p:sp>
      <p:sp>
        <p:nvSpPr>
          <p:cNvPr id="24" name="Text 22"/>
          <p:cNvSpPr/>
          <p:nvPr/>
        </p:nvSpPr>
        <p:spPr>
          <a:xfrm>
            <a:off x="566928" y="3236976"/>
            <a:ext cx="2743200" cy="219456"/>
          </a:xfrm>
          <a:prstGeom prst="rect">
            <a:avLst/>
          </a:prstGeom>
          <a:noFill/>
          <a:ln/>
        </p:spPr>
        <p:txBody>
          <a:bodyPr wrap="square" lIns="0" tIns="0" rIns="0" bIns="0" rtlCol="0" anchor="ctr"/>
          <a:lstStyle/>
          <a:p>
            <a:pPr marL="0" indent="0">
              <a:buNone/>
            </a:pPr>
            <a:r>
              <a:rPr lang="en-US" sz="950" b="1" kern="0" spc="160" dirty="0">
                <a:solidFill>
                  <a:srgbClr val="6E7F8F"/>
                </a:solidFill>
                <a:latin typeface="Calibri" pitchFamily="34" charset="0"/>
                <a:ea typeface="Calibri" pitchFamily="34" charset="-122"/>
                <a:cs typeface="Calibri" pitchFamily="34" charset="-120"/>
              </a:rPr>
              <a:t>MODELLING</a:t>
            </a:r>
            <a:endParaRPr lang="en-US" sz="950" dirty="0"/>
          </a:p>
        </p:txBody>
      </p:sp>
      <p:sp>
        <p:nvSpPr>
          <p:cNvPr id="25" name="Shape 23"/>
          <p:cNvSpPr/>
          <p:nvPr/>
        </p:nvSpPr>
        <p:spPr>
          <a:xfrm>
            <a:off x="566928" y="3493008"/>
            <a:ext cx="3529584" cy="676656"/>
          </a:xfrm>
          <a:prstGeom prst="roundRect">
            <a:avLst>
              <a:gd name="adj" fmla="val 6757"/>
            </a:avLst>
          </a:prstGeom>
          <a:solidFill>
            <a:srgbClr val="EFF3F7"/>
          </a:solidFill>
          <a:ln w="10160">
            <a:solidFill>
              <a:srgbClr val="CFD9E2"/>
            </a:solidFill>
            <a:prstDash val="solid"/>
          </a:ln>
        </p:spPr>
        <p:txBody>
          <a:bodyPr/>
          <a:lstStyle/>
          <a:p>
            <a:endParaRPr lang="en-AE"/>
          </a:p>
        </p:txBody>
      </p:sp>
      <p:sp>
        <p:nvSpPr>
          <p:cNvPr id="26" name="Text 24"/>
          <p:cNvSpPr/>
          <p:nvPr/>
        </p:nvSpPr>
        <p:spPr>
          <a:xfrm>
            <a:off x="603504" y="3547872"/>
            <a:ext cx="3456432" cy="256032"/>
          </a:xfrm>
          <a:prstGeom prst="rect">
            <a:avLst/>
          </a:prstGeom>
          <a:noFill/>
          <a:ln/>
        </p:spPr>
        <p:txBody>
          <a:bodyPr wrap="square" lIns="0" tIns="0" rIns="0" bIns="0" rtlCol="0" anchor="t"/>
          <a:lstStyle/>
          <a:p>
            <a:pPr marL="0" indent="0" algn="ctr">
              <a:buNone/>
            </a:pPr>
            <a:r>
              <a:rPr lang="en-US" sz="1150" b="1" dirty="0">
                <a:solidFill>
                  <a:srgbClr val="0B2545"/>
                </a:solidFill>
                <a:latin typeface="Calibri" pitchFamily="34" charset="0"/>
                <a:ea typeface="Calibri" pitchFamily="34" charset="-122"/>
                <a:cs typeface="Calibri" pitchFamily="34" charset="-120"/>
              </a:rPr>
              <a:t>Stage 1 — SwimSeg pretraining</a:t>
            </a:r>
            <a:endParaRPr lang="en-US" sz="1150" dirty="0"/>
          </a:p>
        </p:txBody>
      </p:sp>
      <p:sp>
        <p:nvSpPr>
          <p:cNvPr id="27" name="Text 25"/>
          <p:cNvSpPr/>
          <p:nvPr/>
        </p:nvSpPr>
        <p:spPr>
          <a:xfrm>
            <a:off x="603504" y="3767328"/>
            <a:ext cx="3456432" cy="365760"/>
          </a:xfrm>
          <a:prstGeom prst="rect">
            <a:avLst/>
          </a:prstGeom>
          <a:noFill/>
          <a:ln/>
        </p:spPr>
        <p:txBody>
          <a:bodyPr wrap="square" lIns="0" tIns="0" rIns="0" bIns="0" rtlCol="0" anchor="t"/>
          <a:lstStyle/>
          <a:p>
            <a:pPr marL="0" indent="0" algn="ctr">
              <a:buNone/>
            </a:pPr>
            <a:r>
              <a:rPr lang="en-US" sz="950" dirty="0">
                <a:solidFill>
                  <a:srgbClr val="6E7F8F"/>
                </a:solidFill>
                <a:latin typeface="Calibri" pitchFamily="34" charset="0"/>
                <a:ea typeface="Calibri" pitchFamily="34" charset="-122"/>
                <a:cs typeface="Calibri" pitchFamily="34" charset="-120"/>
              </a:rPr>
              <a:t>EfficientNet-B2 + FPN, Dice+BCE, 1,013 sky images</a:t>
            </a:r>
            <a:endParaRPr lang="en-US" sz="950" dirty="0"/>
          </a:p>
        </p:txBody>
      </p:sp>
      <p:sp>
        <p:nvSpPr>
          <p:cNvPr id="28" name="Shape 26"/>
          <p:cNvSpPr/>
          <p:nvPr/>
        </p:nvSpPr>
        <p:spPr>
          <a:xfrm>
            <a:off x="4334256" y="3493008"/>
            <a:ext cx="3529584" cy="676656"/>
          </a:xfrm>
          <a:prstGeom prst="roundRect">
            <a:avLst>
              <a:gd name="adj" fmla="val 6757"/>
            </a:avLst>
          </a:prstGeom>
          <a:solidFill>
            <a:srgbClr val="EFF3F7"/>
          </a:solidFill>
          <a:ln w="10160">
            <a:solidFill>
              <a:srgbClr val="CFD9E2"/>
            </a:solidFill>
            <a:prstDash val="solid"/>
          </a:ln>
        </p:spPr>
        <p:txBody>
          <a:bodyPr/>
          <a:lstStyle/>
          <a:p>
            <a:endParaRPr lang="en-AE"/>
          </a:p>
        </p:txBody>
      </p:sp>
      <p:sp>
        <p:nvSpPr>
          <p:cNvPr id="29" name="Text 27"/>
          <p:cNvSpPr/>
          <p:nvPr/>
        </p:nvSpPr>
        <p:spPr>
          <a:xfrm>
            <a:off x="4370832" y="3547872"/>
            <a:ext cx="3456432" cy="256032"/>
          </a:xfrm>
          <a:prstGeom prst="rect">
            <a:avLst/>
          </a:prstGeom>
          <a:noFill/>
          <a:ln/>
        </p:spPr>
        <p:txBody>
          <a:bodyPr wrap="square" lIns="0" tIns="0" rIns="0" bIns="0" rtlCol="0" anchor="t"/>
          <a:lstStyle/>
          <a:p>
            <a:pPr marL="0" indent="0" algn="ctr">
              <a:buNone/>
            </a:pPr>
            <a:r>
              <a:rPr lang="en-US" sz="1150" b="1" dirty="0">
                <a:solidFill>
                  <a:srgbClr val="0B2545"/>
                </a:solidFill>
                <a:latin typeface="Calibri" pitchFamily="34" charset="0"/>
                <a:ea typeface="Calibri" pitchFamily="34" charset="-122"/>
                <a:cs typeface="Calibri" pitchFamily="34" charset="-120"/>
              </a:rPr>
              <a:t>Stage 2 — fusion training</a:t>
            </a:r>
            <a:endParaRPr lang="en-US" sz="1150" dirty="0"/>
          </a:p>
        </p:txBody>
      </p:sp>
      <p:sp>
        <p:nvSpPr>
          <p:cNvPr id="30" name="Text 28"/>
          <p:cNvSpPr/>
          <p:nvPr/>
        </p:nvSpPr>
        <p:spPr>
          <a:xfrm>
            <a:off x="4370832" y="3767328"/>
            <a:ext cx="3456432" cy="365760"/>
          </a:xfrm>
          <a:prstGeom prst="rect">
            <a:avLst/>
          </a:prstGeom>
          <a:noFill/>
          <a:ln/>
        </p:spPr>
        <p:txBody>
          <a:bodyPr wrap="square" lIns="0" tIns="0" rIns="0" bIns="0" rtlCol="0" anchor="t"/>
          <a:lstStyle/>
          <a:p>
            <a:pPr marL="0" indent="0" algn="ctr">
              <a:buNone/>
            </a:pPr>
            <a:r>
              <a:rPr lang="en-US" sz="950" dirty="0">
                <a:solidFill>
                  <a:srgbClr val="6E7F8F"/>
                </a:solidFill>
                <a:latin typeface="Calibri" pitchFamily="34" charset="0"/>
                <a:ea typeface="Calibri" pitchFamily="34" charset="-122"/>
                <a:cs typeface="Calibri" pitchFamily="34" charset="-120"/>
              </a:rPr>
              <a:t>Gaussian NLL, AdamW 3e-5, CNN frozen → unfrozen @ ep 20</a:t>
            </a:r>
            <a:endParaRPr lang="en-US" sz="950" dirty="0"/>
          </a:p>
        </p:txBody>
      </p:sp>
      <p:sp>
        <p:nvSpPr>
          <p:cNvPr id="31" name="Shape 29"/>
          <p:cNvSpPr/>
          <p:nvPr/>
        </p:nvSpPr>
        <p:spPr>
          <a:xfrm>
            <a:off x="8101584" y="3493008"/>
            <a:ext cx="3529584" cy="676656"/>
          </a:xfrm>
          <a:prstGeom prst="roundRect">
            <a:avLst>
              <a:gd name="adj" fmla="val 6757"/>
            </a:avLst>
          </a:prstGeom>
          <a:solidFill>
            <a:srgbClr val="EFF3F7"/>
          </a:solidFill>
          <a:ln w="10160">
            <a:solidFill>
              <a:srgbClr val="CFD9E2"/>
            </a:solidFill>
            <a:prstDash val="solid"/>
          </a:ln>
        </p:spPr>
        <p:txBody>
          <a:bodyPr/>
          <a:lstStyle/>
          <a:p>
            <a:endParaRPr lang="en-AE"/>
          </a:p>
        </p:txBody>
      </p:sp>
      <p:sp>
        <p:nvSpPr>
          <p:cNvPr id="32" name="Text 30"/>
          <p:cNvSpPr/>
          <p:nvPr/>
        </p:nvSpPr>
        <p:spPr>
          <a:xfrm>
            <a:off x="8138160" y="3547872"/>
            <a:ext cx="3456432" cy="256032"/>
          </a:xfrm>
          <a:prstGeom prst="rect">
            <a:avLst/>
          </a:prstGeom>
          <a:noFill/>
          <a:ln/>
        </p:spPr>
        <p:txBody>
          <a:bodyPr wrap="square" lIns="0" tIns="0" rIns="0" bIns="0" rtlCol="0" anchor="t"/>
          <a:lstStyle/>
          <a:p>
            <a:pPr marL="0" indent="0" algn="ctr">
              <a:buNone/>
            </a:pPr>
            <a:r>
              <a:rPr lang="en-US" sz="1150" b="1" dirty="0">
                <a:solidFill>
                  <a:srgbClr val="0B2545"/>
                </a:solidFill>
                <a:latin typeface="Calibri" pitchFamily="34" charset="0"/>
                <a:ea typeface="Calibri" pitchFamily="34" charset="-122"/>
                <a:cs typeface="Calibri" pitchFamily="34" charset="-120"/>
              </a:rPr>
              <a:t>Stage 3 — evaluation</a:t>
            </a:r>
            <a:endParaRPr lang="en-US" sz="1150" dirty="0"/>
          </a:p>
        </p:txBody>
      </p:sp>
      <p:sp>
        <p:nvSpPr>
          <p:cNvPr id="33" name="Text 31"/>
          <p:cNvSpPr/>
          <p:nvPr/>
        </p:nvSpPr>
        <p:spPr>
          <a:xfrm>
            <a:off x="8138160" y="3767328"/>
            <a:ext cx="3456432" cy="365760"/>
          </a:xfrm>
          <a:prstGeom prst="rect">
            <a:avLst/>
          </a:prstGeom>
          <a:noFill/>
          <a:ln/>
        </p:spPr>
        <p:txBody>
          <a:bodyPr wrap="square" lIns="0" tIns="0" rIns="0" bIns="0" rtlCol="0" anchor="t"/>
          <a:lstStyle/>
          <a:p>
            <a:pPr marL="0" indent="0" algn="ctr">
              <a:buNone/>
            </a:pPr>
            <a:r>
              <a:rPr lang="en-US" sz="950" dirty="0">
                <a:solidFill>
                  <a:srgbClr val="6E7F8F"/>
                </a:solidFill>
                <a:latin typeface="Calibri" pitchFamily="34" charset="0"/>
                <a:ea typeface="Calibri" pitchFamily="34" charset="-122"/>
                <a:cs typeface="Calibri" pitchFamily="34" charset="-120"/>
              </a:rPr>
              <a:t>chronological hold-out + 3 ablations + 3 tabular baselines</a:t>
            </a:r>
            <a:endParaRPr lang="en-US" sz="950" dirty="0"/>
          </a:p>
        </p:txBody>
      </p:sp>
      <p:sp>
        <p:nvSpPr>
          <p:cNvPr id="34" name="Text 32"/>
          <p:cNvSpPr/>
          <p:nvPr/>
        </p:nvSpPr>
        <p:spPr>
          <a:xfrm>
            <a:off x="566928" y="4242816"/>
            <a:ext cx="2743200" cy="219456"/>
          </a:xfrm>
          <a:prstGeom prst="rect">
            <a:avLst/>
          </a:prstGeom>
          <a:noFill/>
          <a:ln/>
        </p:spPr>
        <p:txBody>
          <a:bodyPr wrap="square" lIns="0" tIns="0" rIns="0" bIns="0" rtlCol="0" anchor="ctr"/>
          <a:lstStyle/>
          <a:p>
            <a:pPr marL="0" indent="0">
              <a:buNone/>
            </a:pPr>
            <a:r>
              <a:rPr lang="en-US" sz="950" b="1" kern="0" spc="160" dirty="0">
                <a:solidFill>
                  <a:srgbClr val="6E7F8F"/>
                </a:solidFill>
                <a:latin typeface="Calibri" pitchFamily="34" charset="0"/>
                <a:ea typeface="Calibri" pitchFamily="34" charset="-122"/>
                <a:cs typeface="Calibri" pitchFamily="34" charset="-120"/>
              </a:rPr>
              <a:t>OPERATION</a:t>
            </a:r>
            <a:endParaRPr lang="en-US" sz="950" dirty="0"/>
          </a:p>
        </p:txBody>
      </p:sp>
      <p:sp>
        <p:nvSpPr>
          <p:cNvPr id="35" name="Shape 33"/>
          <p:cNvSpPr/>
          <p:nvPr/>
        </p:nvSpPr>
        <p:spPr>
          <a:xfrm>
            <a:off x="566928" y="4498848"/>
            <a:ext cx="2651760" cy="676656"/>
          </a:xfrm>
          <a:prstGeom prst="roundRect">
            <a:avLst>
              <a:gd name="adj" fmla="val 6757"/>
            </a:avLst>
          </a:prstGeom>
          <a:solidFill>
            <a:srgbClr val="EFF3F7"/>
          </a:solidFill>
          <a:ln w="10160">
            <a:solidFill>
              <a:srgbClr val="CFD9E2"/>
            </a:solidFill>
            <a:prstDash val="solid"/>
          </a:ln>
        </p:spPr>
        <p:txBody>
          <a:bodyPr/>
          <a:lstStyle/>
          <a:p>
            <a:endParaRPr lang="en-AE"/>
          </a:p>
        </p:txBody>
      </p:sp>
      <p:sp>
        <p:nvSpPr>
          <p:cNvPr id="36" name="Text 34"/>
          <p:cNvSpPr/>
          <p:nvPr/>
        </p:nvSpPr>
        <p:spPr>
          <a:xfrm>
            <a:off x="603504" y="4553712"/>
            <a:ext cx="2578608" cy="256032"/>
          </a:xfrm>
          <a:prstGeom prst="rect">
            <a:avLst/>
          </a:prstGeom>
          <a:noFill/>
          <a:ln/>
        </p:spPr>
        <p:txBody>
          <a:bodyPr wrap="square" lIns="0" tIns="0" rIns="0" bIns="0" rtlCol="0" anchor="t"/>
          <a:lstStyle/>
          <a:p>
            <a:pPr marL="0" indent="0" algn="ctr">
              <a:buNone/>
            </a:pPr>
            <a:r>
              <a:rPr lang="en-US" sz="1150" b="1" dirty="0">
                <a:solidFill>
                  <a:srgbClr val="0B2545"/>
                </a:solidFill>
                <a:latin typeface="Calibri" pitchFamily="34" charset="0"/>
                <a:ea typeface="Calibri" pitchFamily="34" charset="-122"/>
                <a:cs typeface="Calibri" pitchFamily="34" charset="-120"/>
              </a:rPr>
              <a:t>current_data.py</a:t>
            </a:r>
            <a:endParaRPr lang="en-US" sz="1150" dirty="0"/>
          </a:p>
        </p:txBody>
      </p:sp>
      <p:sp>
        <p:nvSpPr>
          <p:cNvPr id="37" name="Text 35"/>
          <p:cNvSpPr/>
          <p:nvPr/>
        </p:nvSpPr>
        <p:spPr>
          <a:xfrm>
            <a:off x="603504" y="4773168"/>
            <a:ext cx="2578608" cy="365760"/>
          </a:xfrm>
          <a:prstGeom prst="rect">
            <a:avLst/>
          </a:prstGeom>
          <a:noFill/>
          <a:ln/>
        </p:spPr>
        <p:txBody>
          <a:bodyPr wrap="square" lIns="0" tIns="0" rIns="0" bIns="0" rtlCol="0" anchor="t"/>
          <a:lstStyle/>
          <a:p>
            <a:pPr marL="0" indent="0" algn="ctr">
              <a:buNone/>
            </a:pPr>
            <a:r>
              <a:rPr lang="en-US" sz="950" dirty="0">
                <a:solidFill>
                  <a:srgbClr val="6E7F8F"/>
                </a:solidFill>
                <a:latin typeface="Calibri" pitchFamily="34" charset="0"/>
                <a:ea typeface="Calibri" pitchFamily="34" charset="-122"/>
                <a:cs typeface="Calibri" pitchFamily="34" charset="-120"/>
              </a:rPr>
              <a:t>live weather + satellite tile</a:t>
            </a:r>
            <a:endParaRPr lang="en-US" sz="950" dirty="0"/>
          </a:p>
        </p:txBody>
      </p:sp>
      <p:sp>
        <p:nvSpPr>
          <p:cNvPr id="38" name="Shape 36"/>
          <p:cNvSpPr/>
          <p:nvPr/>
        </p:nvSpPr>
        <p:spPr>
          <a:xfrm>
            <a:off x="3364992" y="4498848"/>
            <a:ext cx="2651760" cy="676656"/>
          </a:xfrm>
          <a:prstGeom prst="roundRect">
            <a:avLst>
              <a:gd name="adj" fmla="val 6757"/>
            </a:avLst>
          </a:prstGeom>
          <a:solidFill>
            <a:srgbClr val="0B2545"/>
          </a:solidFill>
          <a:ln w="10160">
            <a:solidFill>
              <a:srgbClr val="0B2545"/>
            </a:solidFill>
            <a:prstDash val="solid"/>
          </a:ln>
        </p:spPr>
        <p:txBody>
          <a:bodyPr/>
          <a:lstStyle/>
          <a:p>
            <a:endParaRPr lang="en-AE"/>
          </a:p>
        </p:txBody>
      </p:sp>
      <p:sp>
        <p:nvSpPr>
          <p:cNvPr id="39" name="Text 37"/>
          <p:cNvSpPr/>
          <p:nvPr/>
        </p:nvSpPr>
        <p:spPr>
          <a:xfrm>
            <a:off x="3401568" y="4553712"/>
            <a:ext cx="2578608" cy="256032"/>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predict.py</a:t>
            </a:r>
            <a:endParaRPr lang="en-US" sz="1150" dirty="0"/>
          </a:p>
        </p:txBody>
      </p:sp>
      <p:sp>
        <p:nvSpPr>
          <p:cNvPr id="40" name="Text 38"/>
          <p:cNvSpPr/>
          <p:nvPr/>
        </p:nvSpPr>
        <p:spPr>
          <a:xfrm>
            <a:off x="3401568" y="4773168"/>
            <a:ext cx="2578608" cy="365760"/>
          </a:xfrm>
          <a:prstGeom prst="rect">
            <a:avLst/>
          </a:prstGeom>
          <a:noFill/>
          <a:ln/>
        </p:spPr>
        <p:txBody>
          <a:bodyPr wrap="square" lIns="0" tIns="0" rIns="0" bIns="0" rtlCol="0" anchor="t"/>
          <a:lstStyle/>
          <a:p>
            <a:pPr marL="0" indent="0" algn="ctr">
              <a:buNone/>
            </a:pPr>
            <a:r>
              <a:rPr lang="en-US" sz="950" dirty="0">
                <a:solidFill>
                  <a:srgbClr val="D8E2EC"/>
                </a:solidFill>
                <a:latin typeface="Calibri" pitchFamily="34" charset="0"/>
                <a:ea typeface="Calibri" pitchFamily="34" charset="-122"/>
                <a:cs typeface="Calibri" pitchFamily="34" charset="-120"/>
              </a:rPr>
              <a:t>24-step lookback → μ, σ → clear-sky clamp</a:t>
            </a:r>
            <a:endParaRPr lang="en-US" sz="950" dirty="0"/>
          </a:p>
        </p:txBody>
      </p:sp>
      <p:sp>
        <p:nvSpPr>
          <p:cNvPr id="41" name="Shape 39"/>
          <p:cNvSpPr/>
          <p:nvPr/>
        </p:nvSpPr>
        <p:spPr>
          <a:xfrm>
            <a:off x="6163056" y="4498848"/>
            <a:ext cx="2651760" cy="676656"/>
          </a:xfrm>
          <a:prstGeom prst="roundRect">
            <a:avLst>
              <a:gd name="adj" fmla="val 6757"/>
            </a:avLst>
          </a:prstGeom>
          <a:solidFill>
            <a:srgbClr val="E8A33D"/>
          </a:solidFill>
          <a:ln w="10160">
            <a:solidFill>
              <a:srgbClr val="CFD9E2"/>
            </a:solidFill>
            <a:prstDash val="solid"/>
          </a:ln>
        </p:spPr>
        <p:txBody>
          <a:bodyPr/>
          <a:lstStyle/>
          <a:p>
            <a:endParaRPr lang="en-AE"/>
          </a:p>
        </p:txBody>
      </p:sp>
      <p:sp>
        <p:nvSpPr>
          <p:cNvPr id="42" name="Text 40"/>
          <p:cNvSpPr/>
          <p:nvPr/>
        </p:nvSpPr>
        <p:spPr>
          <a:xfrm>
            <a:off x="6199632" y="4553712"/>
            <a:ext cx="2578608" cy="256032"/>
          </a:xfrm>
          <a:prstGeom prst="rect">
            <a:avLst/>
          </a:prstGeom>
          <a:noFill/>
          <a:ln/>
        </p:spPr>
        <p:txBody>
          <a:bodyPr wrap="square" lIns="0" tIns="0" rIns="0" bIns="0" rtlCol="0" anchor="t"/>
          <a:lstStyle/>
          <a:p>
            <a:pPr marL="0" indent="0" algn="ctr">
              <a:buNone/>
            </a:pPr>
            <a:r>
              <a:rPr lang="en-US" sz="1150" b="1" dirty="0">
                <a:solidFill>
                  <a:srgbClr val="0B2545"/>
                </a:solidFill>
                <a:latin typeface="Calibri" pitchFamily="34" charset="0"/>
                <a:ea typeface="Calibri" pitchFamily="34" charset="-122"/>
                <a:cs typeface="Calibri" pitchFamily="34" charset="-120"/>
              </a:rPr>
              <a:t>forecast_latest.json</a:t>
            </a:r>
            <a:endParaRPr lang="en-US" sz="1150" dirty="0"/>
          </a:p>
        </p:txBody>
      </p:sp>
      <p:sp>
        <p:nvSpPr>
          <p:cNvPr id="43" name="Text 41"/>
          <p:cNvSpPr/>
          <p:nvPr/>
        </p:nvSpPr>
        <p:spPr>
          <a:xfrm>
            <a:off x="6199632" y="4773168"/>
            <a:ext cx="2578608" cy="365760"/>
          </a:xfrm>
          <a:prstGeom prst="rect">
            <a:avLst/>
          </a:prstGeom>
          <a:noFill/>
          <a:ln/>
        </p:spPr>
        <p:txBody>
          <a:bodyPr wrap="square" lIns="0" tIns="0" rIns="0" bIns="0" rtlCol="0" anchor="t"/>
          <a:lstStyle/>
          <a:p>
            <a:pPr marL="0" indent="0" algn="ctr">
              <a:buNone/>
            </a:pPr>
            <a:r>
              <a:rPr lang="en-US" sz="950" dirty="0">
                <a:solidFill>
                  <a:srgbClr val="6E5312"/>
                </a:solidFill>
                <a:latin typeface="Calibri" pitchFamily="34" charset="0"/>
                <a:ea typeface="Calibri" pitchFamily="34" charset="-122"/>
                <a:cs typeface="Calibri" pitchFamily="34" charset="-120"/>
              </a:rPr>
              <a:t>t+1h / t+2h / t+3h + 90% CI</a:t>
            </a:r>
            <a:endParaRPr lang="en-US" sz="950" dirty="0"/>
          </a:p>
        </p:txBody>
      </p:sp>
      <p:sp>
        <p:nvSpPr>
          <p:cNvPr id="44" name="Shape 42"/>
          <p:cNvSpPr/>
          <p:nvPr/>
        </p:nvSpPr>
        <p:spPr>
          <a:xfrm>
            <a:off x="8961120" y="4498848"/>
            <a:ext cx="2670048" cy="676656"/>
          </a:xfrm>
          <a:prstGeom prst="roundRect">
            <a:avLst>
              <a:gd name="adj" fmla="val 6757"/>
            </a:avLst>
          </a:prstGeom>
          <a:solidFill>
            <a:srgbClr val="0B2545"/>
          </a:solidFill>
          <a:ln w="10160">
            <a:solidFill>
              <a:srgbClr val="0B2545"/>
            </a:solidFill>
            <a:prstDash val="solid"/>
          </a:ln>
        </p:spPr>
        <p:txBody>
          <a:bodyPr/>
          <a:lstStyle/>
          <a:p>
            <a:endParaRPr lang="en-AE"/>
          </a:p>
        </p:txBody>
      </p:sp>
      <p:sp>
        <p:nvSpPr>
          <p:cNvPr id="45" name="Text 43"/>
          <p:cNvSpPr/>
          <p:nvPr/>
        </p:nvSpPr>
        <p:spPr>
          <a:xfrm>
            <a:off x="8997696" y="4553712"/>
            <a:ext cx="2596896" cy="256032"/>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verify.py</a:t>
            </a:r>
            <a:endParaRPr lang="en-US" sz="1150" dirty="0"/>
          </a:p>
        </p:txBody>
      </p:sp>
      <p:sp>
        <p:nvSpPr>
          <p:cNvPr id="46" name="Text 44"/>
          <p:cNvSpPr/>
          <p:nvPr/>
        </p:nvSpPr>
        <p:spPr>
          <a:xfrm>
            <a:off x="8997696" y="4773168"/>
            <a:ext cx="2596896" cy="365760"/>
          </a:xfrm>
          <a:prstGeom prst="rect">
            <a:avLst/>
          </a:prstGeom>
          <a:noFill/>
          <a:ln/>
        </p:spPr>
        <p:txBody>
          <a:bodyPr wrap="square" lIns="0" tIns="0" rIns="0" bIns="0" rtlCol="0" anchor="t"/>
          <a:lstStyle/>
          <a:p>
            <a:pPr marL="0" indent="0" algn="ctr">
              <a:buNone/>
            </a:pPr>
            <a:r>
              <a:rPr lang="en-US" sz="950" dirty="0">
                <a:solidFill>
                  <a:srgbClr val="D8E2EC"/>
                </a:solidFill>
                <a:latin typeface="Calibri" pitchFamily="34" charset="0"/>
                <a:ea typeface="Calibri" pitchFamily="34" charset="-122"/>
                <a:cs typeface="Calibri" pitchFamily="34" charset="-120"/>
              </a:rPr>
              <a:t>measured GHI → verification_log.csv</a:t>
            </a:r>
            <a:endParaRPr lang="en-US" sz="950" dirty="0"/>
          </a:p>
        </p:txBody>
      </p:sp>
      <p:sp>
        <p:nvSpPr>
          <p:cNvPr id="47" name="Shape 45"/>
          <p:cNvSpPr/>
          <p:nvPr/>
        </p:nvSpPr>
        <p:spPr>
          <a:xfrm>
            <a:off x="3236976" y="4837176"/>
            <a:ext cx="128016" cy="0"/>
          </a:xfrm>
          <a:prstGeom prst="line">
            <a:avLst/>
          </a:prstGeom>
          <a:noFill/>
          <a:ln w="19050">
            <a:solidFill>
              <a:srgbClr val="6E7F8F"/>
            </a:solidFill>
            <a:prstDash val="solid"/>
            <a:tailEnd type="triangle"/>
          </a:ln>
        </p:spPr>
        <p:txBody>
          <a:bodyPr/>
          <a:lstStyle/>
          <a:p>
            <a:endParaRPr lang="en-AE"/>
          </a:p>
        </p:txBody>
      </p:sp>
      <p:sp>
        <p:nvSpPr>
          <p:cNvPr id="48" name="Shape 46"/>
          <p:cNvSpPr/>
          <p:nvPr/>
        </p:nvSpPr>
        <p:spPr>
          <a:xfrm>
            <a:off x="6035040" y="4837176"/>
            <a:ext cx="128016" cy="0"/>
          </a:xfrm>
          <a:prstGeom prst="line">
            <a:avLst/>
          </a:prstGeom>
          <a:noFill/>
          <a:ln w="19050">
            <a:solidFill>
              <a:srgbClr val="6E7F8F"/>
            </a:solidFill>
            <a:prstDash val="solid"/>
            <a:tailEnd type="triangle"/>
          </a:ln>
        </p:spPr>
        <p:txBody>
          <a:bodyPr/>
          <a:lstStyle/>
          <a:p>
            <a:endParaRPr lang="en-AE"/>
          </a:p>
        </p:txBody>
      </p:sp>
      <p:sp>
        <p:nvSpPr>
          <p:cNvPr id="49" name="Shape 47"/>
          <p:cNvSpPr/>
          <p:nvPr/>
        </p:nvSpPr>
        <p:spPr>
          <a:xfrm>
            <a:off x="8833104" y="4837176"/>
            <a:ext cx="128016" cy="0"/>
          </a:xfrm>
          <a:prstGeom prst="line">
            <a:avLst/>
          </a:prstGeom>
          <a:noFill/>
          <a:ln w="19050">
            <a:solidFill>
              <a:srgbClr val="6E7F8F"/>
            </a:solidFill>
            <a:prstDash val="solid"/>
            <a:tailEnd type="triangle"/>
          </a:ln>
        </p:spPr>
        <p:txBody>
          <a:bodyPr/>
          <a:lstStyle/>
          <a:p>
            <a:endParaRPr lang="en-AE"/>
          </a:p>
        </p:txBody>
      </p:sp>
      <p:sp>
        <p:nvSpPr>
          <p:cNvPr id="50" name="Shape 48"/>
          <p:cNvSpPr/>
          <p:nvPr/>
        </p:nvSpPr>
        <p:spPr>
          <a:xfrm>
            <a:off x="3108960" y="2157984"/>
            <a:ext cx="0" cy="329184"/>
          </a:xfrm>
          <a:prstGeom prst="line">
            <a:avLst/>
          </a:prstGeom>
          <a:noFill/>
          <a:ln w="19050">
            <a:solidFill>
              <a:srgbClr val="CFD9E2"/>
            </a:solidFill>
            <a:prstDash val="solid"/>
            <a:tailEnd type="triangle"/>
          </a:ln>
        </p:spPr>
        <p:txBody>
          <a:bodyPr/>
          <a:lstStyle/>
          <a:p>
            <a:endParaRPr lang="en-AE"/>
          </a:p>
        </p:txBody>
      </p:sp>
      <p:sp>
        <p:nvSpPr>
          <p:cNvPr id="51" name="Shape 49"/>
          <p:cNvSpPr/>
          <p:nvPr/>
        </p:nvSpPr>
        <p:spPr>
          <a:xfrm>
            <a:off x="8778240" y="2157984"/>
            <a:ext cx="0" cy="329184"/>
          </a:xfrm>
          <a:prstGeom prst="line">
            <a:avLst/>
          </a:prstGeom>
          <a:noFill/>
          <a:ln w="19050">
            <a:solidFill>
              <a:srgbClr val="CFD9E2"/>
            </a:solidFill>
            <a:prstDash val="solid"/>
            <a:tailEnd type="triangle"/>
          </a:ln>
        </p:spPr>
        <p:txBody>
          <a:bodyPr/>
          <a:lstStyle/>
          <a:p>
            <a:endParaRPr lang="en-AE"/>
          </a:p>
        </p:txBody>
      </p:sp>
      <p:sp>
        <p:nvSpPr>
          <p:cNvPr id="52" name="Shape 50"/>
          <p:cNvSpPr/>
          <p:nvPr/>
        </p:nvSpPr>
        <p:spPr>
          <a:xfrm>
            <a:off x="2286000" y="3163824"/>
            <a:ext cx="0" cy="329184"/>
          </a:xfrm>
          <a:prstGeom prst="line">
            <a:avLst/>
          </a:prstGeom>
          <a:noFill/>
          <a:ln w="19050">
            <a:solidFill>
              <a:srgbClr val="CFD9E2"/>
            </a:solidFill>
            <a:prstDash val="solid"/>
            <a:tailEnd type="triangle"/>
          </a:ln>
        </p:spPr>
        <p:txBody>
          <a:bodyPr/>
          <a:lstStyle/>
          <a:p>
            <a:endParaRPr lang="en-AE"/>
          </a:p>
        </p:txBody>
      </p:sp>
      <p:sp>
        <p:nvSpPr>
          <p:cNvPr id="53" name="Shape 51"/>
          <p:cNvSpPr/>
          <p:nvPr/>
        </p:nvSpPr>
        <p:spPr>
          <a:xfrm>
            <a:off x="6035040" y="3163824"/>
            <a:ext cx="0" cy="329184"/>
          </a:xfrm>
          <a:prstGeom prst="line">
            <a:avLst/>
          </a:prstGeom>
          <a:noFill/>
          <a:ln w="19050">
            <a:solidFill>
              <a:srgbClr val="CFD9E2"/>
            </a:solidFill>
            <a:prstDash val="solid"/>
            <a:tailEnd type="triangle"/>
          </a:ln>
        </p:spPr>
        <p:txBody>
          <a:bodyPr/>
          <a:lstStyle/>
          <a:p>
            <a:endParaRPr lang="en-AE"/>
          </a:p>
        </p:txBody>
      </p:sp>
      <p:sp>
        <p:nvSpPr>
          <p:cNvPr id="54" name="Shape 52"/>
          <p:cNvSpPr/>
          <p:nvPr/>
        </p:nvSpPr>
        <p:spPr>
          <a:xfrm>
            <a:off x="9784080" y="3163824"/>
            <a:ext cx="0" cy="329184"/>
          </a:xfrm>
          <a:prstGeom prst="line">
            <a:avLst/>
          </a:prstGeom>
          <a:noFill/>
          <a:ln w="19050">
            <a:solidFill>
              <a:srgbClr val="CFD9E2"/>
            </a:solidFill>
            <a:prstDash val="solid"/>
            <a:tailEnd type="triangle"/>
          </a:ln>
        </p:spPr>
        <p:txBody>
          <a:bodyPr/>
          <a:lstStyle/>
          <a:p>
            <a:endParaRPr lang="en-AE"/>
          </a:p>
        </p:txBody>
      </p:sp>
      <p:sp>
        <p:nvSpPr>
          <p:cNvPr id="55" name="Shape 53"/>
          <p:cNvSpPr/>
          <p:nvPr/>
        </p:nvSpPr>
        <p:spPr>
          <a:xfrm>
            <a:off x="6035040" y="4169664"/>
            <a:ext cx="0" cy="329184"/>
          </a:xfrm>
          <a:prstGeom prst="line">
            <a:avLst/>
          </a:prstGeom>
          <a:noFill/>
          <a:ln w="19050">
            <a:solidFill>
              <a:srgbClr val="CFD9E2"/>
            </a:solidFill>
            <a:prstDash val="solid"/>
            <a:tailEnd type="triangle"/>
          </a:ln>
        </p:spPr>
        <p:txBody>
          <a:bodyPr/>
          <a:lstStyle/>
          <a:p>
            <a:endParaRPr lang="en-AE"/>
          </a:p>
        </p:txBody>
      </p:sp>
      <p:sp>
        <p:nvSpPr>
          <p:cNvPr id="56" name="Shape 54"/>
          <p:cNvSpPr/>
          <p:nvPr/>
        </p:nvSpPr>
        <p:spPr>
          <a:xfrm>
            <a:off x="566928" y="5413248"/>
            <a:ext cx="11064240" cy="786384"/>
          </a:xfrm>
          <a:prstGeom prst="roundRect">
            <a:avLst>
              <a:gd name="adj" fmla="val 5814"/>
            </a:avLst>
          </a:prstGeom>
          <a:solidFill>
            <a:srgbClr val="E3EAF1"/>
          </a:solidFill>
          <a:ln/>
        </p:spPr>
        <p:txBody>
          <a:bodyPr/>
          <a:lstStyle/>
          <a:p>
            <a:endParaRPr lang="en-AE"/>
          </a:p>
        </p:txBody>
      </p:sp>
      <p:sp>
        <p:nvSpPr>
          <p:cNvPr id="57" name="Text 55"/>
          <p:cNvSpPr/>
          <p:nvPr/>
        </p:nvSpPr>
        <p:spPr>
          <a:xfrm>
            <a:off x="868680" y="5541264"/>
            <a:ext cx="10424160" cy="548640"/>
          </a:xfrm>
          <a:prstGeom prst="rect">
            <a:avLst/>
          </a:prstGeom>
          <a:noFill/>
          <a:ln/>
        </p:spPr>
        <p:txBody>
          <a:bodyPr wrap="square" lIns="0" tIns="0" rIns="0" bIns="0" rtlCol="0" anchor="ctr"/>
          <a:lstStyle/>
          <a:p>
            <a:pPr marL="0" indent="0">
              <a:lnSpc>
                <a:spcPts val="1700"/>
              </a:lnSpc>
              <a:buNone/>
            </a:pPr>
            <a:r>
              <a:rPr lang="en-US" sz="1200" b="1" dirty="0">
                <a:solidFill>
                  <a:srgbClr val="0B2545"/>
                </a:solidFill>
                <a:latin typeface="Calibri" pitchFamily="34" charset="0"/>
                <a:ea typeface="Calibri" pitchFamily="34" charset="-122"/>
                <a:cs typeface="Calibri" pitchFamily="34" charset="-120"/>
              </a:rPr>
              <a:t>Single source of truth:  </a:t>
            </a:r>
            <a:r>
              <a:rPr lang="en-US" sz="1200" dirty="0">
                <a:solidFill>
                  <a:srgbClr val="3C5169"/>
                </a:solidFill>
                <a:latin typeface="Calibri" pitchFamily="34" charset="0"/>
                <a:ea typeface="Calibri" pitchFamily="34" charset="-122"/>
                <a:cs typeface="Calibri" pitchFamily="34" charset="-120"/>
              </a:rPr>
              <a:t>model.py defines the architecture, the feature column list and every inference helper. The training notebook imports from it, and so do predict.py and verify.py — so a checkpoint trained on the GPU box loads for inference with zero architecture drift. load_model() sniffs the checkpoint keys and instantiates v1 or v2 automatically.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DATA — PROVENANCE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Four data sources, all free and public</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64240" cy="3017520"/>
        </p:xfrm>
        <a:graphic>
          <a:graphicData uri="http://schemas.openxmlformats.org/drawingml/2006/table">
            <a:tbl>
              <a:tblPr/>
              <a:tblGrid>
                <a:gridCol w="233172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60350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it provides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Access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Role in the system</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Fetcher</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60350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Open-Meteo ERA5 archive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temperature_2m, RH, rain, wind_speed_10m, cloud_cover, shortwave_radiation (→ GHI), DNI, DHI — hourly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REST, no key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target + 6 of 11 input features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historical_data.py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60350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Himawari-8/9 via NICT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full-disk visible tile, level 4d, row 1 / col 1, 550 px, 10-min cadence (hourly sampled)</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public HTTP</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the image branch</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himawari_data.py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350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pvlib (Ineichen)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clear-sky GHI at any timestamp from solar geometry + climatological turbidity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local library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clear-sky ratio feature, future clear-sky input, physics clamp</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model.py, historical_data.py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60350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SwimSeg (NTU)</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1,013 Singapore whole-sky images + binary cloud/sky ground-truth masks, Oct 2013 – Jul 2015</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research dataset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stage-1 encoder pretraining only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notebook §3.5</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66928" y="4526280"/>
            <a:ext cx="5394960" cy="1645920"/>
          </a:xfrm>
          <a:prstGeom prst="roundRect">
            <a:avLst>
              <a:gd name="adj" fmla="val 2778"/>
            </a:avLst>
          </a:prstGeom>
          <a:solidFill>
            <a:srgbClr val="FCEEEC"/>
          </a:solidFill>
          <a:ln w="12700">
            <a:solidFill>
              <a:srgbClr val="B03A2E"/>
            </a:solidFill>
            <a:prstDash val="solid"/>
          </a:ln>
        </p:spPr>
        <p:txBody>
          <a:bodyPr/>
          <a:lstStyle/>
          <a:p>
            <a:endParaRPr lang="en-AE"/>
          </a:p>
        </p:txBody>
      </p:sp>
      <p:sp>
        <p:nvSpPr>
          <p:cNvPr id="6" name="Text 3"/>
          <p:cNvSpPr/>
          <p:nvPr/>
        </p:nvSpPr>
        <p:spPr>
          <a:xfrm>
            <a:off x="841248" y="4663440"/>
            <a:ext cx="4846320" cy="274320"/>
          </a:xfrm>
          <a:prstGeom prst="rect">
            <a:avLst/>
          </a:prstGeom>
          <a:noFill/>
          <a:ln/>
        </p:spPr>
        <p:txBody>
          <a:bodyPr wrap="square" lIns="0" tIns="0" rIns="0" bIns="0" rtlCol="0" anchor="ctr"/>
          <a:lstStyle/>
          <a:p>
            <a:pPr marL="0" indent="0">
              <a:buNone/>
            </a:pPr>
            <a:r>
              <a:rPr lang="en-US" sz="1250" b="1" dirty="0">
                <a:solidFill>
                  <a:srgbClr val="B03A2E"/>
                </a:solidFill>
                <a:latin typeface="Calibri" pitchFamily="34" charset="0"/>
                <a:ea typeface="Calibri" pitchFamily="34" charset="-122"/>
                <a:cs typeface="Calibri" pitchFamily="34" charset="-120"/>
              </a:rPr>
              <a:t>A source I deliberately dropped</a:t>
            </a:r>
            <a:endParaRPr lang="en-US" sz="1250" dirty="0"/>
          </a:p>
        </p:txBody>
      </p:sp>
      <p:sp>
        <p:nvSpPr>
          <p:cNvPr id="7" name="Text 4"/>
          <p:cNvSpPr/>
          <p:nvPr/>
        </p:nvSpPr>
        <p:spPr>
          <a:xfrm>
            <a:off x="841248" y="5010912"/>
            <a:ext cx="4846320" cy="1097280"/>
          </a:xfrm>
          <a:prstGeom prst="rect">
            <a:avLst/>
          </a:prstGeom>
          <a:noFill/>
          <a:ln/>
        </p:spPr>
        <p:txBody>
          <a:bodyPr wrap="square" lIns="0" tIns="0" rIns="0" bIns="0" rtlCol="0" anchor="ctr"/>
          <a:lstStyle/>
          <a:p>
            <a:pPr marL="0" indent="0">
              <a:lnSpc>
                <a:spcPts val="1400"/>
              </a:lnSpc>
              <a:buNone/>
            </a:pPr>
            <a:r>
              <a:rPr lang="en-US" sz="1050" dirty="0">
                <a:solidFill>
                  <a:srgbClr val="3C5169"/>
                </a:solidFill>
                <a:latin typeface="Calibri" pitchFamily="34" charset="0"/>
                <a:ea typeface="Calibri" pitchFamily="34" charset="-122"/>
                <a:cs typeface="Calibri" pitchFamily="34" charset="-120"/>
              </a:rPr>
              <a:t>fetch_solcast.py builds a pv_actual column from PVGIS 5.3 (2020–23) and a pvlib simulation of Open-Meteo GHI (2024–26). Its correlation with GHI is r = 0.99994 — because for the years I actually use it IS a deterministic function of GHI. Training on it would be circular, so it is excluded from every feature list.</a:t>
            </a:r>
            <a:endParaRPr lang="en-US" sz="1050" dirty="0"/>
          </a:p>
        </p:txBody>
      </p:sp>
      <p:sp>
        <p:nvSpPr>
          <p:cNvPr id="8" name="Shape 5"/>
          <p:cNvSpPr/>
          <p:nvPr/>
        </p:nvSpPr>
        <p:spPr>
          <a:xfrm>
            <a:off x="6236208" y="4526280"/>
            <a:ext cx="5394960" cy="1645920"/>
          </a:xfrm>
          <a:prstGeom prst="roundRect">
            <a:avLst>
              <a:gd name="adj" fmla="val 2778"/>
            </a:avLst>
          </a:prstGeom>
          <a:solidFill>
            <a:srgbClr val="EFF3F7"/>
          </a:solidFill>
          <a:ln w="7620">
            <a:solidFill>
              <a:srgbClr val="CFD9E2"/>
            </a:solidFill>
            <a:prstDash val="solid"/>
          </a:ln>
        </p:spPr>
        <p:txBody>
          <a:bodyPr/>
          <a:lstStyle/>
          <a:p>
            <a:endParaRPr lang="en-AE"/>
          </a:p>
        </p:txBody>
      </p:sp>
      <p:sp>
        <p:nvSpPr>
          <p:cNvPr id="9" name="Text 6"/>
          <p:cNvSpPr/>
          <p:nvPr/>
        </p:nvSpPr>
        <p:spPr>
          <a:xfrm>
            <a:off x="6510528" y="4663440"/>
            <a:ext cx="4846320" cy="27432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What "ground truth" really means here</a:t>
            </a:r>
            <a:endParaRPr lang="en-US" sz="1250" dirty="0"/>
          </a:p>
        </p:txBody>
      </p:sp>
      <p:sp>
        <p:nvSpPr>
          <p:cNvPr id="4" name="Text 7"/>
          <p:cNvSpPr/>
          <p:nvPr/>
        </p:nvSpPr>
        <p:spPr>
          <a:xfrm>
            <a:off x="6510528" y="5010912"/>
            <a:ext cx="4846320" cy="1097280"/>
          </a:xfrm>
          <a:prstGeom prst="rect">
            <a:avLst/>
          </a:prstGeom>
          <a:noFill/>
          <a:ln/>
        </p:spPr>
        <p:txBody>
          <a:bodyPr wrap="square" lIns="0" tIns="0" rIns="0" bIns="0" rtlCol="0" anchor="ctr"/>
          <a:lstStyle/>
          <a:p>
            <a:pPr marL="0" indent="0">
              <a:lnSpc>
                <a:spcPts val="1400"/>
              </a:lnSpc>
              <a:buNone/>
            </a:pPr>
            <a:r>
              <a:rPr lang="en-US" sz="1050" dirty="0">
                <a:solidFill>
                  <a:srgbClr val="3C5169"/>
                </a:solidFill>
                <a:latin typeface="Calibri" pitchFamily="34" charset="0"/>
                <a:ea typeface="Calibri" pitchFamily="34" charset="-122"/>
                <a:cs typeface="Calibri" pitchFamily="34" charset="-120"/>
              </a:rPr>
              <a:t>The GHI I train against is ERA5 reanalysis shortwave radiation, not a pyranometer at a Singapore site. Reanalysis is spatially smoothed and will understate true sub-hourly variability. Every error figure in this deck is therefore an error against reanalysis — the honest name for the task is "forecasting ERA5 GHI".</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DATA PIPELINE — CONSTRUCTION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Building one aligned table from asynchronous sources</a:t>
            </a:r>
            <a:endParaRPr lang="en-US" sz="3000" dirty="0"/>
          </a:p>
        </p:txBody>
      </p:sp>
      <p:sp>
        <p:nvSpPr>
          <p:cNvPr id="4" name="Shape 2"/>
          <p:cNvSpPr/>
          <p:nvPr/>
        </p:nvSpPr>
        <p:spPr>
          <a:xfrm>
            <a:off x="566928" y="1481328"/>
            <a:ext cx="384048" cy="384048"/>
          </a:xfrm>
          <a:prstGeom prst="ellipse">
            <a:avLst/>
          </a:prstGeom>
          <a:solidFill>
            <a:srgbClr val="E3EAF1"/>
          </a:solidFill>
          <a:ln/>
        </p:spPr>
        <p:txBody>
          <a:bodyPr/>
          <a:lstStyle/>
          <a:p>
            <a:endParaRPr lang="en-AE"/>
          </a:p>
        </p:txBody>
      </p:sp>
      <p:sp>
        <p:nvSpPr>
          <p:cNvPr id="5" name="Text 3"/>
          <p:cNvSpPr/>
          <p:nvPr/>
        </p:nvSpPr>
        <p:spPr>
          <a:xfrm>
            <a:off x="566928" y="1481328"/>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97280" y="1408176"/>
            <a:ext cx="2331720" cy="329184"/>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Floor to the hour</a:t>
            </a:r>
            <a:endParaRPr lang="en-US" sz="1300" dirty="0"/>
          </a:p>
        </p:txBody>
      </p:sp>
      <p:sp>
        <p:nvSpPr>
          <p:cNvPr id="7" name="Text 5"/>
          <p:cNvSpPr/>
          <p:nvPr/>
        </p:nvSpPr>
        <p:spPr>
          <a:xfrm>
            <a:off x="3520440" y="1371600"/>
            <a:ext cx="5120640" cy="658368"/>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Weather timestamps → hour resolution so the weather, PV and image streams share one key.</a:t>
            </a:r>
            <a:endParaRPr lang="en-US" sz="1150" dirty="0"/>
          </a:p>
        </p:txBody>
      </p:sp>
      <p:sp>
        <p:nvSpPr>
          <p:cNvPr id="8" name="Text 6"/>
          <p:cNvSpPr/>
          <p:nvPr/>
        </p:nvSpPr>
        <p:spPr>
          <a:xfrm>
            <a:off x="8778240" y="1408176"/>
            <a:ext cx="2834640" cy="329184"/>
          </a:xfrm>
          <a:prstGeom prst="rect">
            <a:avLst/>
          </a:prstGeom>
          <a:noFill/>
          <a:ln/>
        </p:spPr>
        <p:txBody>
          <a:bodyPr wrap="square" lIns="0" tIns="0" rIns="0" bIns="0" rtlCol="0" anchor="ctr"/>
          <a:lstStyle/>
          <a:p>
            <a:pPr marL="0" indent="0">
              <a:buNone/>
            </a:pPr>
            <a:r>
              <a:rPr lang="en-US" sz="950" dirty="0">
                <a:solidFill>
                  <a:srgbClr val="6E7F8F"/>
                </a:solidFill>
                <a:latin typeface="Courier New" pitchFamily="34" charset="0"/>
                <a:ea typeface="Courier New" pitchFamily="34" charset="-122"/>
                <a:cs typeface="Courier New" pitchFamily="34" charset="-120"/>
              </a:rPr>
              <a:t>combined_dataset.py:121</a:t>
            </a:r>
            <a:endParaRPr lang="en-US" sz="950" dirty="0"/>
          </a:p>
        </p:txBody>
      </p:sp>
      <p:sp>
        <p:nvSpPr>
          <p:cNvPr id="9" name="Shape 7"/>
          <p:cNvSpPr/>
          <p:nvPr/>
        </p:nvSpPr>
        <p:spPr>
          <a:xfrm>
            <a:off x="758952" y="1883664"/>
            <a:ext cx="0" cy="292608"/>
          </a:xfrm>
          <a:prstGeom prst="line">
            <a:avLst/>
          </a:prstGeom>
          <a:noFill/>
          <a:ln w="12700">
            <a:solidFill>
              <a:srgbClr val="CFD9E2"/>
            </a:solidFill>
            <a:prstDash val="solid"/>
          </a:ln>
        </p:spPr>
        <p:txBody>
          <a:bodyPr/>
          <a:lstStyle/>
          <a:p>
            <a:endParaRPr lang="en-AE"/>
          </a:p>
        </p:txBody>
      </p:sp>
      <p:sp>
        <p:nvSpPr>
          <p:cNvPr id="10" name="Shape 8"/>
          <p:cNvSpPr/>
          <p:nvPr/>
        </p:nvSpPr>
        <p:spPr>
          <a:xfrm>
            <a:off x="566928" y="2267712"/>
            <a:ext cx="384048" cy="384048"/>
          </a:xfrm>
          <a:prstGeom prst="ellipse">
            <a:avLst/>
          </a:prstGeom>
          <a:solidFill>
            <a:srgbClr val="E3EAF1"/>
          </a:solidFill>
          <a:ln/>
        </p:spPr>
        <p:txBody>
          <a:bodyPr/>
          <a:lstStyle/>
          <a:p>
            <a:endParaRPr lang="en-AE"/>
          </a:p>
        </p:txBody>
      </p:sp>
      <p:sp>
        <p:nvSpPr>
          <p:cNvPr id="11" name="Text 9"/>
          <p:cNvSpPr/>
          <p:nvPr/>
        </p:nvSpPr>
        <p:spPr>
          <a:xfrm>
            <a:off x="566928" y="2267712"/>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97280" y="2194560"/>
            <a:ext cx="2331720" cy="329184"/>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Merge PV reference</a:t>
            </a:r>
            <a:endParaRPr lang="en-US" sz="1300" dirty="0"/>
          </a:p>
        </p:txBody>
      </p:sp>
      <p:sp>
        <p:nvSpPr>
          <p:cNvPr id="13" name="Text 11"/>
          <p:cNvSpPr/>
          <p:nvPr/>
        </p:nvSpPr>
        <p:spPr>
          <a:xfrm>
            <a:off x="3520440" y="2157984"/>
            <a:ext cx="5120640" cy="658368"/>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Left-join pv_actual on timestamp; kept in the table for reference, excluded from all feature lists.</a:t>
            </a:r>
            <a:endParaRPr lang="en-US" sz="1150" dirty="0"/>
          </a:p>
        </p:txBody>
      </p:sp>
      <p:sp>
        <p:nvSpPr>
          <p:cNvPr id="14" name="Text 12"/>
          <p:cNvSpPr/>
          <p:nvPr/>
        </p:nvSpPr>
        <p:spPr>
          <a:xfrm>
            <a:off x="8778240" y="2194560"/>
            <a:ext cx="2834640" cy="329184"/>
          </a:xfrm>
          <a:prstGeom prst="rect">
            <a:avLst/>
          </a:prstGeom>
          <a:noFill/>
          <a:ln/>
        </p:spPr>
        <p:txBody>
          <a:bodyPr wrap="square" lIns="0" tIns="0" rIns="0" bIns="0" rtlCol="0" anchor="ctr"/>
          <a:lstStyle/>
          <a:p>
            <a:pPr marL="0" indent="0">
              <a:buNone/>
            </a:pPr>
            <a:r>
              <a:rPr lang="en-US" sz="950" dirty="0">
                <a:solidFill>
                  <a:srgbClr val="6E7F8F"/>
                </a:solidFill>
                <a:latin typeface="Courier New" pitchFamily="34" charset="0"/>
                <a:ea typeface="Courier New" pitchFamily="34" charset="-122"/>
                <a:cs typeface="Courier New" pitchFamily="34" charset="-120"/>
              </a:rPr>
              <a:t>combined_dataset.py:140</a:t>
            </a:r>
            <a:endParaRPr lang="en-US" sz="950" dirty="0"/>
          </a:p>
        </p:txBody>
      </p:sp>
      <p:sp>
        <p:nvSpPr>
          <p:cNvPr id="15" name="Shape 13"/>
          <p:cNvSpPr/>
          <p:nvPr/>
        </p:nvSpPr>
        <p:spPr>
          <a:xfrm>
            <a:off x="758952" y="2670048"/>
            <a:ext cx="0" cy="292608"/>
          </a:xfrm>
          <a:prstGeom prst="line">
            <a:avLst/>
          </a:prstGeom>
          <a:noFill/>
          <a:ln w="12700">
            <a:solidFill>
              <a:srgbClr val="CFD9E2"/>
            </a:solidFill>
            <a:prstDash val="solid"/>
          </a:ln>
        </p:spPr>
        <p:txBody>
          <a:bodyPr/>
          <a:lstStyle/>
          <a:p>
            <a:endParaRPr lang="en-AE"/>
          </a:p>
        </p:txBody>
      </p:sp>
      <p:sp>
        <p:nvSpPr>
          <p:cNvPr id="16" name="Shape 14"/>
          <p:cNvSpPr/>
          <p:nvPr/>
        </p:nvSpPr>
        <p:spPr>
          <a:xfrm>
            <a:off x="566928" y="3054096"/>
            <a:ext cx="384048" cy="384048"/>
          </a:xfrm>
          <a:prstGeom prst="ellipse">
            <a:avLst/>
          </a:prstGeom>
          <a:solidFill>
            <a:srgbClr val="1C7293"/>
          </a:solidFill>
          <a:ln/>
        </p:spPr>
        <p:txBody>
          <a:bodyPr/>
          <a:lstStyle/>
          <a:p>
            <a:endParaRPr lang="en-AE"/>
          </a:p>
        </p:txBody>
      </p:sp>
      <p:sp>
        <p:nvSpPr>
          <p:cNvPr id="17" name="Text 15"/>
          <p:cNvSpPr/>
          <p:nvPr/>
        </p:nvSpPr>
        <p:spPr>
          <a:xfrm>
            <a:off x="566928" y="305409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097280" y="2980944"/>
            <a:ext cx="2331720" cy="329184"/>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Daylight filter</a:t>
            </a:r>
            <a:endParaRPr lang="en-US" sz="1300" dirty="0"/>
          </a:p>
        </p:txBody>
      </p:sp>
      <p:sp>
        <p:nvSpPr>
          <p:cNvPr id="19" name="Text 17"/>
          <p:cNvSpPr/>
          <p:nvPr/>
        </p:nvSpPr>
        <p:spPr>
          <a:xfrm>
            <a:off x="3520440" y="2944368"/>
            <a:ext cx="5120640" cy="658368"/>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Keep only 08:00–17:00 SGT — 10 rows per day. Night hours carry no signal and would dominate the loss with trivial zeros.</a:t>
            </a:r>
            <a:endParaRPr lang="en-US" sz="1150" dirty="0"/>
          </a:p>
        </p:txBody>
      </p:sp>
      <p:sp>
        <p:nvSpPr>
          <p:cNvPr id="20" name="Text 18"/>
          <p:cNvSpPr/>
          <p:nvPr/>
        </p:nvSpPr>
        <p:spPr>
          <a:xfrm>
            <a:off x="8778240" y="2980944"/>
            <a:ext cx="2834640" cy="329184"/>
          </a:xfrm>
          <a:prstGeom prst="rect">
            <a:avLst/>
          </a:prstGeom>
          <a:noFill/>
          <a:ln/>
        </p:spPr>
        <p:txBody>
          <a:bodyPr wrap="square" lIns="0" tIns="0" rIns="0" bIns="0" rtlCol="0" anchor="ctr"/>
          <a:lstStyle/>
          <a:p>
            <a:pPr marL="0" indent="0">
              <a:buNone/>
            </a:pPr>
            <a:r>
              <a:rPr lang="en-US" sz="950" dirty="0">
                <a:solidFill>
                  <a:srgbClr val="6E7F8F"/>
                </a:solidFill>
                <a:latin typeface="Courier New" pitchFamily="34" charset="0"/>
                <a:ea typeface="Courier New" pitchFamily="34" charset="-122"/>
                <a:cs typeface="Courier New" pitchFamily="34" charset="-120"/>
              </a:rPr>
              <a:t>combined_dataset.py:163</a:t>
            </a:r>
            <a:endParaRPr lang="en-US" sz="950" dirty="0"/>
          </a:p>
        </p:txBody>
      </p:sp>
      <p:sp>
        <p:nvSpPr>
          <p:cNvPr id="21" name="Shape 19"/>
          <p:cNvSpPr/>
          <p:nvPr/>
        </p:nvSpPr>
        <p:spPr>
          <a:xfrm>
            <a:off x="758952" y="3456432"/>
            <a:ext cx="0" cy="292608"/>
          </a:xfrm>
          <a:prstGeom prst="line">
            <a:avLst/>
          </a:prstGeom>
          <a:noFill/>
          <a:ln w="12700">
            <a:solidFill>
              <a:srgbClr val="CFD9E2"/>
            </a:solidFill>
            <a:prstDash val="solid"/>
          </a:ln>
        </p:spPr>
        <p:txBody>
          <a:bodyPr/>
          <a:lstStyle/>
          <a:p>
            <a:endParaRPr lang="en-AE"/>
          </a:p>
        </p:txBody>
      </p:sp>
      <p:sp>
        <p:nvSpPr>
          <p:cNvPr id="22" name="Shape 20"/>
          <p:cNvSpPr/>
          <p:nvPr/>
        </p:nvSpPr>
        <p:spPr>
          <a:xfrm>
            <a:off x="566928" y="3840480"/>
            <a:ext cx="384048" cy="384048"/>
          </a:xfrm>
          <a:prstGeom prst="ellipse">
            <a:avLst/>
          </a:prstGeom>
          <a:solidFill>
            <a:srgbClr val="1C7293"/>
          </a:solidFill>
          <a:ln/>
        </p:spPr>
        <p:txBody>
          <a:bodyPr/>
          <a:lstStyle/>
          <a:p>
            <a:endParaRPr lang="en-AE"/>
          </a:p>
        </p:txBody>
      </p:sp>
      <p:sp>
        <p:nvSpPr>
          <p:cNvPr id="23" name="Text 21"/>
          <p:cNvSpPr/>
          <p:nvPr/>
        </p:nvSpPr>
        <p:spPr>
          <a:xfrm>
            <a:off x="566928" y="384048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1097280" y="3767328"/>
            <a:ext cx="2331720" cy="329184"/>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Match satellite images</a:t>
            </a:r>
            <a:endParaRPr lang="en-US" sz="1300" dirty="0"/>
          </a:p>
        </p:txBody>
      </p:sp>
      <p:sp>
        <p:nvSpPr>
          <p:cNvPr id="25" name="Text 23"/>
          <p:cNvSpPr/>
          <p:nvPr/>
        </p:nvSpPr>
        <p:spPr>
          <a:xfrm>
            <a:off x="3520440" y="3730752"/>
            <a:ext cx="5120640" cy="658368"/>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For each weather hour, binary-search the sorted image index and take the nearest frame within ±60 min.</a:t>
            </a:r>
            <a:endParaRPr lang="en-US" sz="1150" dirty="0"/>
          </a:p>
        </p:txBody>
      </p:sp>
      <p:sp>
        <p:nvSpPr>
          <p:cNvPr id="26" name="Text 24"/>
          <p:cNvSpPr/>
          <p:nvPr/>
        </p:nvSpPr>
        <p:spPr>
          <a:xfrm>
            <a:off x="8778240" y="3767328"/>
            <a:ext cx="2834640" cy="329184"/>
          </a:xfrm>
          <a:prstGeom prst="rect">
            <a:avLst/>
          </a:prstGeom>
          <a:noFill/>
          <a:ln/>
        </p:spPr>
        <p:txBody>
          <a:bodyPr wrap="square" lIns="0" tIns="0" rIns="0" bIns="0" rtlCol="0" anchor="ctr"/>
          <a:lstStyle/>
          <a:p>
            <a:pPr marL="0" indent="0">
              <a:buNone/>
            </a:pPr>
            <a:r>
              <a:rPr lang="en-US" sz="950" dirty="0">
                <a:solidFill>
                  <a:srgbClr val="6E7F8F"/>
                </a:solidFill>
                <a:latin typeface="Courier New" pitchFamily="34" charset="0"/>
                <a:ea typeface="Courier New" pitchFamily="34" charset="-122"/>
                <a:cs typeface="Courier New" pitchFamily="34" charset="-120"/>
              </a:rPr>
              <a:t>combined_dataset.py:61 match_images</a:t>
            </a:r>
            <a:endParaRPr lang="en-US" sz="950" dirty="0"/>
          </a:p>
        </p:txBody>
      </p:sp>
      <p:sp>
        <p:nvSpPr>
          <p:cNvPr id="27" name="Shape 25"/>
          <p:cNvSpPr/>
          <p:nvPr/>
        </p:nvSpPr>
        <p:spPr>
          <a:xfrm>
            <a:off x="758952" y="4242816"/>
            <a:ext cx="0" cy="292608"/>
          </a:xfrm>
          <a:prstGeom prst="line">
            <a:avLst/>
          </a:prstGeom>
          <a:noFill/>
          <a:ln w="12700">
            <a:solidFill>
              <a:srgbClr val="CFD9E2"/>
            </a:solidFill>
            <a:prstDash val="solid"/>
          </a:ln>
        </p:spPr>
        <p:txBody>
          <a:bodyPr/>
          <a:lstStyle/>
          <a:p>
            <a:endParaRPr lang="en-AE"/>
          </a:p>
        </p:txBody>
      </p:sp>
      <p:sp>
        <p:nvSpPr>
          <p:cNvPr id="28" name="Shape 26"/>
          <p:cNvSpPr/>
          <p:nvPr/>
        </p:nvSpPr>
        <p:spPr>
          <a:xfrm>
            <a:off x="566928" y="4626864"/>
            <a:ext cx="384048" cy="384048"/>
          </a:xfrm>
          <a:prstGeom prst="ellipse">
            <a:avLst/>
          </a:prstGeom>
          <a:solidFill>
            <a:srgbClr val="E8A33D"/>
          </a:solidFill>
          <a:ln/>
        </p:spPr>
        <p:txBody>
          <a:bodyPr/>
          <a:lstStyle/>
          <a:p>
            <a:endParaRPr lang="en-AE"/>
          </a:p>
        </p:txBody>
      </p:sp>
      <p:sp>
        <p:nvSpPr>
          <p:cNvPr id="29" name="Text 27"/>
          <p:cNvSpPr/>
          <p:nvPr/>
        </p:nvSpPr>
        <p:spPr>
          <a:xfrm>
            <a:off x="566928" y="4626864"/>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1097280" y="4553712"/>
            <a:ext cx="2331720" cy="329184"/>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Engineer features</a:t>
            </a:r>
            <a:endParaRPr lang="en-US" sz="1300" dirty="0"/>
          </a:p>
        </p:txBody>
      </p:sp>
      <p:sp>
        <p:nvSpPr>
          <p:cNvPr id="31" name="Text 29"/>
          <p:cNvSpPr/>
          <p:nvPr/>
        </p:nvSpPr>
        <p:spPr>
          <a:xfrm>
            <a:off x="3520440" y="4517136"/>
            <a:ext cx="5120640" cy="658368"/>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clear-sky ratio, cyclical hour/month encodings, lagged GHI.</a:t>
            </a:r>
            <a:endParaRPr lang="en-US" sz="1150" dirty="0"/>
          </a:p>
        </p:txBody>
      </p:sp>
      <p:sp>
        <p:nvSpPr>
          <p:cNvPr id="32" name="Text 30"/>
          <p:cNvSpPr/>
          <p:nvPr/>
        </p:nvSpPr>
        <p:spPr>
          <a:xfrm>
            <a:off x="8778240" y="4553712"/>
            <a:ext cx="2834640" cy="329184"/>
          </a:xfrm>
          <a:prstGeom prst="rect">
            <a:avLst/>
          </a:prstGeom>
          <a:noFill/>
          <a:ln/>
        </p:spPr>
        <p:txBody>
          <a:bodyPr wrap="square" lIns="0" tIns="0" rIns="0" bIns="0" rtlCol="0" anchor="ctr"/>
          <a:lstStyle/>
          <a:p>
            <a:pPr marL="0" indent="0">
              <a:buNone/>
            </a:pPr>
            <a:r>
              <a:rPr lang="en-US" sz="950" dirty="0">
                <a:solidFill>
                  <a:srgbClr val="6E7F8F"/>
                </a:solidFill>
                <a:latin typeface="Courier New" pitchFamily="34" charset="0"/>
                <a:ea typeface="Courier New" pitchFamily="34" charset="-122"/>
                <a:cs typeface="Courier New" pitchFamily="34" charset="-120"/>
              </a:rPr>
              <a:t>notebook §1 / model.py:_add_engineered_features</a:t>
            </a:r>
            <a:endParaRPr lang="en-US" sz="950" dirty="0"/>
          </a:p>
        </p:txBody>
      </p:sp>
      <p:sp>
        <p:nvSpPr>
          <p:cNvPr id="33" name="Shape 31"/>
          <p:cNvSpPr/>
          <p:nvPr/>
        </p:nvSpPr>
        <p:spPr>
          <a:xfrm>
            <a:off x="758952" y="5029200"/>
            <a:ext cx="0" cy="292608"/>
          </a:xfrm>
          <a:prstGeom prst="line">
            <a:avLst/>
          </a:prstGeom>
          <a:noFill/>
          <a:ln w="12700">
            <a:solidFill>
              <a:srgbClr val="CFD9E2"/>
            </a:solidFill>
            <a:prstDash val="solid"/>
          </a:ln>
        </p:spPr>
        <p:txBody>
          <a:bodyPr/>
          <a:lstStyle/>
          <a:p>
            <a:endParaRPr lang="en-AE"/>
          </a:p>
        </p:txBody>
      </p:sp>
      <p:sp>
        <p:nvSpPr>
          <p:cNvPr id="34" name="Shape 32"/>
          <p:cNvSpPr/>
          <p:nvPr/>
        </p:nvSpPr>
        <p:spPr>
          <a:xfrm>
            <a:off x="566928" y="5413248"/>
            <a:ext cx="384048" cy="384048"/>
          </a:xfrm>
          <a:prstGeom prst="ellipse">
            <a:avLst/>
          </a:prstGeom>
          <a:solidFill>
            <a:srgbClr val="E8A33D"/>
          </a:solidFill>
          <a:ln/>
        </p:spPr>
        <p:txBody>
          <a:bodyPr/>
          <a:lstStyle/>
          <a:p>
            <a:endParaRPr lang="en-AE"/>
          </a:p>
        </p:txBody>
      </p:sp>
      <p:sp>
        <p:nvSpPr>
          <p:cNvPr id="35" name="Text 33"/>
          <p:cNvSpPr/>
          <p:nvPr/>
        </p:nvSpPr>
        <p:spPr>
          <a:xfrm>
            <a:off x="566928" y="5413248"/>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6</a:t>
            </a:r>
            <a:endParaRPr lang="en-US" sz="1200" dirty="0"/>
          </a:p>
        </p:txBody>
      </p:sp>
      <p:sp>
        <p:nvSpPr>
          <p:cNvPr id="36" name="Text 34"/>
          <p:cNvSpPr/>
          <p:nvPr/>
        </p:nvSpPr>
        <p:spPr>
          <a:xfrm>
            <a:off x="1097280" y="5340096"/>
            <a:ext cx="2331720" cy="329184"/>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Cache as tensors</a:t>
            </a:r>
            <a:endParaRPr lang="en-US" sz="1300" dirty="0"/>
          </a:p>
        </p:txBody>
      </p:sp>
      <p:sp>
        <p:nvSpPr>
          <p:cNvPr id="37" name="Text 35"/>
          <p:cNvSpPr/>
          <p:nvPr/>
        </p:nvSpPr>
        <p:spPr>
          <a:xfrm>
            <a:off x="3520440" y="5303520"/>
            <a:ext cx="5120640" cy="658368"/>
          </a:xfrm>
          <a:prstGeom prst="rect">
            <a:avLst/>
          </a:prstGeom>
          <a:noFill/>
          <a:ln/>
        </p:spPr>
        <p:txBody>
          <a:bodyPr wrap="square" lIns="0" tIns="0" rIns="0" bIns="0" rtlCol="0" anchor="ctr"/>
          <a:lstStyle/>
          <a:p>
            <a:pPr marL="0" indent="0">
              <a:lnSpc>
                <a:spcPts val="1600"/>
              </a:lnSpc>
              <a:buNone/>
            </a:pPr>
            <a:r>
              <a:rPr lang="en-US" sz="1150" dirty="0">
                <a:solidFill>
                  <a:srgbClr val="3C5169"/>
                </a:solidFill>
                <a:latin typeface="Calibri" pitchFamily="34" charset="0"/>
                <a:ea typeface="Calibri" pitchFamily="34" charset="-122"/>
                <a:cs typeface="Calibri" pitchFamily="34" charset="-120"/>
              </a:rPr>
              <a:t>PNG → grayscale → 224×224 → float32 .npy → all 7,625 frames held in RAM for training.</a:t>
            </a:r>
            <a:endParaRPr lang="en-US" sz="1150" dirty="0"/>
          </a:p>
        </p:txBody>
      </p:sp>
      <p:sp>
        <p:nvSpPr>
          <p:cNvPr id="38" name="Text 36"/>
          <p:cNvSpPr/>
          <p:nvPr/>
        </p:nvSpPr>
        <p:spPr>
          <a:xfrm>
            <a:off x="8778240" y="5340096"/>
            <a:ext cx="2834640" cy="329184"/>
          </a:xfrm>
          <a:prstGeom prst="rect">
            <a:avLst/>
          </a:prstGeom>
          <a:noFill/>
          <a:ln/>
        </p:spPr>
        <p:txBody>
          <a:bodyPr wrap="square" lIns="0" tIns="0" rIns="0" bIns="0" rtlCol="0" anchor="ctr"/>
          <a:lstStyle/>
          <a:p>
            <a:pPr marL="0" indent="0">
              <a:buNone/>
            </a:pPr>
            <a:r>
              <a:rPr lang="en-US" sz="950" dirty="0">
                <a:solidFill>
                  <a:srgbClr val="6E7F8F"/>
                </a:solidFill>
                <a:latin typeface="Courier New" pitchFamily="34" charset="0"/>
                <a:ea typeface="Courier New" pitchFamily="34" charset="-122"/>
                <a:cs typeface="Courier New" pitchFamily="34" charset="-120"/>
              </a:rPr>
              <a:t>notebook §3–4</a:t>
            </a:r>
            <a:endParaRPr lang="en-US" sz="950" dirty="0"/>
          </a:p>
        </p:txBody>
      </p:sp>
      <p:sp>
        <p:nvSpPr>
          <p:cNvPr id="39" name="Shape 37"/>
          <p:cNvSpPr/>
          <p:nvPr/>
        </p:nvSpPr>
        <p:spPr>
          <a:xfrm>
            <a:off x="566928" y="6199632"/>
            <a:ext cx="11064240" cy="0"/>
          </a:xfrm>
          <a:prstGeom prst="roundRect">
            <a:avLst>
              <a:gd name="adj" fmla="val Infinity"/>
            </a:avLst>
          </a:prstGeom>
          <a:solidFill>
            <a:srgbClr val="EFF3F7"/>
          </a:solidFill>
          <a:ln/>
        </p:spPr>
        <p:txBody>
          <a:bodyPr/>
          <a:lstStyle/>
          <a:p>
            <a:endParaRPr lang="en-A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DATA — STATISTICS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Dataset and the chronological split</a:t>
            </a:r>
            <a:endParaRPr lang="en-US" sz="3000" dirty="0"/>
          </a:p>
        </p:txBody>
      </p:sp>
      <p:pic>
        <p:nvPicPr>
          <p:cNvPr id="4" name="Image 0" descr="/private/tmp/claude-501/-Users-qasimnalawala-Desktop-Project/4f805972-c040-4417-a161-56574a28f2f7/scratchpad/fig/splits.png"/>
          <p:cNvPicPr>
            <a:picLocks noChangeAspect="1"/>
          </p:cNvPicPr>
          <p:nvPr/>
        </p:nvPicPr>
        <p:blipFill>
          <a:blip r:embed="rId3"/>
          <a:stretch>
            <a:fillRect/>
          </a:stretch>
        </p:blipFill>
        <p:spPr>
          <a:xfrm>
            <a:off x="566928" y="1298448"/>
            <a:ext cx="6903720" cy="2468880"/>
          </a:xfrm>
          <a:prstGeom prst="rect">
            <a:avLst/>
          </a:prstGeom>
        </p:spPr>
      </p:pic>
      <p:sp>
        <p:nvSpPr>
          <p:cNvPr id="5" name="Text 2"/>
          <p:cNvSpPr/>
          <p:nvPr/>
        </p:nvSpPr>
        <p:spPr>
          <a:xfrm>
            <a:off x="7635240" y="1417320"/>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Records</a:t>
            </a:r>
            <a:endParaRPr lang="en-US" sz="1100" dirty="0"/>
          </a:p>
        </p:txBody>
      </p:sp>
      <p:sp>
        <p:nvSpPr>
          <p:cNvPr id="6" name="Text 3"/>
          <p:cNvSpPr/>
          <p:nvPr/>
        </p:nvSpPr>
        <p:spPr>
          <a:xfrm>
            <a:off x="9052560" y="1417320"/>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7,640 hourly rows</a:t>
            </a:r>
            <a:endParaRPr lang="en-US" sz="1100" dirty="0"/>
          </a:p>
        </p:txBody>
      </p:sp>
      <p:sp>
        <p:nvSpPr>
          <p:cNvPr id="7" name="Text 4"/>
          <p:cNvSpPr/>
          <p:nvPr/>
        </p:nvSpPr>
        <p:spPr>
          <a:xfrm>
            <a:off x="7635240" y="1650492"/>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Period</a:t>
            </a:r>
            <a:endParaRPr lang="en-US" sz="1100" dirty="0"/>
          </a:p>
        </p:txBody>
      </p:sp>
      <p:sp>
        <p:nvSpPr>
          <p:cNvPr id="8" name="Text 5"/>
          <p:cNvSpPr/>
          <p:nvPr/>
        </p:nvSpPr>
        <p:spPr>
          <a:xfrm>
            <a:off x="9052560" y="1650492"/>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2024-01-01 → 2026-02-02</a:t>
            </a:r>
            <a:endParaRPr lang="en-US" sz="1100" dirty="0"/>
          </a:p>
        </p:txBody>
      </p:sp>
      <p:sp>
        <p:nvSpPr>
          <p:cNvPr id="9" name="Text 6"/>
          <p:cNvSpPr/>
          <p:nvPr/>
        </p:nvSpPr>
        <p:spPr>
          <a:xfrm>
            <a:off x="7635240" y="1883664"/>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Hours kept</a:t>
            </a:r>
            <a:endParaRPr lang="en-US" sz="1100" dirty="0"/>
          </a:p>
        </p:txBody>
      </p:sp>
      <p:sp>
        <p:nvSpPr>
          <p:cNvPr id="10" name="Text 7"/>
          <p:cNvSpPr/>
          <p:nvPr/>
        </p:nvSpPr>
        <p:spPr>
          <a:xfrm>
            <a:off x="9052560" y="1883664"/>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08:00–17:00 SGT (10 / day)</a:t>
            </a:r>
            <a:endParaRPr lang="en-US" sz="1100" dirty="0"/>
          </a:p>
        </p:txBody>
      </p:sp>
      <p:sp>
        <p:nvSpPr>
          <p:cNvPr id="11" name="Text 8"/>
          <p:cNvSpPr/>
          <p:nvPr/>
        </p:nvSpPr>
        <p:spPr>
          <a:xfrm>
            <a:off x="7635240" y="2116836"/>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With an image</a:t>
            </a:r>
            <a:endParaRPr lang="en-US" sz="1100" dirty="0"/>
          </a:p>
        </p:txBody>
      </p:sp>
      <p:sp>
        <p:nvSpPr>
          <p:cNvPr id="12" name="Text 9"/>
          <p:cNvSpPr/>
          <p:nvPr/>
        </p:nvSpPr>
        <p:spPr>
          <a:xfrm>
            <a:off x="9052560" y="2116836"/>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7,635  (99.93%)</a:t>
            </a:r>
            <a:endParaRPr lang="en-US" sz="1100" dirty="0"/>
          </a:p>
        </p:txBody>
      </p:sp>
      <p:sp>
        <p:nvSpPr>
          <p:cNvPr id="13" name="Text 10"/>
          <p:cNvSpPr/>
          <p:nvPr/>
        </p:nvSpPr>
        <p:spPr>
          <a:xfrm>
            <a:off x="7635240" y="2350008"/>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Frames cached</a:t>
            </a:r>
            <a:endParaRPr lang="en-US" sz="1100" dirty="0"/>
          </a:p>
        </p:txBody>
      </p:sp>
      <p:sp>
        <p:nvSpPr>
          <p:cNvPr id="14" name="Text 11"/>
          <p:cNvSpPr/>
          <p:nvPr/>
        </p:nvSpPr>
        <p:spPr>
          <a:xfrm>
            <a:off x="9052560" y="2350008"/>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7,625</a:t>
            </a:r>
            <a:endParaRPr lang="en-US" sz="1100" dirty="0"/>
          </a:p>
        </p:txBody>
      </p:sp>
      <p:sp>
        <p:nvSpPr>
          <p:cNvPr id="15" name="Text 12"/>
          <p:cNvSpPr/>
          <p:nvPr/>
        </p:nvSpPr>
        <p:spPr>
          <a:xfrm>
            <a:off x="7635240" y="2583180"/>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After dropna</a:t>
            </a:r>
            <a:endParaRPr lang="en-US" sz="1100" dirty="0"/>
          </a:p>
        </p:txBody>
      </p:sp>
      <p:sp>
        <p:nvSpPr>
          <p:cNvPr id="16" name="Text 13"/>
          <p:cNvSpPr/>
          <p:nvPr/>
        </p:nvSpPr>
        <p:spPr>
          <a:xfrm>
            <a:off x="9052560" y="2583180"/>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7,634 rows</a:t>
            </a:r>
            <a:endParaRPr lang="en-US" sz="1100" dirty="0"/>
          </a:p>
        </p:txBody>
      </p:sp>
      <p:sp>
        <p:nvSpPr>
          <p:cNvPr id="17" name="Text 14"/>
          <p:cNvSpPr/>
          <p:nvPr/>
        </p:nvSpPr>
        <p:spPr>
          <a:xfrm>
            <a:off x="7635240" y="2816352"/>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Split 70/15/15</a:t>
            </a:r>
            <a:endParaRPr lang="en-US" sz="1100" dirty="0"/>
          </a:p>
        </p:txBody>
      </p:sp>
      <p:sp>
        <p:nvSpPr>
          <p:cNvPr id="18" name="Text 15"/>
          <p:cNvSpPr/>
          <p:nvPr/>
        </p:nvSpPr>
        <p:spPr>
          <a:xfrm>
            <a:off x="9052560" y="2816352"/>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5,343 / 1,145 / 1,146</a:t>
            </a:r>
            <a:endParaRPr lang="en-US" sz="1100" dirty="0"/>
          </a:p>
        </p:txBody>
      </p:sp>
      <p:sp>
        <p:nvSpPr>
          <p:cNvPr id="19" name="Text 16"/>
          <p:cNvSpPr/>
          <p:nvPr/>
        </p:nvSpPr>
        <p:spPr>
          <a:xfrm>
            <a:off x="7635240" y="3049524"/>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Deep samples</a:t>
            </a:r>
            <a:endParaRPr lang="en-US" sz="1100" dirty="0"/>
          </a:p>
        </p:txBody>
      </p:sp>
      <p:sp>
        <p:nvSpPr>
          <p:cNvPr id="20" name="Text 17"/>
          <p:cNvSpPr/>
          <p:nvPr/>
        </p:nvSpPr>
        <p:spPr>
          <a:xfrm>
            <a:off x="9052560" y="3049524"/>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5,312 / 1,119 / 1,120</a:t>
            </a:r>
            <a:endParaRPr lang="en-US" sz="1100" dirty="0"/>
          </a:p>
        </p:txBody>
      </p:sp>
      <p:sp>
        <p:nvSpPr>
          <p:cNvPr id="21" name="Text 18"/>
          <p:cNvSpPr/>
          <p:nvPr/>
        </p:nvSpPr>
        <p:spPr>
          <a:xfrm>
            <a:off x="7635240" y="3282696"/>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Train GHI</a:t>
            </a:r>
            <a:endParaRPr lang="en-US" sz="1100" dirty="0"/>
          </a:p>
        </p:txBody>
      </p:sp>
      <p:sp>
        <p:nvSpPr>
          <p:cNvPr id="22" name="Text 19"/>
          <p:cNvSpPr/>
          <p:nvPr/>
        </p:nvSpPr>
        <p:spPr>
          <a:xfrm>
            <a:off x="9052560" y="3282696"/>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475.05 ± 259.62 W/m²</a:t>
            </a:r>
            <a:endParaRPr lang="en-US" sz="1100" dirty="0"/>
          </a:p>
        </p:txBody>
      </p:sp>
      <p:sp>
        <p:nvSpPr>
          <p:cNvPr id="23" name="Text 20"/>
          <p:cNvSpPr/>
          <p:nvPr/>
        </p:nvSpPr>
        <p:spPr>
          <a:xfrm>
            <a:off x="7635240" y="3515868"/>
            <a:ext cx="1417320" cy="23317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Features</a:t>
            </a:r>
            <a:endParaRPr lang="en-US" sz="1100" dirty="0"/>
          </a:p>
        </p:txBody>
      </p:sp>
      <p:sp>
        <p:nvSpPr>
          <p:cNvPr id="24" name="Text 21"/>
          <p:cNvSpPr/>
          <p:nvPr/>
        </p:nvSpPr>
        <p:spPr>
          <a:xfrm>
            <a:off x="9052560" y="3515868"/>
            <a:ext cx="2587752" cy="23317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11 columns × 24 steps</a:t>
            </a:r>
            <a:endParaRPr lang="en-US" sz="1100" dirty="0"/>
          </a:p>
        </p:txBody>
      </p:sp>
      <p:sp>
        <p:nvSpPr>
          <p:cNvPr id="25" name="Text 22"/>
          <p:cNvSpPr/>
          <p:nvPr/>
        </p:nvSpPr>
        <p:spPr>
          <a:xfrm>
            <a:off x="566928" y="3913632"/>
            <a:ext cx="7315200" cy="310896"/>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Three properties I checked before trusting the split</a:t>
            </a:r>
            <a:endParaRPr lang="en-US" sz="1350" dirty="0"/>
          </a:p>
        </p:txBody>
      </p:sp>
      <p:sp>
        <p:nvSpPr>
          <p:cNvPr id="26" name="Shape 23"/>
          <p:cNvSpPr/>
          <p:nvPr/>
        </p:nvSpPr>
        <p:spPr>
          <a:xfrm>
            <a:off x="566928" y="4297680"/>
            <a:ext cx="3520440" cy="1627632"/>
          </a:xfrm>
          <a:prstGeom prst="roundRect">
            <a:avLst>
              <a:gd name="adj" fmla="val 3371"/>
            </a:avLst>
          </a:prstGeom>
          <a:solidFill>
            <a:srgbClr val="EFF3F7"/>
          </a:solidFill>
          <a:ln w="7620">
            <a:solidFill>
              <a:srgbClr val="CFD9E2"/>
            </a:solidFill>
            <a:prstDash val="solid"/>
          </a:ln>
        </p:spPr>
        <p:txBody>
          <a:bodyPr/>
          <a:lstStyle/>
          <a:p>
            <a:endParaRPr lang="en-AE"/>
          </a:p>
        </p:txBody>
      </p:sp>
      <p:sp>
        <p:nvSpPr>
          <p:cNvPr id="27" name="Shape 24"/>
          <p:cNvSpPr/>
          <p:nvPr/>
        </p:nvSpPr>
        <p:spPr>
          <a:xfrm>
            <a:off x="786384" y="4480560"/>
            <a:ext cx="329184" cy="329184"/>
          </a:xfrm>
          <a:prstGeom prst="ellipse">
            <a:avLst/>
          </a:prstGeom>
          <a:solidFill>
            <a:srgbClr val="2C6E49"/>
          </a:solidFill>
          <a:ln/>
        </p:spPr>
        <p:txBody>
          <a:bodyPr/>
          <a:lstStyle/>
          <a:p>
            <a:endParaRPr lang="en-AE"/>
          </a:p>
        </p:txBody>
      </p:sp>
      <p:sp>
        <p:nvSpPr>
          <p:cNvPr id="28" name="Text 25"/>
          <p:cNvSpPr/>
          <p:nvPr/>
        </p:nvSpPr>
        <p:spPr>
          <a:xfrm>
            <a:off x="786384" y="44805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9" name="Text 26"/>
          <p:cNvSpPr/>
          <p:nvPr/>
        </p:nvSpPr>
        <p:spPr>
          <a:xfrm>
            <a:off x="1188720" y="4462272"/>
            <a:ext cx="2743200" cy="329184"/>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No shuffling</a:t>
            </a:r>
            <a:endParaRPr lang="en-US" sz="1250" dirty="0"/>
          </a:p>
        </p:txBody>
      </p:sp>
      <p:sp>
        <p:nvSpPr>
          <p:cNvPr id="30" name="Text 27"/>
          <p:cNvSpPr/>
          <p:nvPr/>
        </p:nvSpPr>
        <p:spPr>
          <a:xfrm>
            <a:off x="804672" y="4864608"/>
            <a:ext cx="3108960" cy="1005840"/>
          </a:xfrm>
          <a:prstGeom prst="rect">
            <a:avLst/>
          </a:prstGeom>
          <a:noFill/>
          <a:ln/>
        </p:spPr>
        <p:txBody>
          <a:bodyPr wrap="square" lIns="0" tIns="0" rIns="0" bIns="0" rtlCol="0" anchor="ctr"/>
          <a:lstStyle/>
          <a:p>
            <a:pPr marL="0" indent="0">
              <a:lnSpc>
                <a:spcPts val="1500"/>
              </a:lnSpc>
              <a:buNone/>
            </a:pPr>
            <a:r>
              <a:rPr lang="en-US" sz="1000" dirty="0">
                <a:solidFill>
                  <a:srgbClr val="3C5169"/>
                </a:solidFill>
                <a:latin typeface="Calibri" pitchFamily="34" charset="0"/>
                <a:ea typeface="Calibri" pitchFamily="34" charset="-122"/>
                <a:cs typeface="Calibri" pitchFamily="34" charset="-120"/>
              </a:rPr>
              <a:t>The split is a strict time cut. Train ends 18 Jun 2025, validation ends 11 Oct 2025, test runs to 2 Feb 2026 — so the test set is genuinely the future relative to training.</a:t>
            </a:r>
            <a:endParaRPr lang="en-US" sz="1000" dirty="0"/>
          </a:p>
        </p:txBody>
      </p:sp>
      <p:sp>
        <p:nvSpPr>
          <p:cNvPr id="31" name="Shape 28"/>
          <p:cNvSpPr/>
          <p:nvPr/>
        </p:nvSpPr>
        <p:spPr>
          <a:xfrm>
            <a:off x="4270248" y="4297680"/>
            <a:ext cx="3520440" cy="1627632"/>
          </a:xfrm>
          <a:prstGeom prst="roundRect">
            <a:avLst>
              <a:gd name="adj" fmla="val 3371"/>
            </a:avLst>
          </a:prstGeom>
          <a:solidFill>
            <a:srgbClr val="EFF3F7"/>
          </a:solidFill>
          <a:ln w="7620">
            <a:solidFill>
              <a:srgbClr val="CFD9E2"/>
            </a:solidFill>
            <a:prstDash val="solid"/>
          </a:ln>
        </p:spPr>
        <p:txBody>
          <a:bodyPr/>
          <a:lstStyle/>
          <a:p>
            <a:endParaRPr lang="en-AE"/>
          </a:p>
        </p:txBody>
      </p:sp>
      <p:sp>
        <p:nvSpPr>
          <p:cNvPr id="32" name="Shape 29"/>
          <p:cNvSpPr/>
          <p:nvPr/>
        </p:nvSpPr>
        <p:spPr>
          <a:xfrm>
            <a:off x="4489704" y="4480560"/>
            <a:ext cx="329184" cy="329184"/>
          </a:xfrm>
          <a:prstGeom prst="ellipse">
            <a:avLst/>
          </a:prstGeom>
          <a:solidFill>
            <a:srgbClr val="2C6E49"/>
          </a:solidFill>
          <a:ln/>
        </p:spPr>
        <p:txBody>
          <a:bodyPr/>
          <a:lstStyle/>
          <a:p>
            <a:endParaRPr lang="en-AE"/>
          </a:p>
        </p:txBody>
      </p:sp>
      <p:sp>
        <p:nvSpPr>
          <p:cNvPr id="33" name="Text 30"/>
          <p:cNvSpPr/>
          <p:nvPr/>
        </p:nvSpPr>
        <p:spPr>
          <a:xfrm>
            <a:off x="4489704" y="44805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31"/>
          <p:cNvSpPr/>
          <p:nvPr/>
        </p:nvSpPr>
        <p:spPr>
          <a:xfrm>
            <a:off x="4892040" y="4462272"/>
            <a:ext cx="2743200" cy="329184"/>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No window crosses a boundary</a:t>
            </a:r>
            <a:endParaRPr lang="en-US" sz="1250" dirty="0"/>
          </a:p>
        </p:txBody>
      </p:sp>
      <p:sp>
        <p:nvSpPr>
          <p:cNvPr id="35" name="Text 32"/>
          <p:cNvSpPr/>
          <p:nvPr/>
        </p:nvSpPr>
        <p:spPr>
          <a:xfrm>
            <a:off x="4507992" y="4864608"/>
            <a:ext cx="3108960" cy="1005840"/>
          </a:xfrm>
          <a:prstGeom prst="rect">
            <a:avLst/>
          </a:prstGeom>
          <a:noFill/>
          <a:ln/>
        </p:spPr>
        <p:txBody>
          <a:bodyPr wrap="square" lIns="0" tIns="0" rIns="0" bIns="0" rtlCol="0" anchor="ctr"/>
          <a:lstStyle/>
          <a:p>
            <a:pPr marL="0" indent="0">
              <a:lnSpc>
                <a:spcPts val="1500"/>
              </a:lnSpc>
              <a:buNone/>
            </a:pPr>
            <a:r>
              <a:rPr lang="en-US" sz="1000" dirty="0">
                <a:solidFill>
                  <a:srgbClr val="3C5169"/>
                </a:solidFill>
                <a:latin typeface="Calibri" pitchFamily="34" charset="0"/>
                <a:ea typeface="Calibri" pitchFamily="34" charset="-122"/>
                <a:cs typeface="Calibri" pitchFamily="34" charset="-120"/>
              </a:rPr>
              <a:t>Each split is wrapped in its own Dataset object, so a 24-step lookback can never reach back across the cut. This costs the first 23 rows of each split (5,343 → 5,312) and is the reason for that deficit.</a:t>
            </a:r>
            <a:endParaRPr lang="en-US" sz="1000" dirty="0"/>
          </a:p>
        </p:txBody>
      </p:sp>
      <p:sp>
        <p:nvSpPr>
          <p:cNvPr id="36" name="Shape 33"/>
          <p:cNvSpPr/>
          <p:nvPr/>
        </p:nvSpPr>
        <p:spPr>
          <a:xfrm>
            <a:off x="7973568" y="4297680"/>
            <a:ext cx="3520440" cy="1627632"/>
          </a:xfrm>
          <a:prstGeom prst="roundRect">
            <a:avLst>
              <a:gd name="adj" fmla="val 3371"/>
            </a:avLst>
          </a:prstGeom>
          <a:solidFill>
            <a:srgbClr val="EFF3F7"/>
          </a:solidFill>
          <a:ln w="7620">
            <a:solidFill>
              <a:srgbClr val="CFD9E2"/>
            </a:solidFill>
            <a:prstDash val="solid"/>
          </a:ln>
        </p:spPr>
        <p:txBody>
          <a:bodyPr/>
          <a:lstStyle/>
          <a:p>
            <a:endParaRPr lang="en-AE"/>
          </a:p>
        </p:txBody>
      </p:sp>
      <p:sp>
        <p:nvSpPr>
          <p:cNvPr id="37" name="Shape 34"/>
          <p:cNvSpPr/>
          <p:nvPr/>
        </p:nvSpPr>
        <p:spPr>
          <a:xfrm>
            <a:off x="8193024" y="4480560"/>
            <a:ext cx="329184" cy="329184"/>
          </a:xfrm>
          <a:prstGeom prst="ellipse">
            <a:avLst/>
          </a:prstGeom>
          <a:solidFill>
            <a:srgbClr val="2C6E49"/>
          </a:solidFill>
          <a:ln/>
        </p:spPr>
        <p:txBody>
          <a:bodyPr/>
          <a:lstStyle/>
          <a:p>
            <a:endParaRPr lang="en-AE"/>
          </a:p>
        </p:txBody>
      </p:sp>
      <p:sp>
        <p:nvSpPr>
          <p:cNvPr id="38" name="Text 35"/>
          <p:cNvSpPr/>
          <p:nvPr/>
        </p:nvSpPr>
        <p:spPr>
          <a:xfrm>
            <a:off x="8193024" y="44805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6"/>
          <p:cNvSpPr/>
          <p:nvPr/>
        </p:nvSpPr>
        <p:spPr>
          <a:xfrm>
            <a:off x="8595360" y="4462272"/>
            <a:ext cx="2743200" cy="329184"/>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Only past values as inputs</a:t>
            </a:r>
            <a:endParaRPr lang="en-US" sz="1250" dirty="0"/>
          </a:p>
        </p:txBody>
      </p:sp>
      <p:sp>
        <p:nvSpPr>
          <p:cNvPr id="40" name="Text 37"/>
          <p:cNvSpPr/>
          <p:nvPr/>
        </p:nvSpPr>
        <p:spPr>
          <a:xfrm>
            <a:off x="8211312" y="4864608"/>
            <a:ext cx="3108960" cy="1005840"/>
          </a:xfrm>
          <a:prstGeom prst="rect">
            <a:avLst/>
          </a:prstGeom>
          <a:noFill/>
          <a:ln/>
        </p:spPr>
        <p:txBody>
          <a:bodyPr wrap="square" lIns="0" tIns="0" rIns="0" bIns="0" rtlCol="0" anchor="ctr"/>
          <a:lstStyle/>
          <a:p>
            <a:pPr marL="0" indent="0">
              <a:lnSpc>
                <a:spcPts val="1500"/>
              </a:lnSpc>
              <a:buNone/>
            </a:pPr>
            <a:r>
              <a:rPr lang="en-US" sz="1000" dirty="0">
                <a:solidFill>
                  <a:srgbClr val="3C5169"/>
                </a:solidFill>
                <a:latin typeface="Calibri" pitchFamily="34" charset="0"/>
                <a:ea typeface="Calibri" pitchFamily="34" charset="-122"/>
                <a:cs typeface="Calibri" pitchFamily="34" charset="-120"/>
              </a:rPr>
              <a:t>Every feature is observable at issue time: lagged GHI, current weather, cyclical time. The one future-dated input is clear-sky GHI, which is pure astronomy.</a:t>
            </a:r>
            <a:endParaRPr lang="en-US" sz="1000" dirty="0"/>
          </a:p>
        </p:txBody>
      </p:sp>
      <p:sp>
        <p:nvSpPr>
          <p:cNvPr id="41" name="Text 38"/>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Split logic: solar_pv_main.ipynb §5;  statistics recomputed from combined_dataset.csv and verified against train_stats.json.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PREPROCESSING</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Eleven tabular features, and why each one is there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53312"/>
          <a:ext cx="6995160" cy="3657600"/>
        </p:xfrm>
        <a:graphic>
          <a:graphicData uri="http://schemas.openxmlformats.org/drawingml/2006/table">
            <a:tbl>
              <a:tblPr/>
              <a:tblGrid>
                <a:gridCol w="5029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6576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65760">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clearsky_ratio</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GHI / clear-sky GHI — the cloud attenuation factor itself. Detrends the diurnal cycle.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65760">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cloud_cover</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ERA5 total cloud fraction, %. Direct proxy for attenuation.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temperature_2m</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Correlates 0.86 with GHI — largely a proxy for accumulated insolation.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365760">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rain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mm. Non-zero rain implies deep cloud and strong attenuation.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wind_speed_10m</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Surface proxy for advection speed of the cloud field.</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365760">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relative_humidity_2m</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High RH precedes convective cloud formation.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7-8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sin_hour, cos_hour</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Cyclical encoding — 23:00 and 00:00 must be adjacent in feature space.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r h="365760">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9-10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sin_month, cos_month</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Seasonal cycle without a December/January discontinuity.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ghi_lag1</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Previous hour's GHI — the persistence signal, made explicit.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9"/>
                  </a:ext>
                </a:extLst>
              </a:tr>
            </a:tbl>
          </a:graphicData>
        </a:graphic>
      </p:graphicFrame>
      <p:sp>
        <p:nvSpPr>
          <p:cNvPr id="5" name="Shape 2"/>
          <p:cNvSpPr/>
          <p:nvPr/>
        </p:nvSpPr>
        <p:spPr>
          <a:xfrm>
            <a:off x="7818120" y="1353312"/>
            <a:ext cx="3822192" cy="2148840"/>
          </a:xfrm>
          <a:prstGeom prst="roundRect">
            <a:avLst>
              <a:gd name="adj" fmla="val 2553"/>
            </a:avLst>
          </a:prstGeom>
          <a:solidFill>
            <a:srgbClr val="EFF3F7"/>
          </a:solidFill>
          <a:ln w="7620">
            <a:solidFill>
              <a:srgbClr val="CFD9E2"/>
            </a:solidFill>
            <a:prstDash val="solid"/>
          </a:ln>
        </p:spPr>
        <p:txBody>
          <a:bodyPr/>
          <a:lstStyle/>
          <a:p>
            <a:endParaRPr lang="en-AE"/>
          </a:p>
        </p:txBody>
      </p:sp>
      <p:sp>
        <p:nvSpPr>
          <p:cNvPr id="6" name="Text 3"/>
          <p:cNvSpPr/>
          <p:nvPr/>
        </p:nvSpPr>
        <p:spPr>
          <a:xfrm>
            <a:off x="8065008" y="1481328"/>
            <a:ext cx="338328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Normalisation</a:t>
            </a:r>
            <a:endParaRPr lang="en-US" sz="1300" dirty="0"/>
          </a:p>
        </p:txBody>
      </p:sp>
      <p:sp>
        <p:nvSpPr>
          <p:cNvPr id="7" name="Text 4"/>
          <p:cNvSpPr/>
          <p:nvPr/>
        </p:nvSpPr>
        <p:spPr>
          <a:xfrm>
            <a:off x="8065008" y="1828800"/>
            <a:ext cx="3383280" cy="1234440"/>
          </a:xfrm>
          <a:prstGeom prst="rect">
            <a:avLst/>
          </a:prstGeom>
          <a:noFill/>
          <a:ln/>
        </p:spPr>
        <p:txBody>
          <a:bodyPr wrap="square" lIns="0" tIns="0" rIns="0" bIns="0" rtlCol="0" anchor="ctr"/>
          <a:lstStyle/>
          <a:p>
            <a:pPr marL="0" indent="0">
              <a:lnSpc>
                <a:spcPts val="1550"/>
              </a:lnSpc>
              <a:buNone/>
            </a:pPr>
            <a:r>
              <a:rPr lang="en-US" sz="1100" dirty="0">
                <a:solidFill>
                  <a:srgbClr val="3C5169"/>
                </a:solidFill>
                <a:latin typeface="Calibri" pitchFamily="34" charset="0"/>
                <a:ea typeface="Calibri" pitchFamily="34" charset="-122"/>
                <a:cs typeface="Calibri" pitchFamily="34" charset="-120"/>
              </a:rPr>
              <a:t>Per-column z-scoring with statistics computed on the TRAINING split only, then applied unchanged to validation, test and live inference. The vectors are persisted to train_stats.json so the deployed service normalises identically to training.</a:t>
            </a:r>
            <a:endParaRPr lang="en-US" sz="1100" dirty="0"/>
          </a:p>
        </p:txBody>
      </p:sp>
      <p:sp>
        <p:nvSpPr>
          <p:cNvPr id="8" name="Text 5"/>
          <p:cNvSpPr/>
          <p:nvPr/>
        </p:nvSpPr>
        <p:spPr>
          <a:xfrm>
            <a:off x="8065008" y="3072384"/>
            <a:ext cx="3383280" cy="365760"/>
          </a:xfrm>
          <a:prstGeom prst="rect">
            <a:avLst/>
          </a:prstGeom>
          <a:noFill/>
          <a:ln/>
        </p:spPr>
        <p:txBody>
          <a:bodyPr wrap="square" lIns="0" tIns="0" rIns="0" bIns="0" rtlCol="0" anchor="ctr"/>
          <a:lstStyle/>
          <a:p>
            <a:pPr marL="0" indent="0">
              <a:buNone/>
            </a:pPr>
            <a:r>
              <a:rPr lang="en-US" sz="1100" i="1" dirty="0">
                <a:solidFill>
                  <a:srgbClr val="6E7F8F"/>
                </a:solidFill>
                <a:latin typeface="Calibri" pitchFamily="34" charset="0"/>
                <a:ea typeface="Calibri" pitchFamily="34" charset="-122"/>
                <a:cs typeface="Calibri" pitchFamily="34" charset="-120"/>
              </a:rPr>
              <a:t>Targets are z-scored with train GHI mean 475.05 / sd 259.62.</a:t>
            </a:r>
            <a:endParaRPr lang="en-US" sz="1100" dirty="0"/>
          </a:p>
        </p:txBody>
      </p:sp>
      <p:sp>
        <p:nvSpPr>
          <p:cNvPr id="9" name="Shape 6"/>
          <p:cNvSpPr/>
          <p:nvPr/>
        </p:nvSpPr>
        <p:spPr>
          <a:xfrm>
            <a:off x="7818120" y="3639312"/>
            <a:ext cx="3822192" cy="2377440"/>
          </a:xfrm>
          <a:prstGeom prst="roundRect">
            <a:avLst>
              <a:gd name="adj" fmla="val 2308"/>
            </a:avLst>
          </a:prstGeom>
          <a:solidFill>
            <a:srgbClr val="FBF3E4"/>
          </a:solidFill>
          <a:ln w="7620">
            <a:solidFill>
              <a:srgbClr val="CFD9E2"/>
            </a:solidFill>
            <a:prstDash val="solid"/>
          </a:ln>
        </p:spPr>
        <p:txBody>
          <a:bodyPr/>
          <a:lstStyle/>
          <a:p>
            <a:endParaRPr lang="en-AE"/>
          </a:p>
        </p:txBody>
      </p:sp>
      <p:sp>
        <p:nvSpPr>
          <p:cNvPr id="10" name="Text 7"/>
          <p:cNvSpPr/>
          <p:nvPr/>
        </p:nvSpPr>
        <p:spPr>
          <a:xfrm>
            <a:off x="8065008" y="3767328"/>
            <a:ext cx="3383280" cy="292608"/>
          </a:xfrm>
          <a:prstGeom prst="rect">
            <a:avLst/>
          </a:prstGeom>
          <a:noFill/>
          <a:ln/>
        </p:spPr>
        <p:txBody>
          <a:bodyPr wrap="square" lIns="0" tIns="0" rIns="0" bIns="0" rtlCol="0" anchor="ctr"/>
          <a:lstStyle/>
          <a:p>
            <a:pPr marL="0" indent="0">
              <a:buNone/>
            </a:pPr>
            <a:r>
              <a:rPr lang="en-US" sz="1300" b="1" dirty="0">
                <a:solidFill>
                  <a:srgbClr val="B87A1B"/>
                </a:solidFill>
                <a:latin typeface="Calibri" pitchFamily="34" charset="0"/>
                <a:ea typeface="Calibri" pitchFamily="34" charset="-122"/>
                <a:cs typeface="Calibri" pitchFamily="34" charset="-120"/>
              </a:rPr>
              <a:t>Image preprocessing</a:t>
            </a:r>
            <a:endParaRPr lang="en-US" sz="1300" dirty="0"/>
          </a:p>
        </p:txBody>
      </p:sp>
      <p:sp>
        <p:nvSpPr>
          <p:cNvPr id="11" name="Text 8"/>
          <p:cNvSpPr/>
          <p:nvPr/>
        </p:nvSpPr>
        <p:spPr>
          <a:xfrm>
            <a:off x="8065008" y="4114800"/>
            <a:ext cx="3383280" cy="1783080"/>
          </a:xfrm>
          <a:prstGeom prst="rect">
            <a:avLst/>
          </a:prstGeom>
          <a:noFill/>
          <a:ln/>
        </p:spPr>
        <p:txBody>
          <a:bodyPr wrap="square" lIns="0" tIns="0" rIns="0" bIns="0" rtlCol="0" anchor="ctr"/>
          <a:lstStyle/>
          <a:p>
            <a:pPr marL="0" indent="0">
              <a:lnSpc>
                <a:spcPts val="1550"/>
              </a:lnSpc>
              <a:buNone/>
            </a:pPr>
            <a:r>
              <a:rPr lang="en-US" sz="1100" dirty="0">
                <a:solidFill>
                  <a:srgbClr val="3C5169"/>
                </a:solidFill>
                <a:latin typeface="Calibri" pitchFamily="34" charset="0"/>
                <a:ea typeface="Calibri" pitchFamily="34" charset="-122"/>
                <a:cs typeface="Calibri" pitchFamily="34" charset="-120"/>
              </a:rPr>
              <a:t>PNG → L (grayscale) → 224×224 bilinear → /255 → replicate to 3 channels → ImageNet z-score.
</a:t>
            </a:r>
            <a:r>
              <a:rPr lang="en-US" sz="1100" b="1" dirty="0">
                <a:solidFill>
                  <a:srgbClr val="0B2545"/>
                </a:solidFill>
                <a:latin typeface="Calibri" pitchFamily="34" charset="0"/>
                <a:ea typeface="Calibri" pitchFamily="34" charset="-122"/>
                <a:cs typeface="Calibri" pitchFamily="34" charset="-120"/>
              </a:rPr>
              <a:t>Why grayscale? </a:t>
            </a:r>
            <a:r>
              <a:rPr lang="en-US" sz="1100" dirty="0">
                <a:solidFill>
                  <a:srgbClr val="3C5169"/>
                </a:solidFill>
                <a:latin typeface="Calibri" pitchFamily="34" charset="0"/>
                <a:ea typeface="Calibri" pitchFamily="34" charset="-122"/>
                <a:cs typeface="Calibri" pitchFamily="34" charset="-120"/>
              </a:rPr>
              <a:t>The JAXA fallback path returns a single albedo band. Forcing the primary NICT path to grayscale as well guarantees the live input distribution matches training whichever source answers.</a:t>
            </a:r>
            <a:endParaRPr lang="en-US" sz="1100" dirty="0"/>
          </a:p>
        </p:txBody>
      </p:sp>
      <p:sp>
        <p:nvSpPr>
          <p:cNvPr id="12" name="Text 9"/>
          <p:cNvSpPr/>
          <p:nvPr/>
        </p:nvSpPr>
        <p:spPr>
          <a:xfrm>
            <a:off x="566928" y="5248656"/>
            <a:ext cx="6995160" cy="868680"/>
          </a:xfrm>
          <a:prstGeom prst="rect">
            <a:avLst/>
          </a:prstGeom>
          <a:noFill/>
          <a:ln/>
        </p:spPr>
        <p:txBody>
          <a:bodyPr wrap="square" lIns="0" tIns="0" rIns="0" bIns="0" rtlCol="0" anchor="ctr"/>
          <a:lstStyle/>
          <a:p>
            <a:pPr marL="0" indent="0">
              <a:lnSpc>
                <a:spcPts val="1700"/>
              </a:lnSpc>
              <a:buNone/>
            </a:pPr>
            <a:r>
              <a:rPr lang="en-US" sz="1100" dirty="0">
                <a:solidFill>
                  <a:srgbClr val="3C5169"/>
                </a:solidFill>
                <a:latin typeface="Calibri" pitchFamily="34" charset="0"/>
                <a:ea typeface="Calibri" pitchFamily="34" charset="-122"/>
                <a:cs typeface="Calibri" pitchFamily="34" charset="-120"/>
              </a:rPr>
              <a:t>No augmentation is applied to the satellite images. Flips or rotations would destroy the geographic meaning of a pixel position, and the sun-angle-dependent illumination gradient is itself informative. SwimSeg pretraining does use flips and brightness/contrast jitter, because sky-camera framing is arbitrary.</a:t>
            </a:r>
            <a:endParaRPr lang="en-US" sz="1100" dirty="0"/>
          </a:p>
        </p:txBody>
      </p:sp>
      <p:sp>
        <p:nvSpPr>
          <p:cNvPr id="4" name="Text 10"/>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Feature list: model.py TABULAR_COLS (single source of truth, imported by the notebook).  Normalisation: notebook §5 GHIForecastDataset, persisted by §9.</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DATA PIPELINE — TENSORS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What one training sample actually is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2816352"/>
        </p:xfrm>
        <a:graphic>
          <a:graphicData uri="http://schemas.openxmlformats.org/drawingml/2006/table">
            <a:tbl>
              <a:tblPr/>
              <a:tblGrid>
                <a:gridCol w="16002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402336">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Tensor</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Shape</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Contents</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Constructed by</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02336">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tabular_seq</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(24, 11)</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24 consecutive daylight steps of the 11 normalised features, ending at t</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slice of the pre-normalised array</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402336">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multi_frame</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(9, 224, 224)</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frames at t, t−1, t−2 stacked channel-wise (3 RGB frames × 3 channels)</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torch.cat of three cached tensors</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roi_image</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(3, 224, 224)</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centre 112×112 crop of frame t, bilinearly upsampled back to 224</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frame_t[:, 56:168, 56:168] → interpolate</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402336">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future_clearsky</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clear-sky GHI at t+1h, t+2h, t+3h — deterministic astronomy, not a forecast</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pvlib column, indexed forward</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gate_features</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clear-sky index, cloud cover / 100, optical-flow v_x, v_y</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precomputed flow cache + row lookup</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402336">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targets</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z-scored GHI at t+1h, t+2h, t+3h</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C5169"/>
                          </a:solidFill>
                          <a:latin typeface="Calibri" pitchFamily="34" charset="0"/>
                          <a:ea typeface="Calibri" pitchFamily="34" charset="-122"/>
                          <a:cs typeface="Calibri" pitchFamily="34" charset="-120"/>
                        </a:rPr>
                        <a:t>(raw − 475.05) / 259.62</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66928" y="4297680"/>
            <a:ext cx="5394960" cy="1719072"/>
          </a:xfrm>
          <a:prstGeom prst="roundRect">
            <a:avLst>
              <a:gd name="adj" fmla="val 3191"/>
            </a:avLst>
          </a:prstGeom>
          <a:solidFill>
            <a:srgbClr val="EFF3F7"/>
          </a:solidFill>
          <a:ln w="7620">
            <a:solidFill>
              <a:srgbClr val="CFD9E2"/>
            </a:solidFill>
            <a:prstDash val="solid"/>
          </a:ln>
        </p:spPr>
        <p:txBody>
          <a:bodyPr/>
          <a:lstStyle/>
          <a:p>
            <a:endParaRPr lang="en-AE"/>
          </a:p>
        </p:txBody>
      </p:sp>
      <p:sp>
        <p:nvSpPr>
          <p:cNvPr id="6" name="Text 3"/>
          <p:cNvSpPr/>
          <p:nvPr/>
        </p:nvSpPr>
        <p:spPr>
          <a:xfrm>
            <a:off x="841248" y="4443984"/>
            <a:ext cx="484632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The 24-step window is not 24 clock hours</a:t>
            </a:r>
            <a:endParaRPr lang="en-US" sz="1300" dirty="0"/>
          </a:p>
        </p:txBody>
      </p:sp>
      <p:sp>
        <p:nvSpPr>
          <p:cNvPr id="7" name="Text 4"/>
          <p:cNvSpPr/>
          <p:nvPr/>
        </p:nvSpPr>
        <p:spPr>
          <a:xfrm>
            <a:off x="841248" y="4791456"/>
            <a:ext cx="4846320" cy="1143000"/>
          </a:xfrm>
          <a:prstGeom prst="rect">
            <a:avLst/>
          </a:prstGeom>
          <a:noFill/>
          <a:ln/>
        </p:spPr>
        <p:txBody>
          <a:bodyPr wrap="square" lIns="0" tIns="0" rIns="0" bIns="0" rtlCol="0" anchor="ctr"/>
          <a:lstStyle/>
          <a:p>
            <a:pPr marL="0" indent="0">
              <a:lnSpc>
                <a:spcPts val="1650"/>
              </a:lnSpc>
              <a:buNone/>
            </a:pPr>
            <a:r>
              <a:rPr lang="en-US" sz="1150" dirty="0">
                <a:solidFill>
                  <a:srgbClr val="3C5169"/>
                </a:solidFill>
                <a:latin typeface="Calibri" pitchFamily="34" charset="0"/>
                <a:ea typeface="Calibri" pitchFamily="34" charset="-122"/>
                <a:cs typeface="Calibri" pitchFamily="34" charset="-120"/>
              </a:rPr>
              <a:t>Because only 08:00–17:00 is retained, consecutive rows are 1 h apart within a day and 15 h apart across the overnight gap. A 24-step lookback therefore spans about 2.4 daylight days. That is a deliberate trade-off — it gives the LSTM multi-day context — but it means "lag-1" at 08:00 refers to 17:00 the previous evening.</a:t>
            </a:r>
            <a:endParaRPr lang="en-US" sz="1150" dirty="0"/>
          </a:p>
        </p:txBody>
      </p:sp>
      <p:sp>
        <p:nvSpPr>
          <p:cNvPr id="8" name="Shape 5"/>
          <p:cNvSpPr/>
          <p:nvPr/>
        </p:nvSpPr>
        <p:spPr>
          <a:xfrm>
            <a:off x="6236208" y="4297680"/>
            <a:ext cx="5394960" cy="1719072"/>
          </a:xfrm>
          <a:prstGeom prst="roundRect">
            <a:avLst>
              <a:gd name="adj" fmla="val 3191"/>
            </a:avLst>
          </a:prstGeom>
          <a:solidFill>
            <a:srgbClr val="EFF3F7"/>
          </a:solidFill>
          <a:ln w="7620">
            <a:solidFill>
              <a:srgbClr val="CFD9E2"/>
            </a:solidFill>
            <a:prstDash val="solid"/>
          </a:ln>
        </p:spPr>
        <p:txBody>
          <a:bodyPr/>
          <a:lstStyle/>
          <a:p>
            <a:endParaRPr lang="en-AE"/>
          </a:p>
        </p:txBody>
      </p:sp>
      <p:sp>
        <p:nvSpPr>
          <p:cNvPr id="9" name="Text 6"/>
          <p:cNvSpPr/>
          <p:nvPr/>
        </p:nvSpPr>
        <p:spPr>
          <a:xfrm>
            <a:off x="6510528" y="4443984"/>
            <a:ext cx="484632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Why the RoI crop exists</a:t>
            </a:r>
            <a:endParaRPr lang="en-US" sz="1300" dirty="0"/>
          </a:p>
        </p:txBody>
      </p:sp>
      <p:sp>
        <p:nvSpPr>
          <p:cNvPr id="10" name="Text 7"/>
          <p:cNvSpPr/>
          <p:nvPr/>
        </p:nvSpPr>
        <p:spPr>
          <a:xfrm>
            <a:off x="6510528" y="4791456"/>
            <a:ext cx="4846320" cy="1143000"/>
          </a:xfrm>
          <a:prstGeom prst="rect">
            <a:avLst/>
          </a:prstGeom>
          <a:noFill/>
          <a:ln/>
        </p:spPr>
        <p:txBody>
          <a:bodyPr wrap="square" lIns="0" tIns="0" rIns="0" bIns="0" rtlCol="0" anchor="ctr"/>
          <a:lstStyle/>
          <a:p>
            <a:pPr marL="0" indent="0">
              <a:lnSpc>
                <a:spcPts val="1650"/>
              </a:lnSpc>
              <a:buNone/>
            </a:pPr>
            <a:r>
              <a:rPr lang="en-US" sz="1150" dirty="0">
                <a:solidFill>
                  <a:srgbClr val="3C5169"/>
                </a:solidFill>
                <a:latin typeface="Calibri" pitchFamily="34" charset="0"/>
                <a:ea typeface="Calibri" pitchFamily="34" charset="-122"/>
                <a:cs typeface="Calibri" pitchFamily="34" charset="-120"/>
              </a:rPr>
              <a:t>Level-4d tile 1_1 covers roughly a quadrant of the visible disk, so Singapore occupies a small fraction of the frame. The centre crop, upsampled back to 224, gives the second encoder a magnified view of the local sky while the global branch retains the upwind cloud field. Both branches produce 7×7 = 49 patches at 352 channels.</a:t>
            </a:r>
            <a:endParaRPr lang="en-US" sz="1150" dirty="0"/>
          </a:p>
        </p:txBody>
      </p:sp>
      <p:sp>
        <p:nvSpPr>
          <p:cNvPr id="11" name="Text 8"/>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solar_pv_main.ipynb §5 GHIForecastDataset.__getitem__;  mirrored for inference in model.py load_satellite_inputs.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METHOD — PRETRAINING</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Stage 1 — teaching the encoder what a cloud is</a:t>
            </a:r>
            <a:endParaRPr lang="en-US" sz="3000" dirty="0"/>
          </a:p>
        </p:txBody>
      </p:sp>
      <p:sp>
        <p:nvSpPr>
          <p:cNvPr id="4" name="Text 2"/>
          <p:cNvSpPr/>
          <p:nvPr/>
        </p:nvSpPr>
        <p:spPr>
          <a:xfrm>
            <a:off x="566928" y="1298448"/>
            <a:ext cx="11064240" cy="457200"/>
          </a:xfrm>
          <a:prstGeom prst="rect">
            <a:avLst/>
          </a:prstGeom>
          <a:noFill/>
          <a:ln/>
        </p:spPr>
        <p:txBody>
          <a:bodyPr wrap="square" lIns="0" tIns="0" rIns="0" bIns="0" rtlCol="0" anchor="ctr"/>
          <a:lstStyle/>
          <a:p>
            <a:pPr marL="0" indent="0">
              <a:lnSpc>
                <a:spcPts val="1900"/>
              </a:lnSpc>
              <a:buNone/>
            </a:pPr>
            <a:r>
              <a:rPr lang="en-US" sz="1350" dirty="0">
                <a:solidFill>
                  <a:srgbClr val="3C5169"/>
                </a:solidFill>
                <a:latin typeface="Calibri" pitchFamily="34" charset="0"/>
                <a:ea typeface="Calibri" pitchFamily="34" charset="-122"/>
                <a:cs typeface="Calibri" pitchFamily="34" charset="-120"/>
              </a:rPr>
              <a:t>Instead of ImageNet features (dogs, cars, furniture), the EfficientNet-B2 encoder is first trained to segment cloud from sky on 1,013 Singapore whole-sky images, then transplanted into the forecasting model.</a:t>
            </a:r>
            <a:endParaRPr lang="en-US" sz="1350" dirty="0"/>
          </a:p>
        </p:txBody>
      </p:sp>
      <p:sp>
        <p:nvSpPr>
          <p:cNvPr id="5" name="Shape 3"/>
          <p:cNvSpPr/>
          <p:nvPr/>
        </p:nvSpPr>
        <p:spPr>
          <a:xfrm>
            <a:off x="566928" y="1920240"/>
            <a:ext cx="2011680" cy="713232"/>
          </a:xfrm>
          <a:prstGeom prst="roundRect">
            <a:avLst>
              <a:gd name="adj" fmla="val 6410"/>
            </a:avLst>
          </a:prstGeom>
          <a:solidFill>
            <a:srgbClr val="EFF3F7"/>
          </a:solidFill>
          <a:ln w="10160">
            <a:solidFill>
              <a:srgbClr val="CFD9E2"/>
            </a:solidFill>
            <a:prstDash val="solid"/>
          </a:ln>
        </p:spPr>
        <p:txBody>
          <a:bodyPr/>
          <a:lstStyle/>
          <a:p>
            <a:endParaRPr lang="en-AE"/>
          </a:p>
        </p:txBody>
      </p:sp>
      <p:sp>
        <p:nvSpPr>
          <p:cNvPr id="6" name="Text 4"/>
          <p:cNvSpPr/>
          <p:nvPr/>
        </p:nvSpPr>
        <p:spPr>
          <a:xfrm>
            <a:off x="603504" y="1975104"/>
            <a:ext cx="1938528"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SwimSeg image</a:t>
            </a:r>
            <a:endParaRPr lang="en-US" sz="1100" dirty="0"/>
          </a:p>
        </p:txBody>
      </p:sp>
      <p:sp>
        <p:nvSpPr>
          <p:cNvPr id="7" name="Text 5"/>
          <p:cNvSpPr/>
          <p:nvPr/>
        </p:nvSpPr>
        <p:spPr>
          <a:xfrm>
            <a:off x="603504" y="2194560"/>
            <a:ext cx="1938528" cy="402336"/>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224×224×3</a:t>
            </a:r>
            <a:endParaRPr lang="en-US" sz="900" dirty="0"/>
          </a:p>
        </p:txBody>
      </p:sp>
      <p:sp>
        <p:nvSpPr>
          <p:cNvPr id="8" name="Shape 6"/>
          <p:cNvSpPr/>
          <p:nvPr/>
        </p:nvSpPr>
        <p:spPr>
          <a:xfrm>
            <a:off x="2788920" y="1920240"/>
            <a:ext cx="2194560" cy="713232"/>
          </a:xfrm>
          <a:prstGeom prst="roundRect">
            <a:avLst>
              <a:gd name="adj" fmla="val 6410"/>
            </a:avLst>
          </a:prstGeom>
          <a:solidFill>
            <a:srgbClr val="1C7293"/>
          </a:solidFill>
          <a:ln w="10160">
            <a:solidFill>
              <a:srgbClr val="1C7293"/>
            </a:solidFill>
            <a:prstDash val="solid"/>
          </a:ln>
        </p:spPr>
        <p:txBody>
          <a:bodyPr/>
          <a:lstStyle/>
          <a:p>
            <a:endParaRPr lang="en-AE"/>
          </a:p>
        </p:txBody>
      </p:sp>
      <p:sp>
        <p:nvSpPr>
          <p:cNvPr id="9" name="Text 7"/>
          <p:cNvSpPr/>
          <p:nvPr/>
        </p:nvSpPr>
        <p:spPr>
          <a:xfrm>
            <a:off x="2825496" y="1975104"/>
            <a:ext cx="2121408"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EfficientNet-B2</a:t>
            </a:r>
            <a:endParaRPr lang="en-US" sz="1100" dirty="0"/>
          </a:p>
        </p:txBody>
      </p:sp>
      <p:sp>
        <p:nvSpPr>
          <p:cNvPr id="10" name="Text 8"/>
          <p:cNvSpPr/>
          <p:nvPr/>
        </p:nvSpPr>
        <p:spPr>
          <a:xfrm>
            <a:off x="2825496" y="2194560"/>
            <a:ext cx="2121408" cy="402336"/>
          </a:xfrm>
          <a:prstGeom prst="rect">
            <a:avLst/>
          </a:prstGeom>
          <a:noFill/>
          <a:ln/>
        </p:spPr>
        <p:txBody>
          <a:bodyPr wrap="square" lIns="0" tIns="0" rIns="0" bIns="0" rtlCol="0" anchor="t"/>
          <a:lstStyle/>
          <a:p>
            <a:pPr marL="0" indent="0" algn="ctr">
              <a:buNone/>
            </a:pPr>
            <a:r>
              <a:rPr lang="en-US" sz="900" dirty="0">
                <a:solidFill>
                  <a:srgbClr val="D8E2EC"/>
                </a:solidFill>
                <a:latin typeface="Calibri" pitchFamily="34" charset="0"/>
                <a:ea typeface="Calibri" pitchFamily="34" charset="-122"/>
                <a:cs typeface="Calibri" pitchFamily="34" charset="-120"/>
              </a:rPr>
              <a:t>5 stages: 16/24/48/120/352 ch</a:t>
            </a:r>
            <a:endParaRPr lang="en-US" sz="900" dirty="0"/>
          </a:p>
        </p:txBody>
      </p:sp>
      <p:sp>
        <p:nvSpPr>
          <p:cNvPr id="11" name="Shape 9"/>
          <p:cNvSpPr/>
          <p:nvPr/>
        </p:nvSpPr>
        <p:spPr>
          <a:xfrm>
            <a:off x="5193792" y="1920240"/>
            <a:ext cx="2194560" cy="713232"/>
          </a:xfrm>
          <a:prstGeom prst="roundRect">
            <a:avLst>
              <a:gd name="adj" fmla="val 6410"/>
            </a:avLst>
          </a:prstGeom>
          <a:solidFill>
            <a:srgbClr val="0B2545"/>
          </a:solidFill>
          <a:ln w="10160">
            <a:solidFill>
              <a:srgbClr val="0B2545"/>
            </a:solidFill>
            <a:prstDash val="solid"/>
          </a:ln>
        </p:spPr>
        <p:txBody>
          <a:bodyPr/>
          <a:lstStyle/>
          <a:p>
            <a:endParaRPr lang="en-AE"/>
          </a:p>
        </p:txBody>
      </p:sp>
      <p:sp>
        <p:nvSpPr>
          <p:cNvPr id="12" name="Text 10"/>
          <p:cNvSpPr/>
          <p:nvPr/>
        </p:nvSpPr>
        <p:spPr>
          <a:xfrm>
            <a:off x="5230368" y="1975104"/>
            <a:ext cx="2121408"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FPN decoder</a:t>
            </a:r>
            <a:endParaRPr lang="en-US" sz="1100" dirty="0"/>
          </a:p>
        </p:txBody>
      </p:sp>
      <p:sp>
        <p:nvSpPr>
          <p:cNvPr id="13" name="Text 11"/>
          <p:cNvSpPr/>
          <p:nvPr/>
        </p:nvSpPr>
        <p:spPr>
          <a:xfrm>
            <a:off x="5230368" y="2194560"/>
            <a:ext cx="2121408" cy="402336"/>
          </a:xfrm>
          <a:prstGeom prst="rect">
            <a:avLst/>
          </a:prstGeom>
          <a:noFill/>
          <a:ln/>
        </p:spPr>
        <p:txBody>
          <a:bodyPr wrap="square" lIns="0" tIns="0" rIns="0" bIns="0" rtlCol="0" anchor="t"/>
          <a:lstStyle/>
          <a:p>
            <a:pPr marL="0" indent="0" algn="ctr">
              <a:buNone/>
            </a:pPr>
            <a:r>
              <a:rPr lang="en-US" sz="900" dirty="0">
                <a:solidFill>
                  <a:srgbClr val="D8E2EC"/>
                </a:solidFill>
                <a:latin typeface="Calibri" pitchFamily="34" charset="0"/>
                <a:ea typeface="Calibri" pitchFamily="34" charset="-122"/>
                <a:cs typeface="Calibri" pitchFamily="34" charset="-120"/>
              </a:rPr>
              <a:t>top-down, 128 ch laterals</a:t>
            </a:r>
            <a:endParaRPr lang="en-US" sz="900" dirty="0"/>
          </a:p>
        </p:txBody>
      </p:sp>
      <p:sp>
        <p:nvSpPr>
          <p:cNvPr id="14" name="Shape 12"/>
          <p:cNvSpPr/>
          <p:nvPr/>
        </p:nvSpPr>
        <p:spPr>
          <a:xfrm>
            <a:off x="7598664" y="1920240"/>
            <a:ext cx="1828800" cy="713232"/>
          </a:xfrm>
          <a:prstGeom prst="roundRect">
            <a:avLst>
              <a:gd name="adj" fmla="val 6410"/>
            </a:avLst>
          </a:prstGeom>
          <a:solidFill>
            <a:srgbClr val="EFF3F7"/>
          </a:solidFill>
          <a:ln w="10160">
            <a:solidFill>
              <a:srgbClr val="CFD9E2"/>
            </a:solidFill>
            <a:prstDash val="solid"/>
          </a:ln>
        </p:spPr>
        <p:txBody>
          <a:bodyPr/>
          <a:lstStyle/>
          <a:p>
            <a:endParaRPr lang="en-AE"/>
          </a:p>
        </p:txBody>
      </p:sp>
      <p:sp>
        <p:nvSpPr>
          <p:cNvPr id="15" name="Text 13"/>
          <p:cNvSpPr/>
          <p:nvPr/>
        </p:nvSpPr>
        <p:spPr>
          <a:xfrm>
            <a:off x="7635240" y="1975104"/>
            <a:ext cx="1755648"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seg. head</a:t>
            </a:r>
            <a:endParaRPr lang="en-US" sz="1100" dirty="0"/>
          </a:p>
        </p:txBody>
      </p:sp>
      <p:sp>
        <p:nvSpPr>
          <p:cNvPr id="16" name="Text 14"/>
          <p:cNvSpPr/>
          <p:nvPr/>
        </p:nvSpPr>
        <p:spPr>
          <a:xfrm>
            <a:off x="7635240" y="2194560"/>
            <a:ext cx="1755648" cy="402336"/>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1×224×224 logits</a:t>
            </a:r>
            <a:endParaRPr lang="en-US" sz="900" dirty="0"/>
          </a:p>
        </p:txBody>
      </p:sp>
      <p:sp>
        <p:nvSpPr>
          <p:cNvPr id="17" name="Shape 15"/>
          <p:cNvSpPr/>
          <p:nvPr/>
        </p:nvSpPr>
        <p:spPr>
          <a:xfrm>
            <a:off x="9637776" y="1920240"/>
            <a:ext cx="1993392" cy="713232"/>
          </a:xfrm>
          <a:prstGeom prst="roundRect">
            <a:avLst>
              <a:gd name="adj" fmla="val 6410"/>
            </a:avLst>
          </a:prstGeom>
          <a:solidFill>
            <a:srgbClr val="EFF3F7"/>
          </a:solidFill>
          <a:ln w="10160">
            <a:solidFill>
              <a:srgbClr val="CFD9E2"/>
            </a:solidFill>
            <a:prstDash val="solid"/>
          </a:ln>
        </p:spPr>
        <p:txBody>
          <a:bodyPr/>
          <a:lstStyle/>
          <a:p>
            <a:endParaRPr lang="en-AE"/>
          </a:p>
        </p:txBody>
      </p:sp>
      <p:sp>
        <p:nvSpPr>
          <p:cNvPr id="18" name="Text 16"/>
          <p:cNvSpPr/>
          <p:nvPr/>
        </p:nvSpPr>
        <p:spPr>
          <a:xfrm>
            <a:off x="9674352" y="1975104"/>
            <a:ext cx="1920240"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aux head</a:t>
            </a:r>
            <a:endParaRPr lang="en-US" sz="1100" dirty="0"/>
          </a:p>
        </p:txBody>
      </p:sp>
      <p:sp>
        <p:nvSpPr>
          <p:cNvPr id="19" name="Text 17"/>
          <p:cNvSpPr/>
          <p:nvPr/>
        </p:nvSpPr>
        <p:spPr>
          <a:xfrm>
            <a:off x="9674352" y="2194560"/>
            <a:ext cx="1920240" cy="402336"/>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scalar cloud ratio</a:t>
            </a:r>
            <a:endParaRPr lang="en-US" sz="900" dirty="0"/>
          </a:p>
        </p:txBody>
      </p:sp>
      <p:sp>
        <p:nvSpPr>
          <p:cNvPr id="20" name="Shape 18"/>
          <p:cNvSpPr/>
          <p:nvPr/>
        </p:nvSpPr>
        <p:spPr>
          <a:xfrm>
            <a:off x="2578608" y="2276856"/>
            <a:ext cx="201168" cy="0"/>
          </a:xfrm>
          <a:prstGeom prst="line">
            <a:avLst/>
          </a:prstGeom>
          <a:noFill/>
          <a:ln w="19050">
            <a:solidFill>
              <a:srgbClr val="6E7F8F"/>
            </a:solidFill>
            <a:prstDash val="solid"/>
            <a:tailEnd type="triangle"/>
          </a:ln>
        </p:spPr>
        <p:txBody>
          <a:bodyPr/>
          <a:lstStyle/>
          <a:p>
            <a:endParaRPr lang="en-AE"/>
          </a:p>
        </p:txBody>
      </p:sp>
      <p:sp>
        <p:nvSpPr>
          <p:cNvPr id="21" name="Shape 19"/>
          <p:cNvSpPr/>
          <p:nvPr/>
        </p:nvSpPr>
        <p:spPr>
          <a:xfrm>
            <a:off x="4983480" y="2276856"/>
            <a:ext cx="201168" cy="0"/>
          </a:xfrm>
          <a:prstGeom prst="line">
            <a:avLst/>
          </a:prstGeom>
          <a:noFill/>
          <a:ln w="19050">
            <a:solidFill>
              <a:srgbClr val="6E7F8F"/>
            </a:solidFill>
            <a:prstDash val="solid"/>
            <a:tailEnd type="triangle"/>
          </a:ln>
        </p:spPr>
        <p:txBody>
          <a:bodyPr/>
          <a:lstStyle/>
          <a:p>
            <a:endParaRPr lang="en-AE"/>
          </a:p>
        </p:txBody>
      </p:sp>
      <p:sp>
        <p:nvSpPr>
          <p:cNvPr id="22" name="Shape 20"/>
          <p:cNvSpPr/>
          <p:nvPr/>
        </p:nvSpPr>
        <p:spPr>
          <a:xfrm>
            <a:off x="7388352" y="2276856"/>
            <a:ext cx="201168" cy="0"/>
          </a:xfrm>
          <a:prstGeom prst="line">
            <a:avLst/>
          </a:prstGeom>
          <a:noFill/>
          <a:ln w="19050">
            <a:solidFill>
              <a:srgbClr val="6E7F8F"/>
            </a:solidFill>
            <a:prstDash val="solid"/>
            <a:tailEnd type="triangle"/>
          </a:ln>
        </p:spPr>
        <p:txBody>
          <a:bodyPr/>
          <a:lstStyle/>
          <a:p>
            <a:endParaRPr lang="en-AE"/>
          </a:p>
        </p:txBody>
      </p:sp>
      <p:sp>
        <p:nvSpPr>
          <p:cNvPr id="23" name="Shape 21"/>
          <p:cNvSpPr/>
          <p:nvPr/>
        </p:nvSpPr>
        <p:spPr>
          <a:xfrm>
            <a:off x="9427464" y="2276856"/>
            <a:ext cx="210312" cy="0"/>
          </a:xfrm>
          <a:prstGeom prst="line">
            <a:avLst/>
          </a:prstGeom>
          <a:noFill/>
          <a:ln w="19050">
            <a:solidFill>
              <a:srgbClr val="CFD9E2"/>
            </a:solidFill>
            <a:prstDash val="solid"/>
            <a:tailEnd type="triangle"/>
          </a:ln>
        </p:spPr>
        <p:txBody>
          <a:bodyPr/>
          <a:lstStyle/>
          <a:p>
            <a:endParaRPr lang="en-AE"/>
          </a:p>
        </p:txBody>
      </p:sp>
      <p:sp>
        <p:nvSpPr>
          <p:cNvPr id="24" name="Shape 22"/>
          <p:cNvSpPr/>
          <p:nvPr/>
        </p:nvSpPr>
        <p:spPr>
          <a:xfrm>
            <a:off x="566928" y="2962656"/>
            <a:ext cx="5394960" cy="3017520"/>
          </a:xfrm>
          <a:prstGeom prst="roundRect">
            <a:avLst>
              <a:gd name="adj" fmla="val 1818"/>
            </a:avLst>
          </a:prstGeom>
          <a:solidFill>
            <a:srgbClr val="EFF3F7"/>
          </a:solidFill>
          <a:ln w="7620">
            <a:solidFill>
              <a:srgbClr val="CFD9E2"/>
            </a:solidFill>
            <a:prstDash val="solid"/>
          </a:ln>
        </p:spPr>
        <p:txBody>
          <a:bodyPr/>
          <a:lstStyle/>
          <a:p>
            <a:endParaRPr lang="en-AE"/>
          </a:p>
        </p:txBody>
      </p:sp>
      <p:sp>
        <p:nvSpPr>
          <p:cNvPr id="25" name="Text 23"/>
          <p:cNvSpPr/>
          <p:nvPr/>
        </p:nvSpPr>
        <p:spPr>
          <a:xfrm>
            <a:off x="841248" y="3090672"/>
            <a:ext cx="4846320" cy="27432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Configuration</a:t>
            </a:r>
            <a:endParaRPr lang="en-US" sz="1300" dirty="0"/>
          </a:p>
        </p:txBody>
      </p:sp>
      <p:sp>
        <p:nvSpPr>
          <p:cNvPr id="26" name="Text 24"/>
          <p:cNvSpPr/>
          <p:nvPr/>
        </p:nvSpPr>
        <p:spPr>
          <a:xfrm>
            <a:off x="841248" y="3419856"/>
            <a:ext cx="1417320" cy="2880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Dataset</a:t>
            </a:r>
            <a:endParaRPr lang="en-US" sz="1100" dirty="0"/>
          </a:p>
        </p:txBody>
      </p:sp>
      <p:sp>
        <p:nvSpPr>
          <p:cNvPr id="27" name="Text 25"/>
          <p:cNvSpPr/>
          <p:nvPr/>
        </p:nvSpPr>
        <p:spPr>
          <a:xfrm>
            <a:off x="2258568" y="3419856"/>
            <a:ext cx="3429000" cy="288036"/>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1,013 images + binary GT masks</a:t>
            </a:r>
            <a:endParaRPr lang="en-US" sz="1100" dirty="0"/>
          </a:p>
        </p:txBody>
      </p:sp>
      <p:sp>
        <p:nvSpPr>
          <p:cNvPr id="28" name="Text 26"/>
          <p:cNvSpPr/>
          <p:nvPr/>
        </p:nvSpPr>
        <p:spPr>
          <a:xfrm>
            <a:off x="841248" y="3707892"/>
            <a:ext cx="1417320" cy="2880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Split</a:t>
            </a:r>
            <a:endParaRPr lang="en-US" sz="1100" dirty="0"/>
          </a:p>
        </p:txBody>
      </p:sp>
      <p:sp>
        <p:nvSpPr>
          <p:cNvPr id="29" name="Text 27"/>
          <p:cNvSpPr/>
          <p:nvPr/>
        </p:nvSpPr>
        <p:spPr>
          <a:xfrm>
            <a:off x="2258568" y="3707892"/>
            <a:ext cx="3429000" cy="288036"/>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by shooting date, 80/20 — never random</a:t>
            </a:r>
            <a:endParaRPr lang="en-US" sz="1100" dirty="0"/>
          </a:p>
        </p:txBody>
      </p:sp>
      <p:sp>
        <p:nvSpPr>
          <p:cNvPr id="30" name="Text 28"/>
          <p:cNvSpPr/>
          <p:nvPr/>
        </p:nvSpPr>
        <p:spPr>
          <a:xfrm>
            <a:off x="841248" y="3995928"/>
            <a:ext cx="1417320" cy="2880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Loss</a:t>
            </a:r>
            <a:endParaRPr lang="en-US" sz="1100" dirty="0"/>
          </a:p>
        </p:txBody>
      </p:sp>
      <p:sp>
        <p:nvSpPr>
          <p:cNvPr id="31" name="Text 29"/>
          <p:cNvSpPr/>
          <p:nvPr/>
        </p:nvSpPr>
        <p:spPr>
          <a:xfrm>
            <a:off x="2258568" y="3995928"/>
            <a:ext cx="3429000" cy="288036"/>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0.5·BCE + 0.5·Dice  +  0.2·MSE(cloud ratio)</a:t>
            </a:r>
            <a:endParaRPr lang="en-US" sz="1100" dirty="0"/>
          </a:p>
        </p:txBody>
      </p:sp>
      <p:sp>
        <p:nvSpPr>
          <p:cNvPr id="32" name="Text 30"/>
          <p:cNvSpPr/>
          <p:nvPr/>
        </p:nvSpPr>
        <p:spPr>
          <a:xfrm>
            <a:off x="841248" y="4283964"/>
            <a:ext cx="1417320" cy="2880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Optimiser</a:t>
            </a:r>
            <a:endParaRPr lang="en-US" sz="1100" dirty="0"/>
          </a:p>
        </p:txBody>
      </p:sp>
      <p:sp>
        <p:nvSpPr>
          <p:cNvPr id="33" name="Text 31"/>
          <p:cNvSpPr/>
          <p:nvPr/>
        </p:nvSpPr>
        <p:spPr>
          <a:xfrm>
            <a:off x="2258568" y="4283964"/>
            <a:ext cx="3429000" cy="288036"/>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AdamW, lr 3e-4, wd 1e-4</a:t>
            </a:r>
            <a:endParaRPr lang="en-US" sz="1100" dirty="0"/>
          </a:p>
        </p:txBody>
      </p:sp>
      <p:sp>
        <p:nvSpPr>
          <p:cNvPr id="34" name="Text 32"/>
          <p:cNvSpPr/>
          <p:nvPr/>
        </p:nvSpPr>
        <p:spPr>
          <a:xfrm>
            <a:off x="841248" y="4572000"/>
            <a:ext cx="1417320" cy="2880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Schedule</a:t>
            </a:r>
            <a:endParaRPr lang="en-US" sz="1100" dirty="0"/>
          </a:p>
        </p:txBody>
      </p:sp>
      <p:sp>
        <p:nvSpPr>
          <p:cNvPr id="35" name="Text 33"/>
          <p:cNvSpPr/>
          <p:nvPr/>
        </p:nvSpPr>
        <p:spPr>
          <a:xfrm>
            <a:off x="2258568" y="4572000"/>
            <a:ext cx="3429000" cy="288036"/>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CosineAnnealingLR, T_max = 50</a:t>
            </a:r>
            <a:endParaRPr lang="en-US" sz="1100" dirty="0"/>
          </a:p>
        </p:txBody>
      </p:sp>
      <p:sp>
        <p:nvSpPr>
          <p:cNvPr id="36" name="Text 34"/>
          <p:cNvSpPr/>
          <p:nvPr/>
        </p:nvSpPr>
        <p:spPr>
          <a:xfrm>
            <a:off x="841248" y="4860036"/>
            <a:ext cx="1417320" cy="2880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Epochs</a:t>
            </a:r>
            <a:endParaRPr lang="en-US" sz="1100" dirty="0"/>
          </a:p>
        </p:txBody>
      </p:sp>
      <p:sp>
        <p:nvSpPr>
          <p:cNvPr id="37" name="Text 35"/>
          <p:cNvSpPr/>
          <p:nvPr/>
        </p:nvSpPr>
        <p:spPr>
          <a:xfrm>
            <a:off x="2258568" y="4860036"/>
            <a:ext cx="3429000" cy="288036"/>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50, best-IoU checkpointing</a:t>
            </a:r>
            <a:endParaRPr lang="en-US" sz="1100" dirty="0"/>
          </a:p>
        </p:txBody>
      </p:sp>
      <p:sp>
        <p:nvSpPr>
          <p:cNvPr id="38" name="Text 36"/>
          <p:cNvSpPr/>
          <p:nvPr/>
        </p:nvSpPr>
        <p:spPr>
          <a:xfrm>
            <a:off x="841248" y="5148072"/>
            <a:ext cx="1417320" cy="2880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Augmentation</a:t>
            </a:r>
            <a:endParaRPr lang="en-US" sz="1100" dirty="0"/>
          </a:p>
        </p:txBody>
      </p:sp>
      <p:sp>
        <p:nvSpPr>
          <p:cNvPr id="39" name="Text 37"/>
          <p:cNvSpPr/>
          <p:nvPr/>
        </p:nvSpPr>
        <p:spPr>
          <a:xfrm>
            <a:off x="2258568" y="5148072"/>
            <a:ext cx="3429000" cy="288036"/>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h/v flip, ±20% brightness, ±20% contrast</a:t>
            </a:r>
            <a:endParaRPr lang="en-US" sz="1100" dirty="0"/>
          </a:p>
        </p:txBody>
      </p:sp>
      <p:sp>
        <p:nvSpPr>
          <p:cNvPr id="40" name="Text 38"/>
          <p:cNvSpPr/>
          <p:nvPr/>
        </p:nvSpPr>
        <p:spPr>
          <a:xfrm>
            <a:off x="841248" y="5436108"/>
            <a:ext cx="1417320" cy="2880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Grad clipping</a:t>
            </a:r>
            <a:endParaRPr lang="en-US" sz="1100" dirty="0"/>
          </a:p>
        </p:txBody>
      </p:sp>
      <p:sp>
        <p:nvSpPr>
          <p:cNvPr id="41" name="Text 39"/>
          <p:cNvSpPr/>
          <p:nvPr/>
        </p:nvSpPr>
        <p:spPr>
          <a:xfrm>
            <a:off x="2258568" y="5436108"/>
            <a:ext cx="3429000" cy="288036"/>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1.0</a:t>
            </a:r>
            <a:endParaRPr lang="en-US" sz="1100" dirty="0"/>
          </a:p>
        </p:txBody>
      </p:sp>
      <p:sp>
        <p:nvSpPr>
          <p:cNvPr id="42" name="Text 40"/>
          <p:cNvSpPr/>
          <p:nvPr/>
        </p:nvSpPr>
        <p:spPr>
          <a:xfrm>
            <a:off x="841248" y="5724144"/>
            <a:ext cx="1417320" cy="2880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Saved</a:t>
            </a:r>
            <a:endParaRPr lang="en-US" sz="1100" dirty="0"/>
          </a:p>
        </p:txBody>
      </p:sp>
      <p:sp>
        <p:nvSpPr>
          <p:cNvPr id="43" name="Text 41"/>
          <p:cNvSpPr/>
          <p:nvPr/>
        </p:nvSpPr>
        <p:spPr>
          <a:xfrm>
            <a:off x="2258568" y="5724144"/>
            <a:ext cx="3429000" cy="288036"/>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encoder only → swimseg_encoder.pt, 7.27 M params</a:t>
            </a:r>
            <a:endParaRPr lang="en-US" sz="1100" dirty="0"/>
          </a:p>
        </p:txBody>
      </p:sp>
      <p:sp>
        <p:nvSpPr>
          <p:cNvPr id="44" name="Shape 42"/>
          <p:cNvSpPr/>
          <p:nvPr/>
        </p:nvSpPr>
        <p:spPr>
          <a:xfrm>
            <a:off x="6236208" y="2962656"/>
            <a:ext cx="5394960" cy="3017520"/>
          </a:xfrm>
          <a:prstGeom prst="roundRect">
            <a:avLst>
              <a:gd name="adj" fmla="val 1818"/>
            </a:avLst>
          </a:prstGeom>
          <a:solidFill>
            <a:srgbClr val="FBF3E4"/>
          </a:solidFill>
          <a:ln w="7620">
            <a:solidFill>
              <a:srgbClr val="CFD9E2"/>
            </a:solidFill>
            <a:prstDash val="solid"/>
          </a:ln>
        </p:spPr>
        <p:txBody>
          <a:bodyPr/>
          <a:lstStyle/>
          <a:p>
            <a:endParaRPr lang="en-AE"/>
          </a:p>
        </p:txBody>
      </p:sp>
      <p:sp>
        <p:nvSpPr>
          <p:cNvPr id="45" name="Text 43"/>
          <p:cNvSpPr/>
          <p:nvPr/>
        </p:nvSpPr>
        <p:spPr>
          <a:xfrm>
            <a:off x="6510528" y="3090672"/>
            <a:ext cx="4846320" cy="274320"/>
          </a:xfrm>
          <a:prstGeom prst="rect">
            <a:avLst/>
          </a:prstGeom>
          <a:noFill/>
          <a:ln/>
        </p:spPr>
        <p:txBody>
          <a:bodyPr wrap="square" lIns="0" tIns="0" rIns="0" bIns="0" rtlCol="0" anchor="ctr"/>
          <a:lstStyle/>
          <a:p>
            <a:pPr marL="0" indent="0">
              <a:buNone/>
            </a:pPr>
            <a:r>
              <a:rPr lang="en-US" sz="1300" b="1" dirty="0">
                <a:solidFill>
                  <a:srgbClr val="B87A1B"/>
                </a:solidFill>
                <a:latin typeface="Calibri" pitchFamily="34" charset="0"/>
                <a:ea typeface="Calibri" pitchFamily="34" charset="-122"/>
                <a:cs typeface="Calibri" pitchFamily="34" charset="-120"/>
              </a:rPr>
              <a:t>Two design decisions worth defending</a:t>
            </a:r>
            <a:endParaRPr lang="en-US" sz="1300" dirty="0"/>
          </a:p>
        </p:txBody>
      </p:sp>
      <p:sp>
        <p:nvSpPr>
          <p:cNvPr id="46" name="Shape 44"/>
          <p:cNvSpPr/>
          <p:nvPr/>
        </p:nvSpPr>
        <p:spPr>
          <a:xfrm>
            <a:off x="6510528" y="3438144"/>
            <a:ext cx="274320" cy="274320"/>
          </a:xfrm>
          <a:prstGeom prst="ellipse">
            <a:avLst/>
          </a:prstGeom>
          <a:solidFill>
            <a:srgbClr val="E8A33D"/>
          </a:solidFill>
          <a:ln/>
        </p:spPr>
        <p:txBody>
          <a:bodyPr/>
          <a:lstStyle/>
          <a:p>
            <a:endParaRPr lang="en-AE"/>
          </a:p>
        </p:txBody>
      </p:sp>
      <p:sp>
        <p:nvSpPr>
          <p:cNvPr id="47" name="Text 45"/>
          <p:cNvSpPr/>
          <p:nvPr/>
        </p:nvSpPr>
        <p:spPr>
          <a:xfrm>
            <a:off x="6510528" y="3438144"/>
            <a:ext cx="274320" cy="274320"/>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a:t>
            </a:r>
            <a:endParaRPr lang="en-US" sz="1200" dirty="0"/>
          </a:p>
        </p:txBody>
      </p:sp>
      <p:sp>
        <p:nvSpPr>
          <p:cNvPr id="48" name="Text 46"/>
          <p:cNvSpPr/>
          <p:nvPr/>
        </p:nvSpPr>
        <p:spPr>
          <a:xfrm>
            <a:off x="6876288" y="3401568"/>
            <a:ext cx="4572000" cy="2743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Split by date, not at random</a:t>
            </a:r>
            <a:endParaRPr lang="en-US" sz="1150" dirty="0"/>
          </a:p>
        </p:txBody>
      </p:sp>
      <p:sp>
        <p:nvSpPr>
          <p:cNvPr id="49" name="Text 47"/>
          <p:cNvSpPr/>
          <p:nvPr/>
        </p:nvSpPr>
        <p:spPr>
          <a:xfrm>
            <a:off x="6876288" y="3675888"/>
            <a:ext cx="4572000" cy="603504"/>
          </a:xfrm>
          <a:prstGeom prst="rect">
            <a:avLst/>
          </a:prstGeom>
          <a:noFill/>
          <a:ln/>
        </p:spPr>
        <p:txBody>
          <a:bodyPr wrap="square" lIns="0" tIns="0" rIns="0" bIns="0" rtlCol="0" anchor="ctr"/>
          <a:lstStyle/>
          <a:p>
            <a:pPr marL="0" indent="0">
              <a:lnSpc>
                <a:spcPts val="1450"/>
              </a:lnSpc>
              <a:buNone/>
            </a:pPr>
            <a:r>
              <a:rPr lang="en-US" sz="1050" dirty="0">
                <a:solidFill>
                  <a:srgbClr val="3C5169"/>
                </a:solidFill>
                <a:latin typeface="Calibri" pitchFamily="34" charset="0"/>
                <a:ea typeface="Calibri" pitchFamily="34" charset="-122"/>
                <a:cs typeface="Calibri" pitchFamily="34" charset="-120"/>
              </a:rPr>
              <a:t>Consecutive frames from one shooting session are near-duplicates. A random split would put near-identical images on both sides and report an inflated IoU.</a:t>
            </a:r>
            <a:endParaRPr lang="en-US" sz="1050" dirty="0"/>
          </a:p>
        </p:txBody>
      </p:sp>
      <p:sp>
        <p:nvSpPr>
          <p:cNvPr id="50" name="Shape 48"/>
          <p:cNvSpPr/>
          <p:nvPr/>
        </p:nvSpPr>
        <p:spPr>
          <a:xfrm>
            <a:off x="6510528" y="4297680"/>
            <a:ext cx="274320" cy="274320"/>
          </a:xfrm>
          <a:prstGeom prst="ellipse">
            <a:avLst/>
          </a:prstGeom>
          <a:solidFill>
            <a:srgbClr val="E8A33D"/>
          </a:solidFill>
          <a:ln/>
        </p:spPr>
        <p:txBody>
          <a:bodyPr/>
          <a:lstStyle/>
          <a:p>
            <a:endParaRPr lang="en-AE"/>
          </a:p>
        </p:txBody>
      </p:sp>
      <p:sp>
        <p:nvSpPr>
          <p:cNvPr id="51" name="Text 49"/>
          <p:cNvSpPr/>
          <p:nvPr/>
        </p:nvSpPr>
        <p:spPr>
          <a:xfrm>
            <a:off x="6510528" y="4297680"/>
            <a:ext cx="274320" cy="274320"/>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a:t>
            </a:r>
            <a:endParaRPr lang="en-US" sz="1200" dirty="0"/>
          </a:p>
        </p:txBody>
      </p:sp>
      <p:sp>
        <p:nvSpPr>
          <p:cNvPr id="52" name="Text 50"/>
          <p:cNvSpPr/>
          <p:nvPr/>
        </p:nvSpPr>
        <p:spPr>
          <a:xfrm>
            <a:off x="6876288" y="4261104"/>
            <a:ext cx="4572000" cy="2743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Dice + BCE, not BCE alone</a:t>
            </a:r>
            <a:endParaRPr lang="en-US" sz="1150" dirty="0"/>
          </a:p>
        </p:txBody>
      </p:sp>
      <p:sp>
        <p:nvSpPr>
          <p:cNvPr id="53" name="Text 51"/>
          <p:cNvSpPr/>
          <p:nvPr/>
        </p:nvSpPr>
        <p:spPr>
          <a:xfrm>
            <a:off x="6876288" y="4535424"/>
            <a:ext cx="4572000" cy="603504"/>
          </a:xfrm>
          <a:prstGeom prst="rect">
            <a:avLst/>
          </a:prstGeom>
          <a:noFill/>
          <a:ln/>
        </p:spPr>
        <p:txBody>
          <a:bodyPr wrap="square" lIns="0" tIns="0" rIns="0" bIns="0" rtlCol="0" anchor="ctr"/>
          <a:lstStyle/>
          <a:p>
            <a:pPr marL="0" indent="0">
              <a:lnSpc>
                <a:spcPts val="1450"/>
              </a:lnSpc>
              <a:buNone/>
            </a:pPr>
            <a:r>
              <a:rPr lang="en-US" sz="1050" dirty="0">
                <a:solidFill>
                  <a:srgbClr val="3C5169"/>
                </a:solidFill>
                <a:latin typeface="Calibri" pitchFamily="34" charset="0"/>
                <a:ea typeface="Calibri" pitchFamily="34" charset="-122"/>
                <a:cs typeface="Calibri" pitchFamily="34" charset="-120"/>
              </a:rPr>
              <a:t>Cloud fraction varies from near-0 to near-1 across images. Pure BCE is dominated by the majority class per image; the Dice term is scale-invariant in the positive class.</a:t>
            </a:r>
            <a:endParaRPr lang="en-US" sz="1050" dirty="0"/>
          </a:p>
        </p:txBody>
      </p:sp>
      <p:sp>
        <p:nvSpPr>
          <p:cNvPr id="54" name="Shape 52"/>
          <p:cNvSpPr/>
          <p:nvPr/>
        </p:nvSpPr>
        <p:spPr>
          <a:xfrm>
            <a:off x="6510528" y="5157216"/>
            <a:ext cx="274320" cy="274320"/>
          </a:xfrm>
          <a:prstGeom prst="ellipse">
            <a:avLst/>
          </a:prstGeom>
          <a:solidFill>
            <a:srgbClr val="E8A33D"/>
          </a:solidFill>
          <a:ln/>
        </p:spPr>
        <p:txBody>
          <a:bodyPr/>
          <a:lstStyle/>
          <a:p>
            <a:endParaRPr lang="en-AE"/>
          </a:p>
        </p:txBody>
      </p:sp>
      <p:sp>
        <p:nvSpPr>
          <p:cNvPr id="55" name="Text 53"/>
          <p:cNvSpPr/>
          <p:nvPr/>
        </p:nvSpPr>
        <p:spPr>
          <a:xfrm>
            <a:off x="6510528" y="5157216"/>
            <a:ext cx="274320" cy="274320"/>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a:t>
            </a:r>
            <a:endParaRPr lang="en-US" sz="1200" dirty="0"/>
          </a:p>
        </p:txBody>
      </p:sp>
      <p:sp>
        <p:nvSpPr>
          <p:cNvPr id="56" name="Text 54"/>
          <p:cNvSpPr/>
          <p:nvPr/>
        </p:nvSpPr>
        <p:spPr>
          <a:xfrm>
            <a:off x="6876288" y="5120640"/>
            <a:ext cx="4572000" cy="2743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Auxiliary cloud-ratio head</a:t>
            </a:r>
            <a:endParaRPr lang="en-US" sz="1150" dirty="0"/>
          </a:p>
        </p:txBody>
      </p:sp>
      <p:sp>
        <p:nvSpPr>
          <p:cNvPr id="57" name="Text 55"/>
          <p:cNvSpPr/>
          <p:nvPr/>
        </p:nvSpPr>
        <p:spPr>
          <a:xfrm>
            <a:off x="6876288" y="5394960"/>
            <a:ext cx="4572000" cy="603504"/>
          </a:xfrm>
          <a:prstGeom prst="rect">
            <a:avLst/>
          </a:prstGeom>
          <a:noFill/>
          <a:ln/>
        </p:spPr>
        <p:txBody>
          <a:bodyPr wrap="square" lIns="0" tIns="0" rIns="0" bIns="0" rtlCol="0" anchor="ctr"/>
          <a:lstStyle/>
          <a:p>
            <a:pPr marL="0" indent="0">
              <a:lnSpc>
                <a:spcPts val="1450"/>
              </a:lnSpc>
              <a:buNone/>
            </a:pPr>
            <a:r>
              <a:rPr lang="en-US" sz="1050" dirty="0">
                <a:solidFill>
                  <a:srgbClr val="3C5169"/>
                </a:solidFill>
                <a:latin typeface="Calibri" pitchFamily="34" charset="0"/>
                <a:ea typeface="Calibri" pitchFamily="34" charset="-122"/>
                <a:cs typeface="Calibri" pitchFamily="34" charset="-120"/>
              </a:rPr>
              <a:t>A scalar regression head off the deepest stage forces the bottleneck — the part actually transplanted — to encode global cloud fraction, not just local edges.</a:t>
            </a:r>
            <a:endParaRPr lang="en-US" sz="1050" dirty="0"/>
          </a:p>
        </p:txBody>
      </p:sp>
      <p:sp>
        <p:nvSpPr>
          <p:cNvPr id="58" name="Text 56"/>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solar_pv_main.ipynb §3.5 cells 12–14.  NOT AVAILABLE IN REPOSITORY: the achieved validation IoU — the pretraining cell was skipped on the final run because swimseg_encoder.pt already existed, so its log was never regenerated.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ARCHITECTURE — OVERVIEW</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Physics-Gated Fusion — the shape of the model</a:t>
            </a:r>
            <a:endParaRPr lang="en-US" sz="3000" dirty="0"/>
          </a:p>
        </p:txBody>
      </p:sp>
      <p:sp>
        <p:nvSpPr>
          <p:cNvPr id="4" name="Text 2"/>
          <p:cNvSpPr/>
          <p:nvPr/>
        </p:nvSpPr>
        <p:spPr>
          <a:xfrm>
            <a:off x="566928" y="1298448"/>
            <a:ext cx="2194560" cy="201168"/>
          </a:xfrm>
          <a:prstGeom prst="rect">
            <a:avLst/>
          </a:prstGeom>
          <a:noFill/>
          <a:ln/>
        </p:spPr>
        <p:txBody>
          <a:bodyPr wrap="square" lIns="0" tIns="0" rIns="0" bIns="0" rtlCol="0" anchor="ctr"/>
          <a:lstStyle/>
          <a:p>
            <a:pPr marL="0" indent="0">
              <a:buNone/>
            </a:pPr>
            <a:r>
              <a:rPr lang="en-US" sz="950" b="1" kern="0" spc="160" dirty="0">
                <a:solidFill>
                  <a:srgbClr val="6E7F8F"/>
                </a:solidFill>
                <a:latin typeface="Calibri" pitchFamily="34" charset="0"/>
                <a:ea typeface="Calibri" pitchFamily="34" charset="-122"/>
                <a:cs typeface="Calibri" pitchFamily="34" charset="-120"/>
              </a:rPr>
              <a:t>INPUTS</a:t>
            </a:r>
            <a:endParaRPr lang="en-US" sz="950" dirty="0"/>
          </a:p>
        </p:txBody>
      </p:sp>
      <p:sp>
        <p:nvSpPr>
          <p:cNvPr id="5" name="Shape 3"/>
          <p:cNvSpPr/>
          <p:nvPr/>
        </p:nvSpPr>
        <p:spPr>
          <a:xfrm>
            <a:off x="566928" y="1536192"/>
            <a:ext cx="2331720" cy="566928"/>
          </a:xfrm>
          <a:prstGeom prst="roundRect">
            <a:avLst>
              <a:gd name="adj" fmla="val 8065"/>
            </a:avLst>
          </a:prstGeom>
          <a:solidFill>
            <a:srgbClr val="EFF3F7"/>
          </a:solidFill>
          <a:ln w="10160">
            <a:solidFill>
              <a:srgbClr val="CFD9E2"/>
            </a:solidFill>
            <a:prstDash val="solid"/>
          </a:ln>
        </p:spPr>
        <p:txBody>
          <a:bodyPr/>
          <a:lstStyle/>
          <a:p>
            <a:endParaRPr lang="en-AE"/>
          </a:p>
        </p:txBody>
      </p:sp>
      <p:sp>
        <p:nvSpPr>
          <p:cNvPr id="6" name="Text 4"/>
          <p:cNvSpPr/>
          <p:nvPr/>
        </p:nvSpPr>
        <p:spPr>
          <a:xfrm>
            <a:off x="603504" y="1591056"/>
            <a:ext cx="2258568"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tabular_seq</a:t>
            </a:r>
            <a:endParaRPr lang="en-US" sz="1100" dirty="0"/>
          </a:p>
        </p:txBody>
      </p:sp>
      <p:sp>
        <p:nvSpPr>
          <p:cNvPr id="7" name="Text 5"/>
          <p:cNvSpPr/>
          <p:nvPr/>
        </p:nvSpPr>
        <p:spPr>
          <a:xfrm>
            <a:off x="603504" y="1810512"/>
            <a:ext cx="2258568" cy="256032"/>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(B, 24, 11)</a:t>
            </a:r>
            <a:endParaRPr lang="en-US" sz="900" dirty="0"/>
          </a:p>
        </p:txBody>
      </p:sp>
      <p:sp>
        <p:nvSpPr>
          <p:cNvPr id="8" name="Shape 6"/>
          <p:cNvSpPr/>
          <p:nvPr/>
        </p:nvSpPr>
        <p:spPr>
          <a:xfrm>
            <a:off x="566928" y="2231136"/>
            <a:ext cx="2331720" cy="566928"/>
          </a:xfrm>
          <a:prstGeom prst="roundRect">
            <a:avLst>
              <a:gd name="adj" fmla="val 8065"/>
            </a:avLst>
          </a:prstGeom>
          <a:solidFill>
            <a:srgbClr val="EFF3F7"/>
          </a:solidFill>
          <a:ln w="10160">
            <a:solidFill>
              <a:srgbClr val="CFD9E2"/>
            </a:solidFill>
            <a:prstDash val="solid"/>
          </a:ln>
        </p:spPr>
        <p:txBody>
          <a:bodyPr/>
          <a:lstStyle/>
          <a:p>
            <a:endParaRPr lang="en-AE"/>
          </a:p>
        </p:txBody>
      </p:sp>
      <p:sp>
        <p:nvSpPr>
          <p:cNvPr id="9" name="Text 7"/>
          <p:cNvSpPr/>
          <p:nvPr/>
        </p:nvSpPr>
        <p:spPr>
          <a:xfrm>
            <a:off x="603504" y="2286000"/>
            <a:ext cx="2258568"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multi_frame</a:t>
            </a:r>
            <a:endParaRPr lang="en-US" sz="1100" dirty="0"/>
          </a:p>
        </p:txBody>
      </p:sp>
      <p:sp>
        <p:nvSpPr>
          <p:cNvPr id="10" name="Text 8"/>
          <p:cNvSpPr/>
          <p:nvPr/>
        </p:nvSpPr>
        <p:spPr>
          <a:xfrm>
            <a:off x="603504" y="2505456"/>
            <a:ext cx="2258568" cy="256032"/>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(B, 9, 224, 224)</a:t>
            </a:r>
            <a:endParaRPr lang="en-US" sz="900" dirty="0"/>
          </a:p>
        </p:txBody>
      </p:sp>
      <p:sp>
        <p:nvSpPr>
          <p:cNvPr id="11" name="Shape 9"/>
          <p:cNvSpPr/>
          <p:nvPr/>
        </p:nvSpPr>
        <p:spPr>
          <a:xfrm>
            <a:off x="566928" y="2926080"/>
            <a:ext cx="2331720" cy="566928"/>
          </a:xfrm>
          <a:prstGeom prst="roundRect">
            <a:avLst>
              <a:gd name="adj" fmla="val 8065"/>
            </a:avLst>
          </a:prstGeom>
          <a:solidFill>
            <a:srgbClr val="EFF3F7"/>
          </a:solidFill>
          <a:ln w="10160">
            <a:solidFill>
              <a:srgbClr val="CFD9E2"/>
            </a:solidFill>
            <a:prstDash val="solid"/>
          </a:ln>
        </p:spPr>
        <p:txBody>
          <a:bodyPr/>
          <a:lstStyle/>
          <a:p>
            <a:endParaRPr lang="en-AE"/>
          </a:p>
        </p:txBody>
      </p:sp>
      <p:sp>
        <p:nvSpPr>
          <p:cNvPr id="12" name="Text 10"/>
          <p:cNvSpPr/>
          <p:nvPr/>
        </p:nvSpPr>
        <p:spPr>
          <a:xfrm>
            <a:off x="603504" y="2980944"/>
            <a:ext cx="2258568"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roi_image</a:t>
            </a:r>
            <a:endParaRPr lang="en-US" sz="1100" dirty="0"/>
          </a:p>
        </p:txBody>
      </p:sp>
      <p:sp>
        <p:nvSpPr>
          <p:cNvPr id="13" name="Text 11"/>
          <p:cNvSpPr/>
          <p:nvPr/>
        </p:nvSpPr>
        <p:spPr>
          <a:xfrm>
            <a:off x="603504" y="3200400"/>
            <a:ext cx="2258568" cy="256032"/>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(B, 3, 224, 224)</a:t>
            </a:r>
            <a:endParaRPr lang="en-US" sz="900" dirty="0"/>
          </a:p>
        </p:txBody>
      </p:sp>
      <p:sp>
        <p:nvSpPr>
          <p:cNvPr id="14" name="Shape 12"/>
          <p:cNvSpPr/>
          <p:nvPr/>
        </p:nvSpPr>
        <p:spPr>
          <a:xfrm>
            <a:off x="566928" y="3950208"/>
            <a:ext cx="2331720" cy="566928"/>
          </a:xfrm>
          <a:prstGeom prst="roundRect">
            <a:avLst>
              <a:gd name="adj" fmla="val 8065"/>
            </a:avLst>
          </a:prstGeom>
          <a:solidFill>
            <a:srgbClr val="FBF3E4"/>
          </a:solidFill>
          <a:ln w="13970">
            <a:solidFill>
              <a:srgbClr val="E8A33D"/>
            </a:solidFill>
            <a:prstDash val="solid"/>
          </a:ln>
        </p:spPr>
        <p:txBody>
          <a:bodyPr/>
          <a:lstStyle/>
          <a:p>
            <a:endParaRPr lang="en-AE"/>
          </a:p>
        </p:txBody>
      </p:sp>
      <p:sp>
        <p:nvSpPr>
          <p:cNvPr id="15" name="Text 13"/>
          <p:cNvSpPr/>
          <p:nvPr/>
        </p:nvSpPr>
        <p:spPr>
          <a:xfrm>
            <a:off x="566928" y="3986784"/>
            <a:ext cx="2331720" cy="256032"/>
          </a:xfrm>
          <a:prstGeom prst="rect">
            <a:avLst/>
          </a:prstGeom>
          <a:noFill/>
          <a:ln/>
        </p:spPr>
        <p:txBody>
          <a:bodyPr wrap="square" lIns="0" tIns="0" rIns="0" bIns="0"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gate_features  (B, 4)</a:t>
            </a:r>
            <a:endParaRPr lang="en-US" sz="1100" dirty="0"/>
          </a:p>
        </p:txBody>
      </p:sp>
      <p:sp>
        <p:nvSpPr>
          <p:cNvPr id="16" name="Text 14"/>
          <p:cNvSpPr/>
          <p:nvPr/>
        </p:nvSpPr>
        <p:spPr>
          <a:xfrm>
            <a:off x="566928" y="4233672"/>
            <a:ext cx="2331720" cy="237744"/>
          </a:xfrm>
          <a:prstGeom prst="rect">
            <a:avLst/>
          </a:prstGeom>
          <a:noFill/>
          <a:ln/>
        </p:spPr>
        <p:txBody>
          <a:bodyPr wrap="square" lIns="0" tIns="0" rIns="0" bIns="0" rtlCol="0" anchor="ctr"/>
          <a:lstStyle/>
          <a:p>
            <a:pPr marL="0" indent="0" algn="ctr">
              <a:buNone/>
            </a:pPr>
            <a:r>
              <a:rPr lang="en-US" sz="900" i="1" dirty="0">
                <a:solidFill>
                  <a:srgbClr val="B87A1B"/>
                </a:solidFill>
                <a:latin typeface="Calibri" pitchFamily="34" charset="0"/>
                <a:ea typeface="Calibri" pitchFamily="34" charset="-122"/>
                <a:cs typeface="Calibri" pitchFamily="34" charset="-120"/>
              </a:rPr>
              <a:t>routed to the physics gate</a:t>
            </a:r>
            <a:endParaRPr lang="en-US" sz="900" dirty="0"/>
          </a:p>
        </p:txBody>
      </p:sp>
      <p:sp>
        <p:nvSpPr>
          <p:cNvPr id="17" name="Shape 15"/>
          <p:cNvSpPr/>
          <p:nvPr/>
        </p:nvSpPr>
        <p:spPr>
          <a:xfrm>
            <a:off x="566928" y="4773168"/>
            <a:ext cx="2331720" cy="566928"/>
          </a:xfrm>
          <a:prstGeom prst="roundRect">
            <a:avLst>
              <a:gd name="adj" fmla="val 8065"/>
            </a:avLst>
          </a:prstGeom>
          <a:solidFill>
            <a:srgbClr val="E3EAF1"/>
          </a:solidFill>
          <a:ln w="10160">
            <a:solidFill>
              <a:srgbClr val="CFD9E2"/>
            </a:solidFill>
            <a:prstDash val="solid"/>
          </a:ln>
        </p:spPr>
        <p:txBody>
          <a:bodyPr/>
          <a:lstStyle/>
          <a:p>
            <a:endParaRPr lang="en-AE"/>
          </a:p>
        </p:txBody>
      </p:sp>
      <p:sp>
        <p:nvSpPr>
          <p:cNvPr id="18" name="Text 16"/>
          <p:cNvSpPr/>
          <p:nvPr/>
        </p:nvSpPr>
        <p:spPr>
          <a:xfrm>
            <a:off x="566928" y="4809744"/>
            <a:ext cx="2331720" cy="256032"/>
          </a:xfrm>
          <a:prstGeom prst="rect">
            <a:avLst/>
          </a:prstGeom>
          <a:noFill/>
          <a:ln/>
        </p:spPr>
        <p:txBody>
          <a:bodyPr wrap="square" lIns="0" tIns="0" rIns="0" bIns="0" rtlCol="0" anchor="ctr"/>
          <a:lstStyle/>
          <a:p>
            <a:pPr marL="0" indent="0" algn="ctr">
              <a:buNone/>
            </a:pPr>
            <a:r>
              <a:rPr lang="en-US" sz="1100" b="1" dirty="0">
                <a:solidFill>
                  <a:srgbClr val="0B2545"/>
                </a:solidFill>
                <a:latin typeface="Calibri" pitchFamily="34" charset="0"/>
                <a:ea typeface="Calibri" pitchFamily="34" charset="-122"/>
                <a:cs typeface="Calibri" pitchFamily="34" charset="-120"/>
              </a:rPr>
              <a:t>future_clearsky  (B, 3)</a:t>
            </a:r>
            <a:endParaRPr lang="en-US" sz="1100" dirty="0"/>
          </a:p>
        </p:txBody>
      </p:sp>
      <p:sp>
        <p:nvSpPr>
          <p:cNvPr id="19" name="Text 17"/>
          <p:cNvSpPr/>
          <p:nvPr/>
        </p:nvSpPr>
        <p:spPr>
          <a:xfrm>
            <a:off x="566928" y="5056632"/>
            <a:ext cx="2331720" cy="237744"/>
          </a:xfrm>
          <a:prstGeom prst="rect">
            <a:avLst/>
          </a:prstGeom>
          <a:noFill/>
          <a:ln/>
        </p:spPr>
        <p:txBody>
          <a:bodyPr wrap="square" lIns="0" tIns="0" rIns="0" bIns="0" rtlCol="0" anchor="ctr"/>
          <a:lstStyle/>
          <a:p>
            <a:pPr marL="0" indent="0" algn="ctr">
              <a:buNone/>
            </a:pPr>
            <a:r>
              <a:rPr lang="en-US" sz="900" i="1" dirty="0">
                <a:solidFill>
                  <a:srgbClr val="6E7F8F"/>
                </a:solidFill>
                <a:latin typeface="Calibri" pitchFamily="34" charset="0"/>
                <a:ea typeface="Calibri" pitchFamily="34" charset="-122"/>
                <a:cs typeface="Calibri" pitchFamily="34" charset="-120"/>
              </a:rPr>
              <a:t>concatenated after fusion</a:t>
            </a:r>
            <a:endParaRPr lang="en-US" sz="900" dirty="0"/>
          </a:p>
        </p:txBody>
      </p:sp>
      <p:sp>
        <p:nvSpPr>
          <p:cNvPr id="20" name="Text 18"/>
          <p:cNvSpPr/>
          <p:nvPr/>
        </p:nvSpPr>
        <p:spPr>
          <a:xfrm>
            <a:off x="3401568" y="1298448"/>
            <a:ext cx="2194560" cy="201168"/>
          </a:xfrm>
          <a:prstGeom prst="rect">
            <a:avLst/>
          </a:prstGeom>
          <a:noFill/>
          <a:ln/>
        </p:spPr>
        <p:txBody>
          <a:bodyPr wrap="square" lIns="0" tIns="0" rIns="0" bIns="0" rtlCol="0" anchor="ctr"/>
          <a:lstStyle/>
          <a:p>
            <a:pPr marL="0" indent="0">
              <a:buNone/>
            </a:pPr>
            <a:r>
              <a:rPr lang="en-US" sz="950" b="1" kern="0" spc="160" dirty="0">
                <a:solidFill>
                  <a:srgbClr val="6E7F8F"/>
                </a:solidFill>
                <a:latin typeface="Calibri" pitchFamily="34" charset="0"/>
                <a:ea typeface="Calibri" pitchFamily="34" charset="-122"/>
                <a:cs typeface="Calibri" pitchFamily="34" charset="-120"/>
              </a:rPr>
              <a:t>ENCODERS</a:t>
            </a:r>
            <a:endParaRPr lang="en-US" sz="950" dirty="0"/>
          </a:p>
        </p:txBody>
      </p:sp>
      <p:sp>
        <p:nvSpPr>
          <p:cNvPr id="21" name="Shape 19"/>
          <p:cNvSpPr/>
          <p:nvPr/>
        </p:nvSpPr>
        <p:spPr>
          <a:xfrm>
            <a:off x="3401568" y="1536192"/>
            <a:ext cx="2514600" cy="566928"/>
          </a:xfrm>
          <a:prstGeom prst="roundRect">
            <a:avLst>
              <a:gd name="adj" fmla="val 8065"/>
            </a:avLst>
          </a:prstGeom>
          <a:solidFill>
            <a:srgbClr val="1C7293"/>
          </a:solidFill>
          <a:ln w="10160">
            <a:solidFill>
              <a:srgbClr val="1C7293"/>
            </a:solidFill>
            <a:prstDash val="solid"/>
          </a:ln>
        </p:spPr>
        <p:txBody>
          <a:bodyPr/>
          <a:lstStyle/>
          <a:p>
            <a:endParaRPr lang="en-AE"/>
          </a:p>
        </p:txBody>
      </p:sp>
      <p:sp>
        <p:nvSpPr>
          <p:cNvPr id="22" name="Text 20"/>
          <p:cNvSpPr/>
          <p:nvPr/>
        </p:nvSpPr>
        <p:spPr>
          <a:xfrm>
            <a:off x="3438144" y="1591056"/>
            <a:ext cx="2441448"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BiLSTM x2 + attention</a:t>
            </a:r>
            <a:endParaRPr lang="en-US" sz="1100" dirty="0"/>
          </a:p>
        </p:txBody>
      </p:sp>
      <p:sp>
        <p:nvSpPr>
          <p:cNvPr id="23" name="Text 21"/>
          <p:cNvSpPr/>
          <p:nvPr/>
        </p:nvSpPr>
        <p:spPr>
          <a:xfrm>
            <a:off x="3438144" y="1810512"/>
            <a:ext cx="2441448" cy="256032"/>
          </a:xfrm>
          <a:prstGeom prst="rect">
            <a:avLst/>
          </a:prstGeom>
          <a:noFill/>
          <a:ln/>
        </p:spPr>
        <p:txBody>
          <a:bodyPr wrap="square" lIns="0" tIns="0" rIns="0" bIns="0" rtlCol="0" anchor="t"/>
          <a:lstStyle/>
          <a:p>
            <a:pPr marL="0" indent="0" algn="ctr">
              <a:buNone/>
            </a:pPr>
            <a:r>
              <a:rPr lang="en-US" sz="900" dirty="0">
                <a:solidFill>
                  <a:srgbClr val="D8E2EC"/>
                </a:solidFill>
                <a:latin typeface="Calibri" pitchFamily="34" charset="0"/>
                <a:ea typeface="Calibri" pitchFamily="34" charset="-122"/>
                <a:cs typeface="Calibri" pitchFamily="34" charset="-120"/>
              </a:rPr>
              <a:t>→ H_t  (B, 256)</a:t>
            </a:r>
            <a:endParaRPr lang="en-US" sz="900" dirty="0"/>
          </a:p>
        </p:txBody>
      </p:sp>
      <p:sp>
        <p:nvSpPr>
          <p:cNvPr id="24" name="Shape 22"/>
          <p:cNvSpPr/>
          <p:nvPr/>
        </p:nvSpPr>
        <p:spPr>
          <a:xfrm>
            <a:off x="3401568" y="2231136"/>
            <a:ext cx="2514600" cy="1024128"/>
          </a:xfrm>
          <a:prstGeom prst="roundRect">
            <a:avLst>
              <a:gd name="adj" fmla="val 4464"/>
            </a:avLst>
          </a:prstGeom>
          <a:solidFill>
            <a:srgbClr val="0B2545"/>
          </a:solidFill>
          <a:ln w="10160">
            <a:solidFill>
              <a:srgbClr val="0B2545"/>
            </a:solidFill>
            <a:prstDash val="solid"/>
          </a:ln>
        </p:spPr>
        <p:txBody>
          <a:bodyPr/>
          <a:lstStyle/>
          <a:p>
            <a:endParaRPr lang="en-AE"/>
          </a:p>
        </p:txBody>
      </p:sp>
      <p:sp>
        <p:nvSpPr>
          <p:cNvPr id="25" name="Text 23"/>
          <p:cNvSpPr/>
          <p:nvPr/>
        </p:nvSpPr>
        <p:spPr>
          <a:xfrm>
            <a:off x="3438144" y="2286000"/>
            <a:ext cx="2441448"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EfficientNet-B2 global</a:t>
            </a:r>
            <a:endParaRPr lang="en-US" sz="1100" dirty="0"/>
          </a:p>
        </p:txBody>
      </p:sp>
      <p:sp>
        <p:nvSpPr>
          <p:cNvPr id="26" name="Text 24"/>
          <p:cNvSpPr/>
          <p:nvPr/>
        </p:nvSpPr>
        <p:spPr>
          <a:xfrm>
            <a:off x="3438144" y="2505456"/>
            <a:ext cx="2441448" cy="713232"/>
          </a:xfrm>
          <a:prstGeom prst="rect">
            <a:avLst/>
          </a:prstGeom>
          <a:noFill/>
          <a:ln/>
        </p:spPr>
        <p:txBody>
          <a:bodyPr wrap="square" lIns="0" tIns="0" rIns="0" bIns="0" rtlCol="0" anchor="t"/>
          <a:lstStyle/>
          <a:p>
            <a:pPr marL="0" indent="0" algn="ctr">
              <a:buNone/>
            </a:pPr>
            <a:r>
              <a:rPr lang="en-US" sz="900" dirty="0">
                <a:solidFill>
                  <a:srgbClr val="D8E2EC"/>
                </a:solidFill>
                <a:latin typeface="Calibri" pitchFamily="34" charset="0"/>
                <a:ea typeface="Calibri" pitchFamily="34" charset="-122"/>
                <a:cs typeface="Calibri" pitchFamily="34" charset="-120"/>
              </a:rPr>
              <a:t>shared over 3 frames</a:t>
            </a:r>
            <a:endParaRPr lang="en-US" sz="900" dirty="0"/>
          </a:p>
          <a:p>
            <a:pPr marL="0" indent="0" algn="ctr">
              <a:buNone/>
            </a:pPr>
            <a:r>
              <a:rPr lang="en-US" sz="900" dirty="0">
                <a:solidFill>
                  <a:srgbClr val="D8E2EC"/>
                </a:solidFill>
                <a:latin typeface="Calibri" pitchFamily="34" charset="0"/>
                <a:ea typeface="Calibri" pitchFamily="34" charset="-122"/>
                <a:cs typeface="Calibri" pitchFamily="34" charset="-120"/>
              </a:rPr>
              <a:t>→ 3 × 49 patches × 352</a:t>
            </a:r>
            <a:endParaRPr lang="en-US" sz="900" dirty="0"/>
          </a:p>
        </p:txBody>
      </p:sp>
      <p:sp>
        <p:nvSpPr>
          <p:cNvPr id="27" name="Shape 25"/>
          <p:cNvSpPr/>
          <p:nvPr/>
        </p:nvSpPr>
        <p:spPr>
          <a:xfrm>
            <a:off x="3401568" y="3383280"/>
            <a:ext cx="2514600" cy="658368"/>
          </a:xfrm>
          <a:prstGeom prst="roundRect">
            <a:avLst>
              <a:gd name="adj" fmla="val 6944"/>
            </a:avLst>
          </a:prstGeom>
          <a:solidFill>
            <a:srgbClr val="0B2545"/>
          </a:solidFill>
          <a:ln w="10160">
            <a:solidFill>
              <a:srgbClr val="0B2545"/>
            </a:solidFill>
            <a:prstDash val="solid"/>
          </a:ln>
        </p:spPr>
        <p:txBody>
          <a:bodyPr/>
          <a:lstStyle/>
          <a:p>
            <a:endParaRPr lang="en-AE"/>
          </a:p>
        </p:txBody>
      </p:sp>
      <p:sp>
        <p:nvSpPr>
          <p:cNvPr id="28" name="Text 26"/>
          <p:cNvSpPr/>
          <p:nvPr/>
        </p:nvSpPr>
        <p:spPr>
          <a:xfrm>
            <a:off x="3438144" y="3438144"/>
            <a:ext cx="2441448"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EfficientNet-B2 RoI</a:t>
            </a:r>
            <a:endParaRPr lang="en-US" sz="1100" dirty="0"/>
          </a:p>
        </p:txBody>
      </p:sp>
      <p:sp>
        <p:nvSpPr>
          <p:cNvPr id="29" name="Text 27"/>
          <p:cNvSpPr/>
          <p:nvPr/>
        </p:nvSpPr>
        <p:spPr>
          <a:xfrm>
            <a:off x="3438144" y="3657600"/>
            <a:ext cx="2441448" cy="347472"/>
          </a:xfrm>
          <a:prstGeom prst="rect">
            <a:avLst/>
          </a:prstGeom>
          <a:noFill/>
          <a:ln/>
        </p:spPr>
        <p:txBody>
          <a:bodyPr wrap="square" lIns="0" tIns="0" rIns="0" bIns="0" rtlCol="0" anchor="t"/>
          <a:lstStyle/>
          <a:p>
            <a:pPr marL="0" indent="0" algn="ctr">
              <a:buNone/>
            </a:pPr>
            <a:r>
              <a:rPr lang="en-US" sz="900" dirty="0">
                <a:solidFill>
                  <a:srgbClr val="D8E2EC"/>
                </a:solidFill>
                <a:latin typeface="Calibri" pitchFamily="34" charset="0"/>
                <a:ea typeface="Calibri" pitchFamily="34" charset="-122"/>
                <a:cs typeface="Calibri" pitchFamily="34" charset="-120"/>
              </a:rPr>
              <a:t>→ 49 × 352</a:t>
            </a:r>
            <a:endParaRPr lang="en-US" sz="900" dirty="0"/>
          </a:p>
        </p:txBody>
      </p:sp>
      <p:sp>
        <p:nvSpPr>
          <p:cNvPr id="30" name="Text 28"/>
          <p:cNvSpPr/>
          <p:nvPr/>
        </p:nvSpPr>
        <p:spPr>
          <a:xfrm>
            <a:off x="6492240" y="1298448"/>
            <a:ext cx="2194560" cy="201168"/>
          </a:xfrm>
          <a:prstGeom prst="rect">
            <a:avLst/>
          </a:prstGeom>
          <a:noFill/>
          <a:ln/>
        </p:spPr>
        <p:txBody>
          <a:bodyPr wrap="square" lIns="0" tIns="0" rIns="0" bIns="0" rtlCol="0" anchor="ctr"/>
          <a:lstStyle/>
          <a:p>
            <a:pPr marL="0" indent="0">
              <a:buNone/>
            </a:pPr>
            <a:r>
              <a:rPr lang="en-US" sz="950" b="1" kern="0" spc="160" dirty="0">
                <a:solidFill>
                  <a:srgbClr val="6E7F8F"/>
                </a:solidFill>
                <a:latin typeface="Calibri" pitchFamily="34" charset="0"/>
                <a:ea typeface="Calibri" pitchFamily="34" charset="-122"/>
                <a:cs typeface="Calibri" pitchFamily="34" charset="-120"/>
              </a:rPr>
              <a:t>FUSION</a:t>
            </a:r>
            <a:endParaRPr lang="en-US" sz="950" dirty="0"/>
          </a:p>
        </p:txBody>
      </p:sp>
      <p:sp>
        <p:nvSpPr>
          <p:cNvPr id="31" name="Shape 29"/>
          <p:cNvSpPr/>
          <p:nvPr/>
        </p:nvSpPr>
        <p:spPr>
          <a:xfrm>
            <a:off x="6492240" y="2103120"/>
            <a:ext cx="2331720" cy="859536"/>
          </a:xfrm>
          <a:prstGeom prst="roundRect">
            <a:avLst>
              <a:gd name="adj" fmla="val 5319"/>
            </a:avLst>
          </a:prstGeom>
          <a:solidFill>
            <a:srgbClr val="0B2545"/>
          </a:solidFill>
          <a:ln w="10160">
            <a:solidFill>
              <a:srgbClr val="0B2545"/>
            </a:solidFill>
            <a:prstDash val="solid"/>
          </a:ln>
        </p:spPr>
        <p:txBody>
          <a:bodyPr/>
          <a:lstStyle/>
          <a:p>
            <a:endParaRPr lang="en-AE"/>
          </a:p>
        </p:txBody>
      </p:sp>
      <p:sp>
        <p:nvSpPr>
          <p:cNvPr id="32" name="Text 30"/>
          <p:cNvSpPr/>
          <p:nvPr/>
        </p:nvSpPr>
        <p:spPr>
          <a:xfrm>
            <a:off x="6528816" y="2157984"/>
            <a:ext cx="2258568"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8-head cross-attention</a:t>
            </a:r>
            <a:endParaRPr lang="en-US" sz="1100" dirty="0"/>
          </a:p>
        </p:txBody>
      </p:sp>
      <p:sp>
        <p:nvSpPr>
          <p:cNvPr id="33" name="Text 31"/>
          <p:cNvSpPr/>
          <p:nvPr/>
        </p:nvSpPr>
        <p:spPr>
          <a:xfrm>
            <a:off x="6528816" y="2377440"/>
            <a:ext cx="2258568" cy="548640"/>
          </a:xfrm>
          <a:prstGeom prst="rect">
            <a:avLst/>
          </a:prstGeom>
          <a:noFill/>
          <a:ln/>
        </p:spPr>
        <p:txBody>
          <a:bodyPr wrap="square" lIns="0" tIns="0" rIns="0" bIns="0" rtlCol="0" anchor="t"/>
          <a:lstStyle/>
          <a:p>
            <a:pPr marL="0" indent="0" algn="ctr">
              <a:buNone/>
            </a:pPr>
            <a:r>
              <a:rPr lang="en-US" sz="900" dirty="0">
                <a:solidFill>
                  <a:srgbClr val="D8E2EC"/>
                </a:solidFill>
                <a:latin typeface="Calibri" pitchFamily="34" charset="0"/>
                <a:ea typeface="Calibri" pitchFamily="34" charset="-122"/>
                <a:cs typeface="Calibri" pitchFamily="34" charset="-120"/>
              </a:rPr>
              <a:t>Q = H_t,  K/V = 196 patches</a:t>
            </a:r>
            <a:endParaRPr lang="en-US" sz="900" dirty="0"/>
          </a:p>
          <a:p>
            <a:pPr marL="0" indent="0" algn="ctr">
              <a:buNone/>
            </a:pPr>
            <a:r>
              <a:rPr lang="en-US" sz="900" dirty="0">
                <a:solidFill>
                  <a:srgbClr val="D8E2EC"/>
                </a:solidFill>
                <a:latin typeface="Calibri" pitchFamily="34" charset="0"/>
                <a:ea typeface="Calibri" pitchFamily="34" charset="-122"/>
                <a:cs typeface="Calibri" pitchFamily="34" charset="-120"/>
              </a:rPr>
              <a:t>→ H_a (B, 256)</a:t>
            </a:r>
            <a:endParaRPr lang="en-US" sz="900" dirty="0"/>
          </a:p>
        </p:txBody>
      </p:sp>
      <p:sp>
        <p:nvSpPr>
          <p:cNvPr id="34" name="Shape 32"/>
          <p:cNvSpPr/>
          <p:nvPr/>
        </p:nvSpPr>
        <p:spPr>
          <a:xfrm>
            <a:off x="6492240" y="3310128"/>
            <a:ext cx="2331720" cy="640080"/>
          </a:xfrm>
          <a:prstGeom prst="roundRect">
            <a:avLst>
              <a:gd name="adj" fmla="val 7143"/>
            </a:avLst>
          </a:prstGeom>
          <a:solidFill>
            <a:srgbClr val="E8A33D"/>
          </a:solidFill>
          <a:ln w="10160">
            <a:solidFill>
              <a:srgbClr val="CFD9E2"/>
            </a:solidFill>
            <a:prstDash val="solid"/>
          </a:ln>
        </p:spPr>
        <p:txBody>
          <a:bodyPr/>
          <a:lstStyle/>
          <a:p>
            <a:endParaRPr lang="en-AE"/>
          </a:p>
        </p:txBody>
      </p:sp>
      <p:sp>
        <p:nvSpPr>
          <p:cNvPr id="35" name="Text 33"/>
          <p:cNvSpPr/>
          <p:nvPr/>
        </p:nvSpPr>
        <p:spPr>
          <a:xfrm>
            <a:off x="6528816" y="3364992"/>
            <a:ext cx="2258568"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gate MLP  4→32→1</a:t>
            </a:r>
            <a:endParaRPr lang="en-US" sz="1100" dirty="0"/>
          </a:p>
        </p:txBody>
      </p:sp>
      <p:sp>
        <p:nvSpPr>
          <p:cNvPr id="36" name="Text 34"/>
          <p:cNvSpPr/>
          <p:nvPr/>
        </p:nvSpPr>
        <p:spPr>
          <a:xfrm>
            <a:off x="6528816" y="3584448"/>
            <a:ext cx="2258568" cy="329184"/>
          </a:xfrm>
          <a:prstGeom prst="rect">
            <a:avLst/>
          </a:prstGeom>
          <a:noFill/>
          <a:ln/>
        </p:spPr>
        <p:txBody>
          <a:bodyPr wrap="square" lIns="0" tIns="0" rIns="0" bIns="0" rtlCol="0" anchor="t"/>
          <a:lstStyle/>
          <a:p>
            <a:pPr marL="0" indent="0" algn="ctr">
              <a:buNone/>
            </a:pPr>
            <a:r>
              <a:rPr lang="en-US" sz="900" dirty="0">
                <a:solidFill>
                  <a:srgbClr val="6E5312"/>
                </a:solidFill>
                <a:latin typeface="Calibri" pitchFamily="34" charset="0"/>
                <a:ea typeface="Calibri" pitchFamily="34" charset="-122"/>
                <a:cs typeface="Calibri" pitchFamily="34" charset="-120"/>
              </a:rPr>
              <a:t>sigmoid → α</a:t>
            </a:r>
            <a:endParaRPr lang="en-US" sz="900" dirty="0"/>
          </a:p>
        </p:txBody>
      </p:sp>
      <p:sp>
        <p:nvSpPr>
          <p:cNvPr id="37" name="Shape 35"/>
          <p:cNvSpPr/>
          <p:nvPr/>
        </p:nvSpPr>
        <p:spPr>
          <a:xfrm>
            <a:off x="6492240" y="4224528"/>
            <a:ext cx="2331720" cy="676656"/>
          </a:xfrm>
          <a:prstGeom prst="roundRect">
            <a:avLst>
              <a:gd name="adj" fmla="val 6757"/>
            </a:avLst>
          </a:prstGeom>
          <a:solidFill>
            <a:srgbClr val="E3EAF1"/>
          </a:solidFill>
          <a:ln w="10160">
            <a:solidFill>
              <a:srgbClr val="CFD9E2"/>
            </a:solidFill>
            <a:prstDash val="solid"/>
          </a:ln>
        </p:spPr>
        <p:txBody>
          <a:bodyPr/>
          <a:lstStyle/>
          <a:p>
            <a:endParaRPr lang="en-AE"/>
          </a:p>
        </p:txBody>
      </p:sp>
      <p:sp>
        <p:nvSpPr>
          <p:cNvPr id="38" name="Text 36"/>
          <p:cNvSpPr/>
          <p:nvPr/>
        </p:nvSpPr>
        <p:spPr>
          <a:xfrm>
            <a:off x="6528816" y="4279392"/>
            <a:ext cx="2258568"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α·H_t + (1−α)·H_a</a:t>
            </a:r>
            <a:endParaRPr lang="en-US" sz="1100" dirty="0"/>
          </a:p>
        </p:txBody>
      </p:sp>
      <p:sp>
        <p:nvSpPr>
          <p:cNvPr id="39" name="Text 37"/>
          <p:cNvSpPr/>
          <p:nvPr/>
        </p:nvSpPr>
        <p:spPr>
          <a:xfrm>
            <a:off x="6528816" y="4498848"/>
            <a:ext cx="2258568" cy="365760"/>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then + future_clearsky → 259</a:t>
            </a:r>
            <a:endParaRPr lang="en-US" sz="900" dirty="0"/>
          </a:p>
        </p:txBody>
      </p:sp>
      <p:sp>
        <p:nvSpPr>
          <p:cNvPr id="40" name="Text 38"/>
          <p:cNvSpPr/>
          <p:nvPr/>
        </p:nvSpPr>
        <p:spPr>
          <a:xfrm>
            <a:off x="9326880" y="1298448"/>
            <a:ext cx="2194560" cy="201168"/>
          </a:xfrm>
          <a:prstGeom prst="rect">
            <a:avLst/>
          </a:prstGeom>
          <a:noFill/>
          <a:ln/>
        </p:spPr>
        <p:txBody>
          <a:bodyPr wrap="square" lIns="0" tIns="0" rIns="0" bIns="0" rtlCol="0" anchor="ctr"/>
          <a:lstStyle/>
          <a:p>
            <a:pPr marL="0" indent="0">
              <a:buNone/>
            </a:pPr>
            <a:r>
              <a:rPr lang="en-US" sz="950" b="1" kern="0" spc="160" dirty="0">
                <a:solidFill>
                  <a:srgbClr val="6E7F8F"/>
                </a:solidFill>
                <a:latin typeface="Calibri" pitchFamily="34" charset="0"/>
                <a:ea typeface="Calibri" pitchFamily="34" charset="-122"/>
                <a:cs typeface="Calibri" pitchFamily="34" charset="-120"/>
              </a:rPr>
              <a:t>HEAD</a:t>
            </a:r>
            <a:endParaRPr lang="en-US" sz="950" dirty="0"/>
          </a:p>
        </p:txBody>
      </p:sp>
      <p:sp>
        <p:nvSpPr>
          <p:cNvPr id="41" name="Shape 39"/>
          <p:cNvSpPr/>
          <p:nvPr/>
        </p:nvSpPr>
        <p:spPr>
          <a:xfrm>
            <a:off x="9326880" y="3017520"/>
            <a:ext cx="2304288" cy="566928"/>
          </a:xfrm>
          <a:prstGeom prst="roundRect">
            <a:avLst>
              <a:gd name="adj" fmla="val 8065"/>
            </a:avLst>
          </a:prstGeom>
          <a:solidFill>
            <a:srgbClr val="EFF3F7"/>
          </a:solidFill>
          <a:ln w="10160">
            <a:solidFill>
              <a:srgbClr val="CFD9E2"/>
            </a:solidFill>
            <a:prstDash val="solid"/>
          </a:ln>
        </p:spPr>
        <p:txBody>
          <a:bodyPr/>
          <a:lstStyle/>
          <a:p>
            <a:endParaRPr lang="en-AE"/>
          </a:p>
        </p:txBody>
      </p:sp>
      <p:sp>
        <p:nvSpPr>
          <p:cNvPr id="42" name="Text 40"/>
          <p:cNvSpPr/>
          <p:nvPr/>
        </p:nvSpPr>
        <p:spPr>
          <a:xfrm>
            <a:off x="9363456" y="3072384"/>
            <a:ext cx="2231136"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enrich  259→256</a:t>
            </a:r>
            <a:endParaRPr lang="en-US" sz="1100" dirty="0"/>
          </a:p>
        </p:txBody>
      </p:sp>
      <p:sp>
        <p:nvSpPr>
          <p:cNvPr id="43" name="Text 41"/>
          <p:cNvSpPr/>
          <p:nvPr/>
        </p:nvSpPr>
        <p:spPr>
          <a:xfrm>
            <a:off x="9363456" y="3291840"/>
            <a:ext cx="2231136" cy="256032"/>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ReLU, dropout 0.15</a:t>
            </a:r>
            <a:endParaRPr lang="en-US" sz="900" dirty="0"/>
          </a:p>
        </p:txBody>
      </p:sp>
      <p:sp>
        <p:nvSpPr>
          <p:cNvPr id="44" name="Shape 42"/>
          <p:cNvSpPr/>
          <p:nvPr/>
        </p:nvSpPr>
        <p:spPr>
          <a:xfrm>
            <a:off x="9326880" y="3712464"/>
            <a:ext cx="2304288" cy="713232"/>
          </a:xfrm>
          <a:prstGeom prst="roundRect">
            <a:avLst>
              <a:gd name="adj" fmla="val 6410"/>
            </a:avLst>
          </a:prstGeom>
          <a:solidFill>
            <a:srgbClr val="1C7293"/>
          </a:solidFill>
          <a:ln w="10160">
            <a:solidFill>
              <a:srgbClr val="1C7293"/>
            </a:solidFill>
            <a:prstDash val="solid"/>
          </a:ln>
        </p:spPr>
        <p:txBody>
          <a:bodyPr/>
          <a:lstStyle/>
          <a:p>
            <a:endParaRPr lang="en-AE"/>
          </a:p>
        </p:txBody>
      </p:sp>
      <p:sp>
        <p:nvSpPr>
          <p:cNvPr id="45" name="Text 43"/>
          <p:cNvSpPr/>
          <p:nvPr/>
        </p:nvSpPr>
        <p:spPr>
          <a:xfrm>
            <a:off x="9363456" y="3767328"/>
            <a:ext cx="223113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MLP 256→128→64→6</a:t>
            </a:r>
            <a:endParaRPr lang="en-US" sz="1100" dirty="0"/>
          </a:p>
        </p:txBody>
      </p:sp>
      <p:sp>
        <p:nvSpPr>
          <p:cNvPr id="46" name="Text 44"/>
          <p:cNvSpPr/>
          <p:nvPr/>
        </p:nvSpPr>
        <p:spPr>
          <a:xfrm>
            <a:off x="9363456" y="3986784"/>
            <a:ext cx="2231136" cy="402336"/>
          </a:xfrm>
          <a:prstGeom prst="rect">
            <a:avLst/>
          </a:prstGeom>
          <a:noFill/>
          <a:ln/>
        </p:spPr>
        <p:txBody>
          <a:bodyPr wrap="square" lIns="0" tIns="0" rIns="0" bIns="0" rtlCol="0" anchor="t"/>
          <a:lstStyle/>
          <a:p>
            <a:pPr marL="0" indent="0" algn="ctr">
              <a:buNone/>
            </a:pPr>
            <a:r>
              <a:rPr lang="en-US" sz="900" dirty="0">
                <a:solidFill>
                  <a:srgbClr val="D8E2EC"/>
                </a:solidFill>
                <a:latin typeface="Calibri" pitchFamily="34" charset="0"/>
                <a:ea typeface="Calibri" pitchFamily="34" charset="-122"/>
                <a:cs typeface="Calibri" pitchFamily="34" charset="-120"/>
              </a:rPr>
              <a:t>LayerNorm + GELU</a:t>
            </a:r>
            <a:endParaRPr lang="en-US" sz="900" dirty="0"/>
          </a:p>
        </p:txBody>
      </p:sp>
      <p:sp>
        <p:nvSpPr>
          <p:cNvPr id="47" name="Shape 45"/>
          <p:cNvSpPr/>
          <p:nvPr/>
        </p:nvSpPr>
        <p:spPr>
          <a:xfrm>
            <a:off x="9326880" y="4553712"/>
            <a:ext cx="2304288" cy="731520"/>
          </a:xfrm>
          <a:prstGeom prst="roundRect">
            <a:avLst>
              <a:gd name="adj" fmla="val 6250"/>
            </a:avLst>
          </a:prstGeom>
          <a:solidFill>
            <a:srgbClr val="E8A33D"/>
          </a:solidFill>
          <a:ln w="10160">
            <a:solidFill>
              <a:srgbClr val="CFD9E2"/>
            </a:solidFill>
            <a:prstDash val="solid"/>
          </a:ln>
        </p:spPr>
        <p:txBody>
          <a:bodyPr/>
          <a:lstStyle/>
          <a:p>
            <a:endParaRPr lang="en-AE"/>
          </a:p>
        </p:txBody>
      </p:sp>
      <p:sp>
        <p:nvSpPr>
          <p:cNvPr id="48" name="Text 46"/>
          <p:cNvSpPr/>
          <p:nvPr/>
        </p:nvSpPr>
        <p:spPr>
          <a:xfrm>
            <a:off x="9363456" y="4608576"/>
            <a:ext cx="2231136"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mu (B,3)   sigma (B,3)</a:t>
            </a:r>
            <a:endParaRPr lang="en-US" sz="1100" dirty="0"/>
          </a:p>
        </p:txBody>
      </p:sp>
      <p:sp>
        <p:nvSpPr>
          <p:cNvPr id="49" name="Text 47"/>
          <p:cNvSpPr/>
          <p:nvPr/>
        </p:nvSpPr>
        <p:spPr>
          <a:xfrm>
            <a:off x="9363456" y="4828032"/>
            <a:ext cx="2231136" cy="420624"/>
          </a:xfrm>
          <a:prstGeom prst="rect">
            <a:avLst/>
          </a:prstGeom>
          <a:noFill/>
          <a:ln/>
        </p:spPr>
        <p:txBody>
          <a:bodyPr wrap="square" lIns="0" tIns="0" rIns="0" bIns="0" rtlCol="0" anchor="t"/>
          <a:lstStyle/>
          <a:p>
            <a:pPr marL="0" indent="0" algn="ctr">
              <a:buNone/>
            </a:pPr>
            <a:r>
              <a:rPr lang="en-US" sz="900" dirty="0">
                <a:solidFill>
                  <a:srgbClr val="6E5312"/>
                </a:solidFill>
                <a:latin typeface="Calibri" pitchFamily="34" charset="0"/>
                <a:ea typeface="Calibri" pitchFamily="34" charset="-122"/>
                <a:cs typeface="Calibri" pitchFamily="34" charset="-120"/>
              </a:rPr>
              <a:t>sigma = softplus + 1e-4</a:t>
            </a:r>
            <a:endParaRPr lang="en-US" sz="900" dirty="0"/>
          </a:p>
        </p:txBody>
      </p:sp>
      <p:sp>
        <p:nvSpPr>
          <p:cNvPr id="50" name="Shape 48"/>
          <p:cNvSpPr/>
          <p:nvPr/>
        </p:nvSpPr>
        <p:spPr>
          <a:xfrm>
            <a:off x="2926080" y="1819656"/>
            <a:ext cx="457200" cy="0"/>
          </a:xfrm>
          <a:prstGeom prst="line">
            <a:avLst/>
          </a:prstGeom>
          <a:noFill/>
          <a:ln w="19050">
            <a:solidFill>
              <a:srgbClr val="1C7293"/>
            </a:solidFill>
            <a:prstDash val="solid"/>
            <a:tailEnd type="triangle"/>
          </a:ln>
        </p:spPr>
        <p:txBody>
          <a:bodyPr/>
          <a:lstStyle/>
          <a:p>
            <a:endParaRPr lang="en-AE"/>
          </a:p>
        </p:txBody>
      </p:sp>
      <p:sp>
        <p:nvSpPr>
          <p:cNvPr id="51" name="Shape 49"/>
          <p:cNvSpPr/>
          <p:nvPr/>
        </p:nvSpPr>
        <p:spPr>
          <a:xfrm>
            <a:off x="2926080" y="2514600"/>
            <a:ext cx="457200" cy="91440"/>
          </a:xfrm>
          <a:prstGeom prst="line">
            <a:avLst/>
          </a:prstGeom>
          <a:noFill/>
          <a:ln w="19050">
            <a:solidFill>
              <a:srgbClr val="1C7293"/>
            </a:solidFill>
            <a:prstDash val="solid"/>
            <a:tailEnd type="triangle"/>
          </a:ln>
        </p:spPr>
        <p:txBody>
          <a:bodyPr/>
          <a:lstStyle/>
          <a:p>
            <a:endParaRPr lang="en-AE"/>
          </a:p>
        </p:txBody>
      </p:sp>
      <p:sp>
        <p:nvSpPr>
          <p:cNvPr id="52" name="Shape 50"/>
          <p:cNvSpPr/>
          <p:nvPr/>
        </p:nvSpPr>
        <p:spPr>
          <a:xfrm>
            <a:off x="2926080" y="3209544"/>
            <a:ext cx="457200" cy="402336"/>
          </a:xfrm>
          <a:prstGeom prst="line">
            <a:avLst/>
          </a:prstGeom>
          <a:noFill/>
          <a:ln w="19050">
            <a:solidFill>
              <a:srgbClr val="1C7293"/>
            </a:solidFill>
            <a:prstDash val="solid"/>
            <a:tailEnd type="triangle"/>
          </a:ln>
        </p:spPr>
        <p:txBody>
          <a:bodyPr/>
          <a:lstStyle/>
          <a:p>
            <a:endParaRPr lang="en-AE"/>
          </a:p>
        </p:txBody>
      </p:sp>
      <p:sp>
        <p:nvSpPr>
          <p:cNvPr id="53" name="Shape 51"/>
          <p:cNvSpPr/>
          <p:nvPr/>
        </p:nvSpPr>
        <p:spPr>
          <a:xfrm>
            <a:off x="5943600" y="1819656"/>
            <a:ext cx="530352" cy="512064"/>
          </a:xfrm>
          <a:prstGeom prst="line">
            <a:avLst/>
          </a:prstGeom>
          <a:noFill/>
          <a:ln w="19050">
            <a:solidFill>
              <a:srgbClr val="1C7293"/>
            </a:solidFill>
            <a:prstDash val="solid"/>
            <a:tailEnd type="triangle"/>
          </a:ln>
        </p:spPr>
        <p:txBody>
          <a:bodyPr/>
          <a:lstStyle/>
          <a:p>
            <a:endParaRPr lang="en-AE"/>
          </a:p>
        </p:txBody>
      </p:sp>
      <p:sp>
        <p:nvSpPr>
          <p:cNvPr id="54" name="Shape 52"/>
          <p:cNvSpPr/>
          <p:nvPr/>
        </p:nvSpPr>
        <p:spPr>
          <a:xfrm flipV="1">
            <a:off x="5943600" y="2606040"/>
            <a:ext cx="530352" cy="137160"/>
          </a:xfrm>
          <a:prstGeom prst="line">
            <a:avLst/>
          </a:prstGeom>
          <a:noFill/>
          <a:ln w="19050">
            <a:solidFill>
              <a:srgbClr val="1C7293"/>
            </a:solidFill>
            <a:prstDash val="solid"/>
            <a:tailEnd type="triangle"/>
          </a:ln>
        </p:spPr>
        <p:txBody>
          <a:bodyPr/>
          <a:lstStyle/>
          <a:p>
            <a:endParaRPr lang="en-AE"/>
          </a:p>
        </p:txBody>
      </p:sp>
      <p:sp>
        <p:nvSpPr>
          <p:cNvPr id="55" name="Shape 53"/>
          <p:cNvSpPr/>
          <p:nvPr/>
        </p:nvSpPr>
        <p:spPr>
          <a:xfrm flipV="1">
            <a:off x="5943600" y="2761488"/>
            <a:ext cx="530352" cy="950976"/>
          </a:xfrm>
          <a:prstGeom prst="line">
            <a:avLst/>
          </a:prstGeom>
          <a:noFill/>
          <a:ln w="19050">
            <a:solidFill>
              <a:srgbClr val="1C7293"/>
            </a:solidFill>
            <a:prstDash val="solid"/>
            <a:tailEnd type="triangle"/>
          </a:ln>
        </p:spPr>
        <p:txBody>
          <a:bodyPr/>
          <a:lstStyle/>
          <a:p>
            <a:endParaRPr lang="en-AE"/>
          </a:p>
        </p:txBody>
      </p:sp>
      <p:sp>
        <p:nvSpPr>
          <p:cNvPr id="56" name="Shape 54"/>
          <p:cNvSpPr/>
          <p:nvPr/>
        </p:nvSpPr>
        <p:spPr>
          <a:xfrm>
            <a:off x="2926080" y="4233672"/>
            <a:ext cx="3383280" cy="0"/>
          </a:xfrm>
          <a:prstGeom prst="line">
            <a:avLst/>
          </a:prstGeom>
          <a:noFill/>
          <a:ln w="19050">
            <a:solidFill>
              <a:srgbClr val="E8A33D"/>
            </a:solidFill>
            <a:prstDash val="solid"/>
          </a:ln>
        </p:spPr>
        <p:txBody>
          <a:bodyPr/>
          <a:lstStyle/>
          <a:p>
            <a:endParaRPr lang="en-AE"/>
          </a:p>
        </p:txBody>
      </p:sp>
      <p:sp>
        <p:nvSpPr>
          <p:cNvPr id="57" name="Shape 55"/>
          <p:cNvSpPr/>
          <p:nvPr/>
        </p:nvSpPr>
        <p:spPr>
          <a:xfrm flipV="1">
            <a:off x="6309360" y="3657600"/>
            <a:ext cx="164592" cy="576072"/>
          </a:xfrm>
          <a:prstGeom prst="line">
            <a:avLst/>
          </a:prstGeom>
          <a:noFill/>
          <a:ln w="19050">
            <a:solidFill>
              <a:srgbClr val="E8A33D"/>
            </a:solidFill>
            <a:prstDash val="solid"/>
            <a:tailEnd type="triangle"/>
          </a:ln>
        </p:spPr>
        <p:txBody>
          <a:bodyPr/>
          <a:lstStyle/>
          <a:p>
            <a:endParaRPr lang="en-AE"/>
          </a:p>
        </p:txBody>
      </p:sp>
      <p:sp>
        <p:nvSpPr>
          <p:cNvPr id="58" name="Shape 56"/>
          <p:cNvSpPr/>
          <p:nvPr/>
        </p:nvSpPr>
        <p:spPr>
          <a:xfrm>
            <a:off x="7662672" y="2980944"/>
            <a:ext cx="0" cy="1207008"/>
          </a:xfrm>
          <a:prstGeom prst="line">
            <a:avLst/>
          </a:prstGeom>
          <a:noFill/>
          <a:ln w="19050">
            <a:solidFill>
              <a:srgbClr val="1C7293"/>
            </a:solidFill>
            <a:prstDash val="solid"/>
            <a:tailEnd type="triangle"/>
          </a:ln>
        </p:spPr>
        <p:txBody>
          <a:bodyPr/>
          <a:lstStyle/>
          <a:p>
            <a:endParaRPr lang="en-AE"/>
          </a:p>
        </p:txBody>
      </p:sp>
      <p:sp>
        <p:nvSpPr>
          <p:cNvPr id="59" name="Shape 57"/>
          <p:cNvSpPr/>
          <p:nvPr/>
        </p:nvSpPr>
        <p:spPr>
          <a:xfrm>
            <a:off x="7662672" y="3968496"/>
            <a:ext cx="0" cy="219456"/>
          </a:xfrm>
          <a:prstGeom prst="line">
            <a:avLst/>
          </a:prstGeom>
          <a:noFill/>
          <a:ln w="19050">
            <a:solidFill>
              <a:srgbClr val="E8A33D"/>
            </a:solidFill>
            <a:prstDash val="solid"/>
            <a:tailEnd type="triangle"/>
          </a:ln>
        </p:spPr>
        <p:txBody>
          <a:bodyPr/>
          <a:lstStyle/>
          <a:p>
            <a:endParaRPr lang="en-AE"/>
          </a:p>
        </p:txBody>
      </p:sp>
      <p:sp>
        <p:nvSpPr>
          <p:cNvPr id="60" name="Shape 58"/>
          <p:cNvSpPr/>
          <p:nvPr/>
        </p:nvSpPr>
        <p:spPr>
          <a:xfrm>
            <a:off x="2926080" y="5056632"/>
            <a:ext cx="4736592" cy="0"/>
          </a:xfrm>
          <a:prstGeom prst="line">
            <a:avLst/>
          </a:prstGeom>
          <a:noFill/>
          <a:ln w="19050">
            <a:solidFill>
              <a:srgbClr val="CFD9E2"/>
            </a:solidFill>
            <a:prstDash val="solid"/>
          </a:ln>
        </p:spPr>
        <p:txBody>
          <a:bodyPr/>
          <a:lstStyle/>
          <a:p>
            <a:endParaRPr lang="en-AE"/>
          </a:p>
        </p:txBody>
      </p:sp>
      <p:sp>
        <p:nvSpPr>
          <p:cNvPr id="61" name="Shape 59"/>
          <p:cNvSpPr/>
          <p:nvPr/>
        </p:nvSpPr>
        <p:spPr>
          <a:xfrm flipV="1">
            <a:off x="7662672" y="4919472"/>
            <a:ext cx="0" cy="137160"/>
          </a:xfrm>
          <a:prstGeom prst="line">
            <a:avLst/>
          </a:prstGeom>
          <a:noFill/>
          <a:ln w="19050">
            <a:solidFill>
              <a:srgbClr val="CFD9E2"/>
            </a:solidFill>
            <a:prstDash val="solid"/>
            <a:tailEnd type="triangle"/>
          </a:ln>
        </p:spPr>
        <p:txBody>
          <a:bodyPr/>
          <a:lstStyle/>
          <a:p>
            <a:endParaRPr lang="en-AE"/>
          </a:p>
        </p:txBody>
      </p:sp>
      <p:sp>
        <p:nvSpPr>
          <p:cNvPr id="62" name="Shape 60"/>
          <p:cNvSpPr/>
          <p:nvPr/>
        </p:nvSpPr>
        <p:spPr>
          <a:xfrm flipV="1">
            <a:off x="8851392" y="3310128"/>
            <a:ext cx="457200" cy="1252728"/>
          </a:xfrm>
          <a:prstGeom prst="line">
            <a:avLst/>
          </a:prstGeom>
          <a:noFill/>
          <a:ln w="19050">
            <a:solidFill>
              <a:srgbClr val="1C7293"/>
            </a:solidFill>
            <a:prstDash val="solid"/>
            <a:tailEnd type="triangle"/>
          </a:ln>
        </p:spPr>
        <p:txBody>
          <a:bodyPr/>
          <a:lstStyle/>
          <a:p>
            <a:endParaRPr lang="en-AE"/>
          </a:p>
        </p:txBody>
      </p:sp>
      <p:sp>
        <p:nvSpPr>
          <p:cNvPr id="63" name="Shape 61"/>
          <p:cNvSpPr/>
          <p:nvPr/>
        </p:nvSpPr>
        <p:spPr>
          <a:xfrm>
            <a:off x="10479024" y="3602736"/>
            <a:ext cx="0" cy="91440"/>
          </a:xfrm>
          <a:prstGeom prst="line">
            <a:avLst/>
          </a:prstGeom>
          <a:noFill/>
          <a:ln w="19050">
            <a:solidFill>
              <a:srgbClr val="1C7293"/>
            </a:solidFill>
            <a:prstDash val="solid"/>
            <a:tailEnd type="triangle"/>
          </a:ln>
        </p:spPr>
        <p:txBody>
          <a:bodyPr/>
          <a:lstStyle/>
          <a:p>
            <a:endParaRPr lang="en-AE"/>
          </a:p>
        </p:txBody>
      </p:sp>
      <p:sp>
        <p:nvSpPr>
          <p:cNvPr id="64" name="Shape 62"/>
          <p:cNvSpPr/>
          <p:nvPr/>
        </p:nvSpPr>
        <p:spPr>
          <a:xfrm>
            <a:off x="10479024" y="4443984"/>
            <a:ext cx="0" cy="91440"/>
          </a:xfrm>
          <a:prstGeom prst="line">
            <a:avLst/>
          </a:prstGeom>
          <a:noFill/>
          <a:ln w="19050">
            <a:solidFill>
              <a:srgbClr val="1C7293"/>
            </a:solidFill>
            <a:prstDash val="solid"/>
            <a:tailEnd type="triangle"/>
          </a:ln>
        </p:spPr>
        <p:txBody>
          <a:bodyPr/>
          <a:lstStyle/>
          <a:p>
            <a:endParaRPr lang="en-AE"/>
          </a:p>
        </p:txBody>
      </p:sp>
      <p:sp>
        <p:nvSpPr>
          <p:cNvPr id="65" name="Shape 63"/>
          <p:cNvSpPr/>
          <p:nvPr/>
        </p:nvSpPr>
        <p:spPr>
          <a:xfrm>
            <a:off x="566928" y="5504688"/>
            <a:ext cx="11064240" cy="896112"/>
          </a:xfrm>
          <a:prstGeom prst="roundRect">
            <a:avLst>
              <a:gd name="adj" fmla="val 6122"/>
            </a:avLst>
          </a:prstGeom>
          <a:solidFill>
            <a:srgbClr val="EFF3F7"/>
          </a:solidFill>
          <a:ln w="7620">
            <a:solidFill>
              <a:srgbClr val="CFD9E2"/>
            </a:solidFill>
            <a:prstDash val="solid"/>
          </a:ln>
        </p:spPr>
        <p:txBody>
          <a:bodyPr/>
          <a:lstStyle/>
          <a:p>
            <a:endParaRPr lang="en-AE"/>
          </a:p>
        </p:txBody>
      </p:sp>
      <p:sp>
        <p:nvSpPr>
          <p:cNvPr id="66" name="Text 64"/>
          <p:cNvSpPr/>
          <p:nvPr/>
        </p:nvSpPr>
        <p:spPr>
          <a:xfrm>
            <a:off x="777240" y="5632704"/>
            <a:ext cx="2057400" cy="329184"/>
          </a:xfrm>
          <a:prstGeom prst="rect">
            <a:avLst/>
          </a:prstGeom>
          <a:noFill/>
          <a:ln/>
        </p:spPr>
        <p:txBody>
          <a:bodyPr wrap="square" lIns="0" tIns="0" rIns="0" bIns="0" rtlCol="0" anchor="ctr"/>
          <a:lstStyle/>
          <a:p>
            <a:pPr marL="0" indent="0">
              <a:buNone/>
            </a:pPr>
            <a:r>
              <a:rPr lang="en-US" sz="1700" b="1" dirty="0">
                <a:solidFill>
                  <a:srgbClr val="0B2545"/>
                </a:solidFill>
                <a:latin typeface="Cambria" pitchFamily="34" charset="0"/>
                <a:ea typeface="Cambria" pitchFamily="34" charset="-122"/>
                <a:cs typeface="Cambria" pitchFamily="34" charset="-120"/>
              </a:rPr>
              <a:t>15,505,804</a:t>
            </a:r>
            <a:endParaRPr lang="en-US" sz="1700" dirty="0"/>
          </a:p>
        </p:txBody>
      </p:sp>
      <p:sp>
        <p:nvSpPr>
          <p:cNvPr id="67" name="Text 65"/>
          <p:cNvSpPr/>
          <p:nvPr/>
        </p:nvSpPr>
        <p:spPr>
          <a:xfrm>
            <a:off x="777240" y="5961888"/>
            <a:ext cx="2057400" cy="329184"/>
          </a:xfrm>
          <a:prstGeom prst="rect">
            <a:avLst/>
          </a:prstGeom>
          <a:noFill/>
          <a:ln/>
        </p:spPr>
        <p:txBody>
          <a:bodyPr wrap="square" lIns="0" tIns="0" rIns="0" bIns="0" rtlCol="0" anchor="ctr"/>
          <a:lstStyle/>
          <a:p>
            <a:pPr marL="0" indent="0">
              <a:buNone/>
            </a:pPr>
            <a:r>
              <a:rPr lang="en-US" sz="1000" dirty="0">
                <a:solidFill>
                  <a:srgbClr val="6E7F8F"/>
                </a:solidFill>
                <a:latin typeface="Calibri" pitchFamily="34" charset="0"/>
                <a:ea typeface="Calibri" pitchFamily="34" charset="-122"/>
                <a:cs typeface="Calibri" pitchFamily="34" charset="-120"/>
              </a:rPr>
              <a:t>total parameters</a:t>
            </a:r>
            <a:endParaRPr lang="en-US" sz="1000" dirty="0"/>
          </a:p>
        </p:txBody>
      </p:sp>
      <p:sp>
        <p:nvSpPr>
          <p:cNvPr id="68" name="Text 66"/>
          <p:cNvSpPr/>
          <p:nvPr/>
        </p:nvSpPr>
        <p:spPr>
          <a:xfrm>
            <a:off x="2971800" y="5632704"/>
            <a:ext cx="2057400" cy="329184"/>
          </a:xfrm>
          <a:prstGeom prst="rect">
            <a:avLst/>
          </a:prstGeom>
          <a:noFill/>
          <a:ln/>
        </p:spPr>
        <p:txBody>
          <a:bodyPr wrap="square" lIns="0" tIns="0" rIns="0" bIns="0" rtlCol="0" anchor="ctr"/>
          <a:lstStyle/>
          <a:p>
            <a:pPr marL="0" indent="0">
              <a:buNone/>
            </a:pPr>
            <a:r>
              <a:rPr lang="en-US" sz="1700" b="1" dirty="0">
                <a:solidFill>
                  <a:srgbClr val="0B2545"/>
                </a:solidFill>
                <a:latin typeface="Cambria" pitchFamily="34" charset="0"/>
                <a:ea typeface="Cambria" pitchFamily="34" charset="-122"/>
                <a:cs typeface="Cambria" pitchFamily="34" charset="-120"/>
              </a:rPr>
              <a:t>1,100,680</a:t>
            </a:r>
            <a:endParaRPr lang="en-US" sz="1700" dirty="0"/>
          </a:p>
        </p:txBody>
      </p:sp>
      <p:sp>
        <p:nvSpPr>
          <p:cNvPr id="69" name="Text 67"/>
          <p:cNvSpPr/>
          <p:nvPr/>
        </p:nvSpPr>
        <p:spPr>
          <a:xfrm>
            <a:off x="2971800" y="5961888"/>
            <a:ext cx="2057400" cy="329184"/>
          </a:xfrm>
          <a:prstGeom prst="rect">
            <a:avLst/>
          </a:prstGeom>
          <a:noFill/>
          <a:ln/>
        </p:spPr>
        <p:txBody>
          <a:bodyPr wrap="square" lIns="0" tIns="0" rIns="0" bIns="0" rtlCol="0" anchor="ctr"/>
          <a:lstStyle/>
          <a:p>
            <a:pPr marL="0" indent="0">
              <a:buNone/>
            </a:pPr>
            <a:r>
              <a:rPr lang="en-US" sz="1000" dirty="0">
                <a:solidFill>
                  <a:srgbClr val="6E7F8F"/>
                </a:solidFill>
                <a:latin typeface="Calibri" pitchFamily="34" charset="0"/>
                <a:ea typeface="Calibri" pitchFamily="34" charset="-122"/>
                <a:cs typeface="Calibri" pitchFamily="34" charset="-120"/>
              </a:rPr>
              <a:t>trainable while CNN frozen</a:t>
            </a:r>
            <a:endParaRPr lang="en-US" sz="1000" dirty="0"/>
          </a:p>
        </p:txBody>
      </p:sp>
      <p:sp>
        <p:nvSpPr>
          <p:cNvPr id="70" name="Text 68"/>
          <p:cNvSpPr/>
          <p:nvPr/>
        </p:nvSpPr>
        <p:spPr>
          <a:xfrm>
            <a:off x="5166360" y="5632704"/>
            <a:ext cx="2057400" cy="329184"/>
          </a:xfrm>
          <a:prstGeom prst="rect">
            <a:avLst/>
          </a:prstGeom>
          <a:noFill/>
          <a:ln/>
        </p:spPr>
        <p:txBody>
          <a:bodyPr wrap="square" lIns="0" tIns="0" rIns="0" bIns="0" rtlCol="0" anchor="ctr"/>
          <a:lstStyle/>
          <a:p>
            <a:pPr marL="0" indent="0">
              <a:buNone/>
            </a:pPr>
            <a:r>
              <a:rPr lang="en-US" sz="1700" b="1" dirty="0">
                <a:solidFill>
                  <a:srgbClr val="0B2545"/>
                </a:solidFill>
                <a:latin typeface="Cambria" pitchFamily="34" charset="0"/>
                <a:ea typeface="Cambria" pitchFamily="34" charset="-122"/>
                <a:cs typeface="Cambria" pitchFamily="34" charset="-120"/>
              </a:rPr>
              <a:t>14,405,124</a:t>
            </a:r>
            <a:endParaRPr lang="en-US" sz="1700" dirty="0"/>
          </a:p>
        </p:txBody>
      </p:sp>
      <p:sp>
        <p:nvSpPr>
          <p:cNvPr id="71" name="Text 69"/>
          <p:cNvSpPr/>
          <p:nvPr/>
        </p:nvSpPr>
        <p:spPr>
          <a:xfrm>
            <a:off x="5166360" y="5961888"/>
            <a:ext cx="2057400" cy="329184"/>
          </a:xfrm>
          <a:prstGeom prst="rect">
            <a:avLst/>
          </a:prstGeom>
          <a:noFill/>
          <a:ln/>
        </p:spPr>
        <p:txBody>
          <a:bodyPr wrap="square" lIns="0" tIns="0" rIns="0" bIns="0" rtlCol="0" anchor="ctr"/>
          <a:lstStyle/>
          <a:p>
            <a:pPr marL="0" indent="0">
              <a:buNone/>
            </a:pPr>
            <a:r>
              <a:rPr lang="en-US" sz="1000" dirty="0">
                <a:solidFill>
                  <a:srgbClr val="6E7F8F"/>
                </a:solidFill>
                <a:latin typeface="Calibri" pitchFamily="34" charset="0"/>
                <a:ea typeface="Calibri" pitchFamily="34" charset="-122"/>
                <a:cs typeface="Calibri" pitchFamily="34" charset="-120"/>
              </a:rPr>
              <a:t>in the two image encoders (92.9%)</a:t>
            </a:r>
            <a:endParaRPr lang="en-US" sz="1000" dirty="0"/>
          </a:p>
        </p:txBody>
      </p:sp>
      <p:sp>
        <p:nvSpPr>
          <p:cNvPr id="72" name="Text 70"/>
          <p:cNvSpPr/>
          <p:nvPr/>
        </p:nvSpPr>
        <p:spPr>
          <a:xfrm>
            <a:off x="7360920" y="5632704"/>
            <a:ext cx="2057400" cy="329184"/>
          </a:xfrm>
          <a:prstGeom prst="rect">
            <a:avLst/>
          </a:prstGeom>
          <a:noFill/>
          <a:ln/>
        </p:spPr>
        <p:txBody>
          <a:bodyPr wrap="square" lIns="0" tIns="0" rIns="0" bIns="0" rtlCol="0" anchor="ctr"/>
          <a:lstStyle/>
          <a:p>
            <a:pPr marL="0" indent="0">
              <a:buNone/>
            </a:pPr>
            <a:r>
              <a:rPr lang="en-US" sz="1700" b="1" dirty="0">
                <a:solidFill>
                  <a:srgbClr val="B87A1B"/>
                </a:solidFill>
                <a:latin typeface="Cambria" pitchFamily="34" charset="0"/>
                <a:ea typeface="Cambria" pitchFamily="34" charset="-122"/>
                <a:cs typeface="Cambria" pitchFamily="34" charset="-120"/>
              </a:rPr>
              <a:t>193</a:t>
            </a:r>
            <a:endParaRPr lang="en-US" sz="1700" dirty="0"/>
          </a:p>
        </p:txBody>
      </p:sp>
      <p:sp>
        <p:nvSpPr>
          <p:cNvPr id="73" name="Text 71"/>
          <p:cNvSpPr/>
          <p:nvPr/>
        </p:nvSpPr>
        <p:spPr>
          <a:xfrm>
            <a:off x="7360920" y="5961888"/>
            <a:ext cx="2057400" cy="329184"/>
          </a:xfrm>
          <a:prstGeom prst="rect">
            <a:avLst/>
          </a:prstGeom>
          <a:noFill/>
          <a:ln/>
        </p:spPr>
        <p:txBody>
          <a:bodyPr wrap="square" lIns="0" tIns="0" rIns="0" bIns="0" rtlCol="0" anchor="ctr"/>
          <a:lstStyle/>
          <a:p>
            <a:pPr marL="0" indent="0">
              <a:buNone/>
            </a:pPr>
            <a:r>
              <a:rPr lang="en-US" sz="1000" dirty="0">
                <a:solidFill>
                  <a:srgbClr val="6E7F8F"/>
                </a:solidFill>
                <a:latin typeface="Calibri" pitchFamily="34" charset="0"/>
                <a:ea typeface="Calibri" pitchFamily="34" charset="-122"/>
                <a:cs typeface="Calibri" pitchFamily="34" charset="-120"/>
              </a:rPr>
              <a:t>in the physics gate</a:t>
            </a:r>
            <a:endParaRPr lang="en-US" sz="1000" dirty="0"/>
          </a:p>
        </p:txBody>
      </p:sp>
      <p:sp>
        <p:nvSpPr>
          <p:cNvPr id="74" name="Text 72"/>
          <p:cNvSpPr/>
          <p:nvPr/>
        </p:nvSpPr>
        <p:spPr>
          <a:xfrm>
            <a:off x="9555480" y="5632704"/>
            <a:ext cx="2057400" cy="329184"/>
          </a:xfrm>
          <a:prstGeom prst="rect">
            <a:avLst/>
          </a:prstGeom>
          <a:noFill/>
          <a:ln/>
        </p:spPr>
        <p:txBody>
          <a:bodyPr wrap="square" lIns="0" tIns="0" rIns="0" bIns="0" rtlCol="0" anchor="ctr"/>
          <a:lstStyle/>
          <a:p>
            <a:pPr marL="0" indent="0">
              <a:buNone/>
            </a:pPr>
            <a:r>
              <a:rPr lang="en-US" sz="1700" b="1" dirty="0">
                <a:solidFill>
                  <a:srgbClr val="0B2545"/>
                </a:solidFill>
                <a:latin typeface="Cambria" pitchFamily="34" charset="0"/>
                <a:ea typeface="Cambria" pitchFamily="34" charset="-122"/>
                <a:cs typeface="Cambria" pitchFamily="34" charset="-120"/>
              </a:rPr>
              <a:t>62.9 MB</a:t>
            </a:r>
            <a:endParaRPr lang="en-US" sz="1700" dirty="0"/>
          </a:p>
        </p:txBody>
      </p:sp>
      <p:sp>
        <p:nvSpPr>
          <p:cNvPr id="75" name="Text 73"/>
          <p:cNvSpPr/>
          <p:nvPr/>
        </p:nvSpPr>
        <p:spPr>
          <a:xfrm>
            <a:off x="9555480" y="5961888"/>
            <a:ext cx="2057400" cy="329184"/>
          </a:xfrm>
          <a:prstGeom prst="rect">
            <a:avLst/>
          </a:prstGeom>
          <a:noFill/>
          <a:ln/>
        </p:spPr>
        <p:txBody>
          <a:bodyPr wrap="square" lIns="0" tIns="0" rIns="0" bIns="0" rtlCol="0" anchor="ctr"/>
          <a:lstStyle/>
          <a:p>
            <a:pPr marL="0" indent="0">
              <a:buNone/>
            </a:pPr>
            <a:r>
              <a:rPr lang="en-US" sz="1000" dirty="0">
                <a:solidFill>
                  <a:srgbClr val="6E7F8F"/>
                </a:solidFill>
                <a:latin typeface="Calibri" pitchFamily="34" charset="0"/>
                <a:ea typeface="Calibri" pitchFamily="34" charset="-122"/>
                <a:cs typeface="Calibri" pitchFamily="34" charset="-120"/>
              </a:rPr>
              <a:t>checkpoint on disk</a:t>
            </a:r>
            <a:endParaRPr lang="en-US" sz="1000" dirty="0"/>
          </a:p>
        </p:txBody>
      </p:sp>
      <p:sp>
        <p:nvSpPr>
          <p:cNvPr id="76" name="Text 74"/>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model.py:225 PhysicsGatedFusionModelV2 — parameter counts recomputed from the class, checkpoint verified as v2 (global_enc.* keys present in best_model.pt).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ARCHITECTURE — DETAIL</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Layer-by-layer: every shape, every operation</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4425696"/>
        </p:xfrm>
        <a:graphic>
          <a:graphicData uri="http://schemas.openxmlformats.org/drawingml/2006/table">
            <a:tbl>
              <a:tblPr/>
              <a:tblGrid>
                <a:gridCol w="141732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402336">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Block</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Operation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Input → Output</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Params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Purpose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BiLSTM</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nn.LSTM(11, 128, layers=2, bidirectional, dropout 0.1)</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(B,24,11) → (B,24,256)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539,648</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sequential dependence in both directions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Temporal attention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Linear 256→128, Tanh, Linear 128→1, softmax over t, weighted sum</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(B,24,256) → (B,256)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33,025</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learned pooling — weights the 24 steps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Image encoder ×2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timm efficientnet_b2, features_only, last stage taken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(B,3,224,224) → (B,352,7,7)</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7,202,562 ea.</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spatial cloud features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Patchify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view + transpose, concatenated over 3 global frames + 1 RoI</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4 × (B,352,7,7) → (B,196,352)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one token per 32×32-pixel region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Cross-attention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q_proj 256→256, kv_proj 352→256, nn.MultiheadAttention(256, 8 heads, dropout 0.1)</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Q (B,1,256), KV (B,196,256) → (B,256)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419,328</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H_t selects the relevant patches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Physics gate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Linear 4→32, ReLU, Linear 32→1, Sigmoid</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(B,4) → (B,1)</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193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scalar blend weight α between 0 and 1</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Fusion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α·H_t[:256] + (1−α)·H_a, then concat future_clearsky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(B,256),(B,3) → (B,259)</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modality mixing + astronomical anchor</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Enrich</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Linear 259→256, ReLU, Dropout 0.15</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(B,259) → (B,256)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66,560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project the anchored fusion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Head</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Linear 256→128, LN, GELU, Drop 0.15; 128→64, LN, GELU; 64→6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(B,256) → (B,6)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41,926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regression to 3 means + 3 raw scales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9"/>
                  </a:ext>
                </a:extLst>
              </a:tr>
              <a:tr h="40233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Output split</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μ = out[:, :3];  σ = softplus(out[:, 3:]) + 1e-4</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(B,6) → (B,3),(B,3)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guarantees σ &gt; 0 for the NLL</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 name="Text 2"/>
          <p:cNvSpPr/>
          <p:nvPr/>
        </p:nvSpPr>
        <p:spPr>
          <a:xfrm>
            <a:off x="566928" y="6053328"/>
            <a:ext cx="11064240" cy="292608"/>
          </a:xfrm>
          <a:prstGeom prst="rect">
            <a:avLst/>
          </a:prstGeom>
          <a:noFill/>
          <a:ln/>
        </p:spPr>
        <p:txBody>
          <a:bodyPr wrap="square" lIns="0" tIns="0" rIns="0" bIns="0" rtlCol="0" anchor="ctr"/>
          <a:lstStyle/>
          <a:p>
            <a:pPr marL="0" indent="0">
              <a:buNone/>
            </a:pPr>
            <a:r>
              <a:rPr lang="en-US" sz="1100" i="1" dirty="0">
                <a:solidFill>
                  <a:srgbClr val="6E7F8F"/>
                </a:solidFill>
                <a:latin typeface="Calibri" pitchFamily="34" charset="0"/>
                <a:ea typeface="Calibri" pitchFamily="34" charset="-122"/>
                <a:cs typeface="Calibri" pitchFamily="34" charset="-120"/>
              </a:rPr>
              <a:t>Every row above was read off model.py and the parameter counts recomputed by instantiating the class; they sum to 15,505,804.</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COMPONENT DETAIL</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The temporal branch — where the performance comes from</a:t>
            </a:r>
            <a:endParaRPr lang="en-US" sz="3000" dirty="0"/>
          </a:p>
        </p:txBody>
      </p:sp>
      <p:sp>
        <p:nvSpPr>
          <p:cNvPr id="4" name="Shape 2"/>
          <p:cNvSpPr/>
          <p:nvPr/>
        </p:nvSpPr>
        <p:spPr>
          <a:xfrm>
            <a:off x="566928" y="1417320"/>
            <a:ext cx="2148840" cy="603504"/>
          </a:xfrm>
          <a:prstGeom prst="roundRect">
            <a:avLst>
              <a:gd name="adj" fmla="val 7576"/>
            </a:avLst>
          </a:prstGeom>
          <a:solidFill>
            <a:srgbClr val="EFF3F7"/>
          </a:solidFill>
          <a:ln w="10160">
            <a:solidFill>
              <a:srgbClr val="CFD9E2"/>
            </a:solidFill>
            <a:prstDash val="solid"/>
          </a:ln>
        </p:spPr>
        <p:txBody>
          <a:bodyPr/>
          <a:lstStyle/>
          <a:p>
            <a:endParaRPr lang="en-AE"/>
          </a:p>
        </p:txBody>
      </p:sp>
      <p:sp>
        <p:nvSpPr>
          <p:cNvPr id="5" name="Text 3"/>
          <p:cNvSpPr/>
          <p:nvPr/>
        </p:nvSpPr>
        <p:spPr>
          <a:xfrm>
            <a:off x="603504" y="1472184"/>
            <a:ext cx="2075688"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(B, 24, 11)</a:t>
            </a:r>
            <a:endParaRPr lang="en-US" sz="1100" dirty="0"/>
          </a:p>
        </p:txBody>
      </p:sp>
      <p:sp>
        <p:nvSpPr>
          <p:cNvPr id="6" name="Text 4"/>
          <p:cNvSpPr/>
          <p:nvPr/>
        </p:nvSpPr>
        <p:spPr>
          <a:xfrm>
            <a:off x="603504" y="1691640"/>
            <a:ext cx="2075688" cy="292608"/>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normalised feature window</a:t>
            </a:r>
            <a:endParaRPr lang="en-US" sz="900" dirty="0"/>
          </a:p>
        </p:txBody>
      </p:sp>
      <p:sp>
        <p:nvSpPr>
          <p:cNvPr id="7" name="Shape 5"/>
          <p:cNvSpPr/>
          <p:nvPr/>
        </p:nvSpPr>
        <p:spPr>
          <a:xfrm>
            <a:off x="2715768" y="1719072"/>
            <a:ext cx="365760" cy="0"/>
          </a:xfrm>
          <a:prstGeom prst="line">
            <a:avLst/>
          </a:prstGeom>
          <a:noFill/>
          <a:ln w="19050">
            <a:solidFill>
              <a:srgbClr val="1C7293"/>
            </a:solidFill>
            <a:prstDash val="solid"/>
            <a:tailEnd type="triangle"/>
          </a:ln>
        </p:spPr>
        <p:txBody>
          <a:bodyPr/>
          <a:lstStyle/>
          <a:p>
            <a:endParaRPr lang="en-AE"/>
          </a:p>
        </p:txBody>
      </p:sp>
      <p:sp>
        <p:nvSpPr>
          <p:cNvPr id="8" name="Shape 6"/>
          <p:cNvSpPr/>
          <p:nvPr/>
        </p:nvSpPr>
        <p:spPr>
          <a:xfrm>
            <a:off x="3081528" y="1417320"/>
            <a:ext cx="2377440" cy="603504"/>
          </a:xfrm>
          <a:prstGeom prst="roundRect">
            <a:avLst>
              <a:gd name="adj" fmla="val 7576"/>
            </a:avLst>
          </a:prstGeom>
          <a:solidFill>
            <a:srgbClr val="1C7293"/>
          </a:solidFill>
          <a:ln w="10160">
            <a:solidFill>
              <a:srgbClr val="1C7293"/>
            </a:solidFill>
            <a:prstDash val="solid"/>
          </a:ln>
        </p:spPr>
        <p:txBody>
          <a:bodyPr/>
          <a:lstStyle/>
          <a:p>
            <a:endParaRPr lang="en-AE"/>
          </a:p>
        </p:txBody>
      </p:sp>
      <p:sp>
        <p:nvSpPr>
          <p:cNvPr id="9" name="Text 7"/>
          <p:cNvSpPr/>
          <p:nvPr/>
        </p:nvSpPr>
        <p:spPr>
          <a:xfrm>
            <a:off x="3118104" y="1472184"/>
            <a:ext cx="2304288"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BiLSTM layer 1</a:t>
            </a:r>
            <a:endParaRPr lang="en-US" sz="1100" dirty="0"/>
          </a:p>
        </p:txBody>
      </p:sp>
      <p:sp>
        <p:nvSpPr>
          <p:cNvPr id="10" name="Text 8"/>
          <p:cNvSpPr/>
          <p:nvPr/>
        </p:nvSpPr>
        <p:spPr>
          <a:xfrm>
            <a:off x="3118104" y="1691640"/>
            <a:ext cx="2304288" cy="292608"/>
          </a:xfrm>
          <a:prstGeom prst="rect">
            <a:avLst/>
          </a:prstGeom>
          <a:noFill/>
          <a:ln/>
        </p:spPr>
        <p:txBody>
          <a:bodyPr wrap="square" lIns="0" tIns="0" rIns="0" bIns="0" rtlCol="0" anchor="t"/>
          <a:lstStyle/>
          <a:p>
            <a:pPr marL="0" indent="0" algn="ctr">
              <a:buNone/>
            </a:pPr>
            <a:r>
              <a:rPr lang="en-US" sz="900" dirty="0">
                <a:solidFill>
                  <a:srgbClr val="D8E2EC"/>
                </a:solidFill>
                <a:latin typeface="Calibri" pitchFamily="34" charset="0"/>
                <a:ea typeface="Calibri" pitchFamily="34" charset="-122"/>
                <a:cs typeface="Calibri" pitchFamily="34" charset="-120"/>
              </a:rPr>
              <a:t>128 hidden, both directions</a:t>
            </a:r>
            <a:endParaRPr lang="en-US" sz="900" dirty="0"/>
          </a:p>
        </p:txBody>
      </p:sp>
      <p:sp>
        <p:nvSpPr>
          <p:cNvPr id="11" name="Shape 9"/>
          <p:cNvSpPr/>
          <p:nvPr/>
        </p:nvSpPr>
        <p:spPr>
          <a:xfrm>
            <a:off x="5458968" y="1719072"/>
            <a:ext cx="365760" cy="0"/>
          </a:xfrm>
          <a:prstGeom prst="line">
            <a:avLst/>
          </a:prstGeom>
          <a:noFill/>
          <a:ln w="19050">
            <a:solidFill>
              <a:srgbClr val="1C7293"/>
            </a:solidFill>
            <a:prstDash val="solid"/>
            <a:tailEnd type="triangle"/>
          </a:ln>
        </p:spPr>
        <p:txBody>
          <a:bodyPr/>
          <a:lstStyle/>
          <a:p>
            <a:endParaRPr lang="en-AE"/>
          </a:p>
        </p:txBody>
      </p:sp>
      <p:sp>
        <p:nvSpPr>
          <p:cNvPr id="12" name="Shape 10"/>
          <p:cNvSpPr/>
          <p:nvPr/>
        </p:nvSpPr>
        <p:spPr>
          <a:xfrm>
            <a:off x="5824728" y="1417320"/>
            <a:ext cx="2377440" cy="603504"/>
          </a:xfrm>
          <a:prstGeom prst="roundRect">
            <a:avLst>
              <a:gd name="adj" fmla="val 7576"/>
            </a:avLst>
          </a:prstGeom>
          <a:solidFill>
            <a:srgbClr val="1C7293"/>
          </a:solidFill>
          <a:ln w="10160">
            <a:solidFill>
              <a:srgbClr val="1C7293"/>
            </a:solidFill>
            <a:prstDash val="solid"/>
          </a:ln>
        </p:spPr>
        <p:txBody>
          <a:bodyPr/>
          <a:lstStyle/>
          <a:p>
            <a:endParaRPr lang="en-AE"/>
          </a:p>
        </p:txBody>
      </p:sp>
      <p:sp>
        <p:nvSpPr>
          <p:cNvPr id="13" name="Text 11"/>
          <p:cNvSpPr/>
          <p:nvPr/>
        </p:nvSpPr>
        <p:spPr>
          <a:xfrm>
            <a:off x="5861304" y="1472184"/>
            <a:ext cx="2304288"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BiLSTM layer 2</a:t>
            </a:r>
            <a:endParaRPr lang="en-US" sz="1100" dirty="0"/>
          </a:p>
        </p:txBody>
      </p:sp>
      <p:sp>
        <p:nvSpPr>
          <p:cNvPr id="14" name="Text 12"/>
          <p:cNvSpPr/>
          <p:nvPr/>
        </p:nvSpPr>
        <p:spPr>
          <a:xfrm>
            <a:off x="5861304" y="1691640"/>
            <a:ext cx="2304288" cy="292608"/>
          </a:xfrm>
          <a:prstGeom prst="rect">
            <a:avLst/>
          </a:prstGeom>
          <a:noFill/>
          <a:ln/>
        </p:spPr>
        <p:txBody>
          <a:bodyPr wrap="square" lIns="0" tIns="0" rIns="0" bIns="0" rtlCol="0" anchor="t"/>
          <a:lstStyle/>
          <a:p>
            <a:pPr marL="0" indent="0" algn="ctr">
              <a:buNone/>
            </a:pPr>
            <a:r>
              <a:rPr lang="en-US" sz="900" dirty="0">
                <a:solidFill>
                  <a:srgbClr val="D8E2EC"/>
                </a:solidFill>
                <a:latin typeface="Calibri" pitchFamily="34" charset="0"/>
                <a:ea typeface="Calibri" pitchFamily="34" charset="-122"/>
                <a:cs typeface="Calibri" pitchFamily="34" charset="-120"/>
              </a:rPr>
              <a:t>dropout 0.1 between layers</a:t>
            </a:r>
            <a:endParaRPr lang="en-US" sz="900" dirty="0"/>
          </a:p>
        </p:txBody>
      </p:sp>
      <p:sp>
        <p:nvSpPr>
          <p:cNvPr id="15" name="Shape 13"/>
          <p:cNvSpPr/>
          <p:nvPr/>
        </p:nvSpPr>
        <p:spPr>
          <a:xfrm>
            <a:off x="8202168" y="1719072"/>
            <a:ext cx="365760" cy="0"/>
          </a:xfrm>
          <a:prstGeom prst="line">
            <a:avLst/>
          </a:prstGeom>
          <a:noFill/>
          <a:ln w="19050">
            <a:solidFill>
              <a:srgbClr val="1C7293"/>
            </a:solidFill>
            <a:prstDash val="solid"/>
            <a:tailEnd type="triangle"/>
          </a:ln>
        </p:spPr>
        <p:txBody>
          <a:bodyPr/>
          <a:lstStyle/>
          <a:p>
            <a:endParaRPr lang="en-AE"/>
          </a:p>
        </p:txBody>
      </p:sp>
      <p:sp>
        <p:nvSpPr>
          <p:cNvPr id="16" name="Shape 14"/>
          <p:cNvSpPr/>
          <p:nvPr/>
        </p:nvSpPr>
        <p:spPr>
          <a:xfrm>
            <a:off x="8567928" y="1417320"/>
            <a:ext cx="2606040" cy="603504"/>
          </a:xfrm>
          <a:prstGeom prst="roundRect">
            <a:avLst>
              <a:gd name="adj" fmla="val 7576"/>
            </a:avLst>
          </a:prstGeom>
          <a:solidFill>
            <a:srgbClr val="EFF3F7"/>
          </a:solidFill>
          <a:ln w="10160">
            <a:solidFill>
              <a:srgbClr val="CFD9E2"/>
            </a:solidFill>
            <a:prstDash val="solid"/>
          </a:ln>
        </p:spPr>
        <p:txBody>
          <a:bodyPr/>
          <a:lstStyle/>
          <a:p>
            <a:endParaRPr lang="en-AE"/>
          </a:p>
        </p:txBody>
      </p:sp>
      <p:sp>
        <p:nvSpPr>
          <p:cNvPr id="17" name="Text 15"/>
          <p:cNvSpPr/>
          <p:nvPr/>
        </p:nvSpPr>
        <p:spPr>
          <a:xfrm>
            <a:off x="8604504" y="1472184"/>
            <a:ext cx="2532888" cy="256032"/>
          </a:xfrm>
          <a:prstGeom prst="rect">
            <a:avLst/>
          </a:prstGeom>
          <a:noFill/>
          <a:ln/>
        </p:spPr>
        <p:txBody>
          <a:bodyPr wrap="square" lIns="0" tIns="0" rIns="0" bIns="0" rtlCol="0" anchor="t"/>
          <a:lstStyle/>
          <a:p>
            <a:pPr marL="0" indent="0" algn="ctr">
              <a:buNone/>
            </a:pPr>
            <a:r>
              <a:rPr lang="en-US" sz="1100" b="1" dirty="0">
                <a:solidFill>
                  <a:srgbClr val="0B2545"/>
                </a:solidFill>
                <a:latin typeface="Calibri" pitchFamily="34" charset="0"/>
                <a:ea typeface="Calibri" pitchFamily="34" charset="-122"/>
                <a:cs typeface="Calibri" pitchFamily="34" charset="-120"/>
              </a:rPr>
              <a:t>(B, 24, 256)</a:t>
            </a:r>
            <a:endParaRPr lang="en-US" sz="1100" dirty="0"/>
          </a:p>
        </p:txBody>
      </p:sp>
      <p:sp>
        <p:nvSpPr>
          <p:cNvPr id="18" name="Text 16"/>
          <p:cNvSpPr/>
          <p:nvPr/>
        </p:nvSpPr>
        <p:spPr>
          <a:xfrm>
            <a:off x="8604504" y="1691640"/>
            <a:ext cx="2532888" cy="292608"/>
          </a:xfrm>
          <a:prstGeom prst="rect">
            <a:avLst/>
          </a:prstGeom>
          <a:noFill/>
          <a:ln/>
        </p:spPr>
        <p:txBody>
          <a:bodyPr wrap="square" lIns="0" tIns="0" rIns="0" bIns="0" rtlCol="0" anchor="t"/>
          <a:lstStyle/>
          <a:p>
            <a:pPr marL="0" indent="0" algn="ctr">
              <a:buNone/>
            </a:pPr>
            <a:r>
              <a:rPr lang="en-US" sz="900" dirty="0">
                <a:solidFill>
                  <a:srgbClr val="6E7F8F"/>
                </a:solidFill>
                <a:latin typeface="Calibri" pitchFamily="34" charset="0"/>
                <a:ea typeface="Calibri" pitchFamily="34" charset="-122"/>
                <a:cs typeface="Calibri" pitchFamily="34" charset="-120"/>
              </a:rPr>
              <a:t>one vector per timestep</a:t>
            </a:r>
            <a:endParaRPr lang="en-US" sz="900" dirty="0"/>
          </a:p>
        </p:txBody>
      </p:sp>
      <p:sp>
        <p:nvSpPr>
          <p:cNvPr id="19" name="Shape 17"/>
          <p:cNvSpPr/>
          <p:nvPr/>
        </p:nvSpPr>
        <p:spPr>
          <a:xfrm>
            <a:off x="566928" y="2304288"/>
            <a:ext cx="5532120" cy="2286000"/>
          </a:xfrm>
          <a:prstGeom prst="roundRect">
            <a:avLst>
              <a:gd name="adj" fmla="val 2000"/>
            </a:avLst>
          </a:prstGeom>
          <a:solidFill>
            <a:srgbClr val="EFF3F7"/>
          </a:solidFill>
          <a:ln w="7620">
            <a:solidFill>
              <a:srgbClr val="CFD9E2"/>
            </a:solidFill>
            <a:prstDash val="solid"/>
          </a:ln>
        </p:spPr>
        <p:txBody>
          <a:bodyPr/>
          <a:lstStyle/>
          <a:p>
            <a:endParaRPr lang="en-AE"/>
          </a:p>
        </p:txBody>
      </p:sp>
      <p:sp>
        <p:nvSpPr>
          <p:cNvPr id="20" name="Text 18"/>
          <p:cNvSpPr/>
          <p:nvPr/>
        </p:nvSpPr>
        <p:spPr>
          <a:xfrm>
            <a:off x="841248" y="2432304"/>
            <a:ext cx="493776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Attention pooling, not last-state</a:t>
            </a:r>
            <a:endParaRPr lang="en-US" sz="1300" dirty="0"/>
          </a:p>
        </p:txBody>
      </p:sp>
      <p:sp>
        <p:nvSpPr>
          <p:cNvPr id="21" name="Text 19"/>
          <p:cNvSpPr/>
          <p:nvPr/>
        </p:nvSpPr>
        <p:spPr>
          <a:xfrm>
            <a:off x="841248" y="2798064"/>
            <a:ext cx="4983480" cy="1691640"/>
          </a:xfrm>
          <a:prstGeom prst="rect">
            <a:avLst/>
          </a:prstGeom>
          <a:noFill/>
          <a:ln/>
        </p:spPr>
        <p:txBody>
          <a:bodyPr wrap="square" lIns="0" tIns="0" rIns="0" bIns="0" rtlCol="0" anchor="ctr"/>
          <a:lstStyle/>
          <a:p>
            <a:pPr marL="0" indent="0">
              <a:lnSpc>
                <a:spcPts val="1650"/>
              </a:lnSpc>
              <a:buNone/>
            </a:pPr>
            <a:r>
              <a:rPr lang="en-US" sz="1300" dirty="0">
                <a:solidFill>
                  <a:srgbClr val="0B2545"/>
                </a:solidFill>
                <a:latin typeface="Cambria" pitchFamily="34" charset="0"/>
                <a:ea typeface="Cambria" pitchFamily="34" charset="-122"/>
                <a:cs typeface="Cambria" pitchFamily="34" charset="-120"/>
              </a:rPr>
              <a:t>e_i = w_2^T tanh(W_1 h_i)      a_i = softmax(e)_i      H_t = Σ_i a_i h_i
</a:t>
            </a:r>
            <a:r>
              <a:rPr lang="en-US" sz="1150" dirty="0">
                <a:solidFill>
                  <a:srgbClr val="3C5169"/>
                </a:solidFill>
                <a:latin typeface="Calibri" pitchFamily="34" charset="0"/>
                <a:ea typeface="Calibri" pitchFamily="34" charset="-122"/>
                <a:cs typeface="Calibri" pitchFamily="34" charset="-120"/>
              </a:rPr>
              <a:t>A two-layer scoring MLP (256→128→1) produces one logit per timestep; softmax over the 24 steps gives weights that sum to 1; the output is the weighted sum. Taking only the last hidden state would force a single vector to carry 24 steps of history through a bottleneck. Attention lets the model emphasise, for example, the last three hours during a ramp and a longer stretch on a stable day.</a:t>
            </a:r>
            <a:endParaRPr lang="en-US" sz="1150" dirty="0"/>
          </a:p>
        </p:txBody>
      </p:sp>
      <p:sp>
        <p:nvSpPr>
          <p:cNvPr id="22" name="Shape 20"/>
          <p:cNvSpPr/>
          <p:nvPr/>
        </p:nvSpPr>
        <p:spPr>
          <a:xfrm>
            <a:off x="6373368" y="2304288"/>
            <a:ext cx="5257800" cy="2286000"/>
          </a:xfrm>
          <a:prstGeom prst="roundRect">
            <a:avLst>
              <a:gd name="adj" fmla="val 2000"/>
            </a:avLst>
          </a:prstGeom>
          <a:solidFill>
            <a:srgbClr val="EFF3F7"/>
          </a:solidFill>
          <a:ln w="7620">
            <a:solidFill>
              <a:srgbClr val="CFD9E2"/>
            </a:solidFill>
            <a:prstDash val="solid"/>
          </a:ln>
        </p:spPr>
        <p:txBody>
          <a:bodyPr/>
          <a:lstStyle/>
          <a:p>
            <a:endParaRPr lang="en-AE"/>
          </a:p>
        </p:txBody>
      </p:sp>
      <p:sp>
        <p:nvSpPr>
          <p:cNvPr id="23" name="Text 21"/>
          <p:cNvSpPr/>
          <p:nvPr/>
        </p:nvSpPr>
        <p:spPr>
          <a:xfrm>
            <a:off x="6647688" y="2432304"/>
            <a:ext cx="475488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Why bidirectional over a past-only window</a:t>
            </a:r>
            <a:endParaRPr lang="en-US" sz="1300" dirty="0"/>
          </a:p>
        </p:txBody>
      </p:sp>
      <p:sp>
        <p:nvSpPr>
          <p:cNvPr id="24" name="Text 22"/>
          <p:cNvSpPr/>
          <p:nvPr/>
        </p:nvSpPr>
        <p:spPr>
          <a:xfrm>
            <a:off x="6647688" y="2798064"/>
            <a:ext cx="4754880" cy="1645920"/>
          </a:xfrm>
          <a:prstGeom prst="rect">
            <a:avLst/>
          </a:prstGeom>
          <a:noFill/>
          <a:ln/>
        </p:spPr>
        <p:txBody>
          <a:bodyPr wrap="square" lIns="0" tIns="0" rIns="0" bIns="0" rtlCol="0" anchor="ctr"/>
          <a:lstStyle/>
          <a:p>
            <a:pPr marL="0" indent="0">
              <a:lnSpc>
                <a:spcPts val="1650"/>
              </a:lnSpc>
              <a:buNone/>
            </a:pPr>
            <a:r>
              <a:rPr lang="en-US" sz="1150" dirty="0">
                <a:solidFill>
                  <a:srgbClr val="3C5169"/>
                </a:solidFill>
                <a:latin typeface="Calibri" pitchFamily="34" charset="0"/>
                <a:ea typeface="Calibri" pitchFamily="34" charset="-122"/>
                <a:cs typeface="Calibri" pitchFamily="34" charset="-120"/>
              </a:rPr>
              <a:t>Every one of the 24 steps is in the past at issue time, so reading the window backwards uses no future information — there is no leakage. The backward pass simply gives each timestep context from the steps that followed it inside the window, which helps the attention layer recognise where a ramp began. The cost is a doubling of the LSTM parameters, from 270 k to 540 k.</a:t>
            </a:r>
            <a:endParaRPr lang="en-US" sz="1150" dirty="0"/>
          </a:p>
        </p:txBody>
      </p:sp>
      <p:sp>
        <p:nvSpPr>
          <p:cNvPr id="25" name="Shape 23"/>
          <p:cNvSpPr/>
          <p:nvPr/>
        </p:nvSpPr>
        <p:spPr>
          <a:xfrm>
            <a:off x="566928" y="4828032"/>
            <a:ext cx="11064240" cy="1207008"/>
          </a:xfrm>
          <a:prstGeom prst="roundRect">
            <a:avLst>
              <a:gd name="adj" fmla="val 3788"/>
            </a:avLst>
          </a:prstGeom>
          <a:solidFill>
            <a:srgbClr val="FBF3E4"/>
          </a:solidFill>
          <a:ln w="12700">
            <a:solidFill>
              <a:srgbClr val="E8A33D"/>
            </a:solidFill>
            <a:prstDash val="solid"/>
          </a:ln>
        </p:spPr>
        <p:txBody>
          <a:bodyPr/>
          <a:lstStyle/>
          <a:p>
            <a:endParaRPr lang="en-AE"/>
          </a:p>
        </p:txBody>
      </p:sp>
      <p:sp>
        <p:nvSpPr>
          <p:cNvPr id="26" name="Text 24"/>
          <p:cNvSpPr/>
          <p:nvPr/>
        </p:nvSpPr>
        <p:spPr>
          <a:xfrm>
            <a:off x="868680" y="4956048"/>
            <a:ext cx="2011680" cy="274320"/>
          </a:xfrm>
          <a:prstGeom prst="rect">
            <a:avLst/>
          </a:prstGeom>
          <a:noFill/>
          <a:ln/>
        </p:spPr>
        <p:txBody>
          <a:bodyPr wrap="square" lIns="0" tIns="0" rIns="0" bIns="0" rtlCol="0" anchor="ctr"/>
          <a:lstStyle/>
          <a:p>
            <a:pPr marL="0" indent="0">
              <a:buNone/>
            </a:pPr>
            <a:r>
              <a:rPr lang="en-US" sz="1200" b="1" dirty="0">
                <a:solidFill>
                  <a:srgbClr val="B87A1B"/>
                </a:solidFill>
                <a:latin typeface="Calibri" pitchFamily="34" charset="0"/>
                <a:ea typeface="Calibri" pitchFamily="34" charset="-122"/>
                <a:cs typeface="Calibri" pitchFamily="34" charset="-120"/>
              </a:rPr>
              <a:t>Result preview</a:t>
            </a:r>
            <a:endParaRPr lang="en-US" sz="1200" dirty="0"/>
          </a:p>
        </p:txBody>
      </p:sp>
      <p:sp>
        <p:nvSpPr>
          <p:cNvPr id="27" name="Text 25"/>
          <p:cNvSpPr/>
          <p:nvPr/>
        </p:nvSpPr>
        <p:spPr>
          <a:xfrm>
            <a:off x="868680" y="5266944"/>
            <a:ext cx="10424160" cy="658368"/>
          </a:xfrm>
          <a:prstGeom prst="rect">
            <a:avLst/>
          </a:prstGeom>
          <a:noFill/>
          <a:ln/>
        </p:spPr>
        <p:txBody>
          <a:bodyPr wrap="square" lIns="0" tIns="0" rIns="0" bIns="0" rtlCol="0" anchor="ctr"/>
          <a:lstStyle/>
          <a:p>
            <a:pPr marL="0" indent="0">
              <a:lnSpc>
                <a:spcPts val="1800"/>
              </a:lnSpc>
              <a:buNone/>
            </a:pPr>
            <a:r>
              <a:rPr lang="en-US" sz="1250" dirty="0">
                <a:solidFill>
                  <a:srgbClr val="3C5169"/>
                </a:solidFill>
                <a:latin typeface="Calibri" pitchFamily="34" charset="0"/>
                <a:ea typeface="Calibri" pitchFamily="34" charset="-122"/>
                <a:cs typeface="Calibri" pitchFamily="34" charset="-120"/>
              </a:rPr>
              <a:t>This branch alone — the "LSTM-only" ablation, in which α is forced to 1 and the image path is discarded — is the best of the four deep variants at 84.7 W/m² MAE, and it is the variant that trained for all 150 epochs without overfitting. 572,673 of the model's 15.5 M parameters do essentially all of the useful work.</a:t>
            </a:r>
            <a:endParaRPr lang="en-US" sz="1250" dirty="0"/>
          </a:p>
        </p:txBody>
      </p:sp>
      <p:sp>
        <p:nvSpPr>
          <p:cNvPr id="28" name="Text 26"/>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model.py:69 BiLSTMEncoder, model.py:56 TemporalSelfAttention.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COMPONENT DETAIL</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Cross-modal attention and the physics gate</a:t>
            </a:r>
            <a:endParaRPr lang="en-US" sz="3000" dirty="0"/>
          </a:p>
        </p:txBody>
      </p:sp>
      <p:sp>
        <p:nvSpPr>
          <p:cNvPr id="4" name="Shape 2"/>
          <p:cNvSpPr/>
          <p:nvPr/>
        </p:nvSpPr>
        <p:spPr>
          <a:xfrm>
            <a:off x="566928" y="1371600"/>
            <a:ext cx="5532120" cy="2971800"/>
          </a:xfrm>
          <a:prstGeom prst="roundRect">
            <a:avLst>
              <a:gd name="adj" fmla="val 1846"/>
            </a:avLst>
          </a:prstGeom>
          <a:solidFill>
            <a:srgbClr val="EFF3F7"/>
          </a:solidFill>
          <a:ln w="7620">
            <a:solidFill>
              <a:srgbClr val="CFD9E2"/>
            </a:solidFill>
            <a:prstDash val="solid"/>
          </a:ln>
        </p:spPr>
        <p:txBody>
          <a:bodyPr/>
          <a:lstStyle/>
          <a:p>
            <a:endParaRPr lang="en-AE"/>
          </a:p>
        </p:txBody>
      </p:sp>
      <p:sp>
        <p:nvSpPr>
          <p:cNvPr id="5" name="Text 3"/>
          <p:cNvSpPr/>
          <p:nvPr/>
        </p:nvSpPr>
        <p:spPr>
          <a:xfrm>
            <a:off x="841248" y="1499616"/>
            <a:ext cx="493776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Cross-attention: 1 query, 196 keys</a:t>
            </a:r>
            <a:endParaRPr lang="en-US" sz="1300" dirty="0"/>
          </a:p>
        </p:txBody>
      </p:sp>
      <p:sp>
        <p:nvSpPr>
          <p:cNvPr id="6" name="Text 4"/>
          <p:cNvSpPr/>
          <p:nvPr/>
        </p:nvSpPr>
        <p:spPr>
          <a:xfrm>
            <a:off x="841248" y="1883664"/>
            <a:ext cx="4983480" cy="685800"/>
          </a:xfrm>
          <a:prstGeom prst="rect">
            <a:avLst/>
          </a:prstGeom>
          <a:noFill/>
          <a:ln/>
        </p:spPr>
        <p:txBody>
          <a:bodyPr wrap="square" lIns="0" tIns="0" rIns="0" bIns="0" rtlCol="0" anchor="ctr"/>
          <a:lstStyle/>
          <a:p>
            <a:pPr marL="0" indent="0">
              <a:lnSpc>
                <a:spcPts val="2200"/>
              </a:lnSpc>
              <a:buNone/>
            </a:pPr>
            <a:r>
              <a:rPr lang="en-US" sz="1350" dirty="0">
                <a:solidFill>
                  <a:srgbClr val="0B2545"/>
                </a:solidFill>
                <a:latin typeface="Cambria" pitchFamily="34" charset="0"/>
                <a:ea typeface="Cambria" pitchFamily="34" charset="-122"/>
                <a:cs typeface="Cambria" pitchFamily="34" charset="-120"/>
              </a:rPr>
              <a:t>Q = Wq H_t   →  shape 1 × 256      K = V = Wkv P   →  196 × 256</a:t>
            </a:r>
            <a:endParaRPr lang="en-US" sz="1350" dirty="0"/>
          </a:p>
          <a:p>
            <a:pPr marL="0" indent="0">
              <a:lnSpc>
                <a:spcPts val="2200"/>
              </a:lnSpc>
              <a:buNone/>
            </a:pPr>
            <a:r>
              <a:rPr lang="en-US" sz="1250" dirty="0">
                <a:solidFill>
                  <a:srgbClr val="0B2545"/>
                </a:solidFill>
                <a:latin typeface="Cambria" pitchFamily="34" charset="0"/>
                <a:ea typeface="Cambria" pitchFamily="34" charset="-122"/>
                <a:cs typeface="Cambria" pitchFamily="34" charset="-120"/>
              </a:rPr>
              <a:t>H_a = MultiHead(Q, K, V),   8 heads × 32 dims,   dropout 0.1</a:t>
            </a:r>
            <a:endParaRPr lang="en-US" sz="1350" dirty="0"/>
          </a:p>
        </p:txBody>
      </p:sp>
      <p:sp>
        <p:nvSpPr>
          <p:cNvPr id="7" name="Text 5"/>
          <p:cNvSpPr/>
          <p:nvPr/>
        </p:nvSpPr>
        <p:spPr>
          <a:xfrm>
            <a:off x="841248" y="2651760"/>
            <a:ext cx="4983480" cy="1554480"/>
          </a:xfrm>
          <a:prstGeom prst="rect">
            <a:avLst/>
          </a:prstGeom>
          <a:noFill/>
          <a:ln/>
        </p:spPr>
        <p:txBody>
          <a:bodyPr wrap="square" lIns="0" tIns="0" rIns="0" bIns="0" rtlCol="0" anchor="ctr"/>
          <a:lstStyle/>
          <a:p>
            <a:pPr marL="0" indent="0">
              <a:lnSpc>
                <a:spcPts val="1650"/>
              </a:lnSpc>
              <a:buNone/>
            </a:pPr>
            <a:r>
              <a:rPr lang="en-US" sz="1150" dirty="0">
                <a:solidFill>
                  <a:srgbClr val="3C5169"/>
                </a:solidFill>
                <a:latin typeface="Calibri" pitchFamily="34" charset="0"/>
                <a:ea typeface="Calibri" pitchFamily="34" charset="-122"/>
                <a:cs typeface="Calibri" pitchFamily="34" charset="-120"/>
              </a:rPr>
              <a:t>Because there is exactly one query, the attention reduces to a learned, temporally-conditioned weighted average over the 196 spatial-temporal patches. Softmax over 196 positions returns a probability distribution — which patch of sky, in which of the three frames, matters right now.
</a:t>
            </a:r>
            <a:r>
              <a:rPr lang="en-US" sz="1150" i="1" dirty="0">
                <a:solidFill>
                  <a:srgbClr val="3C5169"/>
                </a:solidFill>
                <a:latin typeface="Calibri" pitchFamily="34" charset="0"/>
                <a:ea typeface="Calibri" pitchFamily="34" charset="-122"/>
                <a:cs typeface="Calibri" pitchFamily="34" charset="-120"/>
              </a:rPr>
              <a:t>Complexity is O(196 × 256) per head — trivial. The expense is upstream: four EfficientNet-B2 forward passes to produce those patches.</a:t>
            </a:r>
            <a:endParaRPr lang="en-US" sz="1150" dirty="0"/>
          </a:p>
        </p:txBody>
      </p:sp>
      <p:sp>
        <p:nvSpPr>
          <p:cNvPr id="8" name="Shape 6"/>
          <p:cNvSpPr/>
          <p:nvPr/>
        </p:nvSpPr>
        <p:spPr>
          <a:xfrm>
            <a:off x="6373368" y="1371600"/>
            <a:ext cx="5257800" cy="2971800"/>
          </a:xfrm>
          <a:prstGeom prst="roundRect">
            <a:avLst>
              <a:gd name="adj" fmla="val 1846"/>
            </a:avLst>
          </a:prstGeom>
          <a:solidFill>
            <a:srgbClr val="FBF3E4"/>
          </a:solidFill>
          <a:ln w="7620">
            <a:solidFill>
              <a:srgbClr val="CFD9E2"/>
            </a:solidFill>
            <a:prstDash val="solid"/>
          </a:ln>
        </p:spPr>
        <p:txBody>
          <a:bodyPr/>
          <a:lstStyle/>
          <a:p>
            <a:endParaRPr lang="en-AE"/>
          </a:p>
        </p:txBody>
      </p:sp>
      <p:sp>
        <p:nvSpPr>
          <p:cNvPr id="9" name="Text 7"/>
          <p:cNvSpPr/>
          <p:nvPr/>
        </p:nvSpPr>
        <p:spPr>
          <a:xfrm>
            <a:off x="6647688" y="1499616"/>
            <a:ext cx="4754880" cy="292608"/>
          </a:xfrm>
          <a:prstGeom prst="rect">
            <a:avLst/>
          </a:prstGeom>
          <a:noFill/>
          <a:ln/>
        </p:spPr>
        <p:txBody>
          <a:bodyPr wrap="square" lIns="0" tIns="0" rIns="0" bIns="0" rtlCol="0" anchor="ctr"/>
          <a:lstStyle/>
          <a:p>
            <a:pPr marL="0" indent="0">
              <a:buNone/>
            </a:pPr>
            <a:r>
              <a:rPr lang="en-US" sz="1300" b="1" dirty="0">
                <a:solidFill>
                  <a:srgbClr val="B87A1B"/>
                </a:solidFill>
                <a:latin typeface="Calibri" pitchFamily="34" charset="0"/>
                <a:ea typeface="Calibri" pitchFamily="34" charset="-122"/>
                <a:cs typeface="Calibri" pitchFamily="34" charset="-120"/>
              </a:rPr>
              <a:t>The physics gate — 193 parameters</a:t>
            </a:r>
            <a:endParaRPr lang="en-US" sz="1300" dirty="0"/>
          </a:p>
        </p:txBody>
      </p:sp>
      <p:sp>
        <p:nvSpPr>
          <p:cNvPr id="10" name="Text 8"/>
          <p:cNvSpPr/>
          <p:nvPr/>
        </p:nvSpPr>
        <p:spPr>
          <a:xfrm>
            <a:off x="6647688" y="1883664"/>
            <a:ext cx="4754880" cy="384048"/>
          </a:xfrm>
          <a:prstGeom prst="rect">
            <a:avLst/>
          </a:prstGeom>
          <a:noFill/>
          <a:ln/>
        </p:spPr>
        <p:txBody>
          <a:bodyPr wrap="square" lIns="0" tIns="0" rIns="0" bIns="0" rtlCol="0" anchor="ctr"/>
          <a:lstStyle/>
          <a:p>
            <a:pPr marL="0" indent="0">
              <a:buNone/>
            </a:pPr>
            <a:r>
              <a:rPr lang="en-US" sz="1250" dirty="0">
                <a:solidFill>
                  <a:srgbClr val="0B2545"/>
                </a:solidFill>
                <a:latin typeface="Cambria" pitchFamily="34" charset="0"/>
                <a:ea typeface="Cambria" pitchFamily="34" charset="-122"/>
                <a:cs typeface="Cambria" pitchFamily="34" charset="-120"/>
              </a:rPr>
              <a:t>α = σ( W_2 · ReLU( W_1 g + b_1 ) + b_2 ),    g = [ k_t , cc/100 , v_x , v_y ]</a:t>
            </a:r>
            <a:endParaRPr lang="en-US" sz="1250" dirty="0"/>
          </a:p>
        </p:txBody>
      </p:sp>
      <p:sp>
        <p:nvSpPr>
          <p:cNvPr id="11" name="Text 9"/>
          <p:cNvSpPr/>
          <p:nvPr/>
        </p:nvSpPr>
        <p:spPr>
          <a:xfrm>
            <a:off x="6647688" y="2395728"/>
            <a:ext cx="777240" cy="27432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k_t</a:t>
            </a:r>
            <a:endParaRPr lang="en-US" sz="1150" dirty="0"/>
          </a:p>
        </p:txBody>
      </p:sp>
      <p:sp>
        <p:nvSpPr>
          <p:cNvPr id="12" name="Text 10"/>
          <p:cNvSpPr/>
          <p:nvPr/>
        </p:nvSpPr>
        <p:spPr>
          <a:xfrm>
            <a:off x="7452360" y="2395728"/>
            <a:ext cx="3931920" cy="530352"/>
          </a:xfrm>
          <a:prstGeom prst="rect">
            <a:avLst/>
          </a:prstGeom>
          <a:noFill/>
          <a:ln/>
        </p:spPr>
        <p:txBody>
          <a:bodyPr wrap="square" lIns="0" tIns="0" rIns="0" bIns="0" rtlCol="0" anchor="ctr"/>
          <a:lstStyle/>
          <a:p>
            <a:pPr marL="0" indent="0">
              <a:lnSpc>
                <a:spcPts val="1500"/>
              </a:lnSpc>
              <a:buNone/>
            </a:pPr>
            <a:r>
              <a:rPr lang="en-US" sz="1100" dirty="0">
                <a:solidFill>
                  <a:srgbClr val="3C5169"/>
                </a:solidFill>
                <a:latin typeface="Calibri" pitchFamily="34" charset="0"/>
                <a:ea typeface="Calibri" pitchFamily="34" charset="-122"/>
                <a:cs typeface="Calibri" pitchFamily="34" charset="-120"/>
              </a:rPr>
              <a:t>clear-sky index at issue time, clipped to [0, 1.5]</a:t>
            </a:r>
            <a:endParaRPr lang="en-US" sz="1100" dirty="0"/>
          </a:p>
        </p:txBody>
      </p:sp>
      <p:sp>
        <p:nvSpPr>
          <p:cNvPr id="13" name="Text 11"/>
          <p:cNvSpPr/>
          <p:nvPr/>
        </p:nvSpPr>
        <p:spPr>
          <a:xfrm>
            <a:off x="6647688" y="2944368"/>
            <a:ext cx="777240" cy="27432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cc</a:t>
            </a:r>
            <a:endParaRPr lang="en-US" sz="1150" dirty="0"/>
          </a:p>
        </p:txBody>
      </p:sp>
      <p:sp>
        <p:nvSpPr>
          <p:cNvPr id="14" name="Text 12"/>
          <p:cNvSpPr/>
          <p:nvPr/>
        </p:nvSpPr>
        <p:spPr>
          <a:xfrm>
            <a:off x="7452360" y="2944368"/>
            <a:ext cx="3931920" cy="530352"/>
          </a:xfrm>
          <a:prstGeom prst="rect">
            <a:avLst/>
          </a:prstGeom>
          <a:noFill/>
          <a:ln/>
        </p:spPr>
        <p:txBody>
          <a:bodyPr wrap="square" lIns="0" tIns="0" rIns="0" bIns="0" rtlCol="0" anchor="ctr"/>
          <a:lstStyle/>
          <a:p>
            <a:pPr marL="0" indent="0">
              <a:lnSpc>
                <a:spcPts val="1500"/>
              </a:lnSpc>
              <a:buNone/>
            </a:pPr>
            <a:r>
              <a:rPr lang="en-US" sz="1100" dirty="0">
                <a:solidFill>
                  <a:srgbClr val="3C5169"/>
                </a:solidFill>
                <a:latin typeface="Calibri" pitchFamily="34" charset="0"/>
                <a:ea typeface="Calibri" pitchFamily="34" charset="-122"/>
                <a:cs typeface="Calibri" pitchFamily="34" charset="-120"/>
              </a:rPr>
              <a:t>ERA5 cloud cover, scaled to [0, 1]</a:t>
            </a:r>
            <a:endParaRPr lang="en-US" sz="1100" dirty="0"/>
          </a:p>
        </p:txBody>
      </p:sp>
      <p:sp>
        <p:nvSpPr>
          <p:cNvPr id="15" name="Text 13"/>
          <p:cNvSpPr/>
          <p:nvPr/>
        </p:nvSpPr>
        <p:spPr>
          <a:xfrm>
            <a:off x="6647688" y="3493008"/>
            <a:ext cx="777240" cy="274320"/>
          </a:xfrm>
          <a:prstGeom prst="rect">
            <a:avLst/>
          </a:prstGeom>
          <a:noFill/>
          <a:ln/>
        </p:spPr>
        <p:txBody>
          <a:bodyPr wrap="square" lIns="0" tIns="0" rIns="0" bIns="0" rtlCol="0" anchor="t"/>
          <a:lstStyle/>
          <a:p>
            <a:pPr marL="0" indent="0">
              <a:buNone/>
            </a:pPr>
            <a:r>
              <a:rPr lang="en-US" sz="1150" b="1" dirty="0">
                <a:solidFill>
                  <a:srgbClr val="0B2545"/>
                </a:solidFill>
                <a:latin typeface="Calibri" pitchFamily="34" charset="0"/>
                <a:ea typeface="Calibri" pitchFamily="34" charset="-122"/>
                <a:cs typeface="Calibri" pitchFamily="34" charset="-120"/>
              </a:rPr>
              <a:t>v_x, v_y</a:t>
            </a:r>
            <a:endParaRPr lang="en-US" sz="1150" dirty="0"/>
          </a:p>
        </p:txBody>
      </p:sp>
      <p:sp>
        <p:nvSpPr>
          <p:cNvPr id="16" name="Text 14"/>
          <p:cNvSpPr/>
          <p:nvPr/>
        </p:nvSpPr>
        <p:spPr>
          <a:xfrm>
            <a:off x="7452360" y="3493008"/>
            <a:ext cx="3931920" cy="530352"/>
          </a:xfrm>
          <a:prstGeom prst="rect">
            <a:avLst/>
          </a:prstGeom>
          <a:noFill/>
          <a:ln/>
        </p:spPr>
        <p:txBody>
          <a:bodyPr wrap="square" lIns="0" tIns="0" rIns="0" bIns="0" rtlCol="0" anchor="ctr"/>
          <a:lstStyle/>
          <a:p>
            <a:pPr marL="0" indent="0">
              <a:lnSpc>
                <a:spcPts val="1500"/>
              </a:lnSpc>
              <a:buNone/>
            </a:pPr>
            <a:r>
              <a:rPr lang="en-US" sz="1100" dirty="0">
                <a:solidFill>
                  <a:srgbClr val="3C5169"/>
                </a:solidFill>
                <a:latin typeface="Calibri" pitchFamily="34" charset="0"/>
                <a:ea typeface="Calibri" pitchFamily="34" charset="-122"/>
                <a:cs typeface="Calibri" pitchFamily="34" charset="-120"/>
              </a:rPr>
              <a:t>mean Farnebäck optical flow in the centre RoI between frames t−1 and t, normalised by frame size</a:t>
            </a:r>
            <a:endParaRPr lang="en-US" sz="1100" dirty="0"/>
          </a:p>
        </p:txBody>
      </p:sp>
      <p:sp>
        <p:nvSpPr>
          <p:cNvPr id="17" name="Text 15"/>
          <p:cNvSpPr/>
          <p:nvPr/>
        </p:nvSpPr>
        <p:spPr>
          <a:xfrm>
            <a:off x="6647688" y="3950208"/>
            <a:ext cx="4754880" cy="292608"/>
          </a:xfrm>
          <a:prstGeom prst="rect">
            <a:avLst/>
          </a:prstGeom>
          <a:noFill/>
          <a:ln/>
        </p:spPr>
        <p:txBody>
          <a:bodyPr wrap="square" lIns="0" tIns="0" rIns="0" bIns="0" rtlCol="0" anchor="ctr"/>
          <a:lstStyle/>
          <a:p>
            <a:pPr marL="0" indent="0">
              <a:buNone/>
            </a:pPr>
            <a:r>
              <a:rPr lang="en-US" sz="1200" b="1" dirty="0">
                <a:solidFill>
                  <a:srgbClr val="0B2545"/>
                </a:solidFill>
                <a:latin typeface="Cambria" pitchFamily="34" charset="0"/>
                <a:ea typeface="Cambria" pitchFamily="34" charset="-122"/>
                <a:cs typeface="Cambria" pitchFamily="34" charset="-120"/>
              </a:rPr>
              <a:t>Fusion:   z = α·H_t[:256] + (1−α)·H_a   ||   c_future  →  R^259</a:t>
            </a:r>
            <a:endParaRPr lang="en-US" sz="1200" dirty="0"/>
          </a:p>
        </p:txBody>
      </p:sp>
      <p:sp>
        <p:nvSpPr>
          <p:cNvPr id="18" name="Shape 16"/>
          <p:cNvSpPr/>
          <p:nvPr/>
        </p:nvSpPr>
        <p:spPr>
          <a:xfrm>
            <a:off x="566928" y="4526280"/>
            <a:ext cx="11064240" cy="1508760"/>
          </a:xfrm>
          <a:prstGeom prst="roundRect">
            <a:avLst>
              <a:gd name="adj" fmla="val 3030"/>
            </a:avLst>
          </a:prstGeom>
          <a:solidFill>
            <a:srgbClr val="0B2545"/>
          </a:solidFill>
          <a:ln/>
        </p:spPr>
        <p:txBody>
          <a:bodyPr/>
          <a:lstStyle/>
          <a:p>
            <a:endParaRPr lang="en-AE"/>
          </a:p>
        </p:txBody>
      </p:sp>
      <p:sp>
        <p:nvSpPr>
          <p:cNvPr id="19" name="Text 17"/>
          <p:cNvSpPr/>
          <p:nvPr/>
        </p:nvSpPr>
        <p:spPr>
          <a:xfrm>
            <a:off x="868680" y="4663440"/>
            <a:ext cx="10424160" cy="274320"/>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Three ways this gate design can fail — all three are visible in the results</a:t>
            </a:r>
            <a:endParaRPr lang="en-US" sz="1300" dirty="0"/>
          </a:p>
        </p:txBody>
      </p:sp>
      <p:sp>
        <p:nvSpPr>
          <p:cNvPr id="20" name="Text 18"/>
          <p:cNvSpPr/>
          <p:nvPr/>
        </p:nvSpPr>
        <p:spPr>
          <a:xfrm>
            <a:off x="868680" y="4992624"/>
            <a:ext cx="3291840"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Sigmoid saturation is not the problem</a:t>
            </a:r>
            <a:endParaRPr lang="en-US" sz="1150" dirty="0"/>
          </a:p>
        </p:txBody>
      </p:sp>
      <p:sp>
        <p:nvSpPr>
          <p:cNvPr id="21" name="Text 19"/>
          <p:cNvSpPr/>
          <p:nvPr/>
        </p:nvSpPr>
        <p:spPr>
          <a:xfrm>
            <a:off x="868680" y="5303520"/>
            <a:ext cx="3291840" cy="658368"/>
          </a:xfrm>
          <a:prstGeom prst="rect">
            <a:avLst/>
          </a:prstGeom>
          <a:noFill/>
          <a:ln/>
        </p:spPr>
        <p:txBody>
          <a:bodyPr wrap="square" lIns="0" tIns="0" rIns="0" bIns="0" rtlCol="0" anchor="ctr"/>
          <a:lstStyle/>
          <a:p>
            <a:pPr marL="0" indent="0">
              <a:lnSpc>
                <a:spcPts val="1450"/>
              </a:lnSpc>
              <a:buNone/>
            </a:pPr>
            <a:r>
              <a:rPr lang="en-US" sz="1050" dirty="0">
                <a:solidFill>
                  <a:srgbClr val="C3D2E0"/>
                </a:solidFill>
                <a:latin typeface="Calibri" pitchFamily="34" charset="0"/>
                <a:ea typeface="Calibri" pitchFamily="34" charset="-122"/>
                <a:cs typeface="Calibri" pitchFamily="34" charset="-120"/>
              </a:rPr>
              <a:t>α sits at 0.446 — mid-range, so the sigmoid is in its steepest region. The gate is not saturated; its pre-activation input is simply near-constant.</a:t>
            </a:r>
            <a:endParaRPr lang="en-US" sz="1050" dirty="0"/>
          </a:p>
        </p:txBody>
      </p:sp>
      <p:sp>
        <p:nvSpPr>
          <p:cNvPr id="22" name="Text 20"/>
          <p:cNvSpPr/>
          <p:nvPr/>
        </p:nvSpPr>
        <p:spPr>
          <a:xfrm>
            <a:off x="4389120" y="4992624"/>
            <a:ext cx="3291840"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The gate has no gradient incentive</a:t>
            </a:r>
            <a:endParaRPr lang="en-US" sz="1150" dirty="0"/>
          </a:p>
        </p:txBody>
      </p:sp>
      <p:sp>
        <p:nvSpPr>
          <p:cNvPr id="23" name="Text 21"/>
          <p:cNvSpPr/>
          <p:nvPr/>
        </p:nvSpPr>
        <p:spPr>
          <a:xfrm>
            <a:off x="4389120" y="5303520"/>
            <a:ext cx="3291840" cy="658368"/>
          </a:xfrm>
          <a:prstGeom prst="rect">
            <a:avLst/>
          </a:prstGeom>
          <a:noFill/>
          <a:ln/>
        </p:spPr>
        <p:txBody>
          <a:bodyPr wrap="square" lIns="0" tIns="0" rIns="0" bIns="0" rtlCol="0" anchor="ctr"/>
          <a:lstStyle/>
          <a:p>
            <a:pPr marL="0" indent="0">
              <a:lnSpc>
                <a:spcPts val="1450"/>
              </a:lnSpc>
              <a:buNone/>
            </a:pPr>
            <a:r>
              <a:rPr lang="en-US" sz="1050" dirty="0">
                <a:solidFill>
                  <a:srgbClr val="C3D2E0"/>
                </a:solidFill>
                <a:latin typeface="Calibri" pitchFamily="34" charset="0"/>
                <a:ea typeface="Calibri" pitchFamily="34" charset="-122"/>
                <a:cs typeface="Calibri" pitchFamily="34" charset="-120"/>
              </a:rPr>
              <a:t>If H_a is uninformative, any α works about as well, so the loss surface is flat in α and the gate never moves off its initialisation.</a:t>
            </a:r>
            <a:endParaRPr lang="en-US" sz="1050" dirty="0"/>
          </a:p>
        </p:txBody>
      </p:sp>
      <p:sp>
        <p:nvSpPr>
          <p:cNvPr id="24" name="Text 22"/>
          <p:cNvSpPr/>
          <p:nvPr/>
        </p:nvSpPr>
        <p:spPr>
          <a:xfrm>
            <a:off x="7909560" y="4992624"/>
            <a:ext cx="3291840"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Scalar granularity</a:t>
            </a:r>
            <a:endParaRPr lang="en-US" sz="1150" dirty="0"/>
          </a:p>
        </p:txBody>
      </p:sp>
      <p:sp>
        <p:nvSpPr>
          <p:cNvPr id="25" name="Text 23"/>
          <p:cNvSpPr/>
          <p:nvPr/>
        </p:nvSpPr>
        <p:spPr>
          <a:xfrm>
            <a:off x="7909560" y="5303520"/>
            <a:ext cx="3291840" cy="658368"/>
          </a:xfrm>
          <a:prstGeom prst="rect">
            <a:avLst/>
          </a:prstGeom>
          <a:noFill/>
          <a:ln/>
        </p:spPr>
        <p:txBody>
          <a:bodyPr wrap="square" lIns="0" tIns="0" rIns="0" bIns="0" rtlCol="0" anchor="ctr"/>
          <a:lstStyle/>
          <a:p>
            <a:pPr marL="0" indent="0">
              <a:lnSpc>
                <a:spcPts val="1450"/>
              </a:lnSpc>
              <a:buNone/>
            </a:pPr>
            <a:r>
              <a:rPr lang="en-US" sz="1050" dirty="0">
                <a:solidFill>
                  <a:srgbClr val="C3D2E0"/>
                </a:solidFill>
                <a:latin typeface="Calibri" pitchFamily="34" charset="0"/>
                <a:ea typeface="Calibri" pitchFamily="34" charset="-122"/>
                <a:cs typeface="Calibri" pitchFamily="34" charset="-120"/>
              </a:rPr>
              <a:t>One α for all 256 dimensions cannot route different feature groups differently.</a:t>
            </a:r>
            <a:endParaRPr lang="en-US" sz="1050" dirty="0"/>
          </a:p>
        </p:txBody>
      </p:sp>
      <p:sp>
        <p:nvSpPr>
          <p:cNvPr id="26" name="Text 24"/>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model.py:204 MultiHeadCrossAttention, model.py:257 gate, model.py:294 forward.  Optical flow: notebook §4 / model.py:_compute_optical_flow (cv2.calcOpticalFlowFarneback, 64×64, centre 32×32 mean).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MATHEMATICAL FORMULATION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The objective, and what it commits the model to</a:t>
            </a:r>
            <a:endParaRPr lang="en-US" sz="3000" dirty="0"/>
          </a:p>
        </p:txBody>
      </p:sp>
      <p:sp>
        <p:nvSpPr>
          <p:cNvPr id="4" name="Shape 2"/>
          <p:cNvSpPr/>
          <p:nvPr/>
        </p:nvSpPr>
        <p:spPr>
          <a:xfrm>
            <a:off x="566928" y="1298448"/>
            <a:ext cx="11064240" cy="1207008"/>
          </a:xfrm>
          <a:prstGeom prst="roundRect">
            <a:avLst>
              <a:gd name="adj" fmla="val 3788"/>
            </a:avLst>
          </a:prstGeom>
          <a:solidFill>
            <a:srgbClr val="0B2545"/>
          </a:solidFill>
          <a:ln/>
        </p:spPr>
        <p:txBody>
          <a:bodyPr/>
          <a:lstStyle/>
          <a:p>
            <a:endParaRPr lang="en-AE"/>
          </a:p>
        </p:txBody>
      </p:sp>
      <p:sp>
        <p:nvSpPr>
          <p:cNvPr id="5" name="Text 3"/>
          <p:cNvSpPr/>
          <p:nvPr/>
        </p:nvSpPr>
        <p:spPr>
          <a:xfrm>
            <a:off x="868680" y="1463040"/>
            <a:ext cx="10424160"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L  =  E_batch [ Σ  ( log σ_h  +  ( y_h − μ_h )²  /  2σ_h² ) ]        for h = 1, 2, 3</a:t>
            </a:r>
            <a:endParaRPr lang="en-US" sz="2000" dirty="0"/>
          </a:p>
        </p:txBody>
      </p:sp>
      <p:sp>
        <p:nvSpPr>
          <p:cNvPr id="6" name="Text 4"/>
          <p:cNvSpPr/>
          <p:nvPr/>
        </p:nvSpPr>
        <p:spPr>
          <a:xfrm>
            <a:off x="868680" y="1975104"/>
            <a:ext cx="10424160" cy="411480"/>
          </a:xfrm>
          <a:prstGeom prst="rect">
            <a:avLst/>
          </a:prstGeom>
          <a:noFill/>
          <a:ln/>
        </p:spPr>
        <p:txBody>
          <a:bodyPr wrap="square" lIns="0" tIns="0" rIns="0" bIns="0" rtlCol="0" anchor="ctr"/>
          <a:lstStyle/>
          <a:p>
            <a:pPr marL="0" indent="0" algn="ctr">
              <a:buNone/>
            </a:pPr>
            <a:r>
              <a:rPr lang="en-US" sz="1200" dirty="0">
                <a:solidFill>
                  <a:srgbClr val="C3D2E0"/>
                </a:solidFill>
                <a:latin typeface="Calibri" pitchFamily="34" charset="0"/>
                <a:ea typeface="Calibri" pitchFamily="34" charset="-122"/>
                <a:cs typeface="Calibri" pitchFamily="34" charset="-120"/>
              </a:rPr>
              <a:t>Negative log-likelihood of a heteroscedastic Gaussian, summed over the three horizons and averaged over the batch.  y_h is the z-scored target;  μ_h, σ_h are the network's outputs.  Constant terms are dropped.</a:t>
            </a:r>
            <a:endParaRPr lang="en-US" sz="1200" dirty="0"/>
          </a:p>
        </p:txBody>
      </p:sp>
      <p:sp>
        <p:nvSpPr>
          <p:cNvPr id="7" name="Shape 5"/>
          <p:cNvSpPr/>
          <p:nvPr/>
        </p:nvSpPr>
        <p:spPr>
          <a:xfrm>
            <a:off x="566928" y="2697480"/>
            <a:ext cx="5394960" cy="3310128"/>
          </a:xfrm>
          <a:prstGeom prst="roundRect">
            <a:avLst>
              <a:gd name="adj" fmla="val 1657"/>
            </a:avLst>
          </a:prstGeom>
          <a:solidFill>
            <a:srgbClr val="EFF3F7"/>
          </a:solidFill>
          <a:ln w="7620">
            <a:solidFill>
              <a:srgbClr val="CFD9E2"/>
            </a:solidFill>
            <a:prstDash val="solid"/>
          </a:ln>
        </p:spPr>
        <p:txBody>
          <a:bodyPr/>
          <a:lstStyle/>
          <a:p>
            <a:endParaRPr lang="en-AE"/>
          </a:p>
        </p:txBody>
      </p:sp>
      <p:sp>
        <p:nvSpPr>
          <p:cNvPr id="8" name="Text 6"/>
          <p:cNvSpPr/>
          <p:nvPr/>
        </p:nvSpPr>
        <p:spPr>
          <a:xfrm>
            <a:off x="841248" y="2834640"/>
            <a:ext cx="484632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What this objective buys — and costs</a:t>
            </a:r>
            <a:endParaRPr lang="en-US" sz="1300" dirty="0"/>
          </a:p>
        </p:txBody>
      </p:sp>
      <p:sp>
        <p:nvSpPr>
          <p:cNvPr id="9" name="Text 7"/>
          <p:cNvSpPr/>
          <p:nvPr/>
        </p:nvSpPr>
        <p:spPr>
          <a:xfrm>
            <a:off x="841248" y="3163824"/>
            <a:ext cx="4892040" cy="2743200"/>
          </a:xfrm>
          <a:prstGeom prst="rect">
            <a:avLst/>
          </a:prstGeom>
          <a:noFill/>
          <a:ln/>
        </p:spPr>
        <p:txBody>
          <a:bodyPr wrap="square" lIns="0" tIns="0" rIns="0" bIns="0" rtlCol="0" anchor="ctr"/>
          <a:lstStyle/>
          <a:p>
            <a:pPr marL="0" indent="0">
              <a:lnSpc>
                <a:spcPts val="1650"/>
              </a:lnSpc>
              <a:buNone/>
            </a:pPr>
            <a:r>
              <a:rPr lang="en-US" sz="1150" b="1" dirty="0">
                <a:solidFill>
                  <a:srgbClr val="2C6E49"/>
                </a:solidFill>
                <a:latin typeface="Calibri" pitchFamily="34" charset="0"/>
                <a:ea typeface="Calibri" pitchFamily="34" charset="-122"/>
                <a:cs typeface="Calibri" pitchFamily="34" charset="-120"/>
              </a:rPr>
              <a:t>Buys:  </a:t>
            </a:r>
            <a:r>
              <a:rPr lang="en-US" sz="1150" dirty="0">
                <a:solidFill>
                  <a:srgbClr val="3C5169"/>
                </a:solidFill>
                <a:latin typeface="Calibri" pitchFamily="34" charset="0"/>
                <a:ea typeface="Calibri" pitchFamily="34" charset="-122"/>
                <a:cs typeface="Calibri" pitchFamily="34" charset="-120"/>
              </a:rPr>
              <a:t>the model must report its own uncertainty. On hours it cannot predict, inflating σ is cheaper than guessing μ, so σ becomes a learned difficulty estimate — which is exactly what a reserve-sizing decision needs.
</a:t>
            </a:r>
            <a:r>
              <a:rPr lang="en-US" sz="1150" b="1" dirty="0">
                <a:solidFill>
                  <a:srgbClr val="B03A2E"/>
                </a:solidFill>
                <a:latin typeface="Calibri" pitchFamily="34" charset="0"/>
                <a:ea typeface="Calibri" pitchFamily="34" charset="-122"/>
                <a:cs typeface="Calibri" pitchFamily="34" charset="-120"/>
              </a:rPr>
              <a:t>Costs:  </a:t>
            </a:r>
            <a:r>
              <a:rPr lang="en-US" sz="1150" dirty="0">
                <a:solidFill>
                  <a:srgbClr val="3C5169"/>
                </a:solidFill>
                <a:latin typeface="Calibri" pitchFamily="34" charset="0"/>
                <a:ea typeface="Calibri" pitchFamily="34" charset="-122"/>
                <a:cs typeface="Calibri" pitchFamily="34" charset="-120"/>
              </a:rPr>
              <a:t>the 1/2σ² factor down-weights hard examples, so a model can reduce the loss by becoming uncertain rather than accurate. NLL and MAE can therefore move in opposite directions.
</a:t>
            </a:r>
            <a:r>
              <a:rPr lang="en-US" sz="1150" b="1" dirty="0">
                <a:solidFill>
                  <a:srgbClr val="0B2545"/>
                </a:solidFill>
                <a:latin typeface="Calibri" pitchFamily="34" charset="0"/>
                <a:ea typeface="Calibri" pitchFamily="34" charset="-122"/>
                <a:cs typeface="Calibri" pitchFamily="34" charset="-120"/>
              </a:rPr>
              <a:t>Note:  </a:t>
            </a:r>
            <a:r>
              <a:rPr lang="en-US" sz="1150" dirty="0">
                <a:solidFill>
                  <a:srgbClr val="3C5169"/>
                </a:solidFill>
                <a:latin typeface="Calibri" pitchFamily="34" charset="0"/>
                <a:ea typeface="Calibri" pitchFamily="34" charset="-122"/>
                <a:cs typeface="Calibri" pitchFamily="34" charset="-120"/>
              </a:rPr>
              <a:t>the three horizons are given equal weight, and their errors are treated as independent — the model emits three marginal Gaussians, not a joint distribution with a covariance.</a:t>
            </a:r>
            <a:endParaRPr lang="en-US" sz="1150" dirty="0"/>
          </a:p>
        </p:txBody>
      </p:sp>
      <p:sp>
        <p:nvSpPr>
          <p:cNvPr id="10" name="Shape 8"/>
          <p:cNvSpPr/>
          <p:nvPr/>
        </p:nvSpPr>
        <p:spPr>
          <a:xfrm>
            <a:off x="6236208" y="2697480"/>
            <a:ext cx="5394960" cy="3310128"/>
          </a:xfrm>
          <a:prstGeom prst="roundRect">
            <a:avLst>
              <a:gd name="adj" fmla="val 1657"/>
            </a:avLst>
          </a:prstGeom>
          <a:solidFill>
            <a:srgbClr val="EFF3F7"/>
          </a:solidFill>
          <a:ln w="7620">
            <a:solidFill>
              <a:srgbClr val="CFD9E2"/>
            </a:solidFill>
            <a:prstDash val="solid"/>
          </a:ln>
        </p:spPr>
        <p:txBody>
          <a:bodyPr/>
          <a:lstStyle/>
          <a:p>
            <a:endParaRPr lang="en-AE"/>
          </a:p>
        </p:txBody>
      </p:sp>
      <p:sp>
        <p:nvSpPr>
          <p:cNvPr id="11" name="Text 9"/>
          <p:cNvSpPr/>
          <p:nvPr/>
        </p:nvSpPr>
        <p:spPr>
          <a:xfrm>
            <a:off x="6510528" y="2834640"/>
            <a:ext cx="484632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Supporting equations, as implemented</a:t>
            </a:r>
            <a:endParaRPr lang="en-US" sz="1300" dirty="0"/>
          </a:p>
        </p:txBody>
      </p:sp>
      <p:sp>
        <p:nvSpPr>
          <p:cNvPr id="12" name="Text 10"/>
          <p:cNvSpPr/>
          <p:nvPr/>
        </p:nvSpPr>
        <p:spPr>
          <a:xfrm>
            <a:off x="6510528" y="3218688"/>
            <a:ext cx="2834640" cy="292608"/>
          </a:xfrm>
          <a:prstGeom prst="rect">
            <a:avLst/>
          </a:prstGeom>
          <a:noFill/>
          <a:ln/>
        </p:spPr>
        <p:txBody>
          <a:bodyPr wrap="square" lIns="0" tIns="0" rIns="0" bIns="0" rtlCol="0" anchor="ctr"/>
          <a:lstStyle/>
          <a:p>
            <a:pPr marL="0" indent="0">
              <a:buNone/>
            </a:pPr>
            <a:r>
              <a:rPr lang="en-US" sz="950" dirty="0">
                <a:solidFill>
                  <a:srgbClr val="0B2545"/>
                </a:solidFill>
                <a:latin typeface="Courier New" pitchFamily="34" charset="0"/>
                <a:ea typeface="Courier New" pitchFamily="34" charset="-122"/>
                <a:cs typeface="Courier New" pitchFamily="34" charset="-120"/>
              </a:rPr>
              <a:t>σ_h = softplus(o_{h+3}) + 1e-4</a:t>
            </a:r>
            <a:endParaRPr lang="en-US" sz="950" dirty="0"/>
          </a:p>
        </p:txBody>
      </p:sp>
      <p:sp>
        <p:nvSpPr>
          <p:cNvPr id="13" name="Text 11"/>
          <p:cNvSpPr/>
          <p:nvPr/>
        </p:nvSpPr>
        <p:spPr>
          <a:xfrm>
            <a:off x="9400032" y="3218688"/>
            <a:ext cx="2011680" cy="292608"/>
          </a:xfrm>
          <a:prstGeom prst="rect">
            <a:avLst/>
          </a:prstGeom>
          <a:noFill/>
          <a:ln/>
        </p:spPr>
        <p:txBody>
          <a:bodyPr wrap="square" lIns="0" tIns="0" rIns="0" bIns="0" rtlCol="0" anchor="ctr"/>
          <a:lstStyle/>
          <a:p>
            <a:pPr marL="0" indent="0">
              <a:buNone/>
            </a:pPr>
            <a:r>
              <a:rPr lang="en-US" sz="950" dirty="0">
                <a:solidFill>
                  <a:srgbClr val="6E7F8F"/>
                </a:solidFill>
                <a:latin typeface="Calibri" pitchFamily="34" charset="0"/>
                <a:ea typeface="Calibri" pitchFamily="34" charset="-122"/>
                <a:cs typeface="Calibri" pitchFamily="34" charset="-120"/>
              </a:rPr>
              <a:t>keeps σ &gt; 0 so log σ and 1/σ² stay finite</a:t>
            </a:r>
            <a:endParaRPr lang="en-US" sz="950" dirty="0"/>
          </a:p>
        </p:txBody>
      </p:sp>
      <p:sp>
        <p:nvSpPr>
          <p:cNvPr id="14" name="Text 12"/>
          <p:cNvSpPr/>
          <p:nvPr/>
        </p:nvSpPr>
        <p:spPr>
          <a:xfrm>
            <a:off x="6510528" y="3534156"/>
            <a:ext cx="2834640" cy="292608"/>
          </a:xfrm>
          <a:prstGeom prst="rect">
            <a:avLst/>
          </a:prstGeom>
          <a:noFill/>
          <a:ln/>
        </p:spPr>
        <p:txBody>
          <a:bodyPr wrap="square" lIns="0" tIns="0" rIns="0" bIns="0" rtlCol="0" anchor="ctr"/>
          <a:lstStyle/>
          <a:p>
            <a:pPr marL="0" indent="0">
              <a:buNone/>
            </a:pPr>
            <a:r>
              <a:rPr lang="en-US" sz="950" dirty="0">
                <a:solidFill>
                  <a:srgbClr val="0B2545"/>
                </a:solidFill>
                <a:latin typeface="Courier New" pitchFamily="34" charset="0"/>
                <a:ea typeface="Courier New" pitchFamily="34" charset="-122"/>
                <a:cs typeface="Courier New" pitchFamily="34" charset="-120"/>
              </a:rPr>
              <a:t>a = softmax(w_2^T tanh(W_1 h))</a:t>
            </a:r>
            <a:endParaRPr lang="en-US" sz="950" dirty="0"/>
          </a:p>
        </p:txBody>
      </p:sp>
      <p:sp>
        <p:nvSpPr>
          <p:cNvPr id="15" name="Text 13"/>
          <p:cNvSpPr/>
          <p:nvPr/>
        </p:nvSpPr>
        <p:spPr>
          <a:xfrm>
            <a:off x="9400032" y="3534156"/>
            <a:ext cx="2011680" cy="292608"/>
          </a:xfrm>
          <a:prstGeom prst="rect">
            <a:avLst/>
          </a:prstGeom>
          <a:noFill/>
          <a:ln/>
        </p:spPr>
        <p:txBody>
          <a:bodyPr wrap="square" lIns="0" tIns="0" rIns="0" bIns="0" rtlCol="0" anchor="ctr"/>
          <a:lstStyle/>
          <a:p>
            <a:pPr marL="0" indent="0">
              <a:buNone/>
            </a:pPr>
            <a:r>
              <a:rPr lang="en-US" sz="950" dirty="0">
                <a:solidFill>
                  <a:srgbClr val="6E7F8F"/>
                </a:solidFill>
                <a:latin typeface="Calibri" pitchFamily="34" charset="0"/>
                <a:ea typeface="Calibri" pitchFamily="34" charset="-122"/>
                <a:cs typeface="Calibri" pitchFamily="34" charset="-120"/>
              </a:rPr>
              <a:t>temporal attention weights over 24 steps</a:t>
            </a:r>
            <a:endParaRPr lang="en-US" sz="950" dirty="0"/>
          </a:p>
        </p:txBody>
      </p:sp>
      <p:sp>
        <p:nvSpPr>
          <p:cNvPr id="16" name="Text 14"/>
          <p:cNvSpPr/>
          <p:nvPr/>
        </p:nvSpPr>
        <p:spPr>
          <a:xfrm>
            <a:off x="6510528" y="3849624"/>
            <a:ext cx="2834640" cy="292608"/>
          </a:xfrm>
          <a:prstGeom prst="rect">
            <a:avLst/>
          </a:prstGeom>
          <a:noFill/>
          <a:ln/>
        </p:spPr>
        <p:txBody>
          <a:bodyPr wrap="square" lIns="0" tIns="0" rIns="0" bIns="0" rtlCol="0" anchor="ctr"/>
          <a:lstStyle/>
          <a:p>
            <a:pPr marL="0" indent="0">
              <a:buNone/>
            </a:pPr>
            <a:r>
              <a:rPr lang="en-US" sz="950" dirty="0">
                <a:solidFill>
                  <a:srgbClr val="0B2545"/>
                </a:solidFill>
                <a:latin typeface="Courier New" pitchFamily="34" charset="0"/>
                <a:ea typeface="Courier New" pitchFamily="34" charset="-122"/>
                <a:cs typeface="Courier New" pitchFamily="34" charset="-120"/>
              </a:rPr>
              <a:t>H_a = softmax(QK^T/√d) V</a:t>
            </a:r>
            <a:endParaRPr lang="en-US" sz="950" dirty="0"/>
          </a:p>
        </p:txBody>
      </p:sp>
      <p:sp>
        <p:nvSpPr>
          <p:cNvPr id="17" name="Text 15"/>
          <p:cNvSpPr/>
          <p:nvPr/>
        </p:nvSpPr>
        <p:spPr>
          <a:xfrm>
            <a:off x="9400032" y="3849624"/>
            <a:ext cx="2011680" cy="292608"/>
          </a:xfrm>
          <a:prstGeom prst="rect">
            <a:avLst/>
          </a:prstGeom>
          <a:noFill/>
          <a:ln/>
        </p:spPr>
        <p:txBody>
          <a:bodyPr wrap="square" lIns="0" tIns="0" rIns="0" bIns="0" rtlCol="0" anchor="ctr"/>
          <a:lstStyle/>
          <a:p>
            <a:pPr marL="0" indent="0">
              <a:buNone/>
            </a:pPr>
            <a:r>
              <a:rPr lang="en-US" sz="950" dirty="0">
                <a:solidFill>
                  <a:srgbClr val="6E7F8F"/>
                </a:solidFill>
                <a:latin typeface="Calibri" pitchFamily="34" charset="0"/>
                <a:ea typeface="Calibri" pitchFamily="34" charset="-122"/>
                <a:cs typeface="Calibri" pitchFamily="34" charset="-120"/>
              </a:rPr>
              <a:t>cross-attention, d = 32 per head</a:t>
            </a:r>
            <a:endParaRPr lang="en-US" sz="950" dirty="0"/>
          </a:p>
        </p:txBody>
      </p:sp>
      <p:sp>
        <p:nvSpPr>
          <p:cNvPr id="18" name="Text 16"/>
          <p:cNvSpPr/>
          <p:nvPr/>
        </p:nvSpPr>
        <p:spPr>
          <a:xfrm>
            <a:off x="6510528" y="4165092"/>
            <a:ext cx="2834640" cy="292608"/>
          </a:xfrm>
          <a:prstGeom prst="rect">
            <a:avLst/>
          </a:prstGeom>
          <a:noFill/>
          <a:ln/>
        </p:spPr>
        <p:txBody>
          <a:bodyPr wrap="square" lIns="0" tIns="0" rIns="0" bIns="0" rtlCol="0" anchor="ctr"/>
          <a:lstStyle/>
          <a:p>
            <a:pPr marL="0" indent="0">
              <a:buNone/>
            </a:pPr>
            <a:r>
              <a:rPr lang="en-US" sz="950" dirty="0">
                <a:solidFill>
                  <a:srgbClr val="0B2545"/>
                </a:solidFill>
                <a:latin typeface="Courier New" pitchFamily="34" charset="0"/>
                <a:ea typeface="Courier New" pitchFamily="34" charset="-122"/>
                <a:cs typeface="Courier New" pitchFamily="34" charset="-120"/>
              </a:rPr>
              <a:t>α = sigmoid(MLP(k_t, cc, v_x, v_y))</a:t>
            </a:r>
            <a:endParaRPr lang="en-US" sz="950" dirty="0"/>
          </a:p>
        </p:txBody>
      </p:sp>
      <p:sp>
        <p:nvSpPr>
          <p:cNvPr id="19" name="Text 17"/>
          <p:cNvSpPr/>
          <p:nvPr/>
        </p:nvSpPr>
        <p:spPr>
          <a:xfrm>
            <a:off x="9400032" y="4165092"/>
            <a:ext cx="2011680" cy="292608"/>
          </a:xfrm>
          <a:prstGeom prst="rect">
            <a:avLst/>
          </a:prstGeom>
          <a:noFill/>
          <a:ln/>
        </p:spPr>
        <p:txBody>
          <a:bodyPr wrap="square" lIns="0" tIns="0" rIns="0" bIns="0" rtlCol="0" anchor="ctr"/>
          <a:lstStyle/>
          <a:p>
            <a:pPr marL="0" indent="0">
              <a:buNone/>
            </a:pPr>
            <a:r>
              <a:rPr lang="en-US" sz="950" dirty="0">
                <a:solidFill>
                  <a:srgbClr val="6E7F8F"/>
                </a:solidFill>
                <a:latin typeface="Calibri" pitchFamily="34" charset="0"/>
                <a:ea typeface="Calibri" pitchFamily="34" charset="-122"/>
                <a:cs typeface="Calibri" pitchFamily="34" charset="-120"/>
              </a:rPr>
              <a:t>physics gate</a:t>
            </a:r>
            <a:endParaRPr lang="en-US" sz="950" dirty="0"/>
          </a:p>
        </p:txBody>
      </p:sp>
      <p:sp>
        <p:nvSpPr>
          <p:cNvPr id="20" name="Text 18"/>
          <p:cNvSpPr/>
          <p:nvPr/>
        </p:nvSpPr>
        <p:spPr>
          <a:xfrm>
            <a:off x="6510528" y="4480560"/>
            <a:ext cx="2834640" cy="292608"/>
          </a:xfrm>
          <a:prstGeom prst="rect">
            <a:avLst/>
          </a:prstGeom>
          <a:noFill/>
          <a:ln/>
        </p:spPr>
        <p:txBody>
          <a:bodyPr wrap="square" lIns="0" tIns="0" rIns="0" bIns="0" rtlCol="0" anchor="ctr"/>
          <a:lstStyle/>
          <a:p>
            <a:pPr marL="0" indent="0">
              <a:buNone/>
            </a:pPr>
            <a:r>
              <a:rPr lang="en-US" sz="950" dirty="0">
                <a:solidFill>
                  <a:srgbClr val="0B2545"/>
                </a:solidFill>
                <a:latin typeface="Courier New" pitchFamily="34" charset="0"/>
                <a:ea typeface="Courier New" pitchFamily="34" charset="-122"/>
                <a:cs typeface="Courier New" pitchFamily="34" charset="-120"/>
              </a:rPr>
              <a:t>ŷ = μ·s_GHI + m_GHI</a:t>
            </a:r>
            <a:endParaRPr lang="en-US" sz="950" dirty="0"/>
          </a:p>
        </p:txBody>
      </p:sp>
      <p:sp>
        <p:nvSpPr>
          <p:cNvPr id="21" name="Text 19"/>
          <p:cNvSpPr/>
          <p:nvPr/>
        </p:nvSpPr>
        <p:spPr>
          <a:xfrm>
            <a:off x="9400032" y="4480560"/>
            <a:ext cx="2011680" cy="292608"/>
          </a:xfrm>
          <a:prstGeom prst="rect">
            <a:avLst/>
          </a:prstGeom>
          <a:noFill/>
          <a:ln/>
        </p:spPr>
        <p:txBody>
          <a:bodyPr wrap="square" lIns="0" tIns="0" rIns="0" bIns="0" rtlCol="0" anchor="ctr"/>
          <a:lstStyle/>
          <a:p>
            <a:pPr marL="0" indent="0">
              <a:buNone/>
            </a:pPr>
            <a:r>
              <a:rPr lang="en-US" sz="950" dirty="0">
                <a:solidFill>
                  <a:srgbClr val="6E7F8F"/>
                </a:solidFill>
                <a:latin typeface="Calibri" pitchFamily="34" charset="0"/>
                <a:ea typeface="Calibri" pitchFamily="34" charset="-122"/>
                <a:cs typeface="Calibri" pitchFamily="34" charset="-120"/>
              </a:rPr>
              <a:t>de-normalisation, m = 475.05, s = 259.62</a:t>
            </a:r>
            <a:endParaRPr lang="en-US" sz="950" dirty="0"/>
          </a:p>
        </p:txBody>
      </p:sp>
      <p:sp>
        <p:nvSpPr>
          <p:cNvPr id="22" name="Text 20"/>
          <p:cNvSpPr/>
          <p:nvPr/>
        </p:nvSpPr>
        <p:spPr>
          <a:xfrm>
            <a:off x="6510528" y="4796028"/>
            <a:ext cx="2834640" cy="292608"/>
          </a:xfrm>
          <a:prstGeom prst="rect">
            <a:avLst/>
          </a:prstGeom>
          <a:noFill/>
          <a:ln/>
        </p:spPr>
        <p:txBody>
          <a:bodyPr wrap="square" lIns="0" tIns="0" rIns="0" bIns="0" rtlCol="0" anchor="ctr"/>
          <a:lstStyle/>
          <a:p>
            <a:pPr marL="0" indent="0">
              <a:buNone/>
            </a:pPr>
            <a:r>
              <a:rPr lang="en-US" sz="950" dirty="0">
                <a:solidFill>
                  <a:srgbClr val="0B2545"/>
                </a:solidFill>
                <a:latin typeface="Courier New" pitchFamily="34" charset="0"/>
                <a:ea typeface="Courier New" pitchFamily="34" charset="-122"/>
                <a:cs typeface="Courier New" pitchFamily="34" charset="-120"/>
              </a:rPr>
              <a:t>[ŷ ± 1.645·σ·s_GHI]</a:t>
            </a:r>
            <a:endParaRPr lang="en-US" sz="950" dirty="0"/>
          </a:p>
        </p:txBody>
      </p:sp>
      <p:sp>
        <p:nvSpPr>
          <p:cNvPr id="23" name="Text 21"/>
          <p:cNvSpPr/>
          <p:nvPr/>
        </p:nvSpPr>
        <p:spPr>
          <a:xfrm>
            <a:off x="9400032" y="4796028"/>
            <a:ext cx="2011680" cy="292608"/>
          </a:xfrm>
          <a:prstGeom prst="rect">
            <a:avLst/>
          </a:prstGeom>
          <a:noFill/>
          <a:ln/>
        </p:spPr>
        <p:txBody>
          <a:bodyPr wrap="square" lIns="0" tIns="0" rIns="0" bIns="0" rtlCol="0" anchor="ctr"/>
          <a:lstStyle/>
          <a:p>
            <a:pPr marL="0" indent="0">
              <a:buNone/>
            </a:pPr>
            <a:r>
              <a:rPr lang="en-US" sz="950" dirty="0">
                <a:solidFill>
                  <a:srgbClr val="6E7F8F"/>
                </a:solidFill>
                <a:latin typeface="Calibri" pitchFamily="34" charset="0"/>
                <a:ea typeface="Calibri" pitchFamily="34" charset="-122"/>
                <a:cs typeface="Calibri" pitchFamily="34" charset="-120"/>
              </a:rPr>
              <a:t>90% interval under the Gaussian assumption</a:t>
            </a:r>
            <a:endParaRPr lang="en-US" sz="950" dirty="0"/>
          </a:p>
        </p:txBody>
      </p:sp>
      <p:sp>
        <p:nvSpPr>
          <p:cNvPr id="24" name="Text 22"/>
          <p:cNvSpPr/>
          <p:nvPr/>
        </p:nvSpPr>
        <p:spPr>
          <a:xfrm>
            <a:off x="6510528" y="5111496"/>
            <a:ext cx="2834640" cy="292608"/>
          </a:xfrm>
          <a:prstGeom prst="rect">
            <a:avLst/>
          </a:prstGeom>
          <a:noFill/>
          <a:ln/>
        </p:spPr>
        <p:txBody>
          <a:bodyPr wrap="square" lIns="0" tIns="0" rIns="0" bIns="0" rtlCol="0" anchor="ctr"/>
          <a:lstStyle/>
          <a:p>
            <a:pPr marL="0" indent="0">
              <a:buNone/>
            </a:pPr>
            <a:r>
              <a:rPr lang="en-US" sz="950" dirty="0">
                <a:solidFill>
                  <a:srgbClr val="0B2545"/>
                </a:solidFill>
                <a:latin typeface="Courier New" pitchFamily="34" charset="0"/>
                <a:ea typeface="Courier New" pitchFamily="34" charset="-122"/>
                <a:cs typeface="Courier New" pitchFamily="34" charset="-120"/>
              </a:rPr>
              <a:t>ŷ ← min(ŷ, 1.15 · GHI_clear)</a:t>
            </a:r>
            <a:endParaRPr lang="en-US" sz="950" dirty="0"/>
          </a:p>
        </p:txBody>
      </p:sp>
      <p:sp>
        <p:nvSpPr>
          <p:cNvPr id="25" name="Text 23"/>
          <p:cNvSpPr/>
          <p:nvPr/>
        </p:nvSpPr>
        <p:spPr>
          <a:xfrm>
            <a:off x="9400032" y="5111496"/>
            <a:ext cx="2011680" cy="292608"/>
          </a:xfrm>
          <a:prstGeom prst="rect">
            <a:avLst/>
          </a:prstGeom>
          <a:noFill/>
          <a:ln/>
        </p:spPr>
        <p:txBody>
          <a:bodyPr wrap="square" lIns="0" tIns="0" rIns="0" bIns="0" rtlCol="0" anchor="ctr"/>
          <a:lstStyle/>
          <a:p>
            <a:pPr marL="0" indent="0">
              <a:buNone/>
            </a:pPr>
            <a:r>
              <a:rPr lang="en-US" sz="950" dirty="0">
                <a:solidFill>
                  <a:srgbClr val="6E7F8F"/>
                </a:solidFill>
                <a:latin typeface="Calibri" pitchFamily="34" charset="0"/>
                <a:ea typeface="Calibri" pitchFamily="34" charset="-122"/>
                <a:cs typeface="Calibri" pitchFamily="34" charset="-120"/>
              </a:rPr>
              <a:t>deployment-only physics clamp</a:t>
            </a:r>
            <a:endParaRPr lang="en-US" sz="950" dirty="0"/>
          </a:p>
        </p:txBody>
      </p:sp>
      <p:sp>
        <p:nvSpPr>
          <p:cNvPr id="26" name="Text 24"/>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Loss: solar_pv_main.ipynb §7 gaussian_nll_loss.  De-normalisation and clamp: model.py denormalise_forecast, predict.py:130.</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TRAINING METHODOLOGY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Training protocol — identical for all four variants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5669280" cy="4288536"/>
        </p:xfrm>
        <a:graphic>
          <a:graphicData uri="http://schemas.openxmlformats.org/drawingml/2006/table">
            <a:tbl>
              <a:tblPr/>
              <a:tblGrid>
                <a:gridCol w="22860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30632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Setting</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Value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Optimiser</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AdamW</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Learning rate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3e-5   (→ 3e-6 after the CNN unfreeze)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Weight decay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0.1  — deliberately aggressive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Scheduler</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ReduceLROnPlateau, ×0.5, patience 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Batch size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128 (CUDA) / 16 (CPU or MPS)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Max epochs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Early stopping</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patience 20 (full) / 15 (ablations), on val NLL</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Checkpointing</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best validation NLL only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Gradient clipping</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global norm 1.0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9"/>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Mixed precision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fp16 autocast + GradScaler on CUDA</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NaN handling</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non-finite batches skipped, not crashed</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11"/>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Seeds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torch 42, numpy 42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Hardware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NVIDIA RTX 4090 (RunPod), 4 dataloader workers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13"/>
                  </a:ext>
                </a:extLst>
              </a:tr>
            </a:tbl>
          </a:graphicData>
        </a:graphic>
      </p:graphicFrame>
      <p:sp>
        <p:nvSpPr>
          <p:cNvPr id="5" name="Shape 2"/>
          <p:cNvSpPr/>
          <p:nvPr/>
        </p:nvSpPr>
        <p:spPr>
          <a:xfrm>
            <a:off x="6510528" y="1298448"/>
            <a:ext cx="5120640" cy="2084832"/>
          </a:xfrm>
          <a:prstGeom prst="roundRect">
            <a:avLst>
              <a:gd name="adj" fmla="val 2193"/>
            </a:avLst>
          </a:prstGeom>
          <a:solidFill>
            <a:srgbClr val="FBF3E4"/>
          </a:solidFill>
          <a:ln w="12700">
            <a:solidFill>
              <a:srgbClr val="E8A33D"/>
            </a:solidFill>
            <a:prstDash val="solid"/>
          </a:ln>
        </p:spPr>
        <p:txBody>
          <a:bodyPr/>
          <a:lstStyle/>
          <a:p>
            <a:endParaRPr lang="en-AE"/>
          </a:p>
        </p:txBody>
      </p:sp>
      <p:sp>
        <p:nvSpPr>
          <p:cNvPr id="6" name="Text 3"/>
          <p:cNvSpPr/>
          <p:nvPr/>
        </p:nvSpPr>
        <p:spPr>
          <a:xfrm>
            <a:off x="6784848" y="1426464"/>
            <a:ext cx="4572000" cy="292608"/>
          </a:xfrm>
          <a:prstGeom prst="rect">
            <a:avLst/>
          </a:prstGeom>
          <a:noFill/>
          <a:ln/>
        </p:spPr>
        <p:txBody>
          <a:bodyPr wrap="square" lIns="0" tIns="0" rIns="0" bIns="0" rtlCol="0" anchor="ctr"/>
          <a:lstStyle/>
          <a:p>
            <a:pPr marL="0" indent="0">
              <a:buNone/>
            </a:pPr>
            <a:r>
              <a:rPr lang="en-US" sz="1300" b="1" dirty="0">
                <a:solidFill>
                  <a:srgbClr val="B87A1B"/>
                </a:solidFill>
                <a:latin typeface="Calibri" pitchFamily="34" charset="0"/>
                <a:ea typeface="Calibri" pitchFamily="34" charset="-122"/>
                <a:cs typeface="Calibri" pitchFamily="34" charset="-120"/>
              </a:rPr>
              <a:t>The two-phase CNN schedule</a:t>
            </a:r>
            <a:endParaRPr lang="en-US" sz="1300" dirty="0"/>
          </a:p>
        </p:txBody>
      </p:sp>
      <p:sp>
        <p:nvSpPr>
          <p:cNvPr id="7" name="Text 4"/>
          <p:cNvSpPr/>
          <p:nvPr/>
        </p:nvSpPr>
        <p:spPr>
          <a:xfrm>
            <a:off x="6784848" y="1755648"/>
            <a:ext cx="4617720" cy="1572768"/>
          </a:xfrm>
          <a:prstGeom prst="rect">
            <a:avLst/>
          </a:prstGeom>
          <a:noFill/>
          <a:ln/>
        </p:spPr>
        <p:txBody>
          <a:bodyPr wrap="square" lIns="0" tIns="0" rIns="0" bIns="0" rtlCol="0" anchor="ctr"/>
          <a:lstStyle/>
          <a:p>
            <a:pPr marL="0" indent="0">
              <a:lnSpc>
                <a:spcPts val="1400"/>
              </a:lnSpc>
              <a:buNone/>
            </a:pPr>
            <a:r>
              <a:rPr lang="en-US" sz="1050" b="1" dirty="0">
                <a:solidFill>
                  <a:srgbClr val="0B2545"/>
                </a:solidFill>
                <a:latin typeface="Calibri" pitchFamily="34" charset="0"/>
                <a:ea typeface="Calibri" pitchFamily="34" charset="-122"/>
                <a:cs typeface="Calibri" pitchFamily="34" charset="-120"/>
              </a:rPr>
              <a:t>Epochs 1–20:  </a:t>
            </a:r>
            <a:r>
              <a:rPr lang="en-US" sz="1050" dirty="0">
                <a:solidFill>
                  <a:srgbClr val="3C5169"/>
                </a:solidFill>
                <a:latin typeface="Calibri" pitchFamily="34" charset="0"/>
                <a:ea typeface="Calibri" pitchFamily="34" charset="-122"/>
                <a:cs typeface="Calibri" pitchFamily="34" charset="-120"/>
              </a:rPr>
              <a:t>both image encoders frozen. Only 1,100,680 of 15,505,804 parameters train — the LSTM, the attention, the gate and the head learn against fixed SwimSeg features.
</a:t>
            </a:r>
            <a:r>
              <a:rPr lang="en-US" sz="1050" b="1" dirty="0">
                <a:solidFill>
                  <a:srgbClr val="0B2545"/>
                </a:solidFill>
                <a:latin typeface="Calibri" pitchFamily="34" charset="0"/>
                <a:ea typeface="Calibri" pitchFamily="34" charset="-122"/>
                <a:cs typeface="Calibri" pitchFamily="34" charset="-120"/>
              </a:rPr>
              <a:t>Epoch 20:  </a:t>
            </a:r>
            <a:r>
              <a:rPr lang="en-US" sz="1050" dirty="0">
                <a:solidFill>
                  <a:srgbClr val="3C5169"/>
                </a:solidFill>
                <a:latin typeface="Calibri" pitchFamily="34" charset="0"/>
                <a:ea typeface="Calibri" pitchFamily="34" charset="-122"/>
                <a:cs typeface="Calibri" pitchFamily="34" charset="-120"/>
              </a:rPr>
              <a:t>unfreeze_cnn() releases all 14.4 M CNN parameters and the learning rate is divided by ten.
</a:t>
            </a:r>
            <a:r>
              <a:rPr lang="en-US" sz="1050" b="1" dirty="0">
                <a:solidFill>
                  <a:srgbClr val="B87A1B"/>
                </a:solidFill>
                <a:latin typeface="Calibri" pitchFamily="34" charset="0"/>
                <a:ea typeface="Calibri" pitchFamily="34" charset="-122"/>
                <a:cs typeface="Calibri" pitchFamily="34" charset="-120"/>
              </a:rPr>
              <a:t>Rationale: </a:t>
            </a:r>
            <a:r>
              <a:rPr lang="en-US" sz="1050" dirty="0">
                <a:solidFill>
                  <a:srgbClr val="3C5169"/>
                </a:solidFill>
                <a:latin typeface="Calibri" pitchFamily="34" charset="0"/>
                <a:ea typeface="Calibri" pitchFamily="34" charset="-122"/>
                <a:cs typeface="Calibri" pitchFamily="34" charset="-120"/>
              </a:rPr>
              <a:t>a randomly initialised head back-propagating into a pretrained backbone destroys the pretrained features in the first few steps. Freeze, let the head stabilise, then fine-tune gently.</a:t>
            </a:r>
            <a:endParaRPr lang="en-US" sz="1050" dirty="0"/>
          </a:p>
        </p:txBody>
      </p:sp>
      <p:sp>
        <p:nvSpPr>
          <p:cNvPr id="8" name="Text 5"/>
          <p:cNvSpPr/>
          <p:nvPr/>
        </p:nvSpPr>
        <p:spPr>
          <a:xfrm>
            <a:off x="6510528" y="3547872"/>
            <a:ext cx="512064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Actual training outcomes</a:t>
            </a:r>
            <a:endParaRPr lang="en-US" sz="130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510528" y="3877056"/>
          <a:ext cx="5120640" cy="1554480"/>
        </p:xfrm>
        <a:graphic>
          <a:graphicData uri="http://schemas.openxmlformats.org/drawingml/2006/table">
            <a:tbl>
              <a:tblPr/>
              <a:tblGrid>
                <a:gridCol w="1828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310896">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Variant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Stop</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Best val NLL</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Time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10896">
                <a:tc>
                  <a:txBody>
                    <a:bodyPr/>
                    <a:lstStyle/>
                    <a:p>
                      <a:pPr marL="0" indent="0" algn="l">
                        <a:buNone/>
                      </a:pPr>
                      <a:r>
                        <a:rPr lang="en-US" sz="1050" b="1" dirty="0">
                          <a:solidFill>
                            <a:srgbClr val="0B2545"/>
                          </a:solidFill>
                          <a:latin typeface="Calibri" pitchFamily="34" charset="0"/>
                          <a:ea typeface="Calibri" pitchFamily="34" charset="-122"/>
                          <a:cs typeface="Calibri" pitchFamily="34" charset="-120"/>
                        </a:rPr>
                        <a:t>Physics-Gated Fusion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ep 46 (early)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−0.898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12.7 min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10896">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LSTM-only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ep 150 (full)</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−1.353</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29.9 min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CNN-only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ep 37 (early)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−1.224</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9.4 min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310896">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Naive concat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ep 38 (early)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−1.044</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9.7 min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6"/>
          <p:cNvSpPr/>
          <p:nvPr/>
        </p:nvSpPr>
        <p:spPr>
          <a:xfrm>
            <a:off x="6510528" y="5376672"/>
            <a:ext cx="5120640" cy="777240"/>
          </a:xfrm>
          <a:prstGeom prst="rect">
            <a:avLst/>
          </a:prstGeom>
          <a:noFill/>
          <a:ln/>
        </p:spPr>
        <p:txBody>
          <a:bodyPr wrap="square" lIns="0" tIns="0" rIns="0" bIns="0" rtlCol="0" anchor="ctr"/>
          <a:lstStyle/>
          <a:p>
            <a:pPr marL="0" indent="0">
              <a:lnSpc>
                <a:spcPts val="1450"/>
              </a:lnSpc>
              <a:buNone/>
            </a:pPr>
            <a:r>
              <a:rPr lang="en-US" sz="1050" i="1" dirty="0">
                <a:solidFill>
                  <a:srgbClr val="B03A2E"/>
                </a:solidFill>
                <a:latin typeface="Calibri" pitchFamily="34" charset="0"/>
                <a:ea typeface="Calibri" pitchFamily="34" charset="-122"/>
                <a:cs typeface="Calibri" pitchFamily="34" charset="-120"/>
              </a:rPr>
              <a:t>Confound to declare: the full model used patience 20, the ablations 15. In practice the full model overfitted so hard it stopped at epoch 46 regardless, while LSTM-only never triggered early stopping at all — so the budget difference favoured the ablations, not the proposed model.</a:t>
            </a:r>
            <a:endParaRPr lang="en-US" sz="1050" dirty="0"/>
          </a:p>
        </p:txBody>
      </p:sp>
      <p:sp>
        <p:nvSpPr>
          <p:cNvPr id="11" name="Text 7"/>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solar_pv_main.ipynb §7 train_model.  Epoch logs recovered from the executed notebook stored in commit 8196803; the final-run outputs were cleared before commit.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TRAINING DYNAMICS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The training curves diagnose the whole project</a:t>
            </a:r>
            <a:endParaRPr lang="en-US" sz="3000" dirty="0"/>
          </a:p>
        </p:txBody>
      </p:sp>
      <p:pic>
        <p:nvPicPr>
          <p:cNvPr id="4" name="Image 0" descr="/Users/qasimnalawala/Desktop/Project/results/plots/training_curves.png"/>
          <p:cNvPicPr>
            <a:picLocks noChangeAspect="1"/>
          </p:cNvPicPr>
          <p:nvPr/>
        </p:nvPicPr>
        <p:blipFill>
          <a:blip r:embed="rId3"/>
          <a:stretch>
            <a:fillRect/>
          </a:stretch>
        </p:blipFill>
        <p:spPr>
          <a:xfrm>
            <a:off x="566928" y="1298448"/>
            <a:ext cx="7223760" cy="2578608"/>
          </a:xfrm>
          <a:prstGeom prst="rect">
            <a:avLst/>
          </a:prstGeom>
        </p:spPr>
      </p:pic>
      <p:sp>
        <p:nvSpPr>
          <p:cNvPr id="5" name="Text 2"/>
          <p:cNvSpPr/>
          <p:nvPr/>
        </p:nvSpPr>
        <p:spPr>
          <a:xfrm>
            <a:off x="566928" y="3913632"/>
            <a:ext cx="7223760" cy="274320"/>
          </a:xfrm>
          <a:prstGeom prst="rect">
            <a:avLst/>
          </a:prstGeom>
          <a:noFill/>
          <a:ln/>
        </p:spPr>
        <p:txBody>
          <a:bodyPr wrap="square" lIns="0" tIns="0" rIns="0" bIns="0" rtlCol="0" anchor="ctr"/>
          <a:lstStyle/>
          <a:p>
            <a:pPr marL="0" indent="0">
              <a:buNone/>
            </a:pPr>
            <a:r>
              <a:rPr lang="en-US" sz="1000" i="1" dirty="0">
                <a:solidFill>
                  <a:srgbClr val="6E7F8F"/>
                </a:solidFill>
                <a:latin typeface="Calibri" pitchFamily="34" charset="0"/>
                <a:ea typeface="Calibri" pitchFamily="34" charset="-122"/>
                <a:cs typeface="Calibri" pitchFamily="34" charset="-120"/>
              </a:rPr>
              <a:t>Physics-Gated Fusion — Gaussian NLL (left) and t+1h MAE (right), per epoch.  Generated by solar_pv_main.ipynb §9a.</a:t>
            </a:r>
            <a:endParaRPr lang="en-US" sz="1000" dirty="0"/>
          </a:p>
        </p:txBody>
      </p:sp>
      <p:sp>
        <p:nvSpPr>
          <p:cNvPr id="6" name="Shape 3"/>
          <p:cNvSpPr/>
          <p:nvPr/>
        </p:nvSpPr>
        <p:spPr>
          <a:xfrm>
            <a:off x="8001000" y="1353312"/>
            <a:ext cx="3630168" cy="1097280"/>
          </a:xfrm>
          <a:prstGeom prst="roundRect">
            <a:avLst>
              <a:gd name="adj" fmla="val 4167"/>
            </a:avLst>
          </a:prstGeom>
          <a:solidFill>
            <a:srgbClr val="EFF3F7"/>
          </a:solidFill>
          <a:ln w="7620">
            <a:solidFill>
              <a:srgbClr val="CFD9E2"/>
            </a:solidFill>
            <a:prstDash val="solid"/>
          </a:ln>
        </p:spPr>
        <p:txBody>
          <a:bodyPr/>
          <a:lstStyle/>
          <a:p>
            <a:endParaRPr lang="en-AE"/>
          </a:p>
        </p:txBody>
      </p:sp>
      <p:sp>
        <p:nvSpPr>
          <p:cNvPr id="7" name="Text 4"/>
          <p:cNvSpPr/>
          <p:nvPr/>
        </p:nvSpPr>
        <p:spPr>
          <a:xfrm>
            <a:off x="8211312" y="1444752"/>
            <a:ext cx="3200400" cy="219456"/>
          </a:xfrm>
          <a:prstGeom prst="rect">
            <a:avLst/>
          </a:prstGeom>
          <a:noFill/>
          <a:ln/>
        </p:spPr>
        <p:txBody>
          <a:bodyPr wrap="square" lIns="0" tIns="0" rIns="0" bIns="0" rtlCol="0" anchor="ctr"/>
          <a:lstStyle/>
          <a:p>
            <a:pPr marL="0" indent="0">
              <a:buNone/>
            </a:pPr>
            <a:r>
              <a:rPr lang="en-US" sz="900" b="1" kern="0" spc="140" dirty="0">
                <a:solidFill>
                  <a:srgbClr val="0B2545"/>
                </a:solidFill>
                <a:latin typeface="Calibri" pitchFamily="34" charset="0"/>
                <a:ea typeface="Calibri" pitchFamily="34" charset="-122"/>
                <a:cs typeface="Calibri" pitchFamily="34" charset="-120"/>
              </a:rPr>
              <a:t>OBSERVATION</a:t>
            </a:r>
            <a:endParaRPr lang="en-US" sz="900" dirty="0"/>
          </a:p>
        </p:txBody>
      </p:sp>
      <p:sp>
        <p:nvSpPr>
          <p:cNvPr id="8" name="Text 5"/>
          <p:cNvSpPr/>
          <p:nvPr/>
        </p:nvSpPr>
        <p:spPr>
          <a:xfrm>
            <a:off x="8211312" y="1664208"/>
            <a:ext cx="3246120" cy="731520"/>
          </a:xfrm>
          <a:prstGeom prst="rect">
            <a:avLst/>
          </a:prstGeom>
          <a:noFill/>
          <a:ln/>
        </p:spPr>
        <p:txBody>
          <a:bodyPr wrap="square" lIns="0" tIns="0" rIns="0" bIns="0" rtlCol="0" anchor="ctr"/>
          <a:lstStyle/>
          <a:p>
            <a:pPr marL="0" indent="0">
              <a:lnSpc>
                <a:spcPts val="1350"/>
              </a:lnSpc>
              <a:buNone/>
            </a:pPr>
            <a:r>
              <a:rPr lang="en-US" sz="1000" dirty="0">
                <a:solidFill>
                  <a:srgbClr val="3C5169"/>
                </a:solidFill>
                <a:latin typeface="Calibri" pitchFamily="34" charset="0"/>
                <a:ea typeface="Calibri" pitchFamily="34" charset="-122"/>
                <a:cs typeface="Calibri" pitchFamily="34" charset="-120"/>
              </a:rPr>
              <a:t>Training and validation NLL track each other closely until roughly epoch 22, then diverge. Training NLL keeps falling to −1.42 while validation NLL bottoms at −0.898 around epoch 26 and then rises steadily for 20 epochs until early stopping fires at 46.</a:t>
            </a:r>
            <a:endParaRPr lang="en-US" sz="1000" dirty="0"/>
          </a:p>
        </p:txBody>
      </p:sp>
      <p:sp>
        <p:nvSpPr>
          <p:cNvPr id="9" name="Shape 6"/>
          <p:cNvSpPr/>
          <p:nvPr/>
        </p:nvSpPr>
        <p:spPr>
          <a:xfrm>
            <a:off x="8001000" y="2578608"/>
            <a:ext cx="3630168" cy="1097280"/>
          </a:xfrm>
          <a:prstGeom prst="roundRect">
            <a:avLst>
              <a:gd name="adj" fmla="val 4167"/>
            </a:avLst>
          </a:prstGeom>
          <a:solidFill>
            <a:srgbClr val="EFF3F7"/>
          </a:solidFill>
          <a:ln w="7620">
            <a:solidFill>
              <a:srgbClr val="CFD9E2"/>
            </a:solidFill>
            <a:prstDash val="solid"/>
          </a:ln>
        </p:spPr>
        <p:txBody>
          <a:bodyPr/>
          <a:lstStyle/>
          <a:p>
            <a:endParaRPr lang="en-AE"/>
          </a:p>
        </p:txBody>
      </p:sp>
      <p:sp>
        <p:nvSpPr>
          <p:cNvPr id="10" name="Text 7"/>
          <p:cNvSpPr/>
          <p:nvPr/>
        </p:nvSpPr>
        <p:spPr>
          <a:xfrm>
            <a:off x="8211312" y="2670048"/>
            <a:ext cx="3200400" cy="219456"/>
          </a:xfrm>
          <a:prstGeom prst="rect">
            <a:avLst/>
          </a:prstGeom>
          <a:noFill/>
          <a:ln/>
        </p:spPr>
        <p:txBody>
          <a:bodyPr wrap="square" lIns="0" tIns="0" rIns="0" bIns="0" rtlCol="0" anchor="ctr"/>
          <a:lstStyle/>
          <a:p>
            <a:pPr marL="0" indent="0">
              <a:buNone/>
            </a:pPr>
            <a:r>
              <a:rPr lang="en-US" sz="900" b="1" kern="0" spc="140" dirty="0">
                <a:solidFill>
                  <a:srgbClr val="0B2545"/>
                </a:solidFill>
                <a:latin typeface="Calibri" pitchFamily="34" charset="0"/>
                <a:ea typeface="Calibri" pitchFamily="34" charset="-122"/>
                <a:cs typeface="Calibri" pitchFamily="34" charset="-120"/>
              </a:rPr>
              <a:t>OBSERVATION</a:t>
            </a:r>
            <a:endParaRPr lang="en-US" sz="900" dirty="0"/>
          </a:p>
        </p:txBody>
      </p:sp>
      <p:sp>
        <p:nvSpPr>
          <p:cNvPr id="11" name="Text 8"/>
          <p:cNvSpPr/>
          <p:nvPr/>
        </p:nvSpPr>
        <p:spPr>
          <a:xfrm>
            <a:off x="8211312" y="2889504"/>
            <a:ext cx="3246120" cy="731520"/>
          </a:xfrm>
          <a:prstGeom prst="rect">
            <a:avLst/>
          </a:prstGeom>
          <a:noFill/>
          <a:ln/>
        </p:spPr>
        <p:txBody>
          <a:bodyPr wrap="square" lIns="0" tIns="0" rIns="0" bIns="0" rtlCol="0" anchor="ctr"/>
          <a:lstStyle/>
          <a:p>
            <a:pPr marL="0" indent="0">
              <a:lnSpc>
                <a:spcPts val="1350"/>
              </a:lnSpc>
              <a:buNone/>
            </a:pPr>
            <a:r>
              <a:rPr lang="en-US" sz="1000" dirty="0">
                <a:solidFill>
                  <a:srgbClr val="3C5169"/>
                </a:solidFill>
                <a:latin typeface="Calibri" pitchFamily="34" charset="0"/>
                <a:ea typeface="Calibri" pitchFamily="34" charset="-122"/>
                <a:cs typeface="Calibri" pitchFamily="34" charset="-120"/>
              </a:rPr>
              <a:t>The divergence begins immediately after the CNN unfreeze at epoch 20. Epoch time also doubles from 10 s to 20 s at that point, confirming the extra parameters became active.</a:t>
            </a:r>
            <a:endParaRPr lang="en-US" sz="1000" dirty="0"/>
          </a:p>
        </p:txBody>
      </p:sp>
      <p:sp>
        <p:nvSpPr>
          <p:cNvPr id="12" name="Shape 9"/>
          <p:cNvSpPr/>
          <p:nvPr/>
        </p:nvSpPr>
        <p:spPr>
          <a:xfrm>
            <a:off x="8001000" y="3803904"/>
            <a:ext cx="3630168" cy="1097280"/>
          </a:xfrm>
          <a:prstGeom prst="roundRect">
            <a:avLst>
              <a:gd name="adj" fmla="val 4167"/>
            </a:avLst>
          </a:prstGeom>
          <a:solidFill>
            <a:srgbClr val="EFF3F7"/>
          </a:solidFill>
          <a:ln w="7620">
            <a:solidFill>
              <a:srgbClr val="CFD9E2"/>
            </a:solidFill>
            <a:prstDash val="solid"/>
          </a:ln>
        </p:spPr>
        <p:txBody>
          <a:bodyPr/>
          <a:lstStyle/>
          <a:p>
            <a:endParaRPr lang="en-AE"/>
          </a:p>
        </p:txBody>
      </p:sp>
      <p:sp>
        <p:nvSpPr>
          <p:cNvPr id="13" name="Text 10"/>
          <p:cNvSpPr/>
          <p:nvPr/>
        </p:nvSpPr>
        <p:spPr>
          <a:xfrm>
            <a:off x="8211312" y="3895344"/>
            <a:ext cx="3200400" cy="219456"/>
          </a:xfrm>
          <a:prstGeom prst="rect">
            <a:avLst/>
          </a:prstGeom>
          <a:noFill/>
          <a:ln/>
        </p:spPr>
        <p:txBody>
          <a:bodyPr wrap="square" lIns="0" tIns="0" rIns="0" bIns="0" rtlCol="0" anchor="ctr"/>
          <a:lstStyle/>
          <a:p>
            <a:pPr marL="0" indent="0">
              <a:buNone/>
            </a:pPr>
            <a:r>
              <a:rPr lang="en-US" sz="900" b="1" kern="0" spc="140" dirty="0">
                <a:solidFill>
                  <a:srgbClr val="1C7293"/>
                </a:solidFill>
                <a:latin typeface="Calibri" pitchFamily="34" charset="0"/>
                <a:ea typeface="Calibri" pitchFamily="34" charset="-122"/>
                <a:cs typeface="Calibri" pitchFamily="34" charset="-120"/>
              </a:rPr>
              <a:t>INTERPRETATION</a:t>
            </a:r>
            <a:endParaRPr lang="en-US" sz="900" dirty="0"/>
          </a:p>
        </p:txBody>
      </p:sp>
      <p:sp>
        <p:nvSpPr>
          <p:cNvPr id="14" name="Text 11"/>
          <p:cNvSpPr/>
          <p:nvPr/>
        </p:nvSpPr>
        <p:spPr>
          <a:xfrm>
            <a:off x="8211312" y="4114800"/>
            <a:ext cx="3246120" cy="731520"/>
          </a:xfrm>
          <a:prstGeom prst="rect">
            <a:avLst/>
          </a:prstGeom>
          <a:noFill/>
          <a:ln/>
        </p:spPr>
        <p:txBody>
          <a:bodyPr wrap="square" lIns="0" tIns="0" rIns="0" bIns="0" rtlCol="0" anchor="ctr"/>
          <a:lstStyle/>
          <a:p>
            <a:pPr marL="0" indent="0">
              <a:lnSpc>
                <a:spcPts val="1350"/>
              </a:lnSpc>
              <a:buNone/>
            </a:pPr>
            <a:r>
              <a:rPr lang="en-US" sz="1000" dirty="0">
                <a:solidFill>
                  <a:srgbClr val="3C5169"/>
                </a:solidFill>
                <a:latin typeface="Calibri" pitchFamily="34" charset="0"/>
                <a:ea typeface="Calibri" pitchFamily="34" charset="-122"/>
                <a:cs typeface="Calibri" pitchFamily="34" charset="-120"/>
              </a:rPr>
              <a:t>Releasing 14.4 M image-encoder parameters onto 5,312 training samples produced textbook overfitting. Validation MAE flattens at ~93 W/m² and never improves again, while training MAE falls to 77.</a:t>
            </a:r>
            <a:endParaRPr lang="en-US" sz="1000" dirty="0"/>
          </a:p>
        </p:txBody>
      </p:sp>
      <p:sp>
        <p:nvSpPr>
          <p:cNvPr id="15" name="Shape 12"/>
          <p:cNvSpPr/>
          <p:nvPr/>
        </p:nvSpPr>
        <p:spPr>
          <a:xfrm>
            <a:off x="8001000" y="5029200"/>
            <a:ext cx="3630168" cy="1097280"/>
          </a:xfrm>
          <a:prstGeom prst="roundRect">
            <a:avLst>
              <a:gd name="adj" fmla="val 4167"/>
            </a:avLst>
          </a:prstGeom>
          <a:solidFill>
            <a:srgbClr val="FBF3E4"/>
          </a:solidFill>
          <a:ln w="12700">
            <a:solidFill>
              <a:srgbClr val="E8A33D"/>
            </a:solidFill>
            <a:prstDash val="solid"/>
          </a:ln>
        </p:spPr>
        <p:txBody>
          <a:bodyPr/>
          <a:lstStyle/>
          <a:p>
            <a:endParaRPr lang="en-AE"/>
          </a:p>
        </p:txBody>
      </p:sp>
      <p:sp>
        <p:nvSpPr>
          <p:cNvPr id="16" name="Text 13"/>
          <p:cNvSpPr/>
          <p:nvPr/>
        </p:nvSpPr>
        <p:spPr>
          <a:xfrm>
            <a:off x="8211312" y="5120640"/>
            <a:ext cx="3200400" cy="219456"/>
          </a:xfrm>
          <a:prstGeom prst="rect">
            <a:avLst/>
          </a:prstGeom>
          <a:noFill/>
          <a:ln/>
        </p:spPr>
        <p:txBody>
          <a:bodyPr wrap="square" lIns="0" tIns="0" rIns="0" bIns="0" rtlCol="0" anchor="ctr"/>
          <a:lstStyle/>
          <a:p>
            <a:pPr marL="0" indent="0">
              <a:buNone/>
            </a:pPr>
            <a:r>
              <a:rPr lang="en-US" sz="900" b="1" kern="0" spc="140" dirty="0">
                <a:solidFill>
                  <a:srgbClr val="B87A1B"/>
                </a:solidFill>
                <a:latin typeface="Calibri" pitchFamily="34" charset="0"/>
                <a:ea typeface="Calibri" pitchFamily="34" charset="-122"/>
                <a:cs typeface="Calibri" pitchFamily="34" charset="-120"/>
              </a:rPr>
              <a:t>SPECULATION</a:t>
            </a:r>
            <a:endParaRPr lang="en-US" sz="900" dirty="0"/>
          </a:p>
        </p:txBody>
      </p:sp>
      <p:sp>
        <p:nvSpPr>
          <p:cNvPr id="17" name="Text 14"/>
          <p:cNvSpPr/>
          <p:nvPr/>
        </p:nvSpPr>
        <p:spPr>
          <a:xfrm>
            <a:off x="8211312" y="5340096"/>
            <a:ext cx="3246120" cy="731520"/>
          </a:xfrm>
          <a:prstGeom prst="rect">
            <a:avLst/>
          </a:prstGeom>
          <a:noFill/>
          <a:ln/>
        </p:spPr>
        <p:txBody>
          <a:bodyPr wrap="square" lIns="0" tIns="0" rIns="0" bIns="0" rtlCol="0" anchor="ctr"/>
          <a:lstStyle/>
          <a:p>
            <a:pPr marL="0" indent="0">
              <a:lnSpc>
                <a:spcPts val="1350"/>
              </a:lnSpc>
              <a:buNone/>
            </a:pPr>
            <a:r>
              <a:rPr lang="en-US" sz="1000" dirty="0">
                <a:solidFill>
                  <a:srgbClr val="3C5169"/>
                </a:solidFill>
                <a:latin typeface="Calibri" pitchFamily="34" charset="0"/>
                <a:ea typeface="Calibri" pitchFamily="34" charset="-122"/>
                <a:cs typeface="Calibri" pitchFamily="34" charset="-120"/>
              </a:rPr>
              <a:t>Had the CNN stayed frozen — using SwimSeg features as a fixed extractor — the fusion model might have matched or beaten LSTM-only. This is a hypothesis: the frozen-throughout run was never performed.</a:t>
            </a:r>
            <a:endParaRPr lang="en-US" sz="1000" dirty="0"/>
          </a:p>
        </p:txBody>
      </p:sp>
      <p:sp>
        <p:nvSpPr>
          <p:cNvPr id="18" name="Shape 15"/>
          <p:cNvSpPr/>
          <p:nvPr/>
        </p:nvSpPr>
        <p:spPr>
          <a:xfrm>
            <a:off x="566928" y="4315968"/>
            <a:ext cx="7223760" cy="1719072"/>
          </a:xfrm>
          <a:prstGeom prst="roundRect">
            <a:avLst>
              <a:gd name="adj" fmla="val 2660"/>
            </a:avLst>
          </a:prstGeom>
          <a:solidFill>
            <a:srgbClr val="0B2545"/>
          </a:solidFill>
          <a:ln/>
        </p:spPr>
        <p:txBody>
          <a:bodyPr/>
          <a:lstStyle/>
          <a:p>
            <a:endParaRPr lang="en-AE"/>
          </a:p>
        </p:txBody>
      </p:sp>
      <p:sp>
        <p:nvSpPr>
          <p:cNvPr id="19" name="Text 16"/>
          <p:cNvSpPr/>
          <p:nvPr/>
        </p:nvSpPr>
        <p:spPr>
          <a:xfrm>
            <a:off x="868680" y="4443984"/>
            <a:ext cx="6675120" cy="274320"/>
          </a:xfrm>
          <a:prstGeom prst="rect">
            <a:avLst/>
          </a:prstGeom>
          <a:noFill/>
          <a:ln/>
        </p:spPr>
        <p:txBody>
          <a:bodyPr wrap="square" lIns="0" tIns="0" rIns="0" bIns="0"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Contrast with the ablation that worked</a:t>
            </a:r>
            <a:endParaRPr lang="en-US" sz="1300" dirty="0"/>
          </a:p>
        </p:txBody>
      </p:sp>
      <p:sp>
        <p:nvSpPr>
          <p:cNvPr id="20" name="Text 17"/>
          <p:cNvSpPr/>
          <p:nvPr/>
        </p:nvSpPr>
        <p:spPr>
          <a:xfrm>
            <a:off x="868680" y="4791456"/>
            <a:ext cx="6675120" cy="1097280"/>
          </a:xfrm>
          <a:prstGeom prst="rect">
            <a:avLst/>
          </a:prstGeom>
          <a:noFill/>
          <a:ln/>
        </p:spPr>
        <p:txBody>
          <a:bodyPr wrap="square" lIns="0" tIns="0" rIns="0" bIns="0" rtlCol="0" anchor="ctr"/>
          <a:lstStyle/>
          <a:p>
            <a:pPr marL="0" indent="0">
              <a:lnSpc>
                <a:spcPts val="1750"/>
              </a:lnSpc>
              <a:buNone/>
            </a:pPr>
            <a:r>
              <a:rPr lang="en-US" sz="1200" dirty="0">
                <a:solidFill>
                  <a:srgbClr val="C3D2E0"/>
                </a:solidFill>
                <a:latin typeface="Calibri" pitchFamily="34" charset="0"/>
                <a:ea typeface="Calibri" pitchFamily="34" charset="-122"/>
                <a:cs typeface="Calibri" pitchFamily="34" charset="-120"/>
              </a:rPr>
              <a:t>LSTM-only — in which the image branch is present in the graph but its output is discarded — ran the full 150 epochs, improved its validation NLL monotonically to −1.353, and never triggered early stopping. Its final validation MAE was 75.1 W/m². The variant with 3.7% of the parameters doing the work is the variant that could actually use its full training budget.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EXPERIMENTAL DESIGN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Every experiment actually performed</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3511296"/>
        </p:xfrm>
        <a:graphic>
          <a:graphicData uri="http://schemas.openxmlformats.org/drawingml/2006/table">
            <a:tbl>
              <a:tblPr/>
              <a:tblGrid>
                <a:gridCol w="502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9659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438912">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Experiment</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Question</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Held constant</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Varied</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Where</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38912">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E1</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Tabular baselines</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How far do classical models get on 14 engineered features?</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split, targets, metric</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LR / RF / LightGBM</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notebook §2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438912">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E2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Full fusion model</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Does the proposed architecture work?</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data, loss, optimiser, schedule</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  (reference run)</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notebook §7</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E3</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Ablation: LSTM-only</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Is the image branch contributing anything?</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everything except the fusion rule</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α forced to 1; H_a discarded</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notebook §8</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438912">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E4</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Ablation: CNN-only</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Is the temporal branch contributing anything?</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everything except the fusion rule</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α forced to 0; H_t discarded</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notebook §8</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E5</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Ablation: naive concat</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Does the physics gate beat plain concatenation?</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everything except the fusion rule</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[H_t || H_a] → 512-dim enrich</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notebook §8</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438912">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E6</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Gate diagnostics</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What did the gate actually learn?</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trained model fixed</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α inspected vs hour and cloud decile</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notebook §9d</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E7</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Operational verification</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Does it hold up on live, unseen data?</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model fixed</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8 daily runs, Aug 2026</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00" dirty="0">
                          <a:solidFill>
                            <a:srgbClr val="3C5169"/>
                          </a:solidFill>
                          <a:latin typeface="Calibri" pitchFamily="34" charset="0"/>
                          <a:ea typeface="Calibri" pitchFamily="34" charset="-122"/>
                          <a:cs typeface="Calibri" pitchFamily="34" charset="-120"/>
                        </a:rPr>
                        <a:t>predict.py / verify.py</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bl>
          </a:graphicData>
        </a:graphic>
      </p:graphicFrame>
      <p:sp>
        <p:nvSpPr>
          <p:cNvPr id="5" name="Shape 2"/>
          <p:cNvSpPr/>
          <p:nvPr/>
        </p:nvSpPr>
        <p:spPr>
          <a:xfrm>
            <a:off x="566928" y="4919472"/>
            <a:ext cx="5440680" cy="1207008"/>
          </a:xfrm>
          <a:prstGeom prst="roundRect">
            <a:avLst>
              <a:gd name="adj" fmla="val 3788"/>
            </a:avLst>
          </a:prstGeom>
          <a:solidFill>
            <a:srgbClr val="EFF3F7"/>
          </a:solidFill>
          <a:ln w="7620">
            <a:solidFill>
              <a:srgbClr val="CFD9E2"/>
            </a:solidFill>
            <a:prstDash val="solid"/>
          </a:ln>
        </p:spPr>
        <p:txBody>
          <a:bodyPr/>
          <a:lstStyle/>
          <a:p>
            <a:endParaRPr lang="en-AE"/>
          </a:p>
        </p:txBody>
      </p:sp>
      <p:sp>
        <p:nvSpPr>
          <p:cNvPr id="6" name="Text 3"/>
          <p:cNvSpPr/>
          <p:nvPr/>
        </p:nvSpPr>
        <p:spPr>
          <a:xfrm>
            <a:off x="822960" y="5029200"/>
            <a:ext cx="4937760" cy="274320"/>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Added for this defence</a:t>
            </a:r>
            <a:endParaRPr lang="en-US" sz="1250" dirty="0"/>
          </a:p>
        </p:txBody>
      </p:sp>
      <p:sp>
        <p:nvSpPr>
          <p:cNvPr id="7" name="Text 4"/>
          <p:cNvSpPr/>
          <p:nvPr/>
        </p:nvSpPr>
        <p:spPr>
          <a:xfrm>
            <a:off x="822960" y="5340096"/>
            <a:ext cx="4937760" cy="749808"/>
          </a:xfrm>
          <a:prstGeom prst="rect">
            <a:avLst/>
          </a:prstGeom>
          <a:noFill/>
          <a:ln/>
        </p:spPr>
        <p:txBody>
          <a:bodyPr wrap="square" lIns="0" tIns="0" rIns="0" bIns="0" rtlCol="0" anchor="ctr"/>
          <a:lstStyle/>
          <a:p>
            <a:pPr marL="0" indent="0">
              <a:lnSpc>
                <a:spcPts val="1550"/>
              </a:lnSpc>
              <a:buNone/>
            </a:pPr>
            <a:r>
              <a:rPr lang="en-US" sz="1050" dirty="0">
                <a:solidFill>
                  <a:srgbClr val="3C5169"/>
                </a:solidFill>
                <a:latin typeface="Calibri" pitchFamily="34" charset="0"/>
                <a:ea typeface="Calibri" pitchFamily="34" charset="-122"/>
                <a:cs typeface="Calibri" pitchFamily="34" charset="-120"/>
              </a:rPr>
              <a:t>Persistence and smart-persistence references, per-horizon metrics, multi-level calibration, error stratification by hour and cloudiness, ramp-event analysis, and the day-boundary audit. All computed from the committed checkpoints and dataset — labelled as derived analysis, not as repository experiments.</a:t>
            </a:r>
            <a:endParaRPr lang="en-US" sz="1050" dirty="0"/>
          </a:p>
        </p:txBody>
      </p:sp>
      <p:sp>
        <p:nvSpPr>
          <p:cNvPr id="8" name="Shape 5"/>
          <p:cNvSpPr/>
          <p:nvPr/>
        </p:nvSpPr>
        <p:spPr>
          <a:xfrm>
            <a:off x="6199632" y="4919472"/>
            <a:ext cx="5440680" cy="1207008"/>
          </a:xfrm>
          <a:prstGeom prst="roundRect">
            <a:avLst>
              <a:gd name="adj" fmla="val 3788"/>
            </a:avLst>
          </a:prstGeom>
          <a:solidFill>
            <a:srgbClr val="FCEEEC"/>
          </a:solidFill>
          <a:ln w="12700">
            <a:solidFill>
              <a:srgbClr val="B03A2E"/>
            </a:solidFill>
            <a:prstDash val="solid"/>
          </a:ln>
        </p:spPr>
        <p:txBody>
          <a:bodyPr/>
          <a:lstStyle/>
          <a:p>
            <a:endParaRPr lang="en-AE"/>
          </a:p>
        </p:txBody>
      </p:sp>
      <p:sp>
        <p:nvSpPr>
          <p:cNvPr id="9" name="Text 6"/>
          <p:cNvSpPr/>
          <p:nvPr/>
        </p:nvSpPr>
        <p:spPr>
          <a:xfrm>
            <a:off x="6455664" y="5029200"/>
            <a:ext cx="4937760" cy="274320"/>
          </a:xfrm>
          <a:prstGeom prst="rect">
            <a:avLst/>
          </a:prstGeom>
          <a:noFill/>
          <a:ln/>
        </p:spPr>
        <p:txBody>
          <a:bodyPr wrap="square" lIns="0" tIns="0" rIns="0" bIns="0" rtlCol="0" anchor="ctr"/>
          <a:lstStyle/>
          <a:p>
            <a:pPr marL="0" indent="0">
              <a:buNone/>
            </a:pPr>
            <a:r>
              <a:rPr lang="en-US" sz="1250" b="1" dirty="0">
                <a:solidFill>
                  <a:srgbClr val="B03A2E"/>
                </a:solidFill>
                <a:latin typeface="Calibri" pitchFamily="34" charset="0"/>
                <a:ea typeface="Calibri" pitchFamily="34" charset="-122"/>
                <a:cs typeface="Calibri" pitchFamily="34" charset="-120"/>
              </a:rPr>
              <a:t>Not performed</a:t>
            </a:r>
            <a:endParaRPr lang="en-US" sz="1250" dirty="0"/>
          </a:p>
        </p:txBody>
      </p:sp>
      <p:sp>
        <p:nvSpPr>
          <p:cNvPr id="10" name="Text 7"/>
          <p:cNvSpPr/>
          <p:nvPr/>
        </p:nvSpPr>
        <p:spPr>
          <a:xfrm>
            <a:off x="6455664" y="5340096"/>
            <a:ext cx="4937760" cy="749808"/>
          </a:xfrm>
          <a:prstGeom prst="rect">
            <a:avLst/>
          </a:prstGeom>
          <a:noFill/>
          <a:ln/>
        </p:spPr>
        <p:txBody>
          <a:bodyPr wrap="square" lIns="0" tIns="0" rIns="0" bIns="0" rtlCol="0" anchor="ctr"/>
          <a:lstStyle/>
          <a:p>
            <a:pPr marL="0" indent="0">
              <a:lnSpc>
                <a:spcPts val="1550"/>
              </a:lnSpc>
              <a:buNone/>
            </a:pPr>
            <a:r>
              <a:rPr lang="en-US" sz="1050" dirty="0">
                <a:solidFill>
                  <a:srgbClr val="3C5169"/>
                </a:solidFill>
                <a:latin typeface="Calibri" pitchFamily="34" charset="0"/>
                <a:ea typeface="Calibri" pitchFamily="34" charset="-122"/>
                <a:cs typeface="Calibri" pitchFamily="34" charset="-120"/>
              </a:rPr>
              <a:t>No ImageNet-initialised control (RQ3 unanswered), no frozen-CNN-throughout run, no hyper-parameter search, no seed repeats, no rolling-origin evaluation, no per-head attention inspection.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BASELINES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Baselines — chosen to be genuinely hard to beat</a:t>
            </a:r>
            <a:endParaRPr lang="en-US" sz="3000" dirty="0"/>
          </a:p>
        </p:txBody>
      </p:sp>
      <p:sp>
        <p:nvSpPr>
          <p:cNvPr id="4" name="Shape 2"/>
          <p:cNvSpPr/>
          <p:nvPr/>
        </p:nvSpPr>
        <p:spPr>
          <a:xfrm>
            <a:off x="566928" y="1353312"/>
            <a:ext cx="8275320" cy="822960"/>
          </a:xfrm>
          <a:prstGeom prst="roundRect">
            <a:avLst>
              <a:gd name="adj" fmla="val 5556"/>
            </a:avLst>
          </a:prstGeom>
          <a:solidFill>
            <a:srgbClr val="FFFFFF"/>
          </a:solidFill>
          <a:ln w="7620">
            <a:solidFill>
              <a:srgbClr val="CFD9E2"/>
            </a:solidFill>
            <a:prstDash val="solid"/>
          </a:ln>
        </p:spPr>
        <p:txBody>
          <a:bodyPr/>
          <a:lstStyle/>
          <a:p>
            <a:endParaRPr lang="en-AE"/>
          </a:p>
        </p:txBody>
      </p:sp>
      <p:sp>
        <p:nvSpPr>
          <p:cNvPr id="5" name="Text 3"/>
          <p:cNvSpPr/>
          <p:nvPr/>
        </p:nvSpPr>
        <p:spPr>
          <a:xfrm>
            <a:off x="822960" y="1426464"/>
            <a:ext cx="1965960" cy="310896"/>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Persistence</a:t>
            </a:r>
            <a:endParaRPr lang="en-US" sz="1250" dirty="0"/>
          </a:p>
        </p:txBody>
      </p:sp>
      <p:sp>
        <p:nvSpPr>
          <p:cNvPr id="6" name="Text 4"/>
          <p:cNvSpPr/>
          <p:nvPr/>
        </p:nvSpPr>
        <p:spPr>
          <a:xfrm>
            <a:off x="822960" y="1755648"/>
            <a:ext cx="2377440" cy="310896"/>
          </a:xfrm>
          <a:prstGeom prst="rect">
            <a:avLst/>
          </a:prstGeom>
          <a:noFill/>
          <a:ln/>
        </p:spPr>
        <p:txBody>
          <a:bodyPr wrap="square" lIns="0" tIns="0" rIns="0" bIns="0" rtlCol="0" anchor="ctr"/>
          <a:lstStyle/>
          <a:p>
            <a:pPr marL="0" indent="0">
              <a:buNone/>
            </a:pPr>
            <a:r>
              <a:rPr lang="en-US" sz="850" dirty="0">
                <a:solidFill>
                  <a:srgbClr val="6E7F8F"/>
                </a:solidFill>
                <a:latin typeface="Courier New" pitchFamily="34" charset="0"/>
                <a:ea typeface="Courier New" pitchFamily="34" charset="-122"/>
                <a:cs typeface="Courier New" pitchFamily="34" charset="-120"/>
              </a:rPr>
              <a:t>GHI(t+h) = GHI(t)</a:t>
            </a:r>
            <a:endParaRPr lang="en-US" sz="850" dirty="0"/>
          </a:p>
        </p:txBody>
      </p:sp>
      <p:sp>
        <p:nvSpPr>
          <p:cNvPr id="7" name="Text 5"/>
          <p:cNvSpPr/>
          <p:nvPr/>
        </p:nvSpPr>
        <p:spPr>
          <a:xfrm>
            <a:off x="3337560" y="1444752"/>
            <a:ext cx="3703320" cy="640080"/>
          </a:xfrm>
          <a:prstGeom prst="rect">
            <a:avLst/>
          </a:prstGeom>
          <a:noFill/>
          <a:ln/>
        </p:spPr>
        <p:txBody>
          <a:bodyPr wrap="square" lIns="0" tIns="0" rIns="0" bIns="0" rtlCol="0" anchor="ctr"/>
          <a:lstStyle/>
          <a:p>
            <a:pPr marL="0" indent="0">
              <a:lnSpc>
                <a:spcPts val="1500"/>
              </a:lnSpc>
              <a:buNone/>
            </a:pPr>
            <a:r>
              <a:rPr lang="en-US" sz="1100" dirty="0">
                <a:solidFill>
                  <a:srgbClr val="3C5169"/>
                </a:solidFill>
                <a:latin typeface="Calibri" pitchFamily="34" charset="0"/>
                <a:ea typeface="Calibri" pitchFamily="34" charset="-122"/>
                <a:cs typeface="Calibri" pitchFamily="34" charset="-120"/>
              </a:rPr>
              <a:t>The null hypothesis. Any forecast that cannot beat it is worthless.</a:t>
            </a:r>
            <a:endParaRPr lang="en-US" sz="1100" dirty="0"/>
          </a:p>
        </p:txBody>
      </p:sp>
      <p:sp>
        <p:nvSpPr>
          <p:cNvPr id="8" name="Text 6"/>
          <p:cNvSpPr/>
          <p:nvPr/>
        </p:nvSpPr>
        <p:spPr>
          <a:xfrm>
            <a:off x="7178040" y="1444752"/>
            <a:ext cx="914400" cy="640080"/>
          </a:xfrm>
          <a:prstGeom prst="rect">
            <a:avLst/>
          </a:prstGeom>
          <a:noFill/>
          <a:ln/>
        </p:spPr>
        <p:txBody>
          <a:bodyPr wrap="square" lIns="0" tIns="0" rIns="0" bIns="0" rtlCol="0" anchor="ctr"/>
          <a:lstStyle/>
          <a:p>
            <a:pPr marL="0" indent="0" algn="r">
              <a:buNone/>
            </a:pPr>
            <a:r>
              <a:rPr lang="en-US" sz="1900" b="1" dirty="0">
                <a:solidFill>
                  <a:srgbClr val="6E7F8F"/>
                </a:solidFill>
                <a:latin typeface="Cambria" pitchFamily="34" charset="0"/>
                <a:ea typeface="Cambria" pitchFamily="34" charset="-122"/>
                <a:cs typeface="Cambria" pitchFamily="34" charset="-120"/>
              </a:rPr>
              <a:t>243.7</a:t>
            </a:r>
            <a:endParaRPr lang="en-US" sz="1900" dirty="0"/>
          </a:p>
        </p:txBody>
      </p:sp>
      <p:sp>
        <p:nvSpPr>
          <p:cNvPr id="9" name="Text 7"/>
          <p:cNvSpPr/>
          <p:nvPr/>
        </p:nvSpPr>
        <p:spPr>
          <a:xfrm>
            <a:off x="8119872" y="1444752"/>
            <a:ext cx="594360" cy="640080"/>
          </a:xfrm>
          <a:prstGeom prst="rect">
            <a:avLst/>
          </a:prstGeom>
          <a:noFill/>
          <a:ln/>
        </p:spPr>
        <p:txBody>
          <a:bodyPr wrap="square" lIns="0" tIns="0" rIns="0" bIns="0" rtlCol="0" anchor="ctr"/>
          <a:lstStyle/>
          <a:p>
            <a:pPr marL="0" indent="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10" name="Shape 8"/>
          <p:cNvSpPr/>
          <p:nvPr/>
        </p:nvSpPr>
        <p:spPr>
          <a:xfrm>
            <a:off x="566928" y="2286000"/>
            <a:ext cx="8275320" cy="822960"/>
          </a:xfrm>
          <a:prstGeom prst="roundRect">
            <a:avLst>
              <a:gd name="adj" fmla="val 5556"/>
            </a:avLst>
          </a:prstGeom>
          <a:solidFill>
            <a:srgbClr val="FFFFFF"/>
          </a:solidFill>
          <a:ln w="7620">
            <a:solidFill>
              <a:srgbClr val="CFD9E2"/>
            </a:solidFill>
            <a:prstDash val="solid"/>
          </a:ln>
        </p:spPr>
        <p:txBody>
          <a:bodyPr/>
          <a:lstStyle/>
          <a:p>
            <a:endParaRPr lang="en-AE"/>
          </a:p>
        </p:txBody>
      </p:sp>
      <p:sp>
        <p:nvSpPr>
          <p:cNvPr id="11" name="Text 9"/>
          <p:cNvSpPr/>
          <p:nvPr/>
        </p:nvSpPr>
        <p:spPr>
          <a:xfrm>
            <a:off x="822960" y="2359152"/>
            <a:ext cx="1965960" cy="310896"/>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Smart persistence</a:t>
            </a:r>
            <a:endParaRPr lang="en-US" sz="1250" dirty="0"/>
          </a:p>
        </p:txBody>
      </p:sp>
      <p:sp>
        <p:nvSpPr>
          <p:cNvPr id="12" name="Text 10"/>
          <p:cNvSpPr/>
          <p:nvPr/>
        </p:nvSpPr>
        <p:spPr>
          <a:xfrm>
            <a:off x="822960" y="2688336"/>
            <a:ext cx="2377440" cy="310896"/>
          </a:xfrm>
          <a:prstGeom prst="rect">
            <a:avLst/>
          </a:prstGeom>
          <a:noFill/>
          <a:ln/>
        </p:spPr>
        <p:txBody>
          <a:bodyPr wrap="square" lIns="0" tIns="0" rIns="0" bIns="0" rtlCol="0" anchor="ctr"/>
          <a:lstStyle/>
          <a:p>
            <a:pPr marL="0" indent="0">
              <a:buNone/>
            </a:pPr>
            <a:r>
              <a:rPr lang="en-US" sz="850" dirty="0">
                <a:solidFill>
                  <a:srgbClr val="6E7F8F"/>
                </a:solidFill>
                <a:latin typeface="Courier New" pitchFamily="34" charset="0"/>
                <a:ea typeface="Courier New" pitchFamily="34" charset="-122"/>
                <a:cs typeface="Courier New" pitchFamily="34" charset="-120"/>
              </a:rPr>
              <a:t>k_t(t) held constant, × known clear-sky GHI(t+h)</a:t>
            </a:r>
            <a:endParaRPr lang="en-US" sz="850" dirty="0"/>
          </a:p>
        </p:txBody>
      </p:sp>
      <p:sp>
        <p:nvSpPr>
          <p:cNvPr id="13" name="Text 11"/>
          <p:cNvSpPr/>
          <p:nvPr/>
        </p:nvSpPr>
        <p:spPr>
          <a:xfrm>
            <a:off x="3337560" y="2377440"/>
            <a:ext cx="3703320" cy="640080"/>
          </a:xfrm>
          <a:prstGeom prst="rect">
            <a:avLst/>
          </a:prstGeom>
          <a:noFill/>
          <a:ln/>
        </p:spPr>
        <p:txBody>
          <a:bodyPr wrap="square" lIns="0" tIns="0" rIns="0" bIns="0" rtlCol="0" anchor="ctr"/>
          <a:lstStyle/>
          <a:p>
            <a:pPr marL="0" indent="0">
              <a:lnSpc>
                <a:spcPts val="1500"/>
              </a:lnSpc>
              <a:buNone/>
            </a:pPr>
            <a:r>
              <a:rPr lang="en-US" sz="1100" dirty="0">
                <a:solidFill>
                  <a:srgbClr val="3C5169"/>
                </a:solidFill>
                <a:latin typeface="Calibri" pitchFamily="34" charset="0"/>
                <a:ea typeface="Calibri" pitchFamily="34" charset="-122"/>
                <a:cs typeface="Calibri" pitchFamily="34" charset="-120"/>
              </a:rPr>
              <a:t>The real reference: removes the diurnal trend, so it only fails when clouds change.</a:t>
            </a:r>
            <a:endParaRPr lang="en-US" sz="1100" dirty="0"/>
          </a:p>
        </p:txBody>
      </p:sp>
      <p:sp>
        <p:nvSpPr>
          <p:cNvPr id="14" name="Text 12"/>
          <p:cNvSpPr/>
          <p:nvPr/>
        </p:nvSpPr>
        <p:spPr>
          <a:xfrm>
            <a:off x="7178040" y="2377440"/>
            <a:ext cx="914400" cy="640080"/>
          </a:xfrm>
          <a:prstGeom prst="rect">
            <a:avLst/>
          </a:prstGeom>
          <a:noFill/>
          <a:ln/>
        </p:spPr>
        <p:txBody>
          <a:bodyPr wrap="square" lIns="0" tIns="0" rIns="0" bIns="0" rtlCol="0" anchor="ctr"/>
          <a:lstStyle/>
          <a:p>
            <a:pPr marL="0" indent="0" algn="r">
              <a:buNone/>
            </a:pPr>
            <a:r>
              <a:rPr lang="en-US" sz="1900" b="1" dirty="0">
                <a:solidFill>
                  <a:srgbClr val="3C5169"/>
                </a:solidFill>
                <a:latin typeface="Cambria" pitchFamily="34" charset="0"/>
                <a:ea typeface="Cambria" pitchFamily="34" charset="-122"/>
                <a:cs typeface="Cambria" pitchFamily="34" charset="-120"/>
              </a:rPr>
              <a:t>117.7</a:t>
            </a:r>
            <a:endParaRPr lang="en-US" sz="1900" dirty="0"/>
          </a:p>
        </p:txBody>
      </p:sp>
      <p:sp>
        <p:nvSpPr>
          <p:cNvPr id="15" name="Text 13"/>
          <p:cNvSpPr/>
          <p:nvPr/>
        </p:nvSpPr>
        <p:spPr>
          <a:xfrm>
            <a:off x="8119872" y="2377440"/>
            <a:ext cx="594360" cy="640080"/>
          </a:xfrm>
          <a:prstGeom prst="rect">
            <a:avLst/>
          </a:prstGeom>
          <a:noFill/>
          <a:ln/>
        </p:spPr>
        <p:txBody>
          <a:bodyPr wrap="square" lIns="0" tIns="0" rIns="0" bIns="0" rtlCol="0" anchor="ctr"/>
          <a:lstStyle/>
          <a:p>
            <a:pPr marL="0" indent="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16" name="Shape 14"/>
          <p:cNvSpPr/>
          <p:nvPr/>
        </p:nvSpPr>
        <p:spPr>
          <a:xfrm>
            <a:off x="566928" y="3218688"/>
            <a:ext cx="8275320" cy="822960"/>
          </a:xfrm>
          <a:prstGeom prst="roundRect">
            <a:avLst>
              <a:gd name="adj" fmla="val 5556"/>
            </a:avLst>
          </a:prstGeom>
          <a:solidFill>
            <a:srgbClr val="FFFFFF"/>
          </a:solidFill>
          <a:ln w="7620">
            <a:solidFill>
              <a:srgbClr val="CFD9E2"/>
            </a:solidFill>
            <a:prstDash val="solid"/>
          </a:ln>
        </p:spPr>
        <p:txBody>
          <a:bodyPr/>
          <a:lstStyle/>
          <a:p>
            <a:endParaRPr lang="en-AE"/>
          </a:p>
        </p:txBody>
      </p:sp>
      <p:sp>
        <p:nvSpPr>
          <p:cNvPr id="17" name="Text 15"/>
          <p:cNvSpPr/>
          <p:nvPr/>
        </p:nvSpPr>
        <p:spPr>
          <a:xfrm>
            <a:off x="822960" y="3291840"/>
            <a:ext cx="1965960" cy="310896"/>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Linear Regression</a:t>
            </a:r>
            <a:endParaRPr lang="en-US" sz="1250" dirty="0"/>
          </a:p>
        </p:txBody>
      </p:sp>
      <p:sp>
        <p:nvSpPr>
          <p:cNvPr id="18" name="Text 16"/>
          <p:cNvSpPr/>
          <p:nvPr/>
        </p:nvSpPr>
        <p:spPr>
          <a:xfrm>
            <a:off x="822960" y="3621024"/>
            <a:ext cx="2377440" cy="310896"/>
          </a:xfrm>
          <a:prstGeom prst="rect">
            <a:avLst/>
          </a:prstGeom>
          <a:noFill/>
          <a:ln/>
        </p:spPr>
        <p:txBody>
          <a:bodyPr wrap="square" lIns="0" tIns="0" rIns="0" bIns="0" rtlCol="0" anchor="ctr"/>
          <a:lstStyle/>
          <a:p>
            <a:pPr marL="0" indent="0">
              <a:buNone/>
            </a:pPr>
            <a:r>
              <a:rPr lang="en-US" sz="850" dirty="0">
                <a:solidFill>
                  <a:srgbClr val="6E7F8F"/>
                </a:solidFill>
                <a:latin typeface="Courier New" pitchFamily="34" charset="0"/>
                <a:ea typeface="Courier New" pitchFamily="34" charset="-122"/>
                <a:cs typeface="Courier New" pitchFamily="34" charset="-120"/>
              </a:rPr>
              <a:t>14 features → GHI(t+h), one model per horizon</a:t>
            </a:r>
            <a:endParaRPr lang="en-US" sz="850" dirty="0"/>
          </a:p>
        </p:txBody>
      </p:sp>
      <p:sp>
        <p:nvSpPr>
          <p:cNvPr id="19" name="Text 17"/>
          <p:cNvSpPr/>
          <p:nvPr/>
        </p:nvSpPr>
        <p:spPr>
          <a:xfrm>
            <a:off x="3337560" y="3310128"/>
            <a:ext cx="3703320" cy="640080"/>
          </a:xfrm>
          <a:prstGeom prst="rect">
            <a:avLst/>
          </a:prstGeom>
          <a:noFill/>
          <a:ln/>
        </p:spPr>
        <p:txBody>
          <a:bodyPr wrap="square" lIns="0" tIns="0" rIns="0" bIns="0" rtlCol="0" anchor="ctr"/>
          <a:lstStyle/>
          <a:p>
            <a:pPr marL="0" indent="0">
              <a:lnSpc>
                <a:spcPts val="1500"/>
              </a:lnSpc>
              <a:buNone/>
            </a:pPr>
            <a:r>
              <a:rPr lang="en-US" sz="1100" dirty="0">
                <a:solidFill>
                  <a:srgbClr val="3C5169"/>
                </a:solidFill>
                <a:latin typeface="Calibri" pitchFamily="34" charset="0"/>
                <a:ea typeface="Calibri" pitchFamily="34" charset="-122"/>
                <a:cs typeface="Calibri" pitchFamily="34" charset="-120"/>
              </a:rPr>
              <a:t>Tests whether the mapping is essentially linear.</a:t>
            </a:r>
            <a:endParaRPr lang="en-US" sz="1100" dirty="0"/>
          </a:p>
        </p:txBody>
      </p:sp>
      <p:sp>
        <p:nvSpPr>
          <p:cNvPr id="20" name="Text 18"/>
          <p:cNvSpPr/>
          <p:nvPr/>
        </p:nvSpPr>
        <p:spPr>
          <a:xfrm>
            <a:off x="7178040" y="3310128"/>
            <a:ext cx="914400" cy="640080"/>
          </a:xfrm>
          <a:prstGeom prst="rect">
            <a:avLst/>
          </a:prstGeom>
          <a:noFill/>
          <a:ln/>
        </p:spPr>
        <p:txBody>
          <a:bodyPr wrap="square" lIns="0" tIns="0" rIns="0" bIns="0" rtlCol="0" anchor="ctr"/>
          <a:lstStyle/>
          <a:p>
            <a:pPr marL="0" indent="0" algn="r">
              <a:buNone/>
            </a:pPr>
            <a:r>
              <a:rPr lang="en-US" sz="1900" b="1" dirty="0">
                <a:solidFill>
                  <a:srgbClr val="3C5169"/>
                </a:solidFill>
                <a:latin typeface="Cambria" pitchFamily="34" charset="0"/>
                <a:ea typeface="Cambria" pitchFamily="34" charset="-122"/>
                <a:cs typeface="Cambria" pitchFamily="34" charset="-120"/>
              </a:rPr>
              <a:t>103.7</a:t>
            </a:r>
            <a:endParaRPr lang="en-US" sz="1900" dirty="0"/>
          </a:p>
        </p:txBody>
      </p:sp>
      <p:sp>
        <p:nvSpPr>
          <p:cNvPr id="21" name="Text 19"/>
          <p:cNvSpPr/>
          <p:nvPr/>
        </p:nvSpPr>
        <p:spPr>
          <a:xfrm>
            <a:off x="8119872" y="3310128"/>
            <a:ext cx="594360" cy="640080"/>
          </a:xfrm>
          <a:prstGeom prst="rect">
            <a:avLst/>
          </a:prstGeom>
          <a:noFill/>
          <a:ln/>
        </p:spPr>
        <p:txBody>
          <a:bodyPr wrap="square" lIns="0" tIns="0" rIns="0" bIns="0" rtlCol="0" anchor="ctr"/>
          <a:lstStyle/>
          <a:p>
            <a:pPr marL="0" indent="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22" name="Shape 20"/>
          <p:cNvSpPr/>
          <p:nvPr/>
        </p:nvSpPr>
        <p:spPr>
          <a:xfrm>
            <a:off x="566928" y="4151376"/>
            <a:ext cx="8275320" cy="822960"/>
          </a:xfrm>
          <a:prstGeom prst="roundRect">
            <a:avLst>
              <a:gd name="adj" fmla="val 5556"/>
            </a:avLst>
          </a:prstGeom>
          <a:solidFill>
            <a:srgbClr val="EFF3F7"/>
          </a:solidFill>
          <a:ln w="7620">
            <a:solidFill>
              <a:srgbClr val="CFD9E2"/>
            </a:solidFill>
            <a:prstDash val="solid"/>
          </a:ln>
        </p:spPr>
        <p:txBody>
          <a:bodyPr/>
          <a:lstStyle/>
          <a:p>
            <a:endParaRPr lang="en-AE"/>
          </a:p>
        </p:txBody>
      </p:sp>
      <p:sp>
        <p:nvSpPr>
          <p:cNvPr id="23" name="Text 21"/>
          <p:cNvSpPr/>
          <p:nvPr/>
        </p:nvSpPr>
        <p:spPr>
          <a:xfrm>
            <a:off x="822960" y="4224528"/>
            <a:ext cx="1965960" cy="310896"/>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Random Forest</a:t>
            </a:r>
            <a:endParaRPr lang="en-US" sz="1250" dirty="0"/>
          </a:p>
        </p:txBody>
      </p:sp>
      <p:sp>
        <p:nvSpPr>
          <p:cNvPr id="24" name="Text 22"/>
          <p:cNvSpPr/>
          <p:nvPr/>
        </p:nvSpPr>
        <p:spPr>
          <a:xfrm>
            <a:off x="822960" y="4553712"/>
            <a:ext cx="2377440" cy="310896"/>
          </a:xfrm>
          <a:prstGeom prst="rect">
            <a:avLst/>
          </a:prstGeom>
          <a:noFill/>
          <a:ln/>
        </p:spPr>
        <p:txBody>
          <a:bodyPr wrap="square" lIns="0" tIns="0" rIns="0" bIns="0" rtlCol="0" anchor="ctr"/>
          <a:lstStyle/>
          <a:p>
            <a:pPr marL="0" indent="0">
              <a:buNone/>
            </a:pPr>
            <a:r>
              <a:rPr lang="en-US" sz="850" dirty="0">
                <a:solidFill>
                  <a:srgbClr val="6E7F8F"/>
                </a:solidFill>
                <a:latin typeface="Courier New" pitchFamily="34" charset="0"/>
                <a:ea typeface="Courier New" pitchFamily="34" charset="-122"/>
                <a:cs typeface="Courier New" pitchFamily="34" charset="-120"/>
              </a:rPr>
              <a:t>100 trees, unlimited depth</a:t>
            </a:r>
            <a:endParaRPr lang="en-US" sz="850" dirty="0"/>
          </a:p>
        </p:txBody>
      </p:sp>
      <p:sp>
        <p:nvSpPr>
          <p:cNvPr id="25" name="Text 23"/>
          <p:cNvSpPr/>
          <p:nvPr/>
        </p:nvSpPr>
        <p:spPr>
          <a:xfrm>
            <a:off x="3337560" y="4242816"/>
            <a:ext cx="3703320" cy="640080"/>
          </a:xfrm>
          <a:prstGeom prst="rect">
            <a:avLst/>
          </a:prstGeom>
          <a:noFill/>
          <a:ln/>
        </p:spPr>
        <p:txBody>
          <a:bodyPr wrap="square" lIns="0" tIns="0" rIns="0" bIns="0" rtlCol="0" anchor="ctr"/>
          <a:lstStyle/>
          <a:p>
            <a:pPr marL="0" indent="0">
              <a:lnSpc>
                <a:spcPts val="1500"/>
              </a:lnSpc>
              <a:buNone/>
            </a:pPr>
            <a:r>
              <a:rPr lang="en-US" sz="1100" dirty="0">
                <a:solidFill>
                  <a:srgbClr val="3C5169"/>
                </a:solidFill>
                <a:latin typeface="Calibri" pitchFamily="34" charset="0"/>
                <a:ea typeface="Calibri" pitchFamily="34" charset="-122"/>
                <a:cs typeface="Calibri" pitchFamily="34" charset="-120"/>
              </a:rPr>
              <a:t>Non-linear, non-parametric, very strong on tabular data.</a:t>
            </a:r>
            <a:endParaRPr lang="en-US" sz="1100" dirty="0"/>
          </a:p>
        </p:txBody>
      </p:sp>
      <p:sp>
        <p:nvSpPr>
          <p:cNvPr id="26" name="Text 24"/>
          <p:cNvSpPr/>
          <p:nvPr/>
        </p:nvSpPr>
        <p:spPr>
          <a:xfrm>
            <a:off x="7178040" y="4242816"/>
            <a:ext cx="914400" cy="640080"/>
          </a:xfrm>
          <a:prstGeom prst="rect">
            <a:avLst/>
          </a:prstGeom>
          <a:noFill/>
          <a:ln/>
        </p:spPr>
        <p:txBody>
          <a:bodyPr wrap="square" lIns="0" tIns="0" rIns="0" bIns="0" rtlCol="0" anchor="ctr"/>
          <a:lstStyle/>
          <a:p>
            <a:pPr marL="0" indent="0" algn="r">
              <a:buNone/>
            </a:pPr>
            <a:r>
              <a:rPr lang="en-US" sz="1900" b="1" dirty="0">
                <a:solidFill>
                  <a:srgbClr val="1C7293"/>
                </a:solidFill>
                <a:latin typeface="Cambria" pitchFamily="34" charset="0"/>
                <a:ea typeface="Cambria" pitchFamily="34" charset="-122"/>
                <a:cs typeface="Cambria" pitchFamily="34" charset="-120"/>
              </a:rPr>
              <a:t>79.2</a:t>
            </a:r>
            <a:endParaRPr lang="en-US" sz="1900" dirty="0"/>
          </a:p>
        </p:txBody>
      </p:sp>
      <p:sp>
        <p:nvSpPr>
          <p:cNvPr id="27" name="Text 25"/>
          <p:cNvSpPr/>
          <p:nvPr/>
        </p:nvSpPr>
        <p:spPr>
          <a:xfrm>
            <a:off x="8119872" y="4242816"/>
            <a:ext cx="594360" cy="640080"/>
          </a:xfrm>
          <a:prstGeom prst="rect">
            <a:avLst/>
          </a:prstGeom>
          <a:noFill/>
          <a:ln/>
        </p:spPr>
        <p:txBody>
          <a:bodyPr wrap="square" lIns="0" tIns="0" rIns="0" bIns="0" rtlCol="0" anchor="ctr"/>
          <a:lstStyle/>
          <a:p>
            <a:pPr marL="0" indent="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28" name="Shape 26"/>
          <p:cNvSpPr/>
          <p:nvPr/>
        </p:nvSpPr>
        <p:spPr>
          <a:xfrm>
            <a:off x="566928" y="5084064"/>
            <a:ext cx="8275320" cy="822960"/>
          </a:xfrm>
          <a:prstGeom prst="roundRect">
            <a:avLst>
              <a:gd name="adj" fmla="val 5556"/>
            </a:avLst>
          </a:prstGeom>
          <a:solidFill>
            <a:srgbClr val="EFF3F7"/>
          </a:solidFill>
          <a:ln w="7620">
            <a:solidFill>
              <a:srgbClr val="CFD9E2"/>
            </a:solidFill>
            <a:prstDash val="solid"/>
          </a:ln>
        </p:spPr>
        <p:txBody>
          <a:bodyPr/>
          <a:lstStyle/>
          <a:p>
            <a:endParaRPr lang="en-AE"/>
          </a:p>
        </p:txBody>
      </p:sp>
      <p:sp>
        <p:nvSpPr>
          <p:cNvPr id="29" name="Text 27"/>
          <p:cNvSpPr/>
          <p:nvPr/>
        </p:nvSpPr>
        <p:spPr>
          <a:xfrm>
            <a:off x="822960" y="5157216"/>
            <a:ext cx="1965960" cy="310896"/>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LightGBM</a:t>
            </a:r>
            <a:endParaRPr lang="en-US" sz="1250" dirty="0"/>
          </a:p>
        </p:txBody>
      </p:sp>
      <p:sp>
        <p:nvSpPr>
          <p:cNvPr id="30" name="Text 28"/>
          <p:cNvSpPr/>
          <p:nvPr/>
        </p:nvSpPr>
        <p:spPr>
          <a:xfrm>
            <a:off x="822960" y="5486400"/>
            <a:ext cx="2377440" cy="310896"/>
          </a:xfrm>
          <a:prstGeom prst="rect">
            <a:avLst/>
          </a:prstGeom>
          <a:noFill/>
          <a:ln/>
        </p:spPr>
        <p:txBody>
          <a:bodyPr wrap="square" lIns="0" tIns="0" rIns="0" bIns="0" rtlCol="0" anchor="ctr"/>
          <a:lstStyle/>
          <a:p>
            <a:pPr marL="0" indent="0">
              <a:buNone/>
            </a:pPr>
            <a:r>
              <a:rPr lang="en-US" sz="850" dirty="0">
                <a:solidFill>
                  <a:srgbClr val="6E7F8F"/>
                </a:solidFill>
                <a:latin typeface="Courier New" pitchFamily="34" charset="0"/>
                <a:ea typeface="Courier New" pitchFamily="34" charset="-122"/>
                <a:cs typeface="Courier New" pitchFamily="34" charset="-120"/>
              </a:rPr>
              <a:t>200 boosting rounds, defaults</a:t>
            </a:r>
            <a:endParaRPr lang="en-US" sz="850" dirty="0"/>
          </a:p>
        </p:txBody>
      </p:sp>
      <p:sp>
        <p:nvSpPr>
          <p:cNvPr id="31" name="Text 29"/>
          <p:cNvSpPr/>
          <p:nvPr/>
        </p:nvSpPr>
        <p:spPr>
          <a:xfrm>
            <a:off x="3337560" y="5175504"/>
            <a:ext cx="3703320" cy="640080"/>
          </a:xfrm>
          <a:prstGeom prst="rect">
            <a:avLst/>
          </a:prstGeom>
          <a:noFill/>
          <a:ln/>
        </p:spPr>
        <p:txBody>
          <a:bodyPr wrap="square" lIns="0" tIns="0" rIns="0" bIns="0" rtlCol="0" anchor="ctr"/>
          <a:lstStyle/>
          <a:p>
            <a:pPr marL="0" indent="0">
              <a:lnSpc>
                <a:spcPts val="1500"/>
              </a:lnSpc>
              <a:buNone/>
            </a:pPr>
            <a:r>
              <a:rPr lang="en-US" sz="1100" dirty="0">
                <a:solidFill>
                  <a:srgbClr val="3C5169"/>
                </a:solidFill>
                <a:latin typeface="Calibri" pitchFamily="34" charset="0"/>
                <a:ea typeface="Calibri" pitchFamily="34" charset="-122"/>
                <a:cs typeface="Calibri" pitchFamily="34" charset="-120"/>
              </a:rPr>
              <a:t>Gradient boosting — the standard strong baseline for tabular regression.</a:t>
            </a:r>
            <a:endParaRPr lang="en-US" sz="1100" dirty="0"/>
          </a:p>
        </p:txBody>
      </p:sp>
      <p:sp>
        <p:nvSpPr>
          <p:cNvPr id="32" name="Text 30"/>
          <p:cNvSpPr/>
          <p:nvPr/>
        </p:nvSpPr>
        <p:spPr>
          <a:xfrm>
            <a:off x="7178040" y="5175504"/>
            <a:ext cx="914400" cy="640080"/>
          </a:xfrm>
          <a:prstGeom prst="rect">
            <a:avLst/>
          </a:prstGeom>
          <a:noFill/>
          <a:ln/>
        </p:spPr>
        <p:txBody>
          <a:bodyPr wrap="square" lIns="0" tIns="0" rIns="0" bIns="0" rtlCol="0" anchor="ctr"/>
          <a:lstStyle/>
          <a:p>
            <a:pPr marL="0" indent="0" algn="r">
              <a:buNone/>
            </a:pPr>
            <a:r>
              <a:rPr lang="en-US" sz="1900" b="1" dirty="0">
                <a:solidFill>
                  <a:srgbClr val="0B2545"/>
                </a:solidFill>
                <a:latin typeface="Cambria" pitchFamily="34" charset="0"/>
                <a:ea typeface="Cambria" pitchFamily="34" charset="-122"/>
                <a:cs typeface="Cambria" pitchFamily="34" charset="-120"/>
              </a:rPr>
              <a:t>78.9</a:t>
            </a:r>
            <a:endParaRPr lang="en-US" sz="1900" dirty="0"/>
          </a:p>
        </p:txBody>
      </p:sp>
      <p:sp>
        <p:nvSpPr>
          <p:cNvPr id="33" name="Text 31"/>
          <p:cNvSpPr/>
          <p:nvPr/>
        </p:nvSpPr>
        <p:spPr>
          <a:xfrm>
            <a:off x="8119872" y="5175504"/>
            <a:ext cx="594360" cy="640080"/>
          </a:xfrm>
          <a:prstGeom prst="rect">
            <a:avLst/>
          </a:prstGeom>
          <a:noFill/>
          <a:ln/>
        </p:spPr>
        <p:txBody>
          <a:bodyPr wrap="square" lIns="0" tIns="0" rIns="0" bIns="0" rtlCol="0" anchor="ctr"/>
          <a:lstStyle/>
          <a:p>
            <a:pPr marL="0" indent="0">
              <a:buNone/>
            </a:pPr>
            <a:r>
              <a:rPr lang="en-US" sz="900" dirty="0">
                <a:solidFill>
                  <a:srgbClr val="6E7F8F"/>
                </a:solidFill>
                <a:latin typeface="Calibri" pitchFamily="34" charset="0"/>
                <a:ea typeface="Calibri" pitchFamily="34" charset="-122"/>
                <a:cs typeface="Calibri" pitchFamily="34" charset="-120"/>
              </a:rPr>
              <a:t>W/m²</a:t>
            </a:r>
            <a:endParaRPr lang="en-US" sz="900" dirty="0"/>
          </a:p>
        </p:txBody>
      </p:sp>
      <p:sp>
        <p:nvSpPr>
          <p:cNvPr id="34" name="Shape 32"/>
          <p:cNvSpPr/>
          <p:nvPr/>
        </p:nvSpPr>
        <p:spPr>
          <a:xfrm>
            <a:off x="9070848" y="1353312"/>
            <a:ext cx="2560320" cy="4041648"/>
          </a:xfrm>
          <a:prstGeom prst="roundRect">
            <a:avLst>
              <a:gd name="adj" fmla="val 1786"/>
            </a:avLst>
          </a:prstGeom>
          <a:solidFill>
            <a:srgbClr val="FBF3E4"/>
          </a:solidFill>
          <a:ln w="12700">
            <a:solidFill>
              <a:srgbClr val="E8A33D"/>
            </a:solidFill>
            <a:prstDash val="solid"/>
          </a:ln>
        </p:spPr>
        <p:txBody>
          <a:bodyPr/>
          <a:lstStyle/>
          <a:p>
            <a:endParaRPr lang="en-AE"/>
          </a:p>
        </p:txBody>
      </p:sp>
      <p:sp>
        <p:nvSpPr>
          <p:cNvPr id="35" name="Text 33"/>
          <p:cNvSpPr/>
          <p:nvPr/>
        </p:nvSpPr>
        <p:spPr>
          <a:xfrm>
            <a:off x="9290304" y="1481328"/>
            <a:ext cx="2194560" cy="274320"/>
          </a:xfrm>
          <a:prstGeom prst="rect">
            <a:avLst/>
          </a:prstGeom>
          <a:noFill/>
          <a:ln/>
        </p:spPr>
        <p:txBody>
          <a:bodyPr wrap="square" lIns="0" tIns="0" rIns="0" bIns="0" rtlCol="0" anchor="ctr"/>
          <a:lstStyle/>
          <a:p>
            <a:pPr marL="0" indent="0">
              <a:buNone/>
            </a:pPr>
            <a:r>
              <a:rPr lang="en-US" sz="1250" b="1" dirty="0">
                <a:solidFill>
                  <a:srgbClr val="B87A1B"/>
                </a:solidFill>
                <a:latin typeface="Calibri" pitchFamily="34" charset="0"/>
                <a:ea typeface="Calibri" pitchFamily="34" charset="-122"/>
                <a:cs typeface="Calibri" pitchFamily="34" charset="-120"/>
              </a:rPr>
              <a:t>Fairness controls</a:t>
            </a:r>
            <a:endParaRPr lang="en-US" sz="1250" dirty="0"/>
          </a:p>
        </p:txBody>
      </p:sp>
      <p:sp>
        <p:nvSpPr>
          <p:cNvPr id="36" name="Text 34"/>
          <p:cNvSpPr/>
          <p:nvPr/>
        </p:nvSpPr>
        <p:spPr>
          <a:xfrm>
            <a:off x="9290304" y="1810512"/>
            <a:ext cx="2194560" cy="3474720"/>
          </a:xfrm>
          <a:prstGeom prst="rect">
            <a:avLst/>
          </a:prstGeom>
          <a:noFill/>
          <a:ln/>
        </p:spPr>
        <p:txBody>
          <a:bodyPr wrap="square" lIns="0" tIns="0" rIns="0" bIns="0" rtlCol="0" anchor="ctr"/>
          <a:lstStyle/>
          <a:p>
            <a:pPr marL="0" indent="0">
              <a:lnSpc>
                <a:spcPts val="1400"/>
              </a:lnSpc>
              <a:buNone/>
            </a:pPr>
            <a:r>
              <a:rPr lang="en-US" sz="1000" dirty="0">
                <a:solidFill>
                  <a:srgbClr val="3C5169"/>
                </a:solidFill>
                <a:latin typeface="Calibri" pitchFamily="34" charset="0"/>
                <a:ea typeface="Calibri" pitchFamily="34" charset="-122"/>
                <a:cs typeface="Calibri" pitchFamily="34" charset="-120"/>
              </a:rPr>
              <a:t>Same chronological split.
Same three horizons, same metric.
</a:t>
            </a:r>
            <a:r>
              <a:rPr lang="en-US" sz="1000" b="1" dirty="0">
                <a:solidFill>
                  <a:srgbClr val="0B2545"/>
                </a:solidFill>
                <a:latin typeface="Calibri" pitchFamily="34" charset="0"/>
                <a:ea typeface="Calibri" pitchFamily="34" charset="-122"/>
                <a:cs typeface="Calibri" pitchFamily="34" charset="-120"/>
              </a:rPr>
              <a:t>Same 1,120 test samples. </a:t>
            </a:r>
            <a:r>
              <a:rPr lang="en-US" sz="1000" dirty="0">
                <a:solidFill>
                  <a:srgbClr val="3C5169"/>
                </a:solidFill>
                <a:latin typeface="Calibri" pitchFamily="34" charset="0"/>
                <a:ea typeface="Calibri" pitchFamily="34" charset="-122"/>
                <a:cs typeface="Calibri" pitchFamily="34" charset="-120"/>
              </a:rPr>
              <a:t>The notebook evaluated baselines on 1,146 rows and the deep models on 1,120 — the deep models lose the first 23 rows to the lookback window. For this defence I re-scored the baselines on exactly the deep models' index set.
</a:t>
            </a:r>
            <a:r>
              <a:rPr lang="en-US" sz="1000" b="1" dirty="0">
                <a:solidFill>
                  <a:srgbClr val="0B2545"/>
                </a:solidFill>
                <a:latin typeface="Calibri" pitchFamily="34" charset="0"/>
                <a:ea typeface="Calibri" pitchFamily="34" charset="-122"/>
                <a:cs typeface="Calibri" pitchFamily="34" charset="-120"/>
              </a:rPr>
              <a:t>Baselines get MORE features </a:t>
            </a:r>
            <a:r>
              <a:rPr lang="en-US" sz="1000" dirty="0">
                <a:solidFill>
                  <a:srgbClr val="3C5169"/>
                </a:solidFill>
                <a:latin typeface="Calibri" pitchFamily="34" charset="0"/>
                <a:ea typeface="Calibri" pitchFamily="34" charset="-122"/>
                <a:cs typeface="Calibri" pitchFamily="34" charset="-120"/>
              </a:rPr>
              <a:t>— 14 including three GHI lags and raw clear-sky GHI, versus 11 for the deep models. If anything this favours the baselines, and I report it rather than equalising it.</a:t>
            </a:r>
            <a:endParaRPr lang="en-US" sz="1000" dirty="0"/>
          </a:p>
        </p:txBody>
      </p:sp>
      <p:sp>
        <p:nvSpPr>
          <p:cNvPr id="37" name="Text 35"/>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notebook §2 for E1;  persistence references and the 1,120-sample re-scoring computed for this defence from the committed dataset and checkpoints.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Main result: the proposed model is the weakest of the deep variants</a:t>
            </a:r>
            <a:endParaRPr lang="en-US" sz="3000" dirty="0"/>
          </a:p>
        </p:txBody>
      </p:sp>
      <p:pic>
        <p:nvPicPr>
          <p:cNvPr id="4" name="Image 0" descr="/private/tmp/claude-501/-Users-qasimnalawala-Desktop-Project/4f805972-c040-4417-a161-56574a28f2f7/scratchpad/fig/main_comparison.png"/>
          <p:cNvPicPr>
            <a:picLocks noChangeAspect="1"/>
          </p:cNvPicPr>
          <p:nvPr/>
        </p:nvPicPr>
        <p:blipFill>
          <a:blip r:embed="rId3"/>
          <a:stretch>
            <a:fillRect/>
          </a:stretch>
        </p:blipFill>
        <p:spPr>
          <a:xfrm>
            <a:off x="566928" y="1261872"/>
            <a:ext cx="7635240" cy="3310128"/>
          </a:xfrm>
          <a:prstGeom prst="rect">
            <a:avLst/>
          </a:prstGeom>
        </p:spPr>
      </p:pic>
      <p:sp>
        <p:nvSpPr>
          <p:cNvPr id="5" name="Shape 2"/>
          <p:cNvSpPr/>
          <p:nvPr/>
        </p:nvSpPr>
        <p:spPr>
          <a:xfrm>
            <a:off x="8458200" y="1261872"/>
            <a:ext cx="3172968" cy="3310128"/>
          </a:xfrm>
          <a:prstGeom prst="roundRect">
            <a:avLst>
              <a:gd name="adj" fmla="val 1441"/>
            </a:avLst>
          </a:prstGeom>
          <a:solidFill>
            <a:srgbClr val="EFF3F7"/>
          </a:solidFill>
          <a:ln w="7620">
            <a:solidFill>
              <a:srgbClr val="CFD9E2"/>
            </a:solidFill>
            <a:prstDash val="solid"/>
          </a:ln>
        </p:spPr>
        <p:txBody>
          <a:bodyPr/>
          <a:lstStyle/>
          <a:p>
            <a:endParaRPr lang="en-AE"/>
          </a:p>
        </p:txBody>
      </p:sp>
      <p:sp>
        <p:nvSpPr>
          <p:cNvPr id="6" name="Text 3"/>
          <p:cNvSpPr/>
          <p:nvPr/>
        </p:nvSpPr>
        <p:spPr>
          <a:xfrm>
            <a:off x="8686800" y="1389888"/>
            <a:ext cx="2743200" cy="27432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Reading the ranking</a:t>
            </a:r>
            <a:endParaRPr lang="en-US" sz="1250" dirty="0"/>
          </a:p>
        </p:txBody>
      </p:sp>
      <p:sp>
        <p:nvSpPr>
          <p:cNvPr id="7" name="Text 4"/>
          <p:cNvSpPr/>
          <p:nvPr/>
        </p:nvSpPr>
        <p:spPr>
          <a:xfrm>
            <a:off x="8686800" y="1719072"/>
            <a:ext cx="2743200" cy="2743200"/>
          </a:xfrm>
          <a:prstGeom prst="rect">
            <a:avLst/>
          </a:prstGeom>
          <a:noFill/>
          <a:ln/>
        </p:spPr>
        <p:txBody>
          <a:bodyPr wrap="square" lIns="0" tIns="0" rIns="0" bIns="0" rtlCol="0" anchor="ctr"/>
          <a:lstStyle/>
          <a:p>
            <a:pPr marL="0" indent="0">
              <a:lnSpc>
                <a:spcPts val="1450"/>
              </a:lnSpc>
              <a:buNone/>
            </a:pPr>
            <a:r>
              <a:rPr lang="en-US" sz="1050" b="1" dirty="0">
                <a:solidFill>
                  <a:srgbClr val="0B2545"/>
                </a:solidFill>
                <a:latin typeface="Calibri" pitchFamily="34" charset="0"/>
                <a:ea typeface="Calibri" pitchFamily="34" charset="-122"/>
                <a:cs typeface="Calibri" pitchFamily="34" charset="-120"/>
              </a:rPr>
              <a:t>1. </a:t>
            </a:r>
            <a:r>
              <a:rPr lang="en-US" sz="1050" dirty="0">
                <a:solidFill>
                  <a:srgbClr val="3C5169"/>
                </a:solidFill>
                <a:latin typeface="Calibri" pitchFamily="34" charset="0"/>
                <a:ea typeface="Calibri" pitchFamily="34" charset="-122"/>
                <a:cs typeface="Calibri" pitchFamily="34" charset="-120"/>
              </a:rPr>
              <a:t>Every learned model beats smart persistence — the deep models have real forecast skill (+0.17 to +0.28).
</a:t>
            </a:r>
            <a:r>
              <a:rPr lang="en-US" sz="1050" b="1" dirty="0">
                <a:solidFill>
                  <a:srgbClr val="0B2545"/>
                </a:solidFill>
                <a:latin typeface="Calibri" pitchFamily="34" charset="0"/>
                <a:ea typeface="Calibri" pitchFamily="34" charset="-122"/>
                <a:cs typeface="Calibri" pitchFamily="34" charset="-120"/>
              </a:rPr>
              <a:t>2. </a:t>
            </a:r>
            <a:r>
              <a:rPr lang="en-US" sz="1050" dirty="0">
                <a:solidFill>
                  <a:srgbClr val="3C5169"/>
                </a:solidFill>
                <a:latin typeface="Calibri" pitchFamily="34" charset="0"/>
                <a:ea typeface="Calibri" pitchFamily="34" charset="-122"/>
                <a:cs typeface="Calibri" pitchFamily="34" charset="-120"/>
              </a:rPr>
              <a:t>LightGBM on 14 tabular features wins outright, at 78.9 W/m².
</a:t>
            </a:r>
            <a:r>
              <a:rPr lang="en-US" sz="1050" b="1" dirty="0">
                <a:solidFill>
                  <a:srgbClr val="0B2545"/>
                </a:solidFill>
                <a:latin typeface="Calibri" pitchFamily="34" charset="0"/>
                <a:ea typeface="Calibri" pitchFamily="34" charset="-122"/>
                <a:cs typeface="Calibri" pitchFamily="34" charset="-120"/>
              </a:rPr>
              <a:t>3. </a:t>
            </a:r>
            <a:r>
              <a:rPr lang="en-US" sz="1050" dirty="0">
                <a:solidFill>
                  <a:srgbClr val="3C5169"/>
                </a:solidFill>
                <a:latin typeface="Calibri" pitchFamily="34" charset="0"/>
                <a:ea typeface="Calibri" pitchFamily="34" charset="-122"/>
                <a:cs typeface="Calibri" pitchFamily="34" charset="-120"/>
              </a:rPr>
              <a:t>Among the deep variants the ordering is monotone in how much image information reaches the output: LSTM-only 84.7 → CNN-only 91.7 → concat 94.8 → gated fusion 97.6.
</a:t>
            </a:r>
            <a:r>
              <a:rPr lang="en-US" sz="1050" b="1" dirty="0">
                <a:solidFill>
                  <a:srgbClr val="B03A2E"/>
                </a:solidFill>
                <a:latin typeface="Calibri" pitchFamily="34" charset="0"/>
                <a:ea typeface="Calibri" pitchFamily="34" charset="-122"/>
                <a:cs typeface="Calibri" pitchFamily="34" charset="-120"/>
              </a:rPr>
              <a:t>4. </a:t>
            </a:r>
            <a:r>
              <a:rPr lang="en-US" sz="1050" dirty="0">
                <a:solidFill>
                  <a:srgbClr val="3C5169"/>
                </a:solidFill>
                <a:latin typeface="Calibri" pitchFamily="34" charset="0"/>
                <a:ea typeface="Calibri" pitchFamily="34" charset="-122"/>
                <a:cs typeface="Calibri" pitchFamily="34" charset="-120"/>
              </a:rPr>
              <a:t>The physics gate is worse than naive concatenation. RQ2 is answered, negatively.</a:t>
            </a:r>
            <a:endParaRPr lang="en-US" sz="1050" dirty="0"/>
          </a:p>
        </p:txBody>
      </p:sp>
      <p:sp>
        <p:nvSpPr>
          <p:cNvPr id="8" name="Shape 5"/>
          <p:cNvSpPr/>
          <p:nvPr/>
        </p:nvSpPr>
        <p:spPr>
          <a:xfrm>
            <a:off x="566928" y="4736592"/>
            <a:ext cx="11064240" cy="1298448"/>
          </a:xfrm>
          <a:prstGeom prst="roundRect">
            <a:avLst>
              <a:gd name="adj" fmla="val 3521"/>
            </a:avLst>
          </a:prstGeom>
          <a:solidFill>
            <a:srgbClr val="0B2545"/>
          </a:solidFill>
          <a:ln/>
        </p:spPr>
        <p:txBody>
          <a:bodyPr/>
          <a:lstStyle/>
          <a:p>
            <a:endParaRPr lang="en-AE"/>
          </a:p>
        </p:txBody>
      </p:sp>
      <p:sp>
        <p:nvSpPr>
          <p:cNvPr id="9" name="Text 6"/>
          <p:cNvSpPr/>
          <p:nvPr/>
        </p:nvSpPr>
        <p:spPr>
          <a:xfrm>
            <a:off x="868680" y="4864608"/>
            <a:ext cx="2286000" cy="274320"/>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Verification</a:t>
            </a:r>
            <a:endParaRPr lang="en-US" sz="1250" dirty="0"/>
          </a:p>
        </p:txBody>
      </p:sp>
      <p:sp>
        <p:nvSpPr>
          <p:cNvPr id="10" name="Text 7"/>
          <p:cNvSpPr/>
          <p:nvPr/>
        </p:nvSpPr>
        <p:spPr>
          <a:xfrm>
            <a:off x="868680" y="5175504"/>
            <a:ext cx="10424160" cy="777240"/>
          </a:xfrm>
          <a:prstGeom prst="rect">
            <a:avLst/>
          </a:prstGeom>
          <a:noFill/>
          <a:ln/>
        </p:spPr>
        <p:txBody>
          <a:bodyPr wrap="square" lIns="0" tIns="0" rIns="0" bIns="0" rtlCol="0" anchor="ctr"/>
          <a:lstStyle/>
          <a:p>
            <a:pPr marL="0" indent="0">
              <a:lnSpc>
                <a:spcPts val="1650"/>
              </a:lnSpc>
              <a:buNone/>
            </a:pPr>
            <a:r>
              <a:rPr lang="en-US" sz="1150" dirty="0">
                <a:solidFill>
                  <a:srgbClr val="C3D2E0"/>
                </a:solidFill>
                <a:latin typeface="Calibri" pitchFamily="34" charset="0"/>
                <a:ea typeface="Calibri" pitchFamily="34" charset="-122"/>
                <a:cs typeface="Calibri" pitchFamily="34" charset="-120"/>
              </a:rPr>
              <a:t>Every deep-model figure above was re-derived for this defence by re-running the committed checkpoints on the committed dataset. Reproduced MAE: LSTM-only 84.70 vs 84.68 reported · CNN-only 91.73 vs 91.16 · concat 94.84 vs 93.45 · fusion 97.61 vs 97.00. All within 1.5 W/m²; residual differences are attributable to fp16 autocast on CUDA at training time versus fp32 on Apple MPS here, plus a different OpenCV build for the optical flow.</a:t>
            </a:r>
            <a:endParaRPr lang="en-US" sz="1150" dirty="0"/>
          </a:p>
        </p:txBody>
      </p:sp>
      <p:sp>
        <p:nvSpPr>
          <p:cNvPr id="11" name="Text 8"/>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results/fusion_ghi_comparison.csv, results/baseline_ghi_comparison.csv;  persistence references and 1,120-sample re-scoring derived for this defence.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RESULTS — PER HORIZON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Error growth with horizon — and what it reveals</a:t>
            </a:r>
            <a:endParaRPr lang="en-US" sz="3000" dirty="0"/>
          </a:p>
        </p:txBody>
      </p:sp>
      <p:pic>
        <p:nvPicPr>
          <p:cNvPr id="4" name="Image 0" descr="/private/tmp/claude-501/-Users-qasimnalawala-Desktop-Project/4f805972-c040-4417-a161-56574a28f2f7/scratchpad/fig/horizon.png"/>
          <p:cNvPicPr>
            <a:picLocks noChangeAspect="1"/>
          </p:cNvPicPr>
          <p:nvPr/>
        </p:nvPicPr>
        <p:blipFill>
          <a:blip r:embed="rId3"/>
          <a:stretch>
            <a:fillRect/>
          </a:stretch>
        </p:blipFill>
        <p:spPr>
          <a:xfrm>
            <a:off x="566928" y="1280160"/>
            <a:ext cx="6263640" cy="3429000"/>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086600" y="1298448"/>
          <a:ext cx="4544568" cy="2756916"/>
        </p:xfrm>
        <a:graphic>
          <a:graphicData uri="http://schemas.openxmlformats.org/drawingml/2006/table">
            <a:tbl>
              <a:tblPr/>
              <a:tblGrid>
                <a:gridCol w="1965960">
                  <a:extLst>
                    <a:ext uri="{9D8B030D-6E8A-4147-A177-3AD203B41FA5}">
                      <a16:colId xmlns:a16="http://schemas.microsoft.com/office/drawing/2014/main" val="20000"/>
                    </a:ext>
                  </a:extLst>
                </a:gridCol>
                <a:gridCol w="859536">
                  <a:extLst>
                    <a:ext uri="{9D8B030D-6E8A-4147-A177-3AD203B41FA5}">
                      <a16:colId xmlns:a16="http://schemas.microsoft.com/office/drawing/2014/main" val="20001"/>
                    </a:ext>
                  </a:extLst>
                </a:gridCol>
                <a:gridCol w="859536">
                  <a:extLst>
                    <a:ext uri="{9D8B030D-6E8A-4147-A177-3AD203B41FA5}">
                      <a16:colId xmlns:a16="http://schemas.microsoft.com/office/drawing/2014/main" val="20002"/>
                    </a:ext>
                  </a:extLst>
                </a:gridCol>
                <a:gridCol w="859536">
                  <a:extLst>
                    <a:ext uri="{9D8B030D-6E8A-4147-A177-3AD203B41FA5}">
                      <a16:colId xmlns:a16="http://schemas.microsoft.com/office/drawing/2014/main" val="20003"/>
                    </a:ext>
                  </a:extLst>
                </a:gridCol>
              </a:tblGrid>
              <a:tr h="30632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t+1h</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t+2h</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t+3h</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06324">
                <a:tc>
                  <a:txBody>
                    <a:bodyPr/>
                    <a:lstStyle/>
                    <a:p>
                      <a:pPr marL="0" indent="0" algn="l">
                        <a:buNone/>
                      </a:pPr>
                      <a:r>
                        <a:rPr lang="en-US" sz="1050" b="1" dirty="0">
                          <a:solidFill>
                            <a:srgbClr val="0B2545"/>
                          </a:solidFill>
                          <a:latin typeface="Calibri" pitchFamily="34" charset="0"/>
                          <a:ea typeface="Calibri" pitchFamily="34" charset="-122"/>
                          <a:cs typeface="Calibri" pitchFamily="34" charset="-120"/>
                        </a:rPr>
                        <a:t>LightGBM</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63.7</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82.7</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90.3</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63.9</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83.0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90.8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LSTM-only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77.8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84.0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92.3</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CNN-only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87.5</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91.9</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95.7</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Naive concat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91.0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95.2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98.3</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Physics-Gated Fusion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94.7</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97.9</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100.2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Smart persistence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81.8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122.4</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148.9</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Persistence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156.9</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255.9</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318.2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2"/>
          <p:cNvSpPr/>
          <p:nvPr/>
        </p:nvSpPr>
        <p:spPr>
          <a:xfrm>
            <a:off x="7086600" y="4041648"/>
            <a:ext cx="4544568" cy="256032"/>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Test MAE, W/m², identical 1,120 samples.</a:t>
            </a:r>
            <a:endParaRPr lang="en-US" sz="950" dirty="0"/>
          </a:p>
        </p:txBody>
      </p:sp>
      <p:sp>
        <p:nvSpPr>
          <p:cNvPr id="7" name="Shape 3"/>
          <p:cNvSpPr/>
          <p:nvPr/>
        </p:nvSpPr>
        <p:spPr>
          <a:xfrm>
            <a:off x="566928" y="4846320"/>
            <a:ext cx="3520440" cy="1280160"/>
          </a:xfrm>
          <a:prstGeom prst="roundRect">
            <a:avLst>
              <a:gd name="adj" fmla="val 3571"/>
            </a:avLst>
          </a:prstGeom>
          <a:solidFill>
            <a:srgbClr val="EFF3F7"/>
          </a:solidFill>
          <a:ln w="7620">
            <a:solidFill>
              <a:srgbClr val="CFD9E2"/>
            </a:solidFill>
            <a:prstDash val="solid"/>
          </a:ln>
        </p:spPr>
        <p:txBody>
          <a:bodyPr/>
          <a:lstStyle/>
          <a:p>
            <a:endParaRPr lang="en-AE"/>
          </a:p>
        </p:txBody>
      </p:sp>
      <p:sp>
        <p:nvSpPr>
          <p:cNvPr id="8" name="Text 4"/>
          <p:cNvSpPr/>
          <p:nvPr/>
        </p:nvSpPr>
        <p:spPr>
          <a:xfrm>
            <a:off x="786384" y="4956048"/>
            <a:ext cx="3108960" cy="402336"/>
          </a:xfrm>
          <a:prstGeom prst="rect">
            <a:avLst/>
          </a:prstGeom>
          <a:noFill/>
          <a:ln/>
        </p:spPr>
        <p:txBody>
          <a:bodyPr wrap="square" lIns="0" tIns="0" rIns="0" bIns="0" rtlCol="0" anchor="ctr"/>
          <a:lstStyle/>
          <a:p>
            <a:pPr marL="0" indent="0">
              <a:buNone/>
            </a:pPr>
            <a:r>
              <a:rPr lang="en-US" sz="1100" b="1" dirty="0">
                <a:solidFill>
                  <a:srgbClr val="2C6E49"/>
                </a:solidFill>
                <a:latin typeface="Calibri" pitchFamily="34" charset="0"/>
                <a:ea typeface="Calibri" pitchFamily="34" charset="-122"/>
                <a:cs typeface="Calibri" pitchFamily="34" charset="-120"/>
              </a:rPr>
              <a:t>The learned models degrade far more slowly than persistence</a:t>
            </a:r>
            <a:endParaRPr lang="en-US" sz="1100" dirty="0"/>
          </a:p>
        </p:txBody>
      </p:sp>
      <p:sp>
        <p:nvSpPr>
          <p:cNvPr id="9" name="Text 5"/>
          <p:cNvSpPr/>
          <p:nvPr/>
        </p:nvSpPr>
        <p:spPr>
          <a:xfrm>
            <a:off x="786384" y="5376672"/>
            <a:ext cx="3108960" cy="713232"/>
          </a:xfrm>
          <a:prstGeom prst="rect">
            <a:avLst/>
          </a:prstGeom>
          <a:noFill/>
          <a:ln/>
        </p:spPr>
        <p:txBody>
          <a:bodyPr wrap="square" lIns="0" tIns="0" rIns="0" bIns="0" rtlCol="0" anchor="ctr"/>
          <a:lstStyle/>
          <a:p>
            <a:pPr marL="0" indent="0">
              <a:lnSpc>
                <a:spcPts val="1300"/>
              </a:lnSpc>
              <a:buNone/>
            </a:pPr>
            <a:r>
              <a:rPr lang="en-US" sz="950" dirty="0">
                <a:solidFill>
                  <a:srgbClr val="3C5169"/>
                </a:solidFill>
                <a:latin typeface="Calibri" pitchFamily="34" charset="0"/>
                <a:ea typeface="Calibri" pitchFamily="34" charset="-122"/>
                <a:cs typeface="Calibri" pitchFamily="34" charset="-120"/>
              </a:rPr>
              <a:t>Smart persistence nearly doubles, 81.8 to 148.9. LSTM-only rises only from 77.8 to 92.3 — 18.6% versus 82%. The learned models capture genuine dynamics.</a:t>
            </a:r>
            <a:endParaRPr lang="en-US" sz="950" dirty="0"/>
          </a:p>
        </p:txBody>
      </p:sp>
      <p:sp>
        <p:nvSpPr>
          <p:cNvPr id="10" name="Shape 6"/>
          <p:cNvSpPr/>
          <p:nvPr/>
        </p:nvSpPr>
        <p:spPr>
          <a:xfrm>
            <a:off x="4270248" y="4846320"/>
            <a:ext cx="3520440" cy="1280160"/>
          </a:xfrm>
          <a:prstGeom prst="roundRect">
            <a:avLst>
              <a:gd name="adj" fmla="val 3571"/>
            </a:avLst>
          </a:prstGeom>
          <a:solidFill>
            <a:srgbClr val="EFF3F7"/>
          </a:solidFill>
          <a:ln w="7620">
            <a:solidFill>
              <a:srgbClr val="CFD9E2"/>
            </a:solidFill>
            <a:prstDash val="solid"/>
          </a:ln>
        </p:spPr>
        <p:txBody>
          <a:bodyPr/>
          <a:lstStyle/>
          <a:p>
            <a:endParaRPr lang="en-AE"/>
          </a:p>
        </p:txBody>
      </p:sp>
      <p:sp>
        <p:nvSpPr>
          <p:cNvPr id="11" name="Text 7"/>
          <p:cNvSpPr/>
          <p:nvPr/>
        </p:nvSpPr>
        <p:spPr>
          <a:xfrm>
            <a:off x="4489704" y="4956048"/>
            <a:ext cx="3108960" cy="402336"/>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The gap between models narrows with horizon</a:t>
            </a:r>
            <a:endParaRPr lang="en-US" sz="1100" dirty="0"/>
          </a:p>
        </p:txBody>
      </p:sp>
      <p:sp>
        <p:nvSpPr>
          <p:cNvPr id="12" name="Text 8"/>
          <p:cNvSpPr/>
          <p:nvPr/>
        </p:nvSpPr>
        <p:spPr>
          <a:xfrm>
            <a:off x="4489704" y="5376672"/>
            <a:ext cx="3108960" cy="713232"/>
          </a:xfrm>
          <a:prstGeom prst="rect">
            <a:avLst/>
          </a:prstGeom>
          <a:noFill/>
          <a:ln/>
        </p:spPr>
        <p:txBody>
          <a:bodyPr wrap="square" lIns="0" tIns="0" rIns="0" bIns="0" rtlCol="0" anchor="ctr"/>
          <a:lstStyle/>
          <a:p>
            <a:pPr marL="0" indent="0">
              <a:lnSpc>
                <a:spcPts val="1300"/>
              </a:lnSpc>
              <a:buNone/>
            </a:pPr>
            <a:r>
              <a:rPr lang="en-US" sz="950" dirty="0">
                <a:solidFill>
                  <a:srgbClr val="3C5169"/>
                </a:solidFill>
                <a:latin typeface="Calibri" pitchFamily="34" charset="0"/>
                <a:ea typeface="Calibri" pitchFamily="34" charset="-122"/>
                <a:cs typeface="Calibri" pitchFamily="34" charset="-120"/>
              </a:rPr>
              <a:t>At t+1h LightGBM beats the fusion model by 31.0 W/m²; at t+3h by only 9.9. As the horizon grows the predictable component shrinks and methods converge.</a:t>
            </a:r>
            <a:endParaRPr lang="en-US" sz="950" dirty="0"/>
          </a:p>
        </p:txBody>
      </p:sp>
      <p:sp>
        <p:nvSpPr>
          <p:cNvPr id="13" name="Shape 9"/>
          <p:cNvSpPr/>
          <p:nvPr/>
        </p:nvSpPr>
        <p:spPr>
          <a:xfrm>
            <a:off x="7973568" y="4846320"/>
            <a:ext cx="3520440" cy="1280160"/>
          </a:xfrm>
          <a:prstGeom prst="roundRect">
            <a:avLst>
              <a:gd name="adj" fmla="val 3571"/>
            </a:avLst>
          </a:prstGeom>
          <a:solidFill>
            <a:srgbClr val="EFF3F7"/>
          </a:solidFill>
          <a:ln w="7620">
            <a:solidFill>
              <a:srgbClr val="CFD9E2"/>
            </a:solidFill>
            <a:prstDash val="solid"/>
          </a:ln>
        </p:spPr>
        <p:txBody>
          <a:bodyPr/>
          <a:lstStyle/>
          <a:p>
            <a:endParaRPr lang="en-AE"/>
          </a:p>
        </p:txBody>
      </p:sp>
      <p:sp>
        <p:nvSpPr>
          <p:cNvPr id="14" name="Text 10"/>
          <p:cNvSpPr/>
          <p:nvPr/>
        </p:nvSpPr>
        <p:spPr>
          <a:xfrm>
            <a:off x="8193024" y="4956048"/>
            <a:ext cx="3108960" cy="402336"/>
          </a:xfrm>
          <a:prstGeom prst="rect">
            <a:avLst/>
          </a:prstGeom>
          <a:noFill/>
          <a:ln/>
        </p:spPr>
        <p:txBody>
          <a:bodyPr wrap="square" lIns="0" tIns="0" rIns="0" bIns="0" rtlCol="0" anchor="ctr"/>
          <a:lstStyle/>
          <a:p>
            <a:pPr marL="0" indent="0">
              <a:buNone/>
            </a:pPr>
            <a:r>
              <a:rPr lang="en-US" sz="1100" b="1" dirty="0">
                <a:solidFill>
                  <a:srgbClr val="B03A2E"/>
                </a:solidFill>
                <a:latin typeface="Calibri" pitchFamily="34" charset="0"/>
                <a:ea typeface="Calibri" pitchFamily="34" charset="-122"/>
                <a:cs typeface="Calibri" pitchFamily="34" charset="-120"/>
              </a:rPr>
              <a:t>Smart persistence beats every deep model at t+1h except LSTM-only</a:t>
            </a:r>
            <a:endParaRPr lang="en-US" sz="1100" dirty="0"/>
          </a:p>
        </p:txBody>
      </p:sp>
      <p:sp>
        <p:nvSpPr>
          <p:cNvPr id="15" name="Text 11"/>
          <p:cNvSpPr/>
          <p:nvPr/>
        </p:nvSpPr>
        <p:spPr>
          <a:xfrm>
            <a:off x="8193024" y="5376672"/>
            <a:ext cx="3108960" cy="713232"/>
          </a:xfrm>
          <a:prstGeom prst="rect">
            <a:avLst/>
          </a:prstGeom>
          <a:noFill/>
          <a:ln/>
        </p:spPr>
        <p:txBody>
          <a:bodyPr wrap="square" lIns="0" tIns="0" rIns="0" bIns="0" rtlCol="0" anchor="ctr"/>
          <a:lstStyle/>
          <a:p>
            <a:pPr marL="0" indent="0">
              <a:lnSpc>
                <a:spcPts val="1300"/>
              </a:lnSpc>
              <a:buNone/>
            </a:pPr>
            <a:r>
              <a:rPr lang="en-US" sz="950" dirty="0">
                <a:solidFill>
                  <a:srgbClr val="3C5169"/>
                </a:solidFill>
                <a:latin typeface="Calibri" pitchFamily="34" charset="0"/>
                <a:ea typeface="Calibri" pitchFamily="34" charset="-122"/>
                <a:cs typeface="Calibri" pitchFamily="34" charset="-120"/>
              </a:rPr>
              <a:t>At one hour, holding the clear-sky index constant already beats CNN-only, concat and the gated fusion. A damning result for the image branch.</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ABLATION STUDY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Ablation: isolating the fusion rule</a:t>
            </a:r>
            <a:endParaRPr lang="en-US" sz="3000" dirty="0"/>
          </a:p>
        </p:txBody>
      </p:sp>
      <p:sp>
        <p:nvSpPr>
          <p:cNvPr id="4" name="Text 2"/>
          <p:cNvSpPr/>
          <p:nvPr/>
        </p:nvSpPr>
        <p:spPr>
          <a:xfrm>
            <a:off x="566928" y="1261872"/>
            <a:ext cx="11064240" cy="292608"/>
          </a:xfrm>
          <a:prstGeom prst="rect">
            <a:avLst/>
          </a:prstGeom>
          <a:noFill/>
          <a:ln/>
        </p:spPr>
        <p:txBody>
          <a:bodyPr wrap="square" lIns="0" tIns="0" rIns="0" bIns="0" rtlCol="0" anchor="ctr"/>
          <a:lstStyle/>
          <a:p>
            <a:pPr marL="0" indent="0">
              <a:buNone/>
            </a:pPr>
            <a:r>
              <a:rPr lang="en-US" sz="1250" dirty="0">
                <a:solidFill>
                  <a:srgbClr val="3C5169"/>
                </a:solidFill>
                <a:latin typeface="Calibri" pitchFamily="34" charset="0"/>
                <a:ea typeface="Calibri" pitchFamily="34" charset="-122"/>
                <a:cs typeface="Calibri" pitchFamily="34" charset="-120"/>
              </a:rPr>
              <a:t>All four variants are the same class, the same data, the same schedule. Only one line of the forward pass differs.</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11064240" cy="2103120"/>
        </p:xfrm>
        <a:graphic>
          <a:graphicData uri="http://schemas.openxmlformats.org/drawingml/2006/table">
            <a:tbl>
              <a:tblPr/>
              <a:tblGrid>
                <a:gridCol w="196596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2011680">
                  <a:extLst>
                    <a:ext uri="{9D8B030D-6E8A-4147-A177-3AD203B41FA5}">
                      <a16:colId xmlns:a16="http://schemas.microsoft.com/office/drawing/2014/main" val="20006"/>
                    </a:ext>
                  </a:extLst>
                </a:gridCol>
              </a:tblGrid>
              <a:tr h="42062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Variant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Fusion rule (model.py:304–312)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Test MAE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RMSE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R²</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PICP@90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Read</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206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LSTM-only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enrich([H_t || c])   — image discarded</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84.7</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116.6</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0.791</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91.9</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best; image removal helps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4206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CNN-only</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enrich([H_a || c])   — temporal discarded</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91.7</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125.0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0.760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89.3</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image alone is weaker</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Naive concat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enrich([H_t || H_a || c])  — 512→256</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94.8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129.7</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0.742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89.2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both together: worse than either</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420624">
                <a:tc>
                  <a:txBody>
                    <a:bodyPr/>
                    <a:lstStyle/>
                    <a:p>
                      <a:pPr marL="0" indent="0" algn="l">
                        <a:buNone/>
                      </a:pPr>
                      <a:r>
                        <a:rPr lang="en-US" sz="1050" b="1" dirty="0">
                          <a:solidFill>
                            <a:srgbClr val="0B2545"/>
                          </a:solidFill>
                          <a:latin typeface="Calibri" pitchFamily="34" charset="0"/>
                          <a:ea typeface="Calibri" pitchFamily="34" charset="-122"/>
                          <a:cs typeface="Calibri" pitchFamily="34" charset="-120"/>
                        </a:rPr>
                        <a:t>Physics-Gated Fusion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3C5169"/>
                          </a:solidFill>
                          <a:latin typeface="Calibri" pitchFamily="34" charset="0"/>
                          <a:ea typeface="Calibri" pitchFamily="34" charset="-122"/>
                          <a:cs typeface="Calibri" pitchFamily="34" charset="-120"/>
                        </a:rPr>
                        <a:t>enrich([α·H_t + (1−α)·H_a || c])</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3C5169"/>
                          </a:solidFill>
                          <a:latin typeface="Calibri" pitchFamily="34" charset="0"/>
                          <a:ea typeface="Calibri" pitchFamily="34" charset="-122"/>
                          <a:cs typeface="Calibri" pitchFamily="34" charset="-120"/>
                        </a:rPr>
                        <a:t>97.6</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3C5169"/>
                          </a:solidFill>
                          <a:latin typeface="Calibri" pitchFamily="34" charset="0"/>
                          <a:ea typeface="Calibri" pitchFamily="34" charset="-122"/>
                          <a:cs typeface="Calibri" pitchFamily="34" charset="-120"/>
                        </a:rPr>
                        <a:t>133.8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3C5169"/>
                          </a:solidFill>
                          <a:latin typeface="Calibri" pitchFamily="34" charset="0"/>
                          <a:ea typeface="Calibri" pitchFamily="34" charset="-122"/>
                          <a:cs typeface="Calibri" pitchFamily="34" charset="-120"/>
                        </a:rPr>
                        <a:t>0.725</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3C5169"/>
                          </a:solidFill>
                          <a:latin typeface="Calibri" pitchFamily="34" charset="0"/>
                          <a:ea typeface="Calibri" pitchFamily="34" charset="-122"/>
                          <a:cs typeface="Calibri" pitchFamily="34" charset="-120"/>
                        </a:rPr>
                        <a:t>90.2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3C5169"/>
                          </a:solidFill>
                          <a:latin typeface="Calibri" pitchFamily="34" charset="0"/>
                          <a:ea typeface="Calibri" pitchFamily="34" charset="-122"/>
                          <a:cs typeface="Calibri" pitchFamily="34" charset="-120"/>
                        </a:rPr>
                        <a:t>gating is worse than concat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566928" y="3950208"/>
            <a:ext cx="3520440" cy="2103120"/>
          </a:xfrm>
          <a:prstGeom prst="roundRect">
            <a:avLst>
              <a:gd name="adj" fmla="val 2174"/>
            </a:avLst>
          </a:prstGeom>
          <a:solidFill>
            <a:srgbClr val="FCEEEC"/>
          </a:solidFill>
          <a:ln w="12700">
            <a:solidFill>
              <a:srgbClr val="B03A2E"/>
            </a:solidFill>
            <a:prstDash val="solid"/>
          </a:ln>
        </p:spPr>
        <p:txBody>
          <a:bodyPr/>
          <a:lstStyle/>
          <a:p>
            <a:endParaRPr lang="en-AE"/>
          </a:p>
        </p:txBody>
      </p:sp>
      <p:sp>
        <p:nvSpPr>
          <p:cNvPr id="7" name="Text 4"/>
          <p:cNvSpPr/>
          <p:nvPr/>
        </p:nvSpPr>
        <p:spPr>
          <a:xfrm>
            <a:off x="804672" y="4059936"/>
            <a:ext cx="3063240" cy="402336"/>
          </a:xfrm>
          <a:prstGeom prst="rect">
            <a:avLst/>
          </a:prstGeom>
          <a:noFill/>
          <a:ln/>
        </p:spPr>
        <p:txBody>
          <a:bodyPr wrap="square" lIns="0" tIns="0" rIns="0" bIns="0" rtlCol="0" anchor="ctr"/>
          <a:lstStyle/>
          <a:p>
            <a:pPr marL="0" indent="0">
              <a:buNone/>
            </a:pPr>
            <a:r>
              <a:rPr lang="en-US" sz="1200" b="1" dirty="0">
                <a:solidFill>
                  <a:srgbClr val="B03A2E"/>
                </a:solidFill>
                <a:latin typeface="Calibri" pitchFamily="34" charset="0"/>
                <a:ea typeface="Calibri" pitchFamily="34" charset="-122"/>
                <a:cs typeface="Calibri" pitchFamily="34" charset="-120"/>
              </a:rPr>
              <a:t>What the ablation proves</a:t>
            </a:r>
            <a:endParaRPr lang="en-US" sz="1200" dirty="0"/>
          </a:p>
        </p:txBody>
      </p:sp>
      <p:sp>
        <p:nvSpPr>
          <p:cNvPr id="8" name="Text 5"/>
          <p:cNvSpPr/>
          <p:nvPr/>
        </p:nvSpPr>
        <p:spPr>
          <a:xfrm>
            <a:off x="804672" y="4498848"/>
            <a:ext cx="3063240" cy="1481328"/>
          </a:xfrm>
          <a:prstGeom prst="rect">
            <a:avLst/>
          </a:prstGeom>
          <a:noFill/>
          <a:ln/>
        </p:spPr>
        <p:txBody>
          <a:bodyPr wrap="square" lIns="0" tIns="0" rIns="0" bIns="0" rtlCol="0" anchor="ctr"/>
          <a:lstStyle/>
          <a:p>
            <a:pPr marL="0" indent="0">
              <a:lnSpc>
                <a:spcPts val="1550"/>
              </a:lnSpc>
              <a:buNone/>
            </a:pPr>
            <a:r>
              <a:rPr lang="en-US" sz="1100" dirty="0">
                <a:solidFill>
                  <a:srgbClr val="3C5169"/>
                </a:solidFill>
                <a:latin typeface="Calibri" pitchFamily="34" charset="0"/>
                <a:ea typeface="Calibri" pitchFamily="34" charset="-122"/>
                <a:cs typeface="Calibri" pitchFamily="34" charset="-120"/>
              </a:rPr>
              <a:t>Removing the image branch improves the model by 12.9 W/m². Because everything else is held constant, the image branch is not merely unhelpful — it is actively harmful at this data scale.</a:t>
            </a:r>
            <a:endParaRPr lang="en-US" sz="1100" dirty="0"/>
          </a:p>
        </p:txBody>
      </p:sp>
      <p:sp>
        <p:nvSpPr>
          <p:cNvPr id="9" name="Shape 6"/>
          <p:cNvSpPr/>
          <p:nvPr/>
        </p:nvSpPr>
        <p:spPr>
          <a:xfrm>
            <a:off x="4270248" y="3950208"/>
            <a:ext cx="3520440" cy="2103120"/>
          </a:xfrm>
          <a:prstGeom prst="roundRect">
            <a:avLst>
              <a:gd name="adj" fmla="val 2174"/>
            </a:avLst>
          </a:prstGeom>
          <a:solidFill>
            <a:srgbClr val="FBF3E4"/>
          </a:solidFill>
          <a:ln w="12700">
            <a:solidFill>
              <a:srgbClr val="E8A33D"/>
            </a:solidFill>
            <a:prstDash val="solid"/>
          </a:ln>
        </p:spPr>
        <p:txBody>
          <a:bodyPr/>
          <a:lstStyle/>
          <a:p>
            <a:endParaRPr lang="en-AE"/>
          </a:p>
        </p:txBody>
      </p:sp>
      <p:sp>
        <p:nvSpPr>
          <p:cNvPr id="10" name="Text 7"/>
          <p:cNvSpPr/>
          <p:nvPr/>
        </p:nvSpPr>
        <p:spPr>
          <a:xfrm>
            <a:off x="4507992" y="4059936"/>
            <a:ext cx="3063240" cy="402336"/>
          </a:xfrm>
          <a:prstGeom prst="rect">
            <a:avLst/>
          </a:prstGeom>
          <a:noFill/>
          <a:ln/>
        </p:spPr>
        <p:txBody>
          <a:bodyPr wrap="square" lIns="0" tIns="0" rIns="0" bIns="0" rtlCol="0" anchor="ctr"/>
          <a:lstStyle/>
          <a:p>
            <a:pPr marL="0" indent="0">
              <a:buNone/>
            </a:pPr>
            <a:r>
              <a:rPr lang="en-US" sz="1200" b="1" dirty="0">
                <a:solidFill>
                  <a:srgbClr val="B87A1B"/>
                </a:solidFill>
                <a:latin typeface="Calibri" pitchFamily="34" charset="0"/>
                <a:ea typeface="Calibri" pitchFamily="34" charset="-122"/>
                <a:cs typeface="Calibri" pitchFamily="34" charset="-120"/>
              </a:rPr>
              <a:t>What it proves about the gate</a:t>
            </a:r>
            <a:endParaRPr lang="en-US" sz="1200" dirty="0"/>
          </a:p>
        </p:txBody>
      </p:sp>
      <p:sp>
        <p:nvSpPr>
          <p:cNvPr id="11" name="Text 8"/>
          <p:cNvSpPr/>
          <p:nvPr/>
        </p:nvSpPr>
        <p:spPr>
          <a:xfrm>
            <a:off x="4507992" y="4498848"/>
            <a:ext cx="3063240" cy="1481328"/>
          </a:xfrm>
          <a:prstGeom prst="rect">
            <a:avLst/>
          </a:prstGeom>
          <a:noFill/>
          <a:ln/>
        </p:spPr>
        <p:txBody>
          <a:bodyPr wrap="square" lIns="0" tIns="0" rIns="0" bIns="0" rtlCol="0" anchor="ctr"/>
          <a:lstStyle/>
          <a:p>
            <a:pPr marL="0" indent="0">
              <a:lnSpc>
                <a:spcPts val="1550"/>
              </a:lnSpc>
              <a:buNone/>
            </a:pPr>
            <a:r>
              <a:rPr lang="en-US" sz="1100" dirty="0">
                <a:solidFill>
                  <a:srgbClr val="3C5169"/>
                </a:solidFill>
                <a:latin typeface="Calibri" pitchFamily="34" charset="0"/>
                <a:ea typeface="Calibri" pitchFamily="34" charset="-122"/>
                <a:cs typeface="Calibri" pitchFamily="34" charset="-120"/>
              </a:rPr>
              <a:t>Replacing concatenation with the physics gate costs a further 2.8 W/m². The gate adds a bottleneck — a convex combination of two 256-vectors can represent strictly less than their concatenation — while adding no useful conditioning, because α never varies.</a:t>
            </a:r>
            <a:endParaRPr lang="en-US" sz="1100" dirty="0"/>
          </a:p>
        </p:txBody>
      </p:sp>
      <p:sp>
        <p:nvSpPr>
          <p:cNvPr id="12" name="Shape 9"/>
          <p:cNvSpPr/>
          <p:nvPr/>
        </p:nvSpPr>
        <p:spPr>
          <a:xfrm>
            <a:off x="7973568" y="3950208"/>
            <a:ext cx="3520440" cy="2103120"/>
          </a:xfrm>
          <a:prstGeom prst="roundRect">
            <a:avLst>
              <a:gd name="adj" fmla="val 2174"/>
            </a:avLst>
          </a:prstGeom>
          <a:solidFill>
            <a:srgbClr val="EFF3F7"/>
          </a:solidFill>
          <a:ln w="7620">
            <a:solidFill>
              <a:srgbClr val="CFD9E2"/>
            </a:solidFill>
            <a:prstDash val="solid"/>
          </a:ln>
        </p:spPr>
        <p:txBody>
          <a:bodyPr/>
          <a:lstStyle/>
          <a:p>
            <a:endParaRPr lang="en-AE"/>
          </a:p>
        </p:txBody>
      </p:sp>
      <p:sp>
        <p:nvSpPr>
          <p:cNvPr id="13" name="Text 10"/>
          <p:cNvSpPr/>
          <p:nvPr/>
        </p:nvSpPr>
        <p:spPr>
          <a:xfrm>
            <a:off x="8211312" y="4059936"/>
            <a:ext cx="3063240" cy="402336"/>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What it does NOT prove</a:t>
            </a:r>
            <a:endParaRPr lang="en-US" sz="1200" dirty="0"/>
          </a:p>
        </p:txBody>
      </p:sp>
      <p:sp>
        <p:nvSpPr>
          <p:cNvPr id="14" name="Text 11"/>
          <p:cNvSpPr/>
          <p:nvPr/>
        </p:nvSpPr>
        <p:spPr>
          <a:xfrm>
            <a:off x="8211312" y="4498848"/>
            <a:ext cx="3063240" cy="1481328"/>
          </a:xfrm>
          <a:prstGeom prst="rect">
            <a:avLst/>
          </a:prstGeom>
          <a:noFill/>
          <a:ln/>
        </p:spPr>
        <p:txBody>
          <a:bodyPr wrap="square" lIns="0" tIns="0" rIns="0" bIns="0" rtlCol="0" anchor="ctr"/>
          <a:lstStyle/>
          <a:p>
            <a:pPr marL="0" indent="0">
              <a:lnSpc>
                <a:spcPts val="1550"/>
              </a:lnSpc>
              <a:buNone/>
            </a:pPr>
            <a:r>
              <a:rPr lang="en-US" sz="1100" dirty="0">
                <a:solidFill>
                  <a:srgbClr val="3C5169"/>
                </a:solidFill>
                <a:latin typeface="Calibri" pitchFamily="34" charset="0"/>
                <a:ea typeface="Calibri" pitchFamily="34" charset="-122"/>
                <a:cs typeface="Calibri" pitchFamily="34" charset="-120"/>
              </a:rPr>
              <a:t>It does not show that satellite fusion is a bad idea in general. Every variant shares one dataset, one training budget, one backbone and one seed. The claim is bounded: at 5,312 training samples, with this encoder and this schedule, fusion did not pay.</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RESULTS — CALIBRATION</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The uncertainty estimates are usable — the one clear success</a:t>
            </a:r>
            <a:endParaRPr lang="en-US" sz="3000" dirty="0"/>
          </a:p>
        </p:txBody>
      </p:sp>
      <p:pic>
        <p:nvPicPr>
          <p:cNvPr id="4" name="Image 0" descr="/private/tmp/claude-501/-Users-qasimnalawala-Desktop-Project/4f805972-c040-4417-a161-56574a28f2f7/scratchpad/fig/calibration.png"/>
          <p:cNvPicPr>
            <a:picLocks noChangeAspect="1"/>
          </p:cNvPicPr>
          <p:nvPr/>
        </p:nvPicPr>
        <p:blipFill>
          <a:blip r:embed="rId3"/>
          <a:stretch>
            <a:fillRect/>
          </a:stretch>
        </p:blipFill>
        <p:spPr>
          <a:xfrm>
            <a:off x="566928" y="1325880"/>
            <a:ext cx="4572000" cy="3566160"/>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532120" y="1353312"/>
          <a:ext cx="6035040" cy="1737360"/>
        </p:xfrm>
        <a:graphic>
          <a:graphicData uri="http://schemas.openxmlformats.org/drawingml/2006/table">
            <a:tbl>
              <a:tblPr/>
              <a:tblGrid>
                <a:gridCol w="10058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4747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Nominal</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LSTM-only coverage</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width</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Fusion coverage</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width</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47472">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57.7%</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55.5%</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47472">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84.7%</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310</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82.6%</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333</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91.8%</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398</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90.2%</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427</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347472">
                <a:tc>
                  <a:txBody>
                    <a:bodyPr/>
                    <a:lstStyle/>
                    <a:p>
                      <a:pPr marL="0" indent="0" algn="l">
                        <a:buNone/>
                      </a:pPr>
                      <a:r>
                        <a:rPr lang="en-US" sz="1100" dirty="0">
                          <a:solidFill>
                            <a:srgbClr val="0B2545"/>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95.0%</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474</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93.7%</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100" dirty="0">
                          <a:solidFill>
                            <a:srgbClr val="3C5169"/>
                          </a:solidFill>
                          <a:latin typeface="Calibri" pitchFamily="34" charset="0"/>
                          <a:ea typeface="Calibri" pitchFamily="34" charset="-122"/>
                          <a:cs typeface="Calibri" pitchFamily="34" charset="-120"/>
                        </a:rPr>
                        <a:t>509</a:t>
                      </a:r>
                      <a:endParaRPr lang="en-US" sz="11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2"/>
          <p:cNvSpPr/>
          <p:nvPr/>
        </p:nvSpPr>
        <p:spPr>
          <a:xfrm>
            <a:off x="5532120" y="3127248"/>
            <a:ext cx="6099048" cy="36576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Empirical coverage of the central prediction interval, and its mean width in W/m², over 1,120 test samples × 3 horizons.</a:t>
            </a:r>
            <a:endParaRPr lang="en-US" sz="950" dirty="0"/>
          </a:p>
        </p:txBody>
      </p:sp>
      <p:sp>
        <p:nvSpPr>
          <p:cNvPr id="7" name="Shape 3"/>
          <p:cNvSpPr/>
          <p:nvPr/>
        </p:nvSpPr>
        <p:spPr>
          <a:xfrm>
            <a:off x="5532120" y="3566160"/>
            <a:ext cx="6099048" cy="1325880"/>
          </a:xfrm>
          <a:prstGeom prst="roundRect">
            <a:avLst>
              <a:gd name="adj" fmla="val 3448"/>
            </a:avLst>
          </a:prstGeom>
          <a:solidFill>
            <a:srgbClr val="EFF3F7"/>
          </a:solidFill>
          <a:ln w="7620">
            <a:solidFill>
              <a:srgbClr val="CFD9E2"/>
            </a:solidFill>
            <a:prstDash val="solid"/>
          </a:ln>
        </p:spPr>
        <p:txBody>
          <a:bodyPr/>
          <a:lstStyle/>
          <a:p>
            <a:endParaRPr lang="en-AE"/>
          </a:p>
        </p:txBody>
      </p:sp>
      <p:sp>
        <p:nvSpPr>
          <p:cNvPr id="8" name="Text 4"/>
          <p:cNvSpPr/>
          <p:nvPr/>
        </p:nvSpPr>
        <p:spPr>
          <a:xfrm>
            <a:off x="5760720" y="3675888"/>
            <a:ext cx="5577840" cy="27432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Standardised-residual test</a:t>
            </a:r>
            <a:endParaRPr lang="en-US" sz="1250" dirty="0"/>
          </a:p>
        </p:txBody>
      </p:sp>
      <p:sp>
        <p:nvSpPr>
          <p:cNvPr id="9" name="Text 5"/>
          <p:cNvSpPr/>
          <p:nvPr/>
        </p:nvSpPr>
        <p:spPr>
          <a:xfrm>
            <a:off x="5760720" y="3986784"/>
            <a:ext cx="5623560" cy="822960"/>
          </a:xfrm>
          <a:prstGeom prst="rect">
            <a:avLst/>
          </a:prstGeom>
          <a:noFill/>
          <a:ln/>
        </p:spPr>
        <p:txBody>
          <a:bodyPr wrap="square" lIns="0" tIns="0" rIns="0" bIns="0" rtlCol="0" anchor="ctr"/>
          <a:lstStyle/>
          <a:p>
            <a:pPr marL="0" indent="0">
              <a:lnSpc>
                <a:spcPts val="1550"/>
              </a:lnSpc>
              <a:buNone/>
            </a:pPr>
            <a:r>
              <a:rPr lang="en-US" sz="1100" dirty="0">
                <a:solidFill>
                  <a:srgbClr val="3C5169"/>
                </a:solidFill>
                <a:latin typeface="Calibri" pitchFamily="34" charset="0"/>
                <a:ea typeface="Calibri" pitchFamily="34" charset="-122"/>
                <a:cs typeface="Calibri" pitchFamily="34" charset="-120"/>
              </a:rPr>
              <a:t>z = (y − μ)/σ should be standard normal if the model is calibrated.  LSTM-only: mean −0.003, sd 0.931.  Fusion: mean −0.075, sd 0.991.  Both means are essentially zero — no systematic bias — and both sds are within 7% of one.</a:t>
            </a:r>
            <a:endParaRPr lang="en-US" sz="1100" dirty="0"/>
          </a:p>
        </p:txBody>
      </p:sp>
      <p:sp>
        <p:nvSpPr>
          <p:cNvPr id="10" name="Shape 6"/>
          <p:cNvSpPr/>
          <p:nvPr/>
        </p:nvSpPr>
        <p:spPr>
          <a:xfrm>
            <a:off x="566928" y="4992624"/>
            <a:ext cx="3520440" cy="1133856"/>
          </a:xfrm>
          <a:prstGeom prst="roundRect">
            <a:avLst>
              <a:gd name="adj" fmla="val 4032"/>
            </a:avLst>
          </a:prstGeom>
          <a:solidFill>
            <a:srgbClr val="EFF3F7"/>
          </a:solidFill>
          <a:ln w="7620">
            <a:solidFill>
              <a:srgbClr val="CFD9E2"/>
            </a:solidFill>
            <a:prstDash val="solid"/>
          </a:ln>
        </p:spPr>
        <p:txBody>
          <a:bodyPr/>
          <a:lstStyle/>
          <a:p>
            <a:endParaRPr lang="en-AE"/>
          </a:p>
        </p:txBody>
      </p:sp>
      <p:sp>
        <p:nvSpPr>
          <p:cNvPr id="11" name="Text 7"/>
          <p:cNvSpPr/>
          <p:nvPr/>
        </p:nvSpPr>
        <p:spPr>
          <a:xfrm>
            <a:off x="786384" y="5084064"/>
            <a:ext cx="3108960" cy="219456"/>
          </a:xfrm>
          <a:prstGeom prst="rect">
            <a:avLst/>
          </a:prstGeom>
          <a:noFill/>
          <a:ln/>
        </p:spPr>
        <p:txBody>
          <a:bodyPr wrap="square" lIns="0" tIns="0" rIns="0" bIns="0" rtlCol="0" anchor="ctr"/>
          <a:lstStyle/>
          <a:p>
            <a:pPr marL="0" indent="0">
              <a:buNone/>
            </a:pPr>
            <a:r>
              <a:rPr lang="en-US" sz="900" b="1" kern="0" spc="140" dirty="0">
                <a:solidFill>
                  <a:srgbClr val="0B2545"/>
                </a:solidFill>
                <a:latin typeface="Calibri" pitchFamily="34" charset="0"/>
                <a:ea typeface="Calibri" pitchFamily="34" charset="-122"/>
                <a:cs typeface="Calibri" pitchFamily="34" charset="-120"/>
              </a:rPr>
              <a:t>OBSERVATION</a:t>
            </a:r>
            <a:endParaRPr lang="en-US" sz="900" dirty="0"/>
          </a:p>
        </p:txBody>
      </p:sp>
      <p:sp>
        <p:nvSpPr>
          <p:cNvPr id="12" name="Text 8"/>
          <p:cNvSpPr/>
          <p:nvPr/>
        </p:nvSpPr>
        <p:spPr>
          <a:xfrm>
            <a:off x="786384" y="5303520"/>
            <a:ext cx="3108960" cy="768096"/>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Both models over-cover at 50% and 80% and land almost exactly on nominal at 90% and 95%.</a:t>
            </a:r>
            <a:endParaRPr lang="en-US" sz="900" dirty="0"/>
          </a:p>
        </p:txBody>
      </p:sp>
      <p:sp>
        <p:nvSpPr>
          <p:cNvPr id="13" name="Shape 9"/>
          <p:cNvSpPr/>
          <p:nvPr/>
        </p:nvSpPr>
        <p:spPr>
          <a:xfrm>
            <a:off x="4270248" y="4992624"/>
            <a:ext cx="3520440" cy="1133856"/>
          </a:xfrm>
          <a:prstGeom prst="roundRect">
            <a:avLst>
              <a:gd name="adj" fmla="val 4032"/>
            </a:avLst>
          </a:prstGeom>
          <a:solidFill>
            <a:srgbClr val="EFF3F7"/>
          </a:solidFill>
          <a:ln w="7620">
            <a:solidFill>
              <a:srgbClr val="CFD9E2"/>
            </a:solidFill>
            <a:prstDash val="solid"/>
          </a:ln>
        </p:spPr>
        <p:txBody>
          <a:bodyPr/>
          <a:lstStyle/>
          <a:p>
            <a:endParaRPr lang="en-AE"/>
          </a:p>
        </p:txBody>
      </p:sp>
      <p:sp>
        <p:nvSpPr>
          <p:cNvPr id="14" name="Text 10"/>
          <p:cNvSpPr/>
          <p:nvPr/>
        </p:nvSpPr>
        <p:spPr>
          <a:xfrm>
            <a:off x="4489704" y="5084064"/>
            <a:ext cx="3108960" cy="219456"/>
          </a:xfrm>
          <a:prstGeom prst="rect">
            <a:avLst/>
          </a:prstGeom>
          <a:noFill/>
          <a:ln/>
        </p:spPr>
        <p:txBody>
          <a:bodyPr wrap="square" lIns="0" tIns="0" rIns="0" bIns="0" rtlCol="0" anchor="ctr"/>
          <a:lstStyle/>
          <a:p>
            <a:pPr marL="0" indent="0">
              <a:buNone/>
            </a:pPr>
            <a:r>
              <a:rPr lang="en-US" sz="900" b="1" kern="0" spc="140" dirty="0">
                <a:solidFill>
                  <a:srgbClr val="1C7293"/>
                </a:solidFill>
                <a:latin typeface="Calibri" pitchFamily="34" charset="0"/>
                <a:ea typeface="Calibri" pitchFamily="34" charset="-122"/>
                <a:cs typeface="Calibri" pitchFamily="34" charset="-120"/>
              </a:rPr>
              <a:t>INTERPRETATION</a:t>
            </a:r>
            <a:endParaRPr lang="en-US" sz="900" dirty="0"/>
          </a:p>
        </p:txBody>
      </p:sp>
      <p:sp>
        <p:nvSpPr>
          <p:cNvPr id="15" name="Text 11"/>
          <p:cNvSpPr/>
          <p:nvPr/>
        </p:nvSpPr>
        <p:spPr>
          <a:xfrm>
            <a:off x="4489704" y="5303520"/>
            <a:ext cx="3108960" cy="768096"/>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The residuals are more peaked than a Gaussian: too many small errors for the fitted σ, so narrow intervals over-cover while wide ones are right. The signature of one Gaussian fitted to a mixture of easy clear hours and hard cloudy ones.</a:t>
            </a:r>
            <a:endParaRPr lang="en-US" sz="900" dirty="0"/>
          </a:p>
        </p:txBody>
      </p:sp>
      <p:sp>
        <p:nvSpPr>
          <p:cNvPr id="16" name="Shape 12"/>
          <p:cNvSpPr/>
          <p:nvPr/>
        </p:nvSpPr>
        <p:spPr>
          <a:xfrm>
            <a:off x="7973568" y="4992624"/>
            <a:ext cx="3520440" cy="1133856"/>
          </a:xfrm>
          <a:prstGeom prst="roundRect">
            <a:avLst>
              <a:gd name="adj" fmla="val 4032"/>
            </a:avLst>
          </a:prstGeom>
          <a:solidFill>
            <a:srgbClr val="EDF5EF"/>
          </a:solidFill>
          <a:ln w="12700">
            <a:solidFill>
              <a:srgbClr val="2C6E49"/>
            </a:solidFill>
            <a:prstDash val="solid"/>
          </a:ln>
        </p:spPr>
        <p:txBody>
          <a:bodyPr/>
          <a:lstStyle/>
          <a:p>
            <a:endParaRPr lang="en-AE"/>
          </a:p>
        </p:txBody>
      </p:sp>
      <p:sp>
        <p:nvSpPr>
          <p:cNvPr id="17" name="Text 13"/>
          <p:cNvSpPr/>
          <p:nvPr/>
        </p:nvSpPr>
        <p:spPr>
          <a:xfrm>
            <a:off x="8193024" y="5084064"/>
            <a:ext cx="3108960" cy="219456"/>
          </a:xfrm>
          <a:prstGeom prst="rect">
            <a:avLst/>
          </a:prstGeom>
          <a:noFill/>
          <a:ln/>
        </p:spPr>
        <p:txBody>
          <a:bodyPr wrap="square" lIns="0" tIns="0" rIns="0" bIns="0" rtlCol="0" anchor="ctr"/>
          <a:lstStyle/>
          <a:p>
            <a:pPr marL="0" indent="0">
              <a:buNone/>
            </a:pPr>
            <a:r>
              <a:rPr lang="en-US" sz="900" b="1" kern="0" spc="140" dirty="0">
                <a:solidFill>
                  <a:srgbClr val="2C6E49"/>
                </a:solidFill>
                <a:latin typeface="Calibri" pitchFamily="34" charset="0"/>
                <a:ea typeface="Calibri" pitchFamily="34" charset="-122"/>
                <a:cs typeface="Calibri" pitchFamily="34" charset="-120"/>
              </a:rPr>
              <a:t>WHY IT MATTERS</a:t>
            </a:r>
            <a:endParaRPr lang="en-US" sz="900" dirty="0"/>
          </a:p>
        </p:txBody>
      </p:sp>
      <p:sp>
        <p:nvSpPr>
          <p:cNvPr id="18" name="Text 14"/>
          <p:cNvSpPr/>
          <p:nvPr/>
        </p:nvSpPr>
        <p:spPr>
          <a:xfrm>
            <a:off x="8193024" y="5303520"/>
            <a:ext cx="3108960" cy="768096"/>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The operational level — 90% — is calibrated to within 2 points for both models, so a reserve-sizing decision from these bands would be sound. RQ4 is the one research question answered positively.</a:t>
            </a:r>
            <a:endParaRPr lang="en-US" sz="900" dirty="0"/>
          </a:p>
        </p:txBody>
      </p:sp>
      <p:sp>
        <p:nvSpPr>
          <p:cNvPr id="19" name="Text 15"/>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Derived for this defence from the reproduced test-set predictions; PICP@90 alone appears in results/fusion_ghi_comparison.csv and matches (91.9 / 90.2 reproduced vs 91.9 / 90.3 reported).</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RESULTS — GATE DIAGNOSTICS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The gate collapsed — diagnosing the project's central mechanism</a:t>
            </a:r>
            <a:endParaRPr lang="en-US" sz="3000" dirty="0"/>
          </a:p>
        </p:txBody>
      </p:sp>
      <p:pic>
        <p:nvPicPr>
          <p:cNvPr id="4" name="Image 0" descr="/private/tmp/claude-501/-Users-qasimnalawala-Desktop-Project/4f805972-c040-4417-a161-56574a28f2f7/scratchpad/fig/gate.png"/>
          <p:cNvPicPr>
            <a:picLocks noChangeAspect="1"/>
          </p:cNvPicPr>
          <p:nvPr/>
        </p:nvPicPr>
        <p:blipFill>
          <a:blip r:embed="rId3"/>
          <a:stretch>
            <a:fillRect/>
          </a:stretch>
        </p:blipFill>
        <p:spPr>
          <a:xfrm>
            <a:off x="566928" y="1298448"/>
            <a:ext cx="7498080" cy="2816352"/>
          </a:xfrm>
          <a:prstGeom prst="rect">
            <a:avLst/>
          </a:prstGeom>
        </p:spPr>
      </p:pic>
      <p:sp>
        <p:nvSpPr>
          <p:cNvPr id="5" name="Shape 2"/>
          <p:cNvSpPr/>
          <p:nvPr/>
        </p:nvSpPr>
        <p:spPr>
          <a:xfrm>
            <a:off x="8275320" y="1298448"/>
            <a:ext cx="3355848" cy="2816352"/>
          </a:xfrm>
          <a:prstGeom prst="roundRect">
            <a:avLst>
              <a:gd name="adj" fmla="val 1623"/>
            </a:avLst>
          </a:prstGeom>
          <a:solidFill>
            <a:srgbClr val="FCEEEC"/>
          </a:solidFill>
          <a:ln w="12700">
            <a:solidFill>
              <a:srgbClr val="B03A2E"/>
            </a:solidFill>
            <a:prstDash val="solid"/>
          </a:ln>
        </p:spPr>
        <p:txBody>
          <a:bodyPr/>
          <a:lstStyle/>
          <a:p>
            <a:endParaRPr lang="en-AE"/>
          </a:p>
        </p:txBody>
      </p:sp>
      <p:sp>
        <p:nvSpPr>
          <p:cNvPr id="6" name="Text 3"/>
          <p:cNvSpPr/>
          <p:nvPr/>
        </p:nvSpPr>
        <p:spPr>
          <a:xfrm>
            <a:off x="8485632" y="1408176"/>
            <a:ext cx="2971800" cy="274320"/>
          </a:xfrm>
          <a:prstGeom prst="rect">
            <a:avLst/>
          </a:prstGeom>
          <a:noFill/>
          <a:ln/>
        </p:spPr>
        <p:txBody>
          <a:bodyPr wrap="square" lIns="0" tIns="0" rIns="0" bIns="0" rtlCol="0" anchor="ctr"/>
          <a:lstStyle/>
          <a:p>
            <a:pPr marL="0" indent="0">
              <a:buNone/>
            </a:pPr>
            <a:r>
              <a:rPr lang="en-US" sz="1150" b="1" dirty="0">
                <a:solidFill>
                  <a:srgbClr val="B03A2E"/>
                </a:solidFill>
                <a:latin typeface="Calibri" pitchFamily="34" charset="0"/>
                <a:ea typeface="Calibri" pitchFamily="34" charset="-122"/>
                <a:cs typeface="Calibri" pitchFamily="34" charset="-120"/>
              </a:rPr>
              <a:t>Measured over 1,120 test samples</a:t>
            </a:r>
            <a:endParaRPr lang="en-US" sz="1150" dirty="0"/>
          </a:p>
        </p:txBody>
      </p:sp>
      <p:sp>
        <p:nvSpPr>
          <p:cNvPr id="7" name="Text 4"/>
          <p:cNvSpPr/>
          <p:nvPr/>
        </p:nvSpPr>
        <p:spPr>
          <a:xfrm>
            <a:off x="8485632" y="1773936"/>
            <a:ext cx="1691640" cy="30175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mean α</a:t>
            </a:r>
            <a:endParaRPr lang="en-US" sz="1100" dirty="0"/>
          </a:p>
        </p:txBody>
      </p:sp>
      <p:sp>
        <p:nvSpPr>
          <p:cNvPr id="8" name="Text 5"/>
          <p:cNvSpPr/>
          <p:nvPr/>
        </p:nvSpPr>
        <p:spPr>
          <a:xfrm>
            <a:off x="10177272" y="1773936"/>
            <a:ext cx="1280160" cy="30175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0.4461</a:t>
            </a:r>
            <a:endParaRPr lang="en-US" sz="1100" dirty="0"/>
          </a:p>
        </p:txBody>
      </p:sp>
      <p:sp>
        <p:nvSpPr>
          <p:cNvPr id="9" name="Text 6"/>
          <p:cNvSpPr/>
          <p:nvPr/>
        </p:nvSpPr>
        <p:spPr>
          <a:xfrm>
            <a:off x="8485632" y="2075688"/>
            <a:ext cx="1691640" cy="30175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standard deviation</a:t>
            </a:r>
            <a:endParaRPr lang="en-US" sz="1100" dirty="0"/>
          </a:p>
        </p:txBody>
      </p:sp>
      <p:sp>
        <p:nvSpPr>
          <p:cNvPr id="10" name="Text 7"/>
          <p:cNvSpPr/>
          <p:nvPr/>
        </p:nvSpPr>
        <p:spPr>
          <a:xfrm>
            <a:off x="10177272" y="2075688"/>
            <a:ext cx="1280160" cy="30175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0.0096</a:t>
            </a:r>
            <a:endParaRPr lang="en-US" sz="1100" dirty="0"/>
          </a:p>
        </p:txBody>
      </p:sp>
      <p:sp>
        <p:nvSpPr>
          <p:cNvPr id="11" name="Text 8"/>
          <p:cNvSpPr/>
          <p:nvPr/>
        </p:nvSpPr>
        <p:spPr>
          <a:xfrm>
            <a:off x="8485632" y="2377440"/>
            <a:ext cx="1691640" cy="30175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minimum</a:t>
            </a:r>
            <a:endParaRPr lang="en-US" sz="1100" dirty="0"/>
          </a:p>
        </p:txBody>
      </p:sp>
      <p:sp>
        <p:nvSpPr>
          <p:cNvPr id="12" name="Text 9"/>
          <p:cNvSpPr/>
          <p:nvPr/>
        </p:nvSpPr>
        <p:spPr>
          <a:xfrm>
            <a:off x="10177272" y="2377440"/>
            <a:ext cx="1280160" cy="30175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0.4246</a:t>
            </a:r>
            <a:endParaRPr lang="en-US" sz="1100" dirty="0"/>
          </a:p>
        </p:txBody>
      </p:sp>
      <p:sp>
        <p:nvSpPr>
          <p:cNvPr id="13" name="Text 10"/>
          <p:cNvSpPr/>
          <p:nvPr/>
        </p:nvSpPr>
        <p:spPr>
          <a:xfrm>
            <a:off x="8485632" y="2679192"/>
            <a:ext cx="1691640" cy="30175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maximum</a:t>
            </a:r>
            <a:endParaRPr lang="en-US" sz="1100" dirty="0"/>
          </a:p>
        </p:txBody>
      </p:sp>
      <p:sp>
        <p:nvSpPr>
          <p:cNvPr id="14" name="Text 11"/>
          <p:cNvSpPr/>
          <p:nvPr/>
        </p:nvSpPr>
        <p:spPr>
          <a:xfrm>
            <a:off x="10177272" y="2679192"/>
            <a:ext cx="1280160" cy="30175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0.4773</a:t>
            </a:r>
            <a:endParaRPr lang="en-US" sz="1100" dirty="0"/>
          </a:p>
        </p:txBody>
      </p:sp>
      <p:sp>
        <p:nvSpPr>
          <p:cNvPr id="15" name="Text 12"/>
          <p:cNvSpPr/>
          <p:nvPr/>
        </p:nvSpPr>
        <p:spPr>
          <a:xfrm>
            <a:off x="8485632" y="2980944"/>
            <a:ext cx="1691640" cy="30175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total range</a:t>
            </a:r>
            <a:endParaRPr lang="en-US" sz="1100" dirty="0"/>
          </a:p>
        </p:txBody>
      </p:sp>
      <p:sp>
        <p:nvSpPr>
          <p:cNvPr id="16" name="Text 13"/>
          <p:cNvSpPr/>
          <p:nvPr/>
        </p:nvSpPr>
        <p:spPr>
          <a:xfrm>
            <a:off x="10177272" y="2980944"/>
            <a:ext cx="1280160" cy="30175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0.053</a:t>
            </a:r>
            <a:endParaRPr lang="en-US" sz="1100" dirty="0"/>
          </a:p>
        </p:txBody>
      </p:sp>
      <p:sp>
        <p:nvSpPr>
          <p:cNvPr id="17" name="Text 14"/>
          <p:cNvSpPr/>
          <p:nvPr/>
        </p:nvSpPr>
        <p:spPr>
          <a:xfrm>
            <a:off x="8485632" y="3282696"/>
            <a:ext cx="1691640" cy="30175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design intent</a:t>
            </a:r>
            <a:endParaRPr lang="en-US" sz="1100" dirty="0"/>
          </a:p>
        </p:txBody>
      </p:sp>
      <p:sp>
        <p:nvSpPr>
          <p:cNvPr id="18" name="Text 15"/>
          <p:cNvSpPr/>
          <p:nvPr/>
        </p:nvSpPr>
        <p:spPr>
          <a:xfrm>
            <a:off x="10177272" y="3282696"/>
            <a:ext cx="1280160" cy="301752"/>
          </a:xfrm>
          <a:prstGeom prst="rect">
            <a:avLst/>
          </a:prstGeom>
          <a:noFill/>
          <a:ln/>
        </p:spPr>
        <p:txBody>
          <a:bodyPr wrap="square" lIns="0" tIns="0" rIns="0" bIns="0" rtlCol="0" anchor="ctr"/>
          <a:lstStyle/>
          <a:p>
            <a:pPr marL="0" indent="0">
              <a:buNone/>
            </a:pPr>
            <a:r>
              <a:rPr lang="en-US" sz="1100" dirty="0">
                <a:solidFill>
                  <a:srgbClr val="3C5169"/>
                </a:solidFill>
                <a:latin typeface="Calibri" pitchFamily="34" charset="0"/>
                <a:ea typeface="Calibri" pitchFamily="34" charset="-122"/>
                <a:cs typeface="Calibri" pitchFamily="34" charset="-120"/>
              </a:rPr>
              <a:t>0 → 1</a:t>
            </a:r>
            <a:endParaRPr lang="en-US" sz="1100" dirty="0"/>
          </a:p>
        </p:txBody>
      </p:sp>
      <p:sp>
        <p:nvSpPr>
          <p:cNvPr id="19" name="Text 16"/>
          <p:cNvSpPr/>
          <p:nvPr/>
        </p:nvSpPr>
        <p:spPr>
          <a:xfrm>
            <a:off x="8485632" y="3657600"/>
            <a:ext cx="2971800" cy="384048"/>
          </a:xfrm>
          <a:prstGeom prst="rect">
            <a:avLst/>
          </a:prstGeom>
          <a:noFill/>
          <a:ln/>
        </p:spPr>
        <p:txBody>
          <a:bodyPr wrap="square" lIns="0" tIns="0" rIns="0" bIns="0" rtlCol="0" anchor="ctr"/>
          <a:lstStyle/>
          <a:p>
            <a:pPr marL="0" indent="0">
              <a:lnSpc>
                <a:spcPts val="1500"/>
              </a:lnSpc>
              <a:buNone/>
            </a:pPr>
            <a:r>
              <a:rPr lang="en-US" sz="1100" b="1" i="1" dirty="0">
                <a:solidFill>
                  <a:srgbClr val="B03A2E"/>
                </a:solidFill>
                <a:latin typeface="Calibri" pitchFamily="34" charset="0"/>
                <a:ea typeface="Calibri" pitchFamily="34" charset="-122"/>
                <a:cs typeface="Calibri" pitchFamily="34" charset="-120"/>
              </a:rPr>
              <a:t>The gate spans 5% of its available range. It is not a switch; it is a constant.</a:t>
            </a:r>
            <a:endParaRPr lang="en-US" sz="1100" dirty="0"/>
          </a:p>
        </p:txBody>
      </p:sp>
      <p:sp>
        <p:nvSpPr>
          <p:cNvPr id="20" name="Shape 17"/>
          <p:cNvSpPr/>
          <p:nvPr/>
        </p:nvSpPr>
        <p:spPr>
          <a:xfrm>
            <a:off x="566928" y="4279392"/>
            <a:ext cx="5440680" cy="841248"/>
          </a:xfrm>
          <a:prstGeom prst="roundRect">
            <a:avLst>
              <a:gd name="adj" fmla="val 5435"/>
            </a:avLst>
          </a:prstGeom>
          <a:solidFill>
            <a:srgbClr val="EFF3F7"/>
          </a:solidFill>
          <a:ln w="7620">
            <a:solidFill>
              <a:srgbClr val="CFD9E2"/>
            </a:solidFill>
            <a:prstDash val="solid"/>
          </a:ln>
        </p:spPr>
        <p:txBody>
          <a:bodyPr/>
          <a:lstStyle/>
          <a:p>
            <a:endParaRPr lang="en-AE"/>
          </a:p>
        </p:txBody>
      </p:sp>
      <p:sp>
        <p:nvSpPr>
          <p:cNvPr id="21" name="Text 18"/>
          <p:cNvSpPr/>
          <p:nvPr/>
        </p:nvSpPr>
        <p:spPr>
          <a:xfrm>
            <a:off x="786384" y="4352544"/>
            <a:ext cx="1508760" cy="219456"/>
          </a:xfrm>
          <a:prstGeom prst="rect">
            <a:avLst/>
          </a:prstGeom>
          <a:noFill/>
          <a:ln/>
        </p:spPr>
        <p:txBody>
          <a:bodyPr wrap="square" lIns="0" tIns="0" rIns="0" bIns="0" rtlCol="0" anchor="ctr"/>
          <a:lstStyle/>
          <a:p>
            <a:pPr marL="0" indent="0">
              <a:buNone/>
            </a:pPr>
            <a:r>
              <a:rPr lang="en-US" sz="850" b="1" kern="0" spc="130" dirty="0">
                <a:solidFill>
                  <a:srgbClr val="0B2545"/>
                </a:solidFill>
                <a:latin typeface="Calibri" pitchFamily="34" charset="0"/>
                <a:ea typeface="Calibri" pitchFamily="34" charset="-122"/>
                <a:cs typeface="Calibri" pitchFamily="34" charset="-120"/>
              </a:rPr>
              <a:t>OBSERVATION</a:t>
            </a:r>
            <a:endParaRPr lang="en-US" sz="850" dirty="0"/>
          </a:p>
        </p:txBody>
      </p:sp>
      <p:sp>
        <p:nvSpPr>
          <p:cNvPr id="22" name="Text 19"/>
          <p:cNvSpPr/>
          <p:nvPr/>
        </p:nvSpPr>
        <p:spPr>
          <a:xfrm>
            <a:off x="786384" y="4572000"/>
            <a:ext cx="5029200" cy="51206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α never leaves [0.425, 0.477] on any test sample, at any hour, under any cloud condition. The repository's own gate-analysis plot (§9d) shows the same thing independently.</a:t>
            </a:r>
            <a:endParaRPr lang="en-US" sz="950" dirty="0"/>
          </a:p>
        </p:txBody>
      </p:sp>
      <p:sp>
        <p:nvSpPr>
          <p:cNvPr id="23" name="Shape 20"/>
          <p:cNvSpPr/>
          <p:nvPr/>
        </p:nvSpPr>
        <p:spPr>
          <a:xfrm>
            <a:off x="6199632" y="4279392"/>
            <a:ext cx="5440680" cy="841248"/>
          </a:xfrm>
          <a:prstGeom prst="roundRect">
            <a:avLst>
              <a:gd name="adj" fmla="val 5435"/>
            </a:avLst>
          </a:prstGeom>
          <a:solidFill>
            <a:srgbClr val="EFF3F7"/>
          </a:solidFill>
          <a:ln w="7620">
            <a:solidFill>
              <a:srgbClr val="CFD9E2"/>
            </a:solidFill>
            <a:prstDash val="solid"/>
          </a:ln>
        </p:spPr>
        <p:txBody>
          <a:bodyPr/>
          <a:lstStyle/>
          <a:p>
            <a:endParaRPr lang="en-AE"/>
          </a:p>
        </p:txBody>
      </p:sp>
      <p:sp>
        <p:nvSpPr>
          <p:cNvPr id="24" name="Text 21"/>
          <p:cNvSpPr/>
          <p:nvPr/>
        </p:nvSpPr>
        <p:spPr>
          <a:xfrm>
            <a:off x="6419088" y="4352544"/>
            <a:ext cx="1508760" cy="219456"/>
          </a:xfrm>
          <a:prstGeom prst="rect">
            <a:avLst/>
          </a:prstGeom>
          <a:noFill/>
          <a:ln/>
        </p:spPr>
        <p:txBody>
          <a:bodyPr wrap="square" lIns="0" tIns="0" rIns="0" bIns="0" rtlCol="0" anchor="ctr"/>
          <a:lstStyle/>
          <a:p>
            <a:pPr marL="0" indent="0">
              <a:buNone/>
            </a:pPr>
            <a:r>
              <a:rPr lang="en-US" sz="850" b="1" kern="0" spc="130" dirty="0">
                <a:solidFill>
                  <a:srgbClr val="0B2545"/>
                </a:solidFill>
                <a:latin typeface="Calibri" pitchFamily="34" charset="0"/>
                <a:ea typeface="Calibri" pitchFamily="34" charset="-122"/>
                <a:cs typeface="Calibri" pitchFamily="34" charset="-120"/>
              </a:rPr>
              <a:t>OBSERVATION</a:t>
            </a:r>
            <a:endParaRPr lang="en-US" sz="850" dirty="0"/>
          </a:p>
        </p:txBody>
      </p:sp>
      <p:sp>
        <p:nvSpPr>
          <p:cNvPr id="25" name="Text 22"/>
          <p:cNvSpPr/>
          <p:nvPr/>
        </p:nvSpPr>
        <p:spPr>
          <a:xfrm>
            <a:off x="6419088" y="4572000"/>
            <a:ext cx="5029200" cy="51206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The direction is nonetheless correct: mean α rises monotonically from 0.438 in the cloudiest decile to 0.454 in the clearest. Clearer sky → slightly more weight on the temporal branch, exactly as designed.</a:t>
            </a:r>
            <a:endParaRPr lang="en-US" sz="950" dirty="0"/>
          </a:p>
        </p:txBody>
      </p:sp>
      <p:sp>
        <p:nvSpPr>
          <p:cNvPr id="26" name="Shape 23"/>
          <p:cNvSpPr/>
          <p:nvPr/>
        </p:nvSpPr>
        <p:spPr>
          <a:xfrm>
            <a:off x="566928" y="5193792"/>
            <a:ext cx="5440680" cy="841248"/>
          </a:xfrm>
          <a:prstGeom prst="roundRect">
            <a:avLst>
              <a:gd name="adj" fmla="val 5435"/>
            </a:avLst>
          </a:prstGeom>
          <a:solidFill>
            <a:srgbClr val="EFF3F7"/>
          </a:solidFill>
          <a:ln w="7620">
            <a:solidFill>
              <a:srgbClr val="CFD9E2"/>
            </a:solidFill>
            <a:prstDash val="solid"/>
          </a:ln>
        </p:spPr>
        <p:txBody>
          <a:bodyPr/>
          <a:lstStyle/>
          <a:p>
            <a:endParaRPr lang="en-AE"/>
          </a:p>
        </p:txBody>
      </p:sp>
      <p:sp>
        <p:nvSpPr>
          <p:cNvPr id="27" name="Text 24"/>
          <p:cNvSpPr/>
          <p:nvPr/>
        </p:nvSpPr>
        <p:spPr>
          <a:xfrm>
            <a:off x="786384" y="5266944"/>
            <a:ext cx="1508760" cy="219456"/>
          </a:xfrm>
          <a:prstGeom prst="rect">
            <a:avLst/>
          </a:prstGeom>
          <a:noFill/>
          <a:ln/>
        </p:spPr>
        <p:txBody>
          <a:bodyPr wrap="square" lIns="0" tIns="0" rIns="0" bIns="0" rtlCol="0" anchor="ctr"/>
          <a:lstStyle/>
          <a:p>
            <a:pPr marL="0" indent="0">
              <a:buNone/>
            </a:pPr>
            <a:r>
              <a:rPr lang="en-US" sz="850" b="1" kern="0" spc="130" dirty="0">
                <a:solidFill>
                  <a:srgbClr val="1C7293"/>
                </a:solidFill>
                <a:latin typeface="Calibri" pitchFamily="34" charset="0"/>
                <a:ea typeface="Calibri" pitchFamily="34" charset="-122"/>
                <a:cs typeface="Calibri" pitchFamily="34" charset="-120"/>
              </a:rPr>
              <a:t>INTERPRETATION</a:t>
            </a:r>
            <a:endParaRPr lang="en-US" sz="850" dirty="0"/>
          </a:p>
        </p:txBody>
      </p:sp>
      <p:sp>
        <p:nvSpPr>
          <p:cNvPr id="28" name="Text 25"/>
          <p:cNvSpPr/>
          <p:nvPr/>
        </p:nvSpPr>
        <p:spPr>
          <a:xfrm>
            <a:off x="786384" y="5486400"/>
            <a:ext cx="5029200" cy="51206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The gate learned the right sign and no magnitude. If H_a carries little predictive information, the loss is nearly flat in α, so there is almost no gradient pushing it away from its initialisation near 0.5. The collapse is a symptom of a weak image branch, not an independent defect.</a:t>
            </a:r>
            <a:endParaRPr lang="en-US" sz="950" dirty="0"/>
          </a:p>
        </p:txBody>
      </p:sp>
      <p:sp>
        <p:nvSpPr>
          <p:cNvPr id="29" name="Shape 26"/>
          <p:cNvSpPr/>
          <p:nvPr/>
        </p:nvSpPr>
        <p:spPr>
          <a:xfrm>
            <a:off x="6199632" y="5193792"/>
            <a:ext cx="5440680" cy="841248"/>
          </a:xfrm>
          <a:prstGeom prst="roundRect">
            <a:avLst>
              <a:gd name="adj" fmla="val 5435"/>
            </a:avLst>
          </a:prstGeom>
          <a:solidFill>
            <a:srgbClr val="EFF3F7"/>
          </a:solidFill>
          <a:ln w="7620">
            <a:solidFill>
              <a:srgbClr val="CFD9E2"/>
            </a:solidFill>
            <a:prstDash val="solid"/>
          </a:ln>
        </p:spPr>
        <p:txBody>
          <a:bodyPr/>
          <a:lstStyle/>
          <a:p>
            <a:endParaRPr lang="en-AE"/>
          </a:p>
        </p:txBody>
      </p:sp>
      <p:sp>
        <p:nvSpPr>
          <p:cNvPr id="30" name="Text 27"/>
          <p:cNvSpPr/>
          <p:nvPr/>
        </p:nvSpPr>
        <p:spPr>
          <a:xfrm>
            <a:off x="6419088" y="5266944"/>
            <a:ext cx="1508760" cy="219456"/>
          </a:xfrm>
          <a:prstGeom prst="rect">
            <a:avLst/>
          </a:prstGeom>
          <a:noFill/>
          <a:ln/>
        </p:spPr>
        <p:txBody>
          <a:bodyPr wrap="square" lIns="0" tIns="0" rIns="0" bIns="0" rtlCol="0" anchor="ctr"/>
          <a:lstStyle/>
          <a:p>
            <a:pPr marL="0" indent="0">
              <a:buNone/>
            </a:pPr>
            <a:r>
              <a:rPr lang="en-US" sz="850" b="1" kern="0" spc="130" dirty="0">
                <a:solidFill>
                  <a:srgbClr val="B87A1B"/>
                </a:solidFill>
                <a:latin typeface="Calibri" pitchFamily="34" charset="0"/>
                <a:ea typeface="Calibri" pitchFamily="34" charset="-122"/>
                <a:cs typeface="Calibri" pitchFamily="34" charset="-120"/>
              </a:rPr>
              <a:t>CONSEQUENCE</a:t>
            </a:r>
            <a:endParaRPr lang="en-US" sz="850" dirty="0"/>
          </a:p>
        </p:txBody>
      </p:sp>
      <p:sp>
        <p:nvSpPr>
          <p:cNvPr id="31" name="Text 28"/>
          <p:cNvSpPr/>
          <p:nvPr/>
        </p:nvSpPr>
        <p:spPr>
          <a:xfrm>
            <a:off x="6419088" y="5486400"/>
            <a:ext cx="5029200" cy="51206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What was actually trained is a fixed 45/55 blend of the two branches — strictly less expressive than the concatenation it replaced, which is exactly the 2.8 W/m² the ablation measured.</a:t>
            </a:r>
            <a:endParaRPr lang="en-US" sz="950" dirty="0"/>
          </a:p>
        </p:txBody>
      </p:sp>
      <p:sp>
        <p:nvSpPr>
          <p:cNvPr id="32" name="Text 29"/>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Left panel derived for this defence; the repository's own results/plots/gate_analysis.png (notebook §9d) shows α within [0.44, 0.47] and reproduces the same monotone trend against cloud-cover decile.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ERROR ANALYSIS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Where the errors are — stratified analysis</a:t>
            </a:r>
            <a:endParaRPr lang="en-US" sz="3000" dirty="0"/>
          </a:p>
        </p:txBody>
      </p:sp>
      <p:pic>
        <p:nvPicPr>
          <p:cNvPr id="4" name="Image 0" descr="/private/tmp/claude-501/-Users-qasimnalawala-Desktop-Project/4f805972-c040-4417-a161-56574a28f2f7/scratchpad/fig/error_strat.png"/>
          <p:cNvPicPr>
            <a:picLocks noChangeAspect="1"/>
          </p:cNvPicPr>
          <p:nvPr/>
        </p:nvPicPr>
        <p:blipFill>
          <a:blip r:embed="rId3"/>
          <a:stretch>
            <a:fillRect/>
          </a:stretch>
        </p:blipFill>
        <p:spPr>
          <a:xfrm>
            <a:off x="566928" y="1298448"/>
            <a:ext cx="8366760" cy="3063240"/>
          </a:xfrm>
          <a:prstGeom prst="rect">
            <a:avLst/>
          </a:prstGeom>
        </p:spPr>
      </p:pic>
      <p:sp>
        <p:nvSpPr>
          <p:cNvPr id="5" name="Shape 2"/>
          <p:cNvSpPr/>
          <p:nvPr/>
        </p:nvSpPr>
        <p:spPr>
          <a:xfrm>
            <a:off x="9189720" y="1298448"/>
            <a:ext cx="2441448" cy="3063240"/>
          </a:xfrm>
          <a:prstGeom prst="roundRect">
            <a:avLst>
              <a:gd name="adj" fmla="val 1873"/>
            </a:avLst>
          </a:prstGeom>
          <a:solidFill>
            <a:srgbClr val="EFF3F7"/>
          </a:solidFill>
          <a:ln w="7620">
            <a:solidFill>
              <a:srgbClr val="CFD9E2"/>
            </a:solidFill>
            <a:prstDash val="solid"/>
          </a:ln>
        </p:spPr>
        <p:txBody>
          <a:bodyPr/>
          <a:lstStyle/>
          <a:p>
            <a:endParaRPr lang="en-AE"/>
          </a:p>
        </p:txBody>
      </p:sp>
      <p:sp>
        <p:nvSpPr>
          <p:cNvPr id="6" name="Text 3"/>
          <p:cNvSpPr/>
          <p:nvPr/>
        </p:nvSpPr>
        <p:spPr>
          <a:xfrm>
            <a:off x="9400032" y="1408176"/>
            <a:ext cx="2057400" cy="274320"/>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MAE by cloud regime</a:t>
            </a:r>
            <a:endParaRPr lang="en-US" sz="1150" dirty="0"/>
          </a:p>
        </p:txBody>
      </p:sp>
      <p:sp>
        <p:nvSpPr>
          <p:cNvPr id="7" name="Text 4"/>
          <p:cNvSpPr/>
          <p:nvPr/>
        </p:nvSpPr>
        <p:spPr>
          <a:xfrm>
            <a:off x="9400032" y="1773936"/>
            <a:ext cx="1005840" cy="237744"/>
          </a:xfrm>
          <a:prstGeom prst="rect">
            <a:avLst/>
          </a:prstGeom>
          <a:noFill/>
          <a:ln/>
        </p:spPr>
        <p:txBody>
          <a:bodyPr wrap="square" lIns="0" tIns="0" rIns="0" bIns="0"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k_t &lt; 0.3</a:t>
            </a:r>
            <a:endParaRPr lang="en-US" sz="1000" dirty="0"/>
          </a:p>
        </p:txBody>
      </p:sp>
      <p:sp>
        <p:nvSpPr>
          <p:cNvPr id="8" name="Text 5"/>
          <p:cNvSpPr/>
          <p:nvPr/>
        </p:nvSpPr>
        <p:spPr>
          <a:xfrm>
            <a:off x="10442448" y="1773936"/>
            <a:ext cx="1005840" cy="237744"/>
          </a:xfrm>
          <a:prstGeom prst="rect">
            <a:avLst/>
          </a:prstGeom>
          <a:noFill/>
          <a:ln/>
        </p:spPr>
        <p:txBody>
          <a:bodyPr wrap="square" lIns="0" tIns="0" rIns="0" bIns="0" rtlCol="0" anchor="ctr"/>
          <a:lstStyle/>
          <a:p>
            <a:pPr marL="0" indent="0" algn="r">
              <a:buNone/>
            </a:pPr>
            <a:r>
              <a:rPr lang="en-US" sz="900" dirty="0">
                <a:solidFill>
                  <a:srgbClr val="6E7F8F"/>
                </a:solidFill>
                <a:latin typeface="Calibri" pitchFamily="34" charset="0"/>
                <a:ea typeface="Calibri" pitchFamily="34" charset="-122"/>
                <a:cs typeface="Calibri" pitchFamily="34" charset="-120"/>
              </a:rPr>
              <a:t>n = 67</a:t>
            </a:r>
            <a:endParaRPr lang="en-US" sz="900" dirty="0"/>
          </a:p>
        </p:txBody>
      </p:sp>
      <p:sp>
        <p:nvSpPr>
          <p:cNvPr id="9" name="Text 6"/>
          <p:cNvSpPr/>
          <p:nvPr/>
        </p:nvSpPr>
        <p:spPr>
          <a:xfrm>
            <a:off x="9400032" y="1993392"/>
            <a:ext cx="2057400" cy="237744"/>
          </a:xfrm>
          <a:prstGeom prst="rect">
            <a:avLst/>
          </a:prstGeom>
          <a:noFill/>
          <a:ln/>
        </p:spPr>
        <p:txBody>
          <a:bodyPr wrap="square" lIns="0" tIns="0" rIns="0" bIns="0" rtlCol="0" anchor="ctr"/>
          <a:lstStyle/>
          <a:p>
            <a:pPr marL="0" indent="0">
              <a:buNone/>
            </a:pPr>
            <a:r>
              <a:rPr lang="en-US" sz="1000" dirty="0">
                <a:solidFill>
                  <a:srgbClr val="3C5169"/>
                </a:solidFill>
                <a:latin typeface="Courier New" pitchFamily="34" charset="0"/>
                <a:ea typeface="Courier New" pitchFamily="34" charset="-122"/>
                <a:cs typeface="Courier New" pitchFamily="34" charset="-120"/>
              </a:rPr>
              <a:t>116.9 / 155.0</a:t>
            </a:r>
            <a:endParaRPr lang="en-US" sz="1000" dirty="0"/>
          </a:p>
        </p:txBody>
      </p:sp>
      <p:sp>
        <p:nvSpPr>
          <p:cNvPr id="10" name="Text 7"/>
          <p:cNvSpPr/>
          <p:nvPr/>
        </p:nvSpPr>
        <p:spPr>
          <a:xfrm>
            <a:off x="9400032" y="2258568"/>
            <a:ext cx="1005840" cy="237744"/>
          </a:xfrm>
          <a:prstGeom prst="rect">
            <a:avLst/>
          </a:prstGeom>
          <a:noFill/>
          <a:ln/>
        </p:spPr>
        <p:txBody>
          <a:bodyPr wrap="square" lIns="0" tIns="0" rIns="0" bIns="0"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0.3 – 0.5</a:t>
            </a:r>
            <a:endParaRPr lang="en-US" sz="1000" dirty="0"/>
          </a:p>
        </p:txBody>
      </p:sp>
      <p:sp>
        <p:nvSpPr>
          <p:cNvPr id="11" name="Text 8"/>
          <p:cNvSpPr/>
          <p:nvPr/>
        </p:nvSpPr>
        <p:spPr>
          <a:xfrm>
            <a:off x="10442448" y="2258568"/>
            <a:ext cx="1005840" cy="237744"/>
          </a:xfrm>
          <a:prstGeom prst="rect">
            <a:avLst/>
          </a:prstGeom>
          <a:noFill/>
          <a:ln/>
        </p:spPr>
        <p:txBody>
          <a:bodyPr wrap="square" lIns="0" tIns="0" rIns="0" bIns="0" rtlCol="0" anchor="ctr"/>
          <a:lstStyle/>
          <a:p>
            <a:pPr marL="0" indent="0" algn="r">
              <a:buNone/>
            </a:pPr>
            <a:r>
              <a:rPr lang="en-US" sz="900" dirty="0">
                <a:solidFill>
                  <a:srgbClr val="6E7F8F"/>
                </a:solidFill>
                <a:latin typeface="Calibri" pitchFamily="34" charset="0"/>
                <a:ea typeface="Calibri" pitchFamily="34" charset="-122"/>
                <a:cs typeface="Calibri" pitchFamily="34" charset="-120"/>
              </a:rPr>
              <a:t>n = 177</a:t>
            </a:r>
            <a:endParaRPr lang="en-US" sz="900" dirty="0"/>
          </a:p>
        </p:txBody>
      </p:sp>
      <p:sp>
        <p:nvSpPr>
          <p:cNvPr id="12" name="Text 9"/>
          <p:cNvSpPr/>
          <p:nvPr/>
        </p:nvSpPr>
        <p:spPr>
          <a:xfrm>
            <a:off x="9400032" y="2478024"/>
            <a:ext cx="2057400" cy="237744"/>
          </a:xfrm>
          <a:prstGeom prst="rect">
            <a:avLst/>
          </a:prstGeom>
          <a:noFill/>
          <a:ln/>
        </p:spPr>
        <p:txBody>
          <a:bodyPr wrap="square" lIns="0" tIns="0" rIns="0" bIns="0" rtlCol="0" anchor="ctr"/>
          <a:lstStyle/>
          <a:p>
            <a:pPr marL="0" indent="0">
              <a:buNone/>
            </a:pPr>
            <a:r>
              <a:rPr lang="en-US" sz="1000" dirty="0">
                <a:solidFill>
                  <a:srgbClr val="3C5169"/>
                </a:solidFill>
                <a:latin typeface="Courier New" pitchFamily="34" charset="0"/>
                <a:ea typeface="Courier New" pitchFamily="34" charset="-122"/>
                <a:cs typeface="Courier New" pitchFamily="34" charset="-120"/>
              </a:rPr>
              <a:t>95.7 / 112.9</a:t>
            </a:r>
            <a:endParaRPr lang="en-US" sz="1000" dirty="0"/>
          </a:p>
        </p:txBody>
      </p:sp>
      <p:sp>
        <p:nvSpPr>
          <p:cNvPr id="13" name="Text 10"/>
          <p:cNvSpPr/>
          <p:nvPr/>
        </p:nvSpPr>
        <p:spPr>
          <a:xfrm>
            <a:off x="9400032" y="2743200"/>
            <a:ext cx="1005840" cy="237744"/>
          </a:xfrm>
          <a:prstGeom prst="rect">
            <a:avLst/>
          </a:prstGeom>
          <a:noFill/>
          <a:ln/>
        </p:spPr>
        <p:txBody>
          <a:bodyPr wrap="square" lIns="0" tIns="0" rIns="0" bIns="0"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0.5 – 0.7</a:t>
            </a:r>
            <a:endParaRPr lang="en-US" sz="1000" dirty="0"/>
          </a:p>
        </p:txBody>
      </p:sp>
      <p:sp>
        <p:nvSpPr>
          <p:cNvPr id="14" name="Text 11"/>
          <p:cNvSpPr/>
          <p:nvPr/>
        </p:nvSpPr>
        <p:spPr>
          <a:xfrm>
            <a:off x="10442448" y="2743200"/>
            <a:ext cx="1005840" cy="237744"/>
          </a:xfrm>
          <a:prstGeom prst="rect">
            <a:avLst/>
          </a:prstGeom>
          <a:noFill/>
          <a:ln/>
        </p:spPr>
        <p:txBody>
          <a:bodyPr wrap="square" lIns="0" tIns="0" rIns="0" bIns="0" rtlCol="0" anchor="ctr"/>
          <a:lstStyle/>
          <a:p>
            <a:pPr marL="0" indent="0" algn="r">
              <a:buNone/>
            </a:pPr>
            <a:r>
              <a:rPr lang="en-US" sz="900" dirty="0">
                <a:solidFill>
                  <a:srgbClr val="6E7F8F"/>
                </a:solidFill>
                <a:latin typeface="Calibri" pitchFamily="34" charset="0"/>
                <a:ea typeface="Calibri" pitchFamily="34" charset="-122"/>
                <a:cs typeface="Calibri" pitchFamily="34" charset="-120"/>
              </a:rPr>
              <a:t>n = 241</a:t>
            </a:r>
            <a:endParaRPr lang="en-US" sz="900" dirty="0"/>
          </a:p>
        </p:txBody>
      </p:sp>
      <p:sp>
        <p:nvSpPr>
          <p:cNvPr id="15" name="Text 12"/>
          <p:cNvSpPr/>
          <p:nvPr/>
        </p:nvSpPr>
        <p:spPr>
          <a:xfrm>
            <a:off x="9400032" y="2962656"/>
            <a:ext cx="2057400" cy="237744"/>
          </a:xfrm>
          <a:prstGeom prst="rect">
            <a:avLst/>
          </a:prstGeom>
          <a:noFill/>
          <a:ln/>
        </p:spPr>
        <p:txBody>
          <a:bodyPr wrap="square" lIns="0" tIns="0" rIns="0" bIns="0" rtlCol="0" anchor="ctr"/>
          <a:lstStyle/>
          <a:p>
            <a:pPr marL="0" indent="0">
              <a:buNone/>
            </a:pPr>
            <a:r>
              <a:rPr lang="en-US" sz="1000" dirty="0">
                <a:solidFill>
                  <a:srgbClr val="3C5169"/>
                </a:solidFill>
                <a:latin typeface="Courier New" pitchFamily="34" charset="0"/>
                <a:ea typeface="Courier New" pitchFamily="34" charset="-122"/>
                <a:cs typeface="Courier New" pitchFamily="34" charset="-120"/>
              </a:rPr>
              <a:t>91.9 / 105.1</a:t>
            </a:r>
            <a:endParaRPr lang="en-US" sz="1000" dirty="0"/>
          </a:p>
        </p:txBody>
      </p:sp>
      <p:sp>
        <p:nvSpPr>
          <p:cNvPr id="16" name="Text 13"/>
          <p:cNvSpPr/>
          <p:nvPr/>
        </p:nvSpPr>
        <p:spPr>
          <a:xfrm>
            <a:off x="9400032" y="3227832"/>
            <a:ext cx="1005840" cy="237744"/>
          </a:xfrm>
          <a:prstGeom prst="rect">
            <a:avLst/>
          </a:prstGeom>
          <a:noFill/>
          <a:ln/>
        </p:spPr>
        <p:txBody>
          <a:bodyPr wrap="square" lIns="0" tIns="0" rIns="0" bIns="0"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0.7 – 0.85</a:t>
            </a:r>
            <a:endParaRPr lang="en-US" sz="1000" dirty="0"/>
          </a:p>
        </p:txBody>
      </p:sp>
      <p:sp>
        <p:nvSpPr>
          <p:cNvPr id="17" name="Text 14"/>
          <p:cNvSpPr/>
          <p:nvPr/>
        </p:nvSpPr>
        <p:spPr>
          <a:xfrm>
            <a:off x="10442448" y="3227832"/>
            <a:ext cx="1005840" cy="237744"/>
          </a:xfrm>
          <a:prstGeom prst="rect">
            <a:avLst/>
          </a:prstGeom>
          <a:noFill/>
          <a:ln/>
        </p:spPr>
        <p:txBody>
          <a:bodyPr wrap="square" lIns="0" tIns="0" rIns="0" bIns="0" rtlCol="0" anchor="ctr"/>
          <a:lstStyle/>
          <a:p>
            <a:pPr marL="0" indent="0" algn="r">
              <a:buNone/>
            </a:pPr>
            <a:r>
              <a:rPr lang="en-US" sz="900" dirty="0">
                <a:solidFill>
                  <a:srgbClr val="6E7F8F"/>
                </a:solidFill>
                <a:latin typeface="Calibri" pitchFamily="34" charset="0"/>
                <a:ea typeface="Calibri" pitchFamily="34" charset="-122"/>
                <a:cs typeface="Calibri" pitchFamily="34" charset="-120"/>
              </a:rPr>
              <a:t>n = 269</a:t>
            </a:r>
            <a:endParaRPr lang="en-US" sz="900" dirty="0"/>
          </a:p>
        </p:txBody>
      </p:sp>
      <p:sp>
        <p:nvSpPr>
          <p:cNvPr id="18" name="Text 15"/>
          <p:cNvSpPr/>
          <p:nvPr/>
        </p:nvSpPr>
        <p:spPr>
          <a:xfrm>
            <a:off x="9400032" y="3447288"/>
            <a:ext cx="2057400" cy="237744"/>
          </a:xfrm>
          <a:prstGeom prst="rect">
            <a:avLst/>
          </a:prstGeom>
          <a:noFill/>
          <a:ln/>
        </p:spPr>
        <p:txBody>
          <a:bodyPr wrap="square" lIns="0" tIns="0" rIns="0" bIns="0" rtlCol="0" anchor="ctr"/>
          <a:lstStyle/>
          <a:p>
            <a:pPr marL="0" indent="0">
              <a:buNone/>
            </a:pPr>
            <a:r>
              <a:rPr lang="en-US" sz="1000" dirty="0">
                <a:solidFill>
                  <a:srgbClr val="3C5169"/>
                </a:solidFill>
                <a:latin typeface="Courier New" pitchFamily="34" charset="0"/>
                <a:ea typeface="Courier New" pitchFamily="34" charset="-122"/>
                <a:cs typeface="Courier New" pitchFamily="34" charset="-120"/>
              </a:rPr>
              <a:t>84.1 / 92.8</a:t>
            </a:r>
            <a:endParaRPr lang="en-US" sz="1000" dirty="0"/>
          </a:p>
        </p:txBody>
      </p:sp>
      <p:sp>
        <p:nvSpPr>
          <p:cNvPr id="19" name="Text 16"/>
          <p:cNvSpPr/>
          <p:nvPr/>
        </p:nvSpPr>
        <p:spPr>
          <a:xfrm>
            <a:off x="9400032" y="3712464"/>
            <a:ext cx="1005840" cy="237744"/>
          </a:xfrm>
          <a:prstGeom prst="rect">
            <a:avLst/>
          </a:prstGeom>
          <a:noFill/>
          <a:ln/>
        </p:spPr>
        <p:txBody>
          <a:bodyPr wrap="square" lIns="0" tIns="0" rIns="0" bIns="0" rtlCol="0" anchor="ctr"/>
          <a:lstStyle/>
          <a:p>
            <a:pPr marL="0" indent="0">
              <a:buNone/>
            </a:pPr>
            <a:r>
              <a:rPr lang="en-US" sz="1000" b="1" dirty="0">
                <a:solidFill>
                  <a:srgbClr val="0B2545"/>
                </a:solidFill>
                <a:latin typeface="Calibri" pitchFamily="34" charset="0"/>
                <a:ea typeface="Calibri" pitchFamily="34" charset="-122"/>
                <a:cs typeface="Calibri" pitchFamily="34" charset="-120"/>
              </a:rPr>
              <a:t>k_t &gt; 0.85</a:t>
            </a:r>
            <a:endParaRPr lang="en-US" sz="1000" dirty="0"/>
          </a:p>
        </p:txBody>
      </p:sp>
      <p:sp>
        <p:nvSpPr>
          <p:cNvPr id="20" name="Text 17"/>
          <p:cNvSpPr/>
          <p:nvPr/>
        </p:nvSpPr>
        <p:spPr>
          <a:xfrm>
            <a:off x="10442448" y="3712464"/>
            <a:ext cx="1005840" cy="237744"/>
          </a:xfrm>
          <a:prstGeom prst="rect">
            <a:avLst/>
          </a:prstGeom>
          <a:noFill/>
          <a:ln/>
        </p:spPr>
        <p:txBody>
          <a:bodyPr wrap="square" lIns="0" tIns="0" rIns="0" bIns="0" rtlCol="0" anchor="ctr"/>
          <a:lstStyle/>
          <a:p>
            <a:pPr marL="0" indent="0" algn="r">
              <a:buNone/>
            </a:pPr>
            <a:r>
              <a:rPr lang="en-US" sz="900" dirty="0">
                <a:solidFill>
                  <a:srgbClr val="6E7F8F"/>
                </a:solidFill>
                <a:latin typeface="Calibri" pitchFamily="34" charset="0"/>
                <a:ea typeface="Calibri" pitchFamily="34" charset="-122"/>
                <a:cs typeface="Calibri" pitchFamily="34" charset="-120"/>
              </a:rPr>
              <a:t>n = 366</a:t>
            </a:r>
            <a:endParaRPr lang="en-US" sz="900" dirty="0"/>
          </a:p>
        </p:txBody>
      </p:sp>
      <p:sp>
        <p:nvSpPr>
          <p:cNvPr id="21" name="Text 18"/>
          <p:cNvSpPr/>
          <p:nvPr/>
        </p:nvSpPr>
        <p:spPr>
          <a:xfrm>
            <a:off x="9400032" y="3931920"/>
            <a:ext cx="2057400" cy="237744"/>
          </a:xfrm>
          <a:prstGeom prst="rect">
            <a:avLst/>
          </a:prstGeom>
          <a:noFill/>
          <a:ln/>
        </p:spPr>
        <p:txBody>
          <a:bodyPr wrap="square" lIns="0" tIns="0" rIns="0" bIns="0" rtlCol="0" anchor="ctr"/>
          <a:lstStyle/>
          <a:p>
            <a:pPr marL="0" indent="0">
              <a:buNone/>
            </a:pPr>
            <a:r>
              <a:rPr lang="en-US" sz="1000" dirty="0">
                <a:solidFill>
                  <a:srgbClr val="3C5169"/>
                </a:solidFill>
                <a:latin typeface="Courier New" pitchFamily="34" charset="0"/>
                <a:ea typeface="Courier New" pitchFamily="34" charset="-122"/>
                <a:cs typeface="Courier New" pitchFamily="34" charset="-120"/>
              </a:rPr>
              <a:t>69.1 / 78.3</a:t>
            </a:r>
            <a:endParaRPr lang="en-US" sz="1000" dirty="0"/>
          </a:p>
        </p:txBody>
      </p:sp>
      <p:sp>
        <p:nvSpPr>
          <p:cNvPr id="22" name="Text 19"/>
          <p:cNvSpPr/>
          <p:nvPr/>
        </p:nvSpPr>
        <p:spPr>
          <a:xfrm>
            <a:off x="9400032" y="4114800"/>
            <a:ext cx="2057400" cy="219456"/>
          </a:xfrm>
          <a:prstGeom prst="rect">
            <a:avLst/>
          </a:prstGeom>
          <a:noFill/>
          <a:ln/>
        </p:spPr>
        <p:txBody>
          <a:bodyPr wrap="square" lIns="0" tIns="0" rIns="0" bIns="0" rtlCol="0" anchor="ctr"/>
          <a:lstStyle/>
          <a:p>
            <a:pPr marL="0" indent="0">
              <a:buNone/>
            </a:pPr>
            <a:r>
              <a:rPr lang="en-US" sz="850" i="1" dirty="0">
                <a:solidFill>
                  <a:srgbClr val="6E7F8F"/>
                </a:solidFill>
                <a:latin typeface="Calibri" pitchFamily="34" charset="0"/>
                <a:ea typeface="Calibri" pitchFamily="34" charset="-122"/>
                <a:cs typeface="Calibri" pitchFamily="34" charset="-120"/>
              </a:rPr>
              <a:t>LSTM-only / Fusion, W/m²</a:t>
            </a:r>
            <a:endParaRPr lang="en-US" sz="850" dirty="0"/>
          </a:p>
        </p:txBody>
      </p:sp>
      <p:sp>
        <p:nvSpPr>
          <p:cNvPr id="23" name="Shape 20"/>
          <p:cNvSpPr/>
          <p:nvPr/>
        </p:nvSpPr>
        <p:spPr>
          <a:xfrm>
            <a:off x="566928" y="4553712"/>
            <a:ext cx="3520440" cy="1481328"/>
          </a:xfrm>
          <a:prstGeom prst="roundRect">
            <a:avLst>
              <a:gd name="adj" fmla="val 3086"/>
            </a:avLst>
          </a:prstGeom>
          <a:solidFill>
            <a:srgbClr val="EFF3F7"/>
          </a:solidFill>
          <a:ln w="7620">
            <a:solidFill>
              <a:srgbClr val="CFD9E2"/>
            </a:solidFill>
            <a:prstDash val="solid"/>
          </a:ln>
        </p:spPr>
        <p:txBody>
          <a:bodyPr/>
          <a:lstStyle/>
          <a:p>
            <a:endParaRPr lang="en-AE"/>
          </a:p>
        </p:txBody>
      </p:sp>
      <p:sp>
        <p:nvSpPr>
          <p:cNvPr id="24" name="Text 21"/>
          <p:cNvSpPr/>
          <p:nvPr/>
        </p:nvSpPr>
        <p:spPr>
          <a:xfrm>
            <a:off x="786384" y="4663440"/>
            <a:ext cx="3108960" cy="420624"/>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Error is proportional to what there is to get wrong</a:t>
            </a:r>
            <a:endParaRPr lang="en-US" sz="1050" dirty="0"/>
          </a:p>
        </p:txBody>
      </p:sp>
      <p:sp>
        <p:nvSpPr>
          <p:cNvPr id="25" name="Text 22"/>
          <p:cNvSpPr/>
          <p:nvPr/>
        </p:nvSpPr>
        <p:spPr>
          <a:xfrm>
            <a:off x="786384" y="5102352"/>
            <a:ext cx="3108960" cy="868680"/>
          </a:xfrm>
          <a:prstGeom prst="rect">
            <a:avLst/>
          </a:prstGeom>
          <a:noFill/>
          <a:ln/>
        </p:spPr>
        <p:txBody>
          <a:bodyPr wrap="square" lIns="0" tIns="0" rIns="0" bIns="0" rtlCol="0" anchor="ctr"/>
          <a:lstStyle/>
          <a:p>
            <a:pPr marL="0" indent="0">
              <a:lnSpc>
                <a:spcPts val="1300"/>
              </a:lnSpc>
              <a:buNone/>
            </a:pPr>
            <a:r>
              <a:rPr lang="en-US" sz="950" dirty="0">
                <a:solidFill>
                  <a:srgbClr val="3C5169"/>
                </a:solidFill>
                <a:latin typeface="Calibri" pitchFamily="34" charset="0"/>
                <a:ea typeface="Calibri" pitchFamily="34" charset="-122"/>
                <a:cs typeface="Calibri" pitchFamily="34" charset="-120"/>
              </a:rPr>
              <a:t>MAE peaks at 12:00–13:00 (109.8 / 127.8 W/m²) where mean GHI is 683–727, and falls to 54.8 / 57.4 at 16:00 where mean GHI is 497. Normalised by the hourly mean, the relative error is far flatter — this is a scale effect, not a time-of-day weakness.</a:t>
            </a:r>
            <a:endParaRPr lang="en-US" sz="950" dirty="0"/>
          </a:p>
        </p:txBody>
      </p:sp>
      <p:sp>
        <p:nvSpPr>
          <p:cNvPr id="26" name="Shape 23"/>
          <p:cNvSpPr/>
          <p:nvPr/>
        </p:nvSpPr>
        <p:spPr>
          <a:xfrm>
            <a:off x="4270248" y="4553712"/>
            <a:ext cx="3520440" cy="1481328"/>
          </a:xfrm>
          <a:prstGeom prst="roundRect">
            <a:avLst>
              <a:gd name="adj" fmla="val 3086"/>
            </a:avLst>
          </a:prstGeom>
          <a:solidFill>
            <a:srgbClr val="EFF3F7"/>
          </a:solidFill>
          <a:ln w="7620">
            <a:solidFill>
              <a:srgbClr val="CFD9E2"/>
            </a:solidFill>
            <a:prstDash val="solid"/>
          </a:ln>
        </p:spPr>
        <p:txBody>
          <a:bodyPr/>
          <a:lstStyle/>
          <a:p>
            <a:endParaRPr lang="en-AE"/>
          </a:p>
        </p:txBody>
      </p:sp>
      <p:sp>
        <p:nvSpPr>
          <p:cNvPr id="27" name="Text 24"/>
          <p:cNvSpPr/>
          <p:nvPr/>
        </p:nvSpPr>
        <p:spPr>
          <a:xfrm>
            <a:off x="4489704" y="4663440"/>
            <a:ext cx="3108960" cy="420624"/>
          </a:xfrm>
          <a:prstGeom prst="rect">
            <a:avLst/>
          </a:prstGeom>
          <a:noFill/>
          <a:ln/>
        </p:spPr>
        <p:txBody>
          <a:bodyPr wrap="square" lIns="0" tIns="0" rIns="0" bIns="0" rtlCol="0" anchor="ctr"/>
          <a:lstStyle/>
          <a:p>
            <a:pPr marL="0" indent="0">
              <a:buNone/>
            </a:pPr>
            <a:r>
              <a:rPr lang="en-US" sz="1050" b="1" dirty="0">
                <a:solidFill>
                  <a:srgbClr val="1C7293"/>
                </a:solidFill>
                <a:latin typeface="Calibri" pitchFamily="34" charset="0"/>
                <a:ea typeface="Calibri" pitchFamily="34" charset="-122"/>
                <a:cs typeface="Calibri" pitchFamily="34" charset="-120"/>
              </a:rPr>
              <a:t>Cloudiness is the dominant error driver</a:t>
            </a:r>
            <a:endParaRPr lang="en-US" sz="1050" dirty="0"/>
          </a:p>
        </p:txBody>
      </p:sp>
      <p:sp>
        <p:nvSpPr>
          <p:cNvPr id="28" name="Text 25"/>
          <p:cNvSpPr/>
          <p:nvPr/>
        </p:nvSpPr>
        <p:spPr>
          <a:xfrm>
            <a:off x="4489704" y="5102352"/>
            <a:ext cx="3108960" cy="868680"/>
          </a:xfrm>
          <a:prstGeom prst="rect">
            <a:avLst/>
          </a:prstGeom>
          <a:noFill/>
          <a:ln/>
        </p:spPr>
        <p:txBody>
          <a:bodyPr wrap="square" lIns="0" tIns="0" rIns="0" bIns="0" rtlCol="0" anchor="ctr"/>
          <a:lstStyle/>
          <a:p>
            <a:pPr marL="0" indent="0">
              <a:lnSpc>
                <a:spcPts val="1300"/>
              </a:lnSpc>
              <a:buNone/>
            </a:pPr>
            <a:r>
              <a:rPr lang="en-US" sz="950" dirty="0">
                <a:solidFill>
                  <a:srgbClr val="3C5169"/>
                </a:solidFill>
                <a:latin typeface="Calibri" pitchFamily="34" charset="0"/>
                <a:ea typeface="Calibri" pitchFamily="34" charset="-122"/>
                <a:cs typeface="Calibri" pitchFamily="34" charset="-120"/>
              </a:rPr>
              <a:t>MAE rises monotonically from 69.1 in the clearest bin to 116.9 in the overcast bin — a 69% increase for LSTM-only, and 98% for the fusion model. Physically expected: k_t is nearly deterministic under clear sky and near-chaotic under broken convection.</a:t>
            </a:r>
            <a:endParaRPr lang="en-US" sz="950" dirty="0"/>
          </a:p>
        </p:txBody>
      </p:sp>
      <p:sp>
        <p:nvSpPr>
          <p:cNvPr id="29" name="Shape 26"/>
          <p:cNvSpPr/>
          <p:nvPr/>
        </p:nvSpPr>
        <p:spPr>
          <a:xfrm>
            <a:off x="7973568" y="4553712"/>
            <a:ext cx="3520440" cy="1481328"/>
          </a:xfrm>
          <a:prstGeom prst="roundRect">
            <a:avLst>
              <a:gd name="adj" fmla="val 3086"/>
            </a:avLst>
          </a:prstGeom>
          <a:solidFill>
            <a:srgbClr val="FCEEEC"/>
          </a:solidFill>
          <a:ln w="12700">
            <a:solidFill>
              <a:srgbClr val="B03A2E"/>
            </a:solidFill>
            <a:prstDash val="solid"/>
          </a:ln>
        </p:spPr>
        <p:txBody>
          <a:bodyPr/>
          <a:lstStyle/>
          <a:p>
            <a:endParaRPr lang="en-AE"/>
          </a:p>
        </p:txBody>
      </p:sp>
      <p:sp>
        <p:nvSpPr>
          <p:cNvPr id="30" name="Text 27"/>
          <p:cNvSpPr/>
          <p:nvPr/>
        </p:nvSpPr>
        <p:spPr>
          <a:xfrm>
            <a:off x="8193024" y="4663440"/>
            <a:ext cx="3108960" cy="420624"/>
          </a:xfrm>
          <a:prstGeom prst="rect">
            <a:avLst/>
          </a:prstGeom>
          <a:noFill/>
          <a:ln/>
        </p:spPr>
        <p:txBody>
          <a:bodyPr wrap="square" lIns="0" tIns="0" rIns="0" bIns="0" rtlCol="0" anchor="ctr"/>
          <a:lstStyle/>
          <a:p>
            <a:pPr marL="0" indent="0">
              <a:buNone/>
            </a:pPr>
            <a:r>
              <a:rPr lang="en-US" sz="1050" b="1" dirty="0">
                <a:solidFill>
                  <a:srgbClr val="B03A2E"/>
                </a:solidFill>
                <a:latin typeface="Calibri" pitchFamily="34" charset="0"/>
                <a:ea typeface="Calibri" pitchFamily="34" charset="-122"/>
                <a:cs typeface="Calibri" pitchFamily="34" charset="-120"/>
              </a:rPr>
              <a:t>The fusion model degrades fastest exactly where the image should help</a:t>
            </a:r>
            <a:endParaRPr lang="en-US" sz="1050" dirty="0"/>
          </a:p>
        </p:txBody>
      </p:sp>
      <p:sp>
        <p:nvSpPr>
          <p:cNvPr id="31" name="Text 28"/>
          <p:cNvSpPr/>
          <p:nvPr/>
        </p:nvSpPr>
        <p:spPr>
          <a:xfrm>
            <a:off x="8193024" y="5102352"/>
            <a:ext cx="3108960" cy="868680"/>
          </a:xfrm>
          <a:prstGeom prst="rect">
            <a:avLst/>
          </a:prstGeom>
          <a:noFill/>
          <a:ln/>
        </p:spPr>
        <p:txBody>
          <a:bodyPr wrap="square" lIns="0" tIns="0" rIns="0" bIns="0" rtlCol="0" anchor="ctr"/>
          <a:lstStyle/>
          <a:p>
            <a:pPr marL="0" indent="0">
              <a:lnSpc>
                <a:spcPts val="1300"/>
              </a:lnSpc>
              <a:buNone/>
            </a:pPr>
            <a:r>
              <a:rPr lang="en-US" sz="950" dirty="0">
                <a:solidFill>
                  <a:srgbClr val="3C5169"/>
                </a:solidFill>
                <a:latin typeface="Calibri" pitchFamily="34" charset="0"/>
                <a:ea typeface="Calibri" pitchFamily="34" charset="-122"/>
                <a:cs typeface="Calibri" pitchFamily="34" charset="-120"/>
              </a:rPr>
              <a:t>Under overcast conditions the fusion model is 38.1 W/m² worse than LSTM-only; under clear sky only 9.2 worse. The satellite branch is most harmful in precisely the regime it was added to address.</a:t>
            </a:r>
            <a:endParaRPr lang="en-US" sz="950" dirty="0"/>
          </a:p>
        </p:txBody>
      </p:sp>
      <p:sp>
        <p:nvSpPr>
          <p:cNvPr id="32" name="Text 29"/>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DERIVED ANALYSIS — computed for this defence from the reproduced test predictions; the repository contains no error-stratification output.</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ERROR ANALYSIS — FAILURES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Failure modes — and the one regime where fusion wins</a:t>
            </a:r>
            <a:endParaRPr lang="en-US" sz="3000" dirty="0"/>
          </a:p>
        </p:txBody>
      </p:sp>
      <p:pic>
        <p:nvPicPr>
          <p:cNvPr id="4" name="Image 0" descr="/private/tmp/claude-501/-Users-qasimnalawala-Desktop-Project/4f805972-c040-4417-a161-56574a28f2f7/scratchpad/fig/failure_case.png"/>
          <p:cNvPicPr>
            <a:picLocks noChangeAspect="1"/>
          </p:cNvPicPr>
          <p:nvPr/>
        </p:nvPicPr>
        <p:blipFill>
          <a:blip r:embed="rId3"/>
          <a:stretch>
            <a:fillRect/>
          </a:stretch>
        </p:blipFill>
        <p:spPr>
          <a:xfrm>
            <a:off x="566928" y="1298448"/>
            <a:ext cx="5532120" cy="3063240"/>
          </a:xfrm>
          <a:prstGeom prst="rect">
            <a:avLst/>
          </a:prstGeom>
        </p:spPr>
      </p:pic>
      <p:sp>
        <p:nvSpPr>
          <p:cNvPr id="5" name="Text 2"/>
          <p:cNvSpPr/>
          <p:nvPr/>
        </p:nvSpPr>
        <p:spPr>
          <a:xfrm>
            <a:off x="566928" y="4407408"/>
            <a:ext cx="5532120" cy="365760"/>
          </a:xfrm>
          <a:prstGeom prst="rect">
            <a:avLst/>
          </a:prstGeom>
          <a:noFill/>
          <a:ln/>
        </p:spPr>
        <p:txBody>
          <a:bodyPr wrap="square" lIns="0" tIns="0" rIns="0" bIns="0" rtlCol="0" anchor="ctr"/>
          <a:lstStyle/>
          <a:p>
            <a:pPr marL="0" indent="0">
              <a:lnSpc>
                <a:spcPts val="1400"/>
              </a:lnSpc>
              <a:buNone/>
            </a:pPr>
            <a:r>
              <a:rPr lang="en-US" sz="1050" i="1" dirty="0">
                <a:solidFill>
                  <a:srgbClr val="6E7F8F"/>
                </a:solidFill>
                <a:latin typeface="Calibri" pitchFamily="34" charset="0"/>
                <a:ea typeface="Calibri" pitchFamily="34" charset="-122"/>
                <a:cs typeface="Calibri" pitchFamily="34" charset="-120"/>
              </a:rPr>
              <a:t>The worst three errors in the entire test set all fall on 2 Dec 2025 — a persistently overcast morning (k_t ≈ 0.1).</a:t>
            </a:r>
            <a:endParaRPr lang="en-US" sz="1050" dirty="0"/>
          </a:p>
        </p:txBody>
      </p:sp>
      <p:sp>
        <p:nvSpPr>
          <p:cNvPr id="6" name="Text 3"/>
          <p:cNvSpPr/>
          <p:nvPr/>
        </p:nvSpPr>
        <p:spPr>
          <a:xfrm>
            <a:off x="6355080" y="1298448"/>
            <a:ext cx="5303520" cy="27432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Ten worst fusion errors, ranked</a:t>
            </a:r>
            <a:endParaRPr lang="en-US" sz="12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355080" y="1627632"/>
          <a:ext cx="5047488" cy="2304288"/>
        </p:xfrm>
        <a:graphic>
          <a:graphicData uri="http://schemas.openxmlformats.org/drawingml/2006/table">
            <a:tbl>
              <a:tblPr/>
              <a:tblGrid>
                <a:gridCol w="169164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88036">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Timestamp</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k_t</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actual t+1h</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forecast</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|err|</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88036">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2025-12-02 10:00</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0.1</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662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586</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288036">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2025-12-02 09:00</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0.1</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502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557</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8036">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2025-10-21 13:00</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392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820</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499</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288036">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2025-12-02 11:00</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0.1</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112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615</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477</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8036">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2025-10-21 14:00</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0.4</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163</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782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448</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288036">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2025-11-12 10:00</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267</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613</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432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8036">
                <a:tc>
                  <a:txBody>
                    <a:bodyPr/>
                    <a:lstStyle/>
                    <a:p>
                      <a:pPr marL="0" indent="0" algn="l">
                        <a:buNone/>
                      </a:pPr>
                      <a:r>
                        <a:rPr lang="en-US" sz="1000" dirty="0">
                          <a:solidFill>
                            <a:srgbClr val="0B2545"/>
                          </a:solidFill>
                          <a:latin typeface="Calibri" pitchFamily="34" charset="0"/>
                          <a:ea typeface="Calibri" pitchFamily="34" charset="-122"/>
                          <a:cs typeface="Calibri" pitchFamily="34" charset="-120"/>
                        </a:rPr>
                        <a:t>2025-12-11 10:00</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0.3</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212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652</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00" dirty="0">
                          <a:solidFill>
                            <a:srgbClr val="3C5169"/>
                          </a:solidFill>
                          <a:latin typeface="Calibri" pitchFamily="34" charset="0"/>
                          <a:ea typeface="Calibri" pitchFamily="34" charset="-122"/>
                          <a:cs typeface="Calibri" pitchFamily="34" charset="-120"/>
                        </a:rPr>
                        <a:t>411</a:t>
                      </a:r>
                      <a:endParaRPr lang="en-US" sz="10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bl>
          </a:graphicData>
        </a:graphic>
      </p:graphicFrame>
      <p:sp>
        <p:nvSpPr>
          <p:cNvPr id="8" name="Text 4"/>
          <p:cNvSpPr/>
          <p:nvPr/>
        </p:nvSpPr>
        <p:spPr>
          <a:xfrm>
            <a:off x="6355080" y="3895344"/>
            <a:ext cx="5276088" cy="384048"/>
          </a:xfrm>
          <a:prstGeom prst="rect">
            <a:avLst/>
          </a:prstGeom>
          <a:noFill/>
          <a:ln/>
        </p:spPr>
        <p:txBody>
          <a:bodyPr wrap="square" lIns="0" tIns="0" rIns="0" bIns="0" rtlCol="0" anchor="ctr"/>
          <a:lstStyle/>
          <a:p>
            <a:pPr marL="0" indent="0">
              <a:lnSpc>
                <a:spcPts val="1300"/>
              </a:lnSpc>
              <a:buNone/>
            </a:pPr>
            <a:r>
              <a:rPr lang="en-US" sz="950" i="1" dirty="0">
                <a:solidFill>
                  <a:srgbClr val="6E7F8F"/>
                </a:solidFill>
                <a:latin typeface="Calibri" pitchFamily="34" charset="0"/>
                <a:ea typeface="Calibri" pitchFamily="34" charset="-122"/>
                <a:cs typeface="Calibri" pitchFamily="34" charset="-120"/>
              </a:rPr>
              <a:t>W/m². Every one is a case where the true sky was far darker than climatology and the model reverted toward clear-sky values.</a:t>
            </a:r>
            <a:endParaRPr lang="en-US" sz="950" dirty="0"/>
          </a:p>
        </p:txBody>
      </p:sp>
      <p:sp>
        <p:nvSpPr>
          <p:cNvPr id="9" name="Shape 5"/>
          <p:cNvSpPr/>
          <p:nvPr/>
        </p:nvSpPr>
        <p:spPr>
          <a:xfrm>
            <a:off x="6355080" y="4407408"/>
            <a:ext cx="5276088" cy="1627632"/>
          </a:xfrm>
          <a:prstGeom prst="roundRect">
            <a:avLst>
              <a:gd name="adj" fmla="val 2809"/>
            </a:avLst>
          </a:prstGeom>
          <a:solidFill>
            <a:srgbClr val="EDF5EF"/>
          </a:solidFill>
          <a:ln w="12700">
            <a:solidFill>
              <a:srgbClr val="2C6E49"/>
            </a:solidFill>
            <a:prstDash val="solid"/>
          </a:ln>
        </p:spPr>
        <p:txBody>
          <a:bodyPr/>
          <a:lstStyle/>
          <a:p>
            <a:endParaRPr lang="en-AE"/>
          </a:p>
        </p:txBody>
      </p:sp>
      <p:sp>
        <p:nvSpPr>
          <p:cNvPr id="10" name="Text 6"/>
          <p:cNvSpPr/>
          <p:nvPr/>
        </p:nvSpPr>
        <p:spPr>
          <a:xfrm>
            <a:off x="6583680" y="4517136"/>
            <a:ext cx="4846320" cy="274320"/>
          </a:xfrm>
          <a:prstGeom prst="rect">
            <a:avLst/>
          </a:prstGeom>
          <a:noFill/>
          <a:ln/>
        </p:spPr>
        <p:txBody>
          <a:bodyPr wrap="square" lIns="0" tIns="0" rIns="0" bIns="0" rtlCol="0" anchor="ctr"/>
          <a:lstStyle/>
          <a:p>
            <a:pPr marL="0" indent="0">
              <a:buNone/>
            </a:pPr>
            <a:r>
              <a:rPr lang="en-US" sz="1200" b="1" dirty="0">
                <a:solidFill>
                  <a:srgbClr val="2C6E49"/>
                </a:solidFill>
                <a:latin typeface="Calibri" pitchFamily="34" charset="0"/>
                <a:ea typeface="Calibri" pitchFamily="34" charset="-122"/>
                <a:cs typeface="Calibri" pitchFamily="34" charset="-120"/>
              </a:rPr>
              <a:t>The one regime where the image branch pays</a:t>
            </a:r>
            <a:endParaRPr lang="en-US" sz="1200" dirty="0"/>
          </a:p>
        </p:txBody>
      </p:sp>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6583680" y="4828032"/>
          <a:ext cx="4800600" cy="1060704"/>
        </p:xfrm>
        <a:graphic>
          <a:graphicData uri="http://schemas.openxmlformats.org/drawingml/2006/table">
            <a:tbl>
              <a:tblPr/>
              <a:tblGrid>
                <a:gridCol w="1600200">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896112">
                  <a:extLst>
                    <a:ext uri="{9D8B030D-6E8A-4147-A177-3AD203B41FA5}">
                      <a16:colId xmlns:a16="http://schemas.microsoft.com/office/drawing/2014/main" val="20003"/>
                    </a:ext>
                  </a:extLst>
                </a:gridCol>
                <a:gridCol w="841248">
                  <a:extLst>
                    <a:ext uri="{9D8B030D-6E8A-4147-A177-3AD203B41FA5}">
                      <a16:colId xmlns:a16="http://schemas.microsoft.com/office/drawing/2014/main" val="20004"/>
                    </a:ext>
                  </a:extLst>
                </a:gridCol>
              </a:tblGrid>
              <a:tr h="265176">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Ramp |ΔGHI| t→t+1h</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LSTM</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Fusion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Pers.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651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&gt; 100 W/m²</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950" dirty="0">
                          <a:solidFill>
                            <a:srgbClr val="3C5169"/>
                          </a:solidFill>
                          <a:latin typeface="Calibri" pitchFamily="34" charset="0"/>
                          <a:ea typeface="Calibri" pitchFamily="34" charset="-122"/>
                          <a:cs typeface="Calibri" pitchFamily="34" charset="-120"/>
                        </a:rPr>
                        <a:t>752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950" dirty="0">
                          <a:solidFill>
                            <a:srgbClr val="3C5169"/>
                          </a:solidFill>
                          <a:latin typeface="Calibri" pitchFamily="34" charset="0"/>
                          <a:ea typeface="Calibri" pitchFamily="34" charset="-122"/>
                          <a:cs typeface="Calibri" pitchFamily="34" charset="-120"/>
                        </a:rPr>
                        <a:t>76.5</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950" dirty="0">
                          <a:solidFill>
                            <a:srgbClr val="3C5169"/>
                          </a:solidFill>
                          <a:latin typeface="Calibri" pitchFamily="34" charset="0"/>
                          <a:ea typeface="Calibri" pitchFamily="34" charset="-122"/>
                          <a:cs typeface="Calibri" pitchFamily="34" charset="-120"/>
                        </a:rPr>
                        <a:t>87.3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950" dirty="0">
                          <a:solidFill>
                            <a:srgbClr val="3C5169"/>
                          </a:solidFill>
                          <a:latin typeface="Calibri" pitchFamily="34" charset="0"/>
                          <a:ea typeface="Calibri" pitchFamily="34" charset="-122"/>
                          <a:cs typeface="Calibri" pitchFamily="34" charset="-120"/>
                        </a:rPr>
                        <a:t>208.8</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2651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&gt; 200 W/m²</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950" dirty="0">
                          <a:solidFill>
                            <a:srgbClr val="3C5169"/>
                          </a:solidFill>
                          <a:latin typeface="Calibri" pitchFamily="34" charset="0"/>
                          <a:ea typeface="Calibri" pitchFamily="34" charset="-122"/>
                          <a:cs typeface="Calibri" pitchFamily="34" charset="-120"/>
                        </a:rPr>
                        <a:t>324</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950" dirty="0">
                          <a:solidFill>
                            <a:srgbClr val="3C5169"/>
                          </a:solidFill>
                          <a:latin typeface="Calibri" pitchFamily="34" charset="0"/>
                          <a:ea typeface="Calibri" pitchFamily="34" charset="-122"/>
                          <a:cs typeface="Calibri" pitchFamily="34" charset="-120"/>
                        </a:rPr>
                        <a:t>82.4</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950" dirty="0">
                          <a:solidFill>
                            <a:srgbClr val="3C5169"/>
                          </a:solidFill>
                          <a:latin typeface="Calibri" pitchFamily="34" charset="0"/>
                          <a:ea typeface="Calibri" pitchFamily="34" charset="-122"/>
                          <a:cs typeface="Calibri" pitchFamily="34" charset="-120"/>
                        </a:rPr>
                        <a:t>85.0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950" dirty="0">
                          <a:solidFill>
                            <a:srgbClr val="3C5169"/>
                          </a:solidFill>
                          <a:latin typeface="Calibri" pitchFamily="34" charset="0"/>
                          <a:ea typeface="Calibri" pitchFamily="34" charset="-122"/>
                          <a:cs typeface="Calibri" pitchFamily="34" charset="-120"/>
                        </a:rPr>
                        <a:t>281.3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lgn="l">
                        <a:buNone/>
                      </a:pPr>
                      <a:r>
                        <a:rPr lang="en-US" sz="950" b="1" dirty="0">
                          <a:solidFill>
                            <a:srgbClr val="0B2545"/>
                          </a:solidFill>
                          <a:latin typeface="Calibri" pitchFamily="34" charset="0"/>
                          <a:ea typeface="Calibri" pitchFamily="34" charset="-122"/>
                          <a:cs typeface="Calibri" pitchFamily="34" charset="-120"/>
                        </a:rPr>
                        <a:t>&gt; 300 W/m²</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950" b="1" dirty="0">
                          <a:solidFill>
                            <a:srgbClr val="3C5169"/>
                          </a:solidFill>
                          <a:latin typeface="Calibri" pitchFamily="34" charset="0"/>
                          <a:ea typeface="Calibri" pitchFamily="34" charset="-122"/>
                          <a:cs typeface="Calibri" pitchFamily="34" charset="-120"/>
                        </a:rPr>
                        <a:t>106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950" b="1" dirty="0">
                          <a:solidFill>
                            <a:srgbClr val="3C5169"/>
                          </a:solidFill>
                          <a:latin typeface="Calibri" pitchFamily="34" charset="0"/>
                          <a:ea typeface="Calibri" pitchFamily="34" charset="-122"/>
                          <a:cs typeface="Calibri" pitchFamily="34" charset="-120"/>
                        </a:rPr>
                        <a:t>92.3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950" b="1" dirty="0">
                          <a:solidFill>
                            <a:srgbClr val="3C5169"/>
                          </a:solidFill>
                          <a:latin typeface="Calibri" pitchFamily="34" charset="0"/>
                          <a:ea typeface="Calibri" pitchFamily="34" charset="-122"/>
                          <a:cs typeface="Calibri" pitchFamily="34" charset="-120"/>
                        </a:rPr>
                        <a:t>86.2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950" b="1" dirty="0">
                          <a:solidFill>
                            <a:srgbClr val="3C5169"/>
                          </a:solidFill>
                          <a:latin typeface="Calibri" pitchFamily="34" charset="0"/>
                          <a:ea typeface="Calibri" pitchFamily="34" charset="-122"/>
                          <a:cs typeface="Calibri" pitchFamily="34" charset="-120"/>
                        </a:rPr>
                        <a:t>374.2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bl>
          </a:graphicData>
        </a:graphic>
      </p:graphicFrame>
      <p:sp>
        <p:nvSpPr>
          <p:cNvPr id="12" name="Shape 7"/>
          <p:cNvSpPr/>
          <p:nvPr/>
        </p:nvSpPr>
        <p:spPr>
          <a:xfrm>
            <a:off x="566928" y="4864608"/>
            <a:ext cx="5532120" cy="1170432"/>
          </a:xfrm>
          <a:prstGeom prst="roundRect">
            <a:avLst>
              <a:gd name="adj" fmla="val 3906"/>
            </a:avLst>
          </a:prstGeom>
          <a:solidFill>
            <a:srgbClr val="EFF3F7"/>
          </a:solidFill>
          <a:ln w="7620">
            <a:solidFill>
              <a:srgbClr val="CFD9E2"/>
            </a:solidFill>
            <a:prstDash val="solid"/>
          </a:ln>
        </p:spPr>
        <p:txBody>
          <a:bodyPr/>
          <a:lstStyle/>
          <a:p>
            <a:endParaRPr lang="en-AE"/>
          </a:p>
        </p:txBody>
      </p:sp>
      <p:sp>
        <p:nvSpPr>
          <p:cNvPr id="13" name="Text 8"/>
          <p:cNvSpPr/>
          <p:nvPr/>
        </p:nvSpPr>
        <p:spPr>
          <a:xfrm>
            <a:off x="786384" y="4956048"/>
            <a:ext cx="5120640" cy="1024128"/>
          </a:xfrm>
          <a:prstGeom prst="rect">
            <a:avLst/>
          </a:prstGeom>
          <a:noFill/>
          <a:ln/>
        </p:spPr>
        <p:txBody>
          <a:bodyPr wrap="square" lIns="0" tIns="0" rIns="0" bIns="0" rtlCol="0" anchor="ctr"/>
          <a:lstStyle/>
          <a:p>
            <a:pPr marL="0" indent="0">
              <a:lnSpc>
                <a:spcPts val="1250"/>
              </a:lnSpc>
              <a:buNone/>
            </a:pPr>
            <a:r>
              <a:rPr lang="en-US" sz="900" b="1" kern="0" spc="130" dirty="0">
                <a:solidFill>
                  <a:srgbClr val="1C7293"/>
                </a:solidFill>
                <a:latin typeface="Calibri" pitchFamily="34" charset="0"/>
                <a:ea typeface="Calibri" pitchFamily="34" charset="-122"/>
                <a:cs typeface="Calibri" pitchFamily="34" charset="-120"/>
              </a:rPr>
              <a:t>INTERPRETATION  </a:t>
            </a:r>
            <a:endParaRPr lang="en-US" sz="950" dirty="0"/>
          </a:p>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On deep-overcast days the satellite tile saturates to near-uniform bright cloud, image-feature variance collapses, and the model falls back toward the conditional mean — which is close to clear-sky. LSTM-only makes the same error but only half as large, because its lagged-GHI feature still records that the morning was dark. </a:t>
            </a:r>
            <a:endParaRPr lang="en-US" sz="950" dirty="0"/>
          </a:p>
          <a:p>
            <a:pPr marL="0" indent="0">
              <a:lnSpc>
                <a:spcPts val="1250"/>
              </a:lnSpc>
              <a:buNone/>
            </a:pPr>
            <a:r>
              <a:rPr lang="en-US" sz="950" b="1" dirty="0">
                <a:solidFill>
                  <a:srgbClr val="0B2545"/>
                </a:solidFill>
                <a:latin typeface="Calibri" pitchFamily="34" charset="0"/>
                <a:ea typeface="Calibri" pitchFamily="34" charset="-122"/>
                <a:cs typeface="Calibri" pitchFamily="34" charset="-120"/>
              </a:rPr>
              <a:t>On large ramps, in contrast, the fusion model is the best of all methods — the only regime where the image earns its place.</a:t>
            </a:r>
            <a:endParaRPr lang="en-US" sz="950" dirty="0"/>
          </a:p>
        </p:txBody>
      </p:sp>
      <p:sp>
        <p:nvSpPr>
          <p:cNvPr id="14" name="Text 9"/>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DERIVED ANALYSIS — computed for this defence from the reproduced test predictions.</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ERROR ANALYSIS — AUDIT</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A methodological artefact I found while preparing this defence</a:t>
            </a:r>
            <a:endParaRPr lang="en-US" sz="3000" dirty="0"/>
          </a:p>
        </p:txBody>
      </p:sp>
      <p:sp>
        <p:nvSpPr>
          <p:cNvPr id="4" name="Shape 2"/>
          <p:cNvSpPr/>
          <p:nvPr/>
        </p:nvSpPr>
        <p:spPr>
          <a:xfrm>
            <a:off x="566928" y="1298448"/>
            <a:ext cx="11064240" cy="960120"/>
          </a:xfrm>
          <a:prstGeom prst="roundRect">
            <a:avLst>
              <a:gd name="adj" fmla="val 4762"/>
            </a:avLst>
          </a:prstGeom>
          <a:solidFill>
            <a:srgbClr val="FBF3E4"/>
          </a:solidFill>
          <a:ln w="15240">
            <a:solidFill>
              <a:srgbClr val="E8A33D"/>
            </a:solidFill>
            <a:prstDash val="solid"/>
          </a:ln>
        </p:spPr>
        <p:txBody>
          <a:bodyPr/>
          <a:lstStyle/>
          <a:p>
            <a:endParaRPr lang="en-AE"/>
          </a:p>
        </p:txBody>
      </p:sp>
      <p:sp>
        <p:nvSpPr>
          <p:cNvPr id="5" name="Text 3"/>
          <p:cNvSpPr/>
          <p:nvPr/>
        </p:nvSpPr>
        <p:spPr>
          <a:xfrm>
            <a:off x="868680" y="1444752"/>
            <a:ext cx="10424160" cy="685800"/>
          </a:xfrm>
          <a:prstGeom prst="rect">
            <a:avLst/>
          </a:prstGeom>
          <a:noFill/>
          <a:ln/>
        </p:spPr>
        <p:txBody>
          <a:bodyPr wrap="square" lIns="0" tIns="0" rIns="0" bIns="0" rtlCol="0" anchor="ctr"/>
          <a:lstStyle/>
          <a:p>
            <a:pPr marL="0" indent="0">
              <a:lnSpc>
                <a:spcPts val="1900"/>
              </a:lnSpc>
              <a:buNone/>
            </a:pPr>
            <a:r>
              <a:rPr lang="en-US" sz="1350" dirty="0">
                <a:solidFill>
                  <a:srgbClr val="0B2545"/>
                </a:solidFill>
                <a:latin typeface="Calibri" pitchFamily="34" charset="0"/>
                <a:ea typeface="Calibri" pitchFamily="34" charset="-122"/>
                <a:cs typeface="Calibri" pitchFamily="34" charset="-120"/>
              </a:rPr>
              <a:t>Because only 08:00–17:00 is retained, a "t+3h" target issued at 16:00 is not 19:00 — it is 09:00 the next morning. This affects 10% of t+1h targets, 20% of t+2h and 30% of t+3h.</a:t>
            </a:r>
            <a:endParaRPr lang="en-US" sz="13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2468880"/>
          <a:ext cx="6766560" cy="1563624"/>
        </p:xfrm>
        <a:graphic>
          <a:graphicData uri="http://schemas.openxmlformats.org/drawingml/2006/table">
            <a:tbl>
              <a:tblPr/>
              <a:tblGrid>
                <a:gridCol w="1005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tblGrid>
              <a:tr h="384048">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Horizon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same-day targets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next-morning targets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LSTM MAE same / next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Fusion MAE same / next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t+1h</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1,008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82.5  /  34.8</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101.4  /  34.4</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t+2h</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896</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224</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93.8  /  45.0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110.6  /  47.2</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t+3h</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784</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336</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105.7  /  61.1</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r">
                        <a:buNone/>
                      </a:pPr>
                      <a:r>
                        <a:rPr lang="en-US" sz="1050" dirty="0">
                          <a:solidFill>
                            <a:srgbClr val="3C5169"/>
                          </a:solidFill>
                          <a:latin typeface="Calibri" pitchFamily="34" charset="0"/>
                          <a:ea typeface="Calibri" pitchFamily="34" charset="-122"/>
                          <a:cs typeface="Calibri" pitchFamily="34" charset="-120"/>
                        </a:rPr>
                        <a:t>118.7  /  57.0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bl>
          </a:graphicData>
        </a:graphic>
      </p:graphicFrame>
      <p:sp>
        <p:nvSpPr>
          <p:cNvPr id="7" name="Shape 4"/>
          <p:cNvSpPr/>
          <p:nvPr/>
        </p:nvSpPr>
        <p:spPr>
          <a:xfrm>
            <a:off x="7607808" y="2468880"/>
            <a:ext cx="4023360" cy="1133856"/>
          </a:xfrm>
          <a:prstGeom prst="roundRect">
            <a:avLst>
              <a:gd name="adj" fmla="val 4032"/>
            </a:avLst>
          </a:prstGeom>
          <a:solidFill>
            <a:srgbClr val="EFF3F7"/>
          </a:solidFill>
          <a:ln w="7620">
            <a:solidFill>
              <a:srgbClr val="CFD9E2"/>
            </a:solidFill>
            <a:prstDash val="solid"/>
          </a:ln>
        </p:spPr>
        <p:txBody>
          <a:bodyPr/>
          <a:lstStyle/>
          <a:p>
            <a:endParaRPr lang="en-AE"/>
          </a:p>
        </p:txBody>
      </p:sp>
      <p:sp>
        <p:nvSpPr>
          <p:cNvPr id="8" name="Text 5"/>
          <p:cNvSpPr/>
          <p:nvPr/>
        </p:nvSpPr>
        <p:spPr>
          <a:xfrm>
            <a:off x="7827264" y="2560320"/>
            <a:ext cx="3611880" cy="384048"/>
          </a:xfrm>
          <a:prstGeom prst="rect">
            <a:avLst/>
          </a:prstGeom>
          <a:noFill/>
          <a:ln/>
        </p:spPr>
        <p:txBody>
          <a:bodyPr wrap="square" lIns="0" tIns="0" rIns="0" bIns="0" rtlCol="0" anchor="ctr"/>
          <a:lstStyle/>
          <a:p>
            <a:pPr marL="0" indent="0">
              <a:buNone/>
            </a:pPr>
            <a:r>
              <a:rPr lang="en-US" sz="1050" b="1" dirty="0">
                <a:solidFill>
                  <a:srgbClr val="B87A1B"/>
                </a:solidFill>
                <a:latin typeface="Calibri" pitchFamily="34" charset="0"/>
                <a:ea typeface="Calibri" pitchFamily="34" charset="-122"/>
                <a:cs typeface="Calibri" pitchFamily="34" charset="-120"/>
              </a:rPr>
              <a:t>It makes the reported numbers LOOK BETTER, not worse</a:t>
            </a:r>
            <a:endParaRPr lang="en-US" sz="1050" dirty="0"/>
          </a:p>
        </p:txBody>
      </p:sp>
      <p:sp>
        <p:nvSpPr>
          <p:cNvPr id="9" name="Text 6"/>
          <p:cNvSpPr/>
          <p:nvPr/>
        </p:nvSpPr>
        <p:spPr>
          <a:xfrm>
            <a:off x="7827264" y="2944368"/>
            <a:ext cx="3611880" cy="621792"/>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Next-morning targets are early hours with low, near-deterministic GHI — MAE 35–61 versus 83–119 W/m² for genuine same-day forecasts. About 20% of reported forecast-hours are these easy cases, so every headline MAE here is optimistic.</a:t>
            </a:r>
            <a:endParaRPr lang="en-US" sz="900" dirty="0"/>
          </a:p>
        </p:txBody>
      </p:sp>
      <p:sp>
        <p:nvSpPr>
          <p:cNvPr id="10" name="Shape 7"/>
          <p:cNvSpPr/>
          <p:nvPr/>
        </p:nvSpPr>
        <p:spPr>
          <a:xfrm>
            <a:off x="7607808" y="3657600"/>
            <a:ext cx="4023360" cy="1133856"/>
          </a:xfrm>
          <a:prstGeom prst="roundRect">
            <a:avLst>
              <a:gd name="adj" fmla="val 4032"/>
            </a:avLst>
          </a:prstGeom>
          <a:solidFill>
            <a:srgbClr val="EFF3F7"/>
          </a:solidFill>
          <a:ln w="7620">
            <a:solidFill>
              <a:srgbClr val="CFD9E2"/>
            </a:solidFill>
            <a:prstDash val="solid"/>
          </a:ln>
        </p:spPr>
        <p:txBody>
          <a:bodyPr/>
          <a:lstStyle/>
          <a:p>
            <a:endParaRPr lang="en-AE"/>
          </a:p>
        </p:txBody>
      </p:sp>
      <p:sp>
        <p:nvSpPr>
          <p:cNvPr id="11" name="Text 8"/>
          <p:cNvSpPr/>
          <p:nvPr/>
        </p:nvSpPr>
        <p:spPr>
          <a:xfrm>
            <a:off x="7827264" y="3749040"/>
            <a:ext cx="3611880" cy="384048"/>
          </a:xfrm>
          <a:prstGeom prst="rect">
            <a:avLst/>
          </a:prstGeom>
          <a:noFill/>
          <a:ln/>
        </p:spPr>
        <p:txBody>
          <a:bodyPr wrap="square" lIns="0" tIns="0" rIns="0" bIns="0" rtlCol="0" anchor="ctr"/>
          <a:lstStyle/>
          <a:p>
            <a:pPr marL="0" indent="0">
              <a:buNone/>
            </a:pPr>
            <a:r>
              <a:rPr lang="en-US" sz="1050" b="1" dirty="0">
                <a:solidFill>
                  <a:srgbClr val="2C6E49"/>
                </a:solidFill>
                <a:latin typeface="Calibri" pitchFamily="34" charset="0"/>
                <a:ea typeface="Calibri" pitchFamily="34" charset="-122"/>
                <a:cs typeface="Calibri" pitchFamily="34" charset="-120"/>
              </a:rPr>
              <a:t>It affects every model identically</a:t>
            </a:r>
            <a:endParaRPr lang="en-US" sz="1050" dirty="0"/>
          </a:p>
        </p:txBody>
      </p:sp>
      <p:sp>
        <p:nvSpPr>
          <p:cNvPr id="12" name="Text 9"/>
          <p:cNvSpPr/>
          <p:nvPr/>
        </p:nvSpPr>
        <p:spPr>
          <a:xfrm>
            <a:off x="7827264" y="4133088"/>
            <a:ext cx="3611880" cy="621792"/>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Baselines, ablations and the fusion model all use the same target construction, so the comparison and the ranking are unaffected. Only the absolute level is inflated.</a:t>
            </a:r>
            <a:endParaRPr lang="en-US" sz="900" dirty="0"/>
          </a:p>
        </p:txBody>
      </p:sp>
      <p:sp>
        <p:nvSpPr>
          <p:cNvPr id="13" name="Shape 10"/>
          <p:cNvSpPr/>
          <p:nvPr/>
        </p:nvSpPr>
        <p:spPr>
          <a:xfrm>
            <a:off x="7607808" y="4846320"/>
            <a:ext cx="4023360" cy="1133856"/>
          </a:xfrm>
          <a:prstGeom prst="roundRect">
            <a:avLst>
              <a:gd name="adj" fmla="val 4032"/>
            </a:avLst>
          </a:prstGeom>
          <a:solidFill>
            <a:srgbClr val="EFF3F7"/>
          </a:solidFill>
          <a:ln w="7620">
            <a:solidFill>
              <a:srgbClr val="CFD9E2"/>
            </a:solidFill>
            <a:prstDash val="solid"/>
          </a:ln>
        </p:spPr>
        <p:txBody>
          <a:bodyPr/>
          <a:lstStyle/>
          <a:p>
            <a:endParaRPr lang="en-AE"/>
          </a:p>
        </p:txBody>
      </p:sp>
      <p:sp>
        <p:nvSpPr>
          <p:cNvPr id="14" name="Text 11"/>
          <p:cNvSpPr/>
          <p:nvPr/>
        </p:nvSpPr>
        <p:spPr>
          <a:xfrm>
            <a:off x="7827264" y="4937760"/>
            <a:ext cx="3611880" cy="384048"/>
          </a:xfrm>
          <a:prstGeom prst="rect">
            <a:avLst/>
          </a:prstGeom>
          <a:noFill/>
          <a:ln/>
        </p:spPr>
        <p:txBody>
          <a:bodyPr wrap="square" lIns="0" tIns="0" rIns="0" bIns="0" rtlCol="0" anchor="ctr"/>
          <a:lstStyle/>
          <a:p>
            <a:pPr marL="0" indent="0">
              <a:buNone/>
            </a:pPr>
            <a:r>
              <a:rPr lang="en-US" sz="1050" b="1" dirty="0">
                <a:solidFill>
                  <a:srgbClr val="B03A2E"/>
                </a:solidFill>
                <a:latin typeface="Calibri" pitchFamily="34" charset="0"/>
                <a:ea typeface="Calibri" pitchFamily="34" charset="-122"/>
                <a:cs typeface="Calibri" pitchFamily="34" charset="-120"/>
              </a:rPr>
              <a:t>It further weakens the image branch</a:t>
            </a:r>
            <a:endParaRPr lang="en-US" sz="1050" dirty="0"/>
          </a:p>
        </p:txBody>
      </p:sp>
      <p:sp>
        <p:nvSpPr>
          <p:cNvPr id="15" name="Text 12"/>
          <p:cNvSpPr/>
          <p:nvPr/>
        </p:nvSpPr>
        <p:spPr>
          <a:xfrm>
            <a:off x="7827264" y="5321808"/>
            <a:ext cx="3611880" cy="621792"/>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For those samples the "previous frame" in the multi-frame stack is 15 hours old, not 1 hour old — and the model has no time-delta input to tell it so. That is a concrete, mechanical reason the image path is noisy on 10% of samples.</a:t>
            </a:r>
            <a:endParaRPr lang="en-US" sz="900" dirty="0"/>
          </a:p>
        </p:txBody>
      </p:sp>
      <p:sp>
        <p:nvSpPr>
          <p:cNvPr id="16" name="Shape 13"/>
          <p:cNvSpPr/>
          <p:nvPr/>
        </p:nvSpPr>
        <p:spPr>
          <a:xfrm>
            <a:off x="566928" y="4133088"/>
            <a:ext cx="6766560" cy="1938528"/>
          </a:xfrm>
          <a:prstGeom prst="roundRect">
            <a:avLst>
              <a:gd name="adj" fmla="val 2358"/>
            </a:avLst>
          </a:prstGeom>
          <a:solidFill>
            <a:srgbClr val="0B2545"/>
          </a:solidFill>
          <a:ln/>
        </p:spPr>
        <p:txBody>
          <a:bodyPr/>
          <a:lstStyle/>
          <a:p>
            <a:endParaRPr lang="en-AE"/>
          </a:p>
        </p:txBody>
      </p:sp>
      <p:sp>
        <p:nvSpPr>
          <p:cNvPr id="17" name="Text 14"/>
          <p:cNvSpPr/>
          <p:nvPr/>
        </p:nvSpPr>
        <p:spPr>
          <a:xfrm>
            <a:off x="868680" y="4261104"/>
            <a:ext cx="621792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The correct fix, and why I am reporting rather than patching it</a:t>
            </a:r>
            <a:endParaRPr lang="en-US" sz="1250" dirty="0"/>
          </a:p>
        </p:txBody>
      </p:sp>
      <p:sp>
        <p:nvSpPr>
          <p:cNvPr id="18" name="Text 15"/>
          <p:cNvSpPr/>
          <p:nvPr/>
        </p:nvSpPr>
        <p:spPr>
          <a:xfrm>
            <a:off x="868680" y="4626864"/>
            <a:ext cx="6217920" cy="1371600"/>
          </a:xfrm>
          <a:prstGeom prst="rect">
            <a:avLst/>
          </a:prstGeom>
          <a:noFill/>
          <a:ln/>
        </p:spPr>
        <p:txBody>
          <a:bodyPr wrap="square" lIns="0" tIns="0" rIns="0" bIns="0" rtlCol="0" anchor="ctr"/>
          <a:lstStyle/>
          <a:p>
            <a:pPr marL="0" indent="0">
              <a:lnSpc>
                <a:spcPts val="1600"/>
              </a:lnSpc>
              <a:buNone/>
            </a:pPr>
            <a:r>
              <a:rPr lang="en-US" sz="1100" dirty="0">
                <a:solidFill>
                  <a:srgbClr val="C3D2E0"/>
                </a:solidFill>
                <a:latin typeface="Calibri" pitchFamily="34" charset="0"/>
                <a:ea typeface="Calibri" pitchFamily="34" charset="-122"/>
                <a:cs typeface="Calibri" pitchFamily="34" charset="-120"/>
              </a:rPr>
              <a:t>Targets should be constructed on a continuous hourly index and any sample whose t+1…t+3 window crosses the overnight gap should be dropped — roughly 30% of samples, leaving about 780 test cases. I did not re-run the experiments with that fix because it would invalidate the comparison against the committed checkpoints, and because the artefact is symmetric across every model. The right response at this stage is disclosure: the absolute MAEs in this deck are optimistic by an amount I can bound but have not corrected.</a:t>
            </a:r>
            <a:endParaRPr lang="en-US" sz="1100" dirty="0"/>
          </a:p>
        </p:txBody>
      </p:sp>
      <p:sp>
        <p:nvSpPr>
          <p:cNvPr id="19" name="Text 16"/>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DERIVED AUDIT — the artefact follows from combined_dataset.py:163 (daylight filter) combined with the shift-based target construction in solar_pv_main.ipynb §2/§5.</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DEPLOYMENT</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From checkpoint to a self-verifying service</a:t>
            </a:r>
            <a:endParaRPr lang="en-US" sz="3000" dirty="0"/>
          </a:p>
        </p:txBody>
      </p:sp>
      <p:sp>
        <p:nvSpPr>
          <p:cNvPr id="4" name="Shape 2"/>
          <p:cNvSpPr/>
          <p:nvPr/>
        </p:nvSpPr>
        <p:spPr>
          <a:xfrm>
            <a:off x="566928" y="1444752"/>
            <a:ext cx="365760" cy="365760"/>
          </a:xfrm>
          <a:prstGeom prst="ellipse">
            <a:avLst/>
          </a:prstGeom>
          <a:solidFill>
            <a:srgbClr val="E8A33D"/>
          </a:solidFill>
          <a:ln/>
        </p:spPr>
        <p:txBody>
          <a:bodyPr/>
          <a:lstStyle/>
          <a:p>
            <a:endParaRPr lang="en-AE"/>
          </a:p>
        </p:txBody>
      </p:sp>
      <p:sp>
        <p:nvSpPr>
          <p:cNvPr id="5" name="Text 3"/>
          <p:cNvSpPr/>
          <p:nvPr/>
        </p:nvSpPr>
        <p:spPr>
          <a:xfrm>
            <a:off x="566928" y="1444752"/>
            <a:ext cx="365760" cy="365760"/>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78992" y="1353312"/>
            <a:ext cx="2240280" cy="38404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10:00 SGT — cron</a:t>
            </a:r>
            <a:endParaRPr lang="en-US" sz="1200" dirty="0"/>
          </a:p>
        </p:txBody>
      </p:sp>
      <p:sp>
        <p:nvSpPr>
          <p:cNvPr id="7" name="Text 5"/>
          <p:cNvSpPr/>
          <p:nvPr/>
        </p:nvSpPr>
        <p:spPr>
          <a:xfrm>
            <a:off x="3383280" y="1335024"/>
            <a:ext cx="3429000" cy="566928"/>
          </a:xfrm>
          <a:prstGeom prst="rect">
            <a:avLst/>
          </a:prstGeom>
          <a:noFill/>
          <a:ln/>
        </p:spPr>
        <p:txBody>
          <a:bodyPr wrap="square" lIns="0" tIns="0" rIns="0" bIns="0" rtlCol="0" anchor="ctr"/>
          <a:lstStyle/>
          <a:p>
            <a:pPr marL="0" indent="0">
              <a:lnSpc>
                <a:spcPts val="1400"/>
              </a:lnSpc>
              <a:buNone/>
            </a:pPr>
            <a:r>
              <a:rPr lang="en-US" sz="1050" dirty="0">
                <a:solidFill>
                  <a:srgbClr val="3C5169"/>
                </a:solidFill>
                <a:latin typeface="Calibri" pitchFamily="34" charset="0"/>
                <a:ea typeface="Calibri" pitchFamily="34" charset="-122"/>
                <a:cs typeface="Calibri" pitchFamily="34" charset="-120"/>
              </a:rPr>
              <a:t>daily_run.sh predict</a:t>
            </a:r>
            <a:endParaRPr lang="en-US" sz="1050" dirty="0"/>
          </a:p>
        </p:txBody>
      </p:sp>
      <p:sp>
        <p:nvSpPr>
          <p:cNvPr id="8" name="Shape 6"/>
          <p:cNvSpPr/>
          <p:nvPr/>
        </p:nvSpPr>
        <p:spPr>
          <a:xfrm>
            <a:off x="749808" y="1828800"/>
            <a:ext cx="0" cy="256032"/>
          </a:xfrm>
          <a:prstGeom prst="line">
            <a:avLst/>
          </a:prstGeom>
          <a:noFill/>
          <a:ln w="12700">
            <a:solidFill>
              <a:srgbClr val="CFD9E2"/>
            </a:solidFill>
            <a:prstDash val="solid"/>
          </a:ln>
        </p:spPr>
        <p:txBody>
          <a:bodyPr/>
          <a:lstStyle/>
          <a:p>
            <a:endParaRPr lang="en-AE"/>
          </a:p>
        </p:txBody>
      </p:sp>
      <p:sp>
        <p:nvSpPr>
          <p:cNvPr id="9" name="Shape 7"/>
          <p:cNvSpPr/>
          <p:nvPr/>
        </p:nvSpPr>
        <p:spPr>
          <a:xfrm>
            <a:off x="566928" y="2194560"/>
            <a:ext cx="365760" cy="365760"/>
          </a:xfrm>
          <a:prstGeom prst="ellipse">
            <a:avLst/>
          </a:prstGeom>
          <a:solidFill>
            <a:srgbClr val="1C7293"/>
          </a:solidFill>
          <a:ln/>
        </p:spPr>
        <p:txBody>
          <a:bodyPr/>
          <a:lstStyle/>
          <a:p>
            <a:endParaRPr lang="en-AE"/>
          </a:p>
        </p:txBody>
      </p:sp>
      <p:sp>
        <p:nvSpPr>
          <p:cNvPr id="10" name="Text 8"/>
          <p:cNvSpPr/>
          <p:nvPr/>
        </p:nvSpPr>
        <p:spPr>
          <a:xfrm>
            <a:off x="566928" y="21945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078992" y="2103120"/>
            <a:ext cx="2240280" cy="38404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current_data.py</a:t>
            </a:r>
            <a:endParaRPr lang="en-US" sz="1200" dirty="0"/>
          </a:p>
        </p:txBody>
      </p:sp>
      <p:sp>
        <p:nvSpPr>
          <p:cNvPr id="12" name="Text 10"/>
          <p:cNvSpPr/>
          <p:nvPr/>
        </p:nvSpPr>
        <p:spPr>
          <a:xfrm>
            <a:off x="3383280" y="2084832"/>
            <a:ext cx="3429000" cy="566928"/>
          </a:xfrm>
          <a:prstGeom prst="rect">
            <a:avLst/>
          </a:prstGeom>
          <a:noFill/>
          <a:ln/>
        </p:spPr>
        <p:txBody>
          <a:bodyPr wrap="square" lIns="0" tIns="0" rIns="0" bIns="0" rtlCol="0" anchor="ctr"/>
          <a:lstStyle/>
          <a:p>
            <a:pPr marL="0" indent="0">
              <a:lnSpc>
                <a:spcPts val="1400"/>
              </a:lnSpc>
              <a:buNone/>
            </a:pPr>
            <a:r>
              <a:rPr lang="en-US" sz="1050" dirty="0">
                <a:solidFill>
                  <a:srgbClr val="3C5169"/>
                </a:solidFill>
                <a:latin typeface="Calibri" pitchFamily="34" charset="0"/>
                <a:ea typeface="Calibri" pitchFamily="34" charset="-122"/>
                <a:cs typeface="Calibri" pitchFamily="34" charset="-120"/>
              </a:rPr>
              <a:t>live weather (data.gov.sg) + Himawari tile (NICT → JAXA fallback)</a:t>
            </a:r>
            <a:endParaRPr lang="en-US" sz="1050" dirty="0"/>
          </a:p>
        </p:txBody>
      </p:sp>
      <p:sp>
        <p:nvSpPr>
          <p:cNvPr id="13" name="Shape 11"/>
          <p:cNvSpPr/>
          <p:nvPr/>
        </p:nvSpPr>
        <p:spPr>
          <a:xfrm>
            <a:off x="749808" y="2578608"/>
            <a:ext cx="0" cy="256032"/>
          </a:xfrm>
          <a:prstGeom prst="line">
            <a:avLst/>
          </a:prstGeom>
          <a:noFill/>
          <a:ln w="12700">
            <a:solidFill>
              <a:srgbClr val="CFD9E2"/>
            </a:solidFill>
            <a:prstDash val="solid"/>
          </a:ln>
        </p:spPr>
        <p:txBody>
          <a:bodyPr/>
          <a:lstStyle/>
          <a:p>
            <a:endParaRPr lang="en-AE"/>
          </a:p>
        </p:txBody>
      </p:sp>
      <p:sp>
        <p:nvSpPr>
          <p:cNvPr id="14" name="Shape 12"/>
          <p:cNvSpPr/>
          <p:nvPr/>
        </p:nvSpPr>
        <p:spPr>
          <a:xfrm>
            <a:off x="566928" y="2944368"/>
            <a:ext cx="365760" cy="365760"/>
          </a:xfrm>
          <a:prstGeom prst="ellipse">
            <a:avLst/>
          </a:prstGeom>
          <a:solidFill>
            <a:srgbClr val="1C7293"/>
          </a:solidFill>
          <a:ln/>
        </p:spPr>
        <p:txBody>
          <a:bodyPr/>
          <a:lstStyle/>
          <a:p>
            <a:endParaRPr lang="en-AE"/>
          </a:p>
        </p:txBody>
      </p:sp>
      <p:sp>
        <p:nvSpPr>
          <p:cNvPr id="15" name="Text 13"/>
          <p:cNvSpPr/>
          <p:nvPr/>
        </p:nvSpPr>
        <p:spPr>
          <a:xfrm>
            <a:off x="566928" y="29443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078992" y="2852928"/>
            <a:ext cx="2240280" cy="38404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model.py helpers</a:t>
            </a:r>
            <a:endParaRPr lang="en-US" sz="1200" dirty="0"/>
          </a:p>
        </p:txBody>
      </p:sp>
      <p:sp>
        <p:nvSpPr>
          <p:cNvPr id="17" name="Text 15"/>
          <p:cNvSpPr/>
          <p:nvPr/>
        </p:nvSpPr>
        <p:spPr>
          <a:xfrm>
            <a:off x="3383280" y="2834640"/>
            <a:ext cx="3429000" cy="566928"/>
          </a:xfrm>
          <a:prstGeom prst="rect">
            <a:avLst/>
          </a:prstGeom>
          <a:noFill/>
          <a:ln/>
        </p:spPr>
        <p:txBody>
          <a:bodyPr wrap="square" lIns="0" tIns="0" rIns="0" bIns="0" rtlCol="0" anchor="ctr"/>
          <a:lstStyle/>
          <a:p>
            <a:pPr marL="0" indent="0">
              <a:lnSpc>
                <a:spcPts val="1400"/>
              </a:lnSpc>
              <a:buNone/>
            </a:pPr>
            <a:r>
              <a:rPr lang="en-US" sz="1050" dirty="0">
                <a:solidFill>
                  <a:srgbClr val="3C5169"/>
                </a:solidFill>
                <a:latin typeface="Calibri" pitchFamily="34" charset="0"/>
                <a:ea typeface="Calibri" pitchFamily="34" charset="-122"/>
                <a:cs typeface="Calibri" pitchFamily="34" charset="-120"/>
              </a:rPr>
              <a:t>CSV lookback + live Open-Meteo top-up → (1,24,11) normalised window</a:t>
            </a:r>
            <a:endParaRPr lang="en-US" sz="1050" dirty="0"/>
          </a:p>
        </p:txBody>
      </p:sp>
      <p:sp>
        <p:nvSpPr>
          <p:cNvPr id="18" name="Shape 16"/>
          <p:cNvSpPr/>
          <p:nvPr/>
        </p:nvSpPr>
        <p:spPr>
          <a:xfrm>
            <a:off x="749808" y="3328416"/>
            <a:ext cx="0" cy="256032"/>
          </a:xfrm>
          <a:prstGeom prst="line">
            <a:avLst/>
          </a:prstGeom>
          <a:noFill/>
          <a:ln w="12700">
            <a:solidFill>
              <a:srgbClr val="CFD9E2"/>
            </a:solidFill>
            <a:prstDash val="solid"/>
          </a:ln>
        </p:spPr>
        <p:txBody>
          <a:bodyPr/>
          <a:lstStyle/>
          <a:p>
            <a:endParaRPr lang="en-AE"/>
          </a:p>
        </p:txBody>
      </p:sp>
      <p:sp>
        <p:nvSpPr>
          <p:cNvPr id="19" name="Shape 17"/>
          <p:cNvSpPr/>
          <p:nvPr/>
        </p:nvSpPr>
        <p:spPr>
          <a:xfrm>
            <a:off x="566928" y="3694176"/>
            <a:ext cx="365760" cy="365760"/>
          </a:xfrm>
          <a:prstGeom prst="ellipse">
            <a:avLst/>
          </a:prstGeom>
          <a:solidFill>
            <a:srgbClr val="1C7293"/>
          </a:solidFill>
          <a:ln/>
        </p:spPr>
        <p:txBody>
          <a:bodyPr/>
          <a:lstStyle/>
          <a:p>
            <a:endParaRPr lang="en-AE"/>
          </a:p>
        </p:txBody>
      </p:sp>
      <p:sp>
        <p:nvSpPr>
          <p:cNvPr id="20" name="Text 18"/>
          <p:cNvSpPr/>
          <p:nvPr/>
        </p:nvSpPr>
        <p:spPr>
          <a:xfrm>
            <a:off x="566928" y="36941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p:nvPr/>
        </p:nvSpPr>
        <p:spPr>
          <a:xfrm>
            <a:off x="1078992" y="3602736"/>
            <a:ext cx="2240280" cy="38404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load_model + run_model</a:t>
            </a:r>
            <a:endParaRPr lang="en-US" sz="1200" dirty="0"/>
          </a:p>
        </p:txBody>
      </p:sp>
      <p:sp>
        <p:nvSpPr>
          <p:cNvPr id="22" name="Text 20"/>
          <p:cNvSpPr/>
          <p:nvPr/>
        </p:nvSpPr>
        <p:spPr>
          <a:xfrm>
            <a:off x="3383280" y="3584448"/>
            <a:ext cx="3429000" cy="566928"/>
          </a:xfrm>
          <a:prstGeom prst="rect">
            <a:avLst/>
          </a:prstGeom>
          <a:noFill/>
          <a:ln/>
        </p:spPr>
        <p:txBody>
          <a:bodyPr wrap="square" lIns="0" tIns="0" rIns="0" bIns="0" rtlCol="0" anchor="ctr"/>
          <a:lstStyle/>
          <a:p>
            <a:pPr marL="0" indent="0">
              <a:lnSpc>
                <a:spcPts val="1400"/>
              </a:lnSpc>
              <a:buNone/>
            </a:pPr>
            <a:r>
              <a:rPr lang="en-US" sz="1050" dirty="0">
                <a:solidFill>
                  <a:srgbClr val="3C5169"/>
                </a:solidFill>
                <a:latin typeface="Calibri" pitchFamily="34" charset="0"/>
                <a:ea typeface="Calibri" pitchFamily="34" charset="-122"/>
                <a:cs typeface="Calibri" pitchFamily="34" charset="-120"/>
              </a:rPr>
              <a:t>architecture auto-detected from checkpoint keys; μ, σ</a:t>
            </a:r>
            <a:endParaRPr lang="en-US" sz="1050" dirty="0"/>
          </a:p>
        </p:txBody>
      </p:sp>
      <p:sp>
        <p:nvSpPr>
          <p:cNvPr id="23" name="Shape 21"/>
          <p:cNvSpPr/>
          <p:nvPr/>
        </p:nvSpPr>
        <p:spPr>
          <a:xfrm>
            <a:off x="749808" y="4078224"/>
            <a:ext cx="0" cy="256032"/>
          </a:xfrm>
          <a:prstGeom prst="line">
            <a:avLst/>
          </a:prstGeom>
          <a:noFill/>
          <a:ln w="12700">
            <a:solidFill>
              <a:srgbClr val="CFD9E2"/>
            </a:solidFill>
            <a:prstDash val="solid"/>
          </a:ln>
        </p:spPr>
        <p:txBody>
          <a:bodyPr/>
          <a:lstStyle/>
          <a:p>
            <a:endParaRPr lang="en-AE"/>
          </a:p>
        </p:txBody>
      </p:sp>
      <p:sp>
        <p:nvSpPr>
          <p:cNvPr id="24" name="Shape 22"/>
          <p:cNvSpPr/>
          <p:nvPr/>
        </p:nvSpPr>
        <p:spPr>
          <a:xfrm>
            <a:off x="566928" y="4443984"/>
            <a:ext cx="365760" cy="365760"/>
          </a:xfrm>
          <a:prstGeom prst="ellipse">
            <a:avLst/>
          </a:prstGeom>
          <a:solidFill>
            <a:srgbClr val="1C7293"/>
          </a:solidFill>
          <a:ln/>
        </p:spPr>
        <p:txBody>
          <a:bodyPr/>
          <a:lstStyle/>
          <a:p>
            <a:endParaRPr lang="en-AE"/>
          </a:p>
        </p:txBody>
      </p:sp>
      <p:sp>
        <p:nvSpPr>
          <p:cNvPr id="25" name="Text 23"/>
          <p:cNvSpPr/>
          <p:nvPr/>
        </p:nvSpPr>
        <p:spPr>
          <a:xfrm>
            <a:off x="566928" y="444398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p:nvPr/>
        </p:nvSpPr>
        <p:spPr>
          <a:xfrm>
            <a:off x="1078992" y="4352544"/>
            <a:ext cx="2240280" cy="38404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physics clamp</a:t>
            </a:r>
            <a:endParaRPr lang="en-US" sz="1200" dirty="0"/>
          </a:p>
        </p:txBody>
      </p:sp>
      <p:sp>
        <p:nvSpPr>
          <p:cNvPr id="27" name="Text 25"/>
          <p:cNvSpPr/>
          <p:nvPr/>
        </p:nvSpPr>
        <p:spPr>
          <a:xfrm>
            <a:off x="3383280" y="4334256"/>
            <a:ext cx="3429000" cy="566928"/>
          </a:xfrm>
          <a:prstGeom prst="rect">
            <a:avLst/>
          </a:prstGeom>
          <a:noFill/>
          <a:ln/>
        </p:spPr>
        <p:txBody>
          <a:bodyPr wrap="square" lIns="0" tIns="0" rIns="0" bIns="0" rtlCol="0" anchor="ctr"/>
          <a:lstStyle/>
          <a:p>
            <a:pPr marL="0" indent="0">
              <a:lnSpc>
                <a:spcPts val="1400"/>
              </a:lnSpc>
              <a:buNone/>
            </a:pPr>
            <a:r>
              <a:rPr lang="en-US" sz="1050" dirty="0">
                <a:solidFill>
                  <a:srgbClr val="3C5169"/>
                </a:solidFill>
                <a:latin typeface="Calibri" pitchFamily="34" charset="0"/>
                <a:ea typeface="Calibri" pitchFamily="34" charset="-122"/>
                <a:cs typeface="Calibri" pitchFamily="34" charset="-120"/>
              </a:rPr>
              <a:t>cap at 1.15 × preceding-hour-mean clear-sky GHI</a:t>
            </a:r>
            <a:endParaRPr lang="en-US" sz="1050" dirty="0"/>
          </a:p>
        </p:txBody>
      </p:sp>
      <p:sp>
        <p:nvSpPr>
          <p:cNvPr id="28" name="Shape 26"/>
          <p:cNvSpPr/>
          <p:nvPr/>
        </p:nvSpPr>
        <p:spPr>
          <a:xfrm>
            <a:off x="749808" y="4828032"/>
            <a:ext cx="0" cy="256032"/>
          </a:xfrm>
          <a:prstGeom prst="line">
            <a:avLst/>
          </a:prstGeom>
          <a:noFill/>
          <a:ln w="12700">
            <a:solidFill>
              <a:srgbClr val="CFD9E2"/>
            </a:solidFill>
            <a:prstDash val="solid"/>
          </a:ln>
        </p:spPr>
        <p:txBody>
          <a:bodyPr/>
          <a:lstStyle/>
          <a:p>
            <a:endParaRPr lang="en-AE"/>
          </a:p>
        </p:txBody>
      </p:sp>
      <p:sp>
        <p:nvSpPr>
          <p:cNvPr id="29" name="Shape 27"/>
          <p:cNvSpPr/>
          <p:nvPr/>
        </p:nvSpPr>
        <p:spPr>
          <a:xfrm>
            <a:off x="566928" y="5193792"/>
            <a:ext cx="365760" cy="365760"/>
          </a:xfrm>
          <a:prstGeom prst="ellipse">
            <a:avLst/>
          </a:prstGeom>
          <a:solidFill>
            <a:srgbClr val="1C7293"/>
          </a:solidFill>
          <a:ln/>
        </p:spPr>
        <p:txBody>
          <a:bodyPr/>
          <a:lstStyle/>
          <a:p>
            <a:endParaRPr lang="en-AE"/>
          </a:p>
        </p:txBody>
      </p:sp>
      <p:sp>
        <p:nvSpPr>
          <p:cNvPr id="30" name="Text 28"/>
          <p:cNvSpPr/>
          <p:nvPr/>
        </p:nvSpPr>
        <p:spPr>
          <a:xfrm>
            <a:off x="566928" y="519379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p:nvPr/>
        </p:nvSpPr>
        <p:spPr>
          <a:xfrm>
            <a:off x="1078992" y="5102352"/>
            <a:ext cx="2240280" cy="384048"/>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forecast_latest.json</a:t>
            </a:r>
            <a:endParaRPr lang="en-US" sz="1200" dirty="0"/>
          </a:p>
        </p:txBody>
      </p:sp>
      <p:sp>
        <p:nvSpPr>
          <p:cNvPr id="32" name="Text 30"/>
          <p:cNvSpPr/>
          <p:nvPr/>
        </p:nvSpPr>
        <p:spPr>
          <a:xfrm>
            <a:off x="3383280" y="5084064"/>
            <a:ext cx="3429000" cy="566928"/>
          </a:xfrm>
          <a:prstGeom prst="rect">
            <a:avLst/>
          </a:prstGeom>
          <a:noFill/>
          <a:ln/>
        </p:spPr>
        <p:txBody>
          <a:bodyPr wrap="square" lIns="0" tIns="0" rIns="0" bIns="0" rtlCol="0" anchor="ctr"/>
          <a:lstStyle/>
          <a:p>
            <a:pPr marL="0" indent="0">
              <a:lnSpc>
                <a:spcPts val="1400"/>
              </a:lnSpc>
              <a:buNone/>
            </a:pPr>
            <a:r>
              <a:rPr lang="en-US" sz="1050" dirty="0">
                <a:solidFill>
                  <a:srgbClr val="3C5169"/>
                </a:solidFill>
                <a:latin typeface="Calibri" pitchFamily="34" charset="0"/>
                <a:ea typeface="Calibri" pitchFamily="34" charset="-122"/>
                <a:cs typeface="Calibri" pitchFamily="34" charset="-120"/>
              </a:rPr>
              <a:t>t+1h / t+2h / t+3h with 90% interval</a:t>
            </a:r>
            <a:endParaRPr lang="en-US" sz="1050" dirty="0"/>
          </a:p>
        </p:txBody>
      </p:sp>
      <p:sp>
        <p:nvSpPr>
          <p:cNvPr id="33" name="Shape 31"/>
          <p:cNvSpPr/>
          <p:nvPr/>
        </p:nvSpPr>
        <p:spPr>
          <a:xfrm>
            <a:off x="566928" y="5907024"/>
            <a:ext cx="6245352" cy="0"/>
          </a:xfrm>
          <a:prstGeom prst="roundRect">
            <a:avLst>
              <a:gd name="adj" fmla="val Infinity"/>
            </a:avLst>
          </a:prstGeom>
          <a:solidFill>
            <a:srgbClr val="EFF3F7"/>
          </a:solidFill>
          <a:ln/>
        </p:spPr>
        <p:txBody>
          <a:bodyPr/>
          <a:lstStyle/>
          <a:p>
            <a:endParaRPr lang="en-A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RESULTS — OPERATIONAL</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Eight days of live, out-of-sample operation</a:t>
            </a:r>
            <a:endParaRPr lang="en-US" sz="3000" dirty="0"/>
          </a:p>
        </p:txBody>
      </p:sp>
      <p:pic>
        <p:nvPicPr>
          <p:cNvPr id="4" name="Image 0" descr="/private/tmp/claude-501/-Users-qasimnalawala-Desktop-Project/4f805972-c040-4417-a161-56574a28f2f7/scratchpad/fig/live_verify.png"/>
          <p:cNvPicPr>
            <a:picLocks noChangeAspect="1"/>
          </p:cNvPicPr>
          <p:nvPr/>
        </p:nvPicPr>
        <p:blipFill>
          <a:blip r:embed="rId3"/>
          <a:stretch>
            <a:fillRect/>
          </a:stretch>
        </p:blipFill>
        <p:spPr>
          <a:xfrm>
            <a:off x="566928" y="1298448"/>
            <a:ext cx="7498080" cy="3090672"/>
          </a:xfrm>
          <a:prstGeom prst="rect">
            <a:avLst/>
          </a:prstGeom>
        </p:spPr>
      </p:pic>
      <p:sp>
        <p:nvSpPr>
          <p:cNvPr id="5" name="Shape 2"/>
          <p:cNvSpPr/>
          <p:nvPr/>
        </p:nvSpPr>
        <p:spPr>
          <a:xfrm>
            <a:off x="8275320" y="1353312"/>
            <a:ext cx="1572768" cy="1060704"/>
          </a:xfrm>
          <a:prstGeom prst="roundRect">
            <a:avLst>
              <a:gd name="adj" fmla="val 4310"/>
            </a:avLst>
          </a:prstGeom>
          <a:solidFill>
            <a:srgbClr val="EFF3F7"/>
          </a:solidFill>
          <a:ln w="7620">
            <a:solidFill>
              <a:srgbClr val="CFD9E2"/>
            </a:solidFill>
            <a:prstDash val="solid"/>
          </a:ln>
        </p:spPr>
        <p:txBody>
          <a:bodyPr/>
          <a:lstStyle/>
          <a:p>
            <a:endParaRPr lang="en-AE"/>
          </a:p>
        </p:txBody>
      </p:sp>
      <p:sp>
        <p:nvSpPr>
          <p:cNvPr id="6" name="Text 3"/>
          <p:cNvSpPr/>
          <p:nvPr/>
        </p:nvSpPr>
        <p:spPr>
          <a:xfrm>
            <a:off x="8275320" y="1481328"/>
            <a:ext cx="1572768" cy="457200"/>
          </a:xfrm>
          <a:prstGeom prst="rect">
            <a:avLst/>
          </a:prstGeom>
          <a:noFill/>
          <a:ln/>
        </p:spPr>
        <p:txBody>
          <a:bodyPr wrap="square" lIns="0" tIns="0" rIns="0" bIns="0" rtlCol="0" anchor="ctr"/>
          <a:lstStyle/>
          <a:p>
            <a:pPr marL="0" indent="0" algn="ctr">
              <a:buNone/>
            </a:pPr>
            <a:r>
              <a:rPr lang="en-US" sz="2200" b="1" dirty="0">
                <a:solidFill>
                  <a:srgbClr val="0B2545"/>
                </a:solidFill>
                <a:latin typeface="Cambria" pitchFamily="34" charset="0"/>
                <a:ea typeface="Cambria" pitchFamily="34" charset="-122"/>
                <a:cs typeface="Cambria" pitchFamily="34" charset="-120"/>
              </a:rPr>
              <a:t>79.4</a:t>
            </a:r>
            <a:endParaRPr lang="en-US" sz="2200" dirty="0"/>
          </a:p>
        </p:txBody>
      </p:sp>
      <p:sp>
        <p:nvSpPr>
          <p:cNvPr id="7" name="Text 4"/>
          <p:cNvSpPr/>
          <p:nvPr/>
        </p:nvSpPr>
        <p:spPr>
          <a:xfrm>
            <a:off x="8348472" y="1956816"/>
            <a:ext cx="1426464" cy="384048"/>
          </a:xfrm>
          <a:prstGeom prst="rect">
            <a:avLst/>
          </a:prstGeom>
          <a:noFill/>
          <a:ln/>
        </p:spPr>
        <p:txBody>
          <a:bodyPr wrap="square" lIns="0" tIns="0" rIns="0" bIns="0" rtlCol="0" anchor="ctr"/>
          <a:lstStyle/>
          <a:p>
            <a:pPr marL="0" indent="0" algn="ctr">
              <a:buNone/>
            </a:pPr>
            <a:r>
              <a:rPr lang="en-US" sz="900" dirty="0">
                <a:solidFill>
                  <a:srgbClr val="6E7F8F"/>
                </a:solidFill>
                <a:latin typeface="Calibri" pitchFamily="34" charset="0"/>
                <a:ea typeface="Calibri" pitchFamily="34" charset="-122"/>
                <a:cs typeface="Calibri" pitchFamily="34" charset="-120"/>
              </a:rPr>
              <a:t>live MAE, W/m²</a:t>
            </a:r>
            <a:endParaRPr lang="en-US" sz="900" dirty="0"/>
          </a:p>
        </p:txBody>
      </p:sp>
      <p:sp>
        <p:nvSpPr>
          <p:cNvPr id="8" name="Shape 5"/>
          <p:cNvSpPr/>
          <p:nvPr/>
        </p:nvSpPr>
        <p:spPr>
          <a:xfrm>
            <a:off x="9966960" y="1353312"/>
            <a:ext cx="1572768" cy="1060704"/>
          </a:xfrm>
          <a:prstGeom prst="roundRect">
            <a:avLst>
              <a:gd name="adj" fmla="val 4310"/>
            </a:avLst>
          </a:prstGeom>
          <a:solidFill>
            <a:srgbClr val="EFF3F7"/>
          </a:solidFill>
          <a:ln w="7620">
            <a:solidFill>
              <a:srgbClr val="CFD9E2"/>
            </a:solidFill>
            <a:prstDash val="solid"/>
          </a:ln>
        </p:spPr>
        <p:txBody>
          <a:bodyPr/>
          <a:lstStyle/>
          <a:p>
            <a:endParaRPr lang="en-AE"/>
          </a:p>
        </p:txBody>
      </p:sp>
      <p:sp>
        <p:nvSpPr>
          <p:cNvPr id="9" name="Text 6"/>
          <p:cNvSpPr/>
          <p:nvPr/>
        </p:nvSpPr>
        <p:spPr>
          <a:xfrm>
            <a:off x="9966960" y="1481328"/>
            <a:ext cx="1572768" cy="457200"/>
          </a:xfrm>
          <a:prstGeom prst="rect">
            <a:avLst/>
          </a:prstGeom>
          <a:noFill/>
          <a:ln/>
        </p:spPr>
        <p:txBody>
          <a:bodyPr wrap="square" lIns="0" tIns="0" rIns="0" bIns="0" rtlCol="0" anchor="ctr"/>
          <a:lstStyle/>
          <a:p>
            <a:pPr marL="0" indent="0" algn="ctr">
              <a:buNone/>
            </a:pPr>
            <a:r>
              <a:rPr lang="en-US" sz="2200" b="1" dirty="0">
                <a:solidFill>
                  <a:srgbClr val="1C7293"/>
                </a:solidFill>
                <a:latin typeface="Cambria" pitchFamily="34" charset="0"/>
                <a:ea typeface="Cambria" pitchFamily="34" charset="-122"/>
                <a:cs typeface="Cambria" pitchFamily="34" charset="-120"/>
              </a:rPr>
              <a:t>98.3</a:t>
            </a:r>
            <a:endParaRPr lang="en-US" sz="2200" dirty="0"/>
          </a:p>
        </p:txBody>
      </p:sp>
      <p:sp>
        <p:nvSpPr>
          <p:cNvPr id="10" name="Text 7"/>
          <p:cNvSpPr/>
          <p:nvPr/>
        </p:nvSpPr>
        <p:spPr>
          <a:xfrm>
            <a:off x="10040112" y="1956816"/>
            <a:ext cx="1426464" cy="384048"/>
          </a:xfrm>
          <a:prstGeom prst="rect">
            <a:avLst/>
          </a:prstGeom>
          <a:noFill/>
          <a:ln/>
        </p:spPr>
        <p:txBody>
          <a:bodyPr wrap="square" lIns="0" tIns="0" rIns="0" bIns="0" rtlCol="0" anchor="ctr"/>
          <a:lstStyle/>
          <a:p>
            <a:pPr marL="0" indent="0" algn="ctr">
              <a:buNone/>
            </a:pPr>
            <a:r>
              <a:rPr lang="en-US" sz="900" dirty="0">
                <a:solidFill>
                  <a:srgbClr val="6E7F8F"/>
                </a:solidFill>
                <a:latin typeface="Calibri" pitchFamily="34" charset="0"/>
                <a:ea typeface="Calibri" pitchFamily="34" charset="-122"/>
                <a:cs typeface="Calibri" pitchFamily="34" charset="-120"/>
              </a:rPr>
              <a:t>live RMSE</a:t>
            </a:r>
            <a:endParaRPr lang="en-US" sz="900" dirty="0"/>
          </a:p>
        </p:txBody>
      </p:sp>
      <p:sp>
        <p:nvSpPr>
          <p:cNvPr id="11" name="Shape 8"/>
          <p:cNvSpPr/>
          <p:nvPr/>
        </p:nvSpPr>
        <p:spPr>
          <a:xfrm>
            <a:off x="8275320" y="2542032"/>
            <a:ext cx="1572768" cy="1060704"/>
          </a:xfrm>
          <a:prstGeom prst="roundRect">
            <a:avLst>
              <a:gd name="adj" fmla="val 4310"/>
            </a:avLst>
          </a:prstGeom>
          <a:solidFill>
            <a:srgbClr val="EFF3F7"/>
          </a:solidFill>
          <a:ln w="7620">
            <a:solidFill>
              <a:srgbClr val="CFD9E2"/>
            </a:solidFill>
            <a:prstDash val="solid"/>
          </a:ln>
        </p:spPr>
        <p:txBody>
          <a:bodyPr/>
          <a:lstStyle/>
          <a:p>
            <a:endParaRPr lang="en-AE"/>
          </a:p>
        </p:txBody>
      </p:sp>
      <p:sp>
        <p:nvSpPr>
          <p:cNvPr id="12" name="Text 9"/>
          <p:cNvSpPr/>
          <p:nvPr/>
        </p:nvSpPr>
        <p:spPr>
          <a:xfrm>
            <a:off x="8275320" y="2670048"/>
            <a:ext cx="1572768" cy="457200"/>
          </a:xfrm>
          <a:prstGeom prst="rect">
            <a:avLst/>
          </a:prstGeom>
          <a:noFill/>
          <a:ln/>
        </p:spPr>
        <p:txBody>
          <a:bodyPr wrap="square" lIns="0" tIns="0" rIns="0" bIns="0" rtlCol="0" anchor="ctr"/>
          <a:lstStyle/>
          <a:p>
            <a:pPr marL="0" indent="0" algn="ctr">
              <a:buNone/>
            </a:pPr>
            <a:r>
              <a:rPr lang="en-US" sz="2200" b="1" dirty="0">
                <a:solidFill>
                  <a:srgbClr val="2C6E49"/>
                </a:solidFill>
                <a:latin typeface="Cambria" pitchFamily="34" charset="0"/>
                <a:ea typeface="Cambria" pitchFamily="34" charset="-122"/>
                <a:cs typeface="Cambria" pitchFamily="34" charset="-120"/>
              </a:rPr>
              <a:t>100%</a:t>
            </a:r>
            <a:endParaRPr lang="en-US" sz="2200" dirty="0"/>
          </a:p>
        </p:txBody>
      </p:sp>
      <p:sp>
        <p:nvSpPr>
          <p:cNvPr id="13" name="Text 10"/>
          <p:cNvSpPr/>
          <p:nvPr/>
        </p:nvSpPr>
        <p:spPr>
          <a:xfrm>
            <a:off x="8348472" y="3145536"/>
            <a:ext cx="1426464" cy="384048"/>
          </a:xfrm>
          <a:prstGeom prst="rect">
            <a:avLst/>
          </a:prstGeom>
          <a:noFill/>
          <a:ln/>
        </p:spPr>
        <p:txBody>
          <a:bodyPr wrap="square" lIns="0" tIns="0" rIns="0" bIns="0" rtlCol="0" anchor="ctr"/>
          <a:lstStyle/>
          <a:p>
            <a:pPr marL="0" indent="0" algn="ctr">
              <a:buNone/>
            </a:pPr>
            <a:r>
              <a:rPr lang="en-US" sz="900" dirty="0">
                <a:solidFill>
                  <a:srgbClr val="6E7F8F"/>
                </a:solidFill>
                <a:latin typeface="Calibri" pitchFamily="34" charset="0"/>
                <a:ea typeface="Calibri" pitchFamily="34" charset="-122"/>
                <a:cs typeface="Calibri" pitchFamily="34" charset="-120"/>
              </a:rPr>
              <a:t>inside the 90% band</a:t>
            </a:r>
            <a:endParaRPr lang="en-US" sz="900" dirty="0"/>
          </a:p>
        </p:txBody>
      </p:sp>
      <p:sp>
        <p:nvSpPr>
          <p:cNvPr id="14" name="Shape 11"/>
          <p:cNvSpPr/>
          <p:nvPr/>
        </p:nvSpPr>
        <p:spPr>
          <a:xfrm>
            <a:off x="9966960" y="2542032"/>
            <a:ext cx="1572768" cy="1060704"/>
          </a:xfrm>
          <a:prstGeom prst="roundRect">
            <a:avLst>
              <a:gd name="adj" fmla="val 4310"/>
            </a:avLst>
          </a:prstGeom>
          <a:solidFill>
            <a:srgbClr val="EFF3F7"/>
          </a:solidFill>
          <a:ln w="7620">
            <a:solidFill>
              <a:srgbClr val="CFD9E2"/>
            </a:solidFill>
            <a:prstDash val="solid"/>
          </a:ln>
        </p:spPr>
        <p:txBody>
          <a:bodyPr/>
          <a:lstStyle/>
          <a:p>
            <a:endParaRPr lang="en-AE"/>
          </a:p>
        </p:txBody>
      </p:sp>
      <p:sp>
        <p:nvSpPr>
          <p:cNvPr id="15" name="Text 12"/>
          <p:cNvSpPr/>
          <p:nvPr/>
        </p:nvSpPr>
        <p:spPr>
          <a:xfrm>
            <a:off x="9966960" y="2670048"/>
            <a:ext cx="1572768" cy="457200"/>
          </a:xfrm>
          <a:prstGeom prst="rect">
            <a:avLst/>
          </a:prstGeom>
          <a:noFill/>
          <a:ln/>
        </p:spPr>
        <p:txBody>
          <a:bodyPr wrap="square" lIns="0" tIns="0" rIns="0" bIns="0" rtlCol="0" anchor="ctr"/>
          <a:lstStyle/>
          <a:p>
            <a:pPr marL="0" indent="0" algn="ctr">
              <a:buNone/>
            </a:pPr>
            <a:r>
              <a:rPr lang="en-US" sz="2200" b="1" dirty="0">
                <a:solidFill>
                  <a:srgbClr val="6E7F8F"/>
                </a:solidFill>
                <a:latin typeface="Cambria" pitchFamily="34" charset="0"/>
                <a:ea typeface="Cambria" pitchFamily="34" charset="-122"/>
                <a:cs typeface="Cambria" pitchFamily="34" charset="-120"/>
              </a:rPr>
              <a:t>24</a:t>
            </a:r>
            <a:endParaRPr lang="en-US" sz="2200" dirty="0"/>
          </a:p>
        </p:txBody>
      </p:sp>
      <p:sp>
        <p:nvSpPr>
          <p:cNvPr id="16" name="Text 13"/>
          <p:cNvSpPr/>
          <p:nvPr/>
        </p:nvSpPr>
        <p:spPr>
          <a:xfrm>
            <a:off x="10040112" y="3145536"/>
            <a:ext cx="1426464" cy="384048"/>
          </a:xfrm>
          <a:prstGeom prst="rect">
            <a:avLst/>
          </a:prstGeom>
          <a:noFill/>
          <a:ln/>
        </p:spPr>
        <p:txBody>
          <a:bodyPr wrap="square" lIns="0" tIns="0" rIns="0" bIns="0" rtlCol="0" anchor="ctr"/>
          <a:lstStyle/>
          <a:p>
            <a:pPr marL="0" indent="0" algn="ctr">
              <a:buNone/>
            </a:pPr>
            <a:r>
              <a:rPr lang="en-US" sz="900" dirty="0">
                <a:solidFill>
                  <a:srgbClr val="6E7F8F"/>
                </a:solidFill>
                <a:latin typeface="Calibri" pitchFamily="34" charset="0"/>
                <a:ea typeface="Calibri" pitchFamily="34" charset="-122"/>
                <a:cs typeface="Calibri" pitchFamily="34" charset="-120"/>
              </a:rPr>
              <a:t>verified forecast-hours</a:t>
            </a:r>
            <a:endParaRPr lang="en-US" sz="900" dirty="0"/>
          </a:p>
        </p:txBody>
      </p:sp>
      <p:sp>
        <p:nvSpPr>
          <p:cNvPr id="17" name="Shape 14"/>
          <p:cNvSpPr/>
          <p:nvPr/>
        </p:nvSpPr>
        <p:spPr>
          <a:xfrm>
            <a:off x="8275320" y="3730752"/>
            <a:ext cx="3355848" cy="658368"/>
          </a:xfrm>
          <a:prstGeom prst="roundRect">
            <a:avLst>
              <a:gd name="adj" fmla="val 6944"/>
            </a:avLst>
          </a:prstGeom>
          <a:solidFill>
            <a:srgbClr val="E3EAF1"/>
          </a:solidFill>
          <a:ln/>
        </p:spPr>
        <p:txBody>
          <a:bodyPr/>
          <a:lstStyle/>
          <a:p>
            <a:endParaRPr lang="en-AE"/>
          </a:p>
        </p:txBody>
      </p:sp>
      <p:sp>
        <p:nvSpPr>
          <p:cNvPr id="18" name="Text 15"/>
          <p:cNvSpPr/>
          <p:nvPr/>
        </p:nvSpPr>
        <p:spPr>
          <a:xfrm>
            <a:off x="8458200" y="3803904"/>
            <a:ext cx="3017520" cy="530352"/>
          </a:xfrm>
          <a:prstGeom prst="rect">
            <a:avLst/>
          </a:prstGeom>
          <a:noFill/>
          <a:ln/>
        </p:spPr>
        <p:txBody>
          <a:bodyPr wrap="square" lIns="0" tIns="0" rIns="0" bIns="0" rtlCol="0" anchor="ctr"/>
          <a:lstStyle/>
          <a:p>
            <a:pPr marL="0" indent="0">
              <a:lnSpc>
                <a:spcPts val="1350"/>
              </a:lnSpc>
              <a:buNone/>
            </a:pPr>
            <a:r>
              <a:rPr lang="en-US" sz="1000" dirty="0">
                <a:solidFill>
                  <a:srgbClr val="3C5169"/>
                </a:solidFill>
                <a:latin typeface="Calibri" pitchFamily="34" charset="0"/>
                <a:ea typeface="Calibri" pitchFamily="34" charset="-122"/>
                <a:cs typeface="Calibri" pitchFamily="34" charset="-120"/>
              </a:rPr>
              <a:t>Offline test MAE was 97.6 W/m². Live MAE on a different season, seven months later, is 79.4.</a:t>
            </a:r>
            <a:endParaRPr lang="en-US" sz="1000" dirty="0"/>
          </a:p>
        </p:txBody>
      </p:sp>
      <p:sp>
        <p:nvSpPr>
          <p:cNvPr id="19" name="Shape 16"/>
          <p:cNvSpPr/>
          <p:nvPr/>
        </p:nvSpPr>
        <p:spPr>
          <a:xfrm>
            <a:off x="566928" y="4572000"/>
            <a:ext cx="5440680" cy="676656"/>
          </a:xfrm>
          <a:prstGeom prst="roundRect">
            <a:avLst>
              <a:gd name="adj" fmla="val 6757"/>
            </a:avLst>
          </a:prstGeom>
          <a:solidFill>
            <a:srgbClr val="EFF3F7"/>
          </a:solidFill>
          <a:ln w="7620">
            <a:solidFill>
              <a:srgbClr val="CFD9E2"/>
            </a:solidFill>
            <a:prstDash val="solid"/>
          </a:ln>
        </p:spPr>
        <p:txBody>
          <a:bodyPr/>
          <a:lstStyle/>
          <a:p>
            <a:endParaRPr lang="en-AE"/>
          </a:p>
        </p:txBody>
      </p:sp>
      <p:sp>
        <p:nvSpPr>
          <p:cNvPr id="20" name="Text 17"/>
          <p:cNvSpPr/>
          <p:nvPr/>
        </p:nvSpPr>
        <p:spPr>
          <a:xfrm>
            <a:off x="768096" y="4626864"/>
            <a:ext cx="1463040" cy="201168"/>
          </a:xfrm>
          <a:prstGeom prst="rect">
            <a:avLst/>
          </a:prstGeom>
          <a:noFill/>
          <a:ln/>
        </p:spPr>
        <p:txBody>
          <a:bodyPr wrap="square" lIns="0" tIns="0" rIns="0" bIns="0" rtlCol="0" anchor="ctr"/>
          <a:lstStyle/>
          <a:p>
            <a:pPr marL="0" indent="0">
              <a:buNone/>
            </a:pPr>
            <a:r>
              <a:rPr lang="en-US" sz="850" b="1" kern="0" spc="130" dirty="0">
                <a:solidFill>
                  <a:srgbClr val="0B2545"/>
                </a:solidFill>
                <a:latin typeface="Calibri" pitchFamily="34" charset="0"/>
                <a:ea typeface="Calibri" pitchFamily="34" charset="-122"/>
                <a:cs typeface="Calibri" pitchFamily="34" charset="-120"/>
              </a:rPr>
              <a:t>OBSERVATION</a:t>
            </a:r>
            <a:endParaRPr lang="en-US" sz="850" dirty="0"/>
          </a:p>
        </p:txBody>
      </p:sp>
      <p:sp>
        <p:nvSpPr>
          <p:cNvPr id="21" name="Text 18"/>
          <p:cNvSpPr/>
          <p:nvPr/>
        </p:nvSpPr>
        <p:spPr>
          <a:xfrm>
            <a:off x="768096" y="4809744"/>
            <a:ext cx="5029200" cy="420624"/>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24 forecast-hours over 8 consecutive days, all verified against measured Open-Meteo analysis values — no model re-estimates were used. Per-horizon MAE: 65.0 / 88.3 / 85.0 W/m². Mean bias −48.1 W/m² — the system systematically under-forecasts.</a:t>
            </a:r>
            <a:endParaRPr lang="en-US" sz="900" dirty="0"/>
          </a:p>
        </p:txBody>
      </p:sp>
      <p:sp>
        <p:nvSpPr>
          <p:cNvPr id="22" name="Shape 19"/>
          <p:cNvSpPr/>
          <p:nvPr/>
        </p:nvSpPr>
        <p:spPr>
          <a:xfrm>
            <a:off x="6199632" y="4572000"/>
            <a:ext cx="5440680" cy="676656"/>
          </a:xfrm>
          <a:prstGeom prst="roundRect">
            <a:avLst>
              <a:gd name="adj" fmla="val 6757"/>
            </a:avLst>
          </a:prstGeom>
          <a:solidFill>
            <a:srgbClr val="EFF3F7"/>
          </a:solidFill>
          <a:ln w="7620">
            <a:solidFill>
              <a:srgbClr val="CFD9E2"/>
            </a:solidFill>
            <a:prstDash val="solid"/>
          </a:ln>
        </p:spPr>
        <p:txBody>
          <a:bodyPr/>
          <a:lstStyle/>
          <a:p>
            <a:endParaRPr lang="en-AE"/>
          </a:p>
        </p:txBody>
      </p:sp>
      <p:sp>
        <p:nvSpPr>
          <p:cNvPr id="23" name="Text 20"/>
          <p:cNvSpPr/>
          <p:nvPr/>
        </p:nvSpPr>
        <p:spPr>
          <a:xfrm>
            <a:off x="6400800" y="4626864"/>
            <a:ext cx="1463040" cy="201168"/>
          </a:xfrm>
          <a:prstGeom prst="rect">
            <a:avLst/>
          </a:prstGeom>
          <a:noFill/>
          <a:ln/>
        </p:spPr>
        <p:txBody>
          <a:bodyPr wrap="square" lIns="0" tIns="0" rIns="0" bIns="0" rtlCol="0" anchor="ctr"/>
          <a:lstStyle/>
          <a:p>
            <a:pPr marL="0" indent="0">
              <a:buNone/>
            </a:pPr>
            <a:r>
              <a:rPr lang="en-US" sz="850" b="1" kern="0" spc="130" dirty="0">
                <a:solidFill>
                  <a:srgbClr val="0B2545"/>
                </a:solidFill>
                <a:latin typeface="Calibri" pitchFamily="34" charset="0"/>
                <a:ea typeface="Calibri" pitchFamily="34" charset="-122"/>
                <a:cs typeface="Calibri" pitchFamily="34" charset="-120"/>
              </a:rPr>
              <a:t>OBSERVATION</a:t>
            </a:r>
            <a:endParaRPr lang="en-US" sz="850" dirty="0"/>
          </a:p>
        </p:txBody>
      </p:sp>
      <p:sp>
        <p:nvSpPr>
          <p:cNvPr id="24" name="Text 21"/>
          <p:cNvSpPr/>
          <p:nvPr/>
        </p:nvSpPr>
        <p:spPr>
          <a:xfrm>
            <a:off x="6400800" y="4809744"/>
            <a:ext cx="5029200" cy="420624"/>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One outlier run dominates: 19 Aug 2026 contributes errors of 191, 212 and 198 W/m². Excluding it, MAE over the remaining 21 hours is 62.1 W/m².</a:t>
            </a:r>
            <a:endParaRPr lang="en-US" sz="900" dirty="0"/>
          </a:p>
        </p:txBody>
      </p:sp>
      <p:sp>
        <p:nvSpPr>
          <p:cNvPr id="25" name="Shape 22"/>
          <p:cNvSpPr/>
          <p:nvPr/>
        </p:nvSpPr>
        <p:spPr>
          <a:xfrm>
            <a:off x="566928" y="5321808"/>
            <a:ext cx="5440680" cy="676656"/>
          </a:xfrm>
          <a:prstGeom prst="roundRect">
            <a:avLst>
              <a:gd name="adj" fmla="val 6757"/>
            </a:avLst>
          </a:prstGeom>
          <a:solidFill>
            <a:srgbClr val="EFF3F7"/>
          </a:solidFill>
          <a:ln w="7620">
            <a:solidFill>
              <a:srgbClr val="CFD9E2"/>
            </a:solidFill>
            <a:prstDash val="solid"/>
          </a:ln>
        </p:spPr>
        <p:txBody>
          <a:bodyPr/>
          <a:lstStyle/>
          <a:p>
            <a:endParaRPr lang="en-AE"/>
          </a:p>
        </p:txBody>
      </p:sp>
      <p:sp>
        <p:nvSpPr>
          <p:cNvPr id="26" name="Text 23"/>
          <p:cNvSpPr/>
          <p:nvPr/>
        </p:nvSpPr>
        <p:spPr>
          <a:xfrm>
            <a:off x="768096" y="5376672"/>
            <a:ext cx="1463040" cy="201168"/>
          </a:xfrm>
          <a:prstGeom prst="rect">
            <a:avLst/>
          </a:prstGeom>
          <a:noFill/>
          <a:ln/>
        </p:spPr>
        <p:txBody>
          <a:bodyPr wrap="square" lIns="0" tIns="0" rIns="0" bIns="0" rtlCol="0" anchor="ctr"/>
          <a:lstStyle/>
          <a:p>
            <a:pPr marL="0" indent="0">
              <a:buNone/>
            </a:pPr>
            <a:r>
              <a:rPr lang="en-US" sz="850" b="1" kern="0" spc="130" dirty="0">
                <a:solidFill>
                  <a:srgbClr val="1C7293"/>
                </a:solidFill>
                <a:latin typeface="Calibri" pitchFamily="34" charset="0"/>
                <a:ea typeface="Calibri" pitchFamily="34" charset="-122"/>
                <a:cs typeface="Calibri" pitchFamily="34" charset="-120"/>
              </a:rPr>
              <a:t>INTERPRETATION</a:t>
            </a:r>
            <a:endParaRPr lang="en-US" sz="850" dirty="0"/>
          </a:p>
        </p:txBody>
      </p:sp>
      <p:sp>
        <p:nvSpPr>
          <p:cNvPr id="27" name="Text 24"/>
          <p:cNvSpPr/>
          <p:nvPr/>
        </p:nvSpPr>
        <p:spPr>
          <a:xfrm>
            <a:off x="768096" y="5559552"/>
            <a:ext cx="5029200" cy="420624"/>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August is inter-monsoon and this sample is small and clear-biased — actual GHI averaged 727 W/m², well above the annual mean. The favourable live MAE reflects an easy sample, not a better model.</a:t>
            </a:r>
            <a:endParaRPr lang="en-US" sz="900" dirty="0"/>
          </a:p>
        </p:txBody>
      </p:sp>
      <p:sp>
        <p:nvSpPr>
          <p:cNvPr id="28" name="Shape 25"/>
          <p:cNvSpPr/>
          <p:nvPr/>
        </p:nvSpPr>
        <p:spPr>
          <a:xfrm>
            <a:off x="6199632" y="5321808"/>
            <a:ext cx="5440680" cy="676656"/>
          </a:xfrm>
          <a:prstGeom prst="roundRect">
            <a:avLst>
              <a:gd name="adj" fmla="val 6757"/>
            </a:avLst>
          </a:prstGeom>
          <a:solidFill>
            <a:srgbClr val="FCEEEC"/>
          </a:solidFill>
          <a:ln w="12700">
            <a:solidFill>
              <a:srgbClr val="B03A2E"/>
            </a:solidFill>
            <a:prstDash val="solid"/>
          </a:ln>
        </p:spPr>
        <p:txBody>
          <a:bodyPr/>
          <a:lstStyle/>
          <a:p>
            <a:endParaRPr lang="en-AE"/>
          </a:p>
        </p:txBody>
      </p:sp>
      <p:sp>
        <p:nvSpPr>
          <p:cNvPr id="29" name="Text 26"/>
          <p:cNvSpPr/>
          <p:nvPr/>
        </p:nvSpPr>
        <p:spPr>
          <a:xfrm>
            <a:off x="6400800" y="5376672"/>
            <a:ext cx="1463040" cy="201168"/>
          </a:xfrm>
          <a:prstGeom prst="rect">
            <a:avLst/>
          </a:prstGeom>
          <a:noFill/>
          <a:ln/>
        </p:spPr>
        <p:txBody>
          <a:bodyPr wrap="square" lIns="0" tIns="0" rIns="0" bIns="0" rtlCol="0" anchor="ctr"/>
          <a:lstStyle/>
          <a:p>
            <a:pPr marL="0" indent="0">
              <a:buNone/>
            </a:pPr>
            <a:r>
              <a:rPr lang="en-US" sz="850" b="1" kern="0" spc="130" dirty="0">
                <a:solidFill>
                  <a:srgbClr val="B03A2E"/>
                </a:solidFill>
                <a:latin typeface="Calibri" pitchFamily="34" charset="0"/>
                <a:ea typeface="Calibri" pitchFamily="34" charset="-122"/>
                <a:cs typeface="Calibri" pitchFamily="34" charset="-120"/>
              </a:rPr>
              <a:t>LIMITATION</a:t>
            </a:r>
            <a:endParaRPr lang="en-US" sz="850" dirty="0"/>
          </a:p>
        </p:txBody>
      </p:sp>
      <p:sp>
        <p:nvSpPr>
          <p:cNvPr id="30" name="Text 27"/>
          <p:cNvSpPr/>
          <p:nvPr/>
        </p:nvSpPr>
        <p:spPr>
          <a:xfrm>
            <a:off x="6400800" y="5559552"/>
            <a:ext cx="5029200" cy="420624"/>
          </a:xfrm>
          <a:prstGeom prst="rect">
            <a:avLst/>
          </a:prstGeom>
          <a:noFill/>
          <a:ln/>
        </p:spPr>
        <p:txBody>
          <a:bodyPr wrap="square" lIns="0" tIns="0" rIns="0" bIns="0" rtlCol="0" anchor="ctr"/>
          <a:lstStyle/>
          <a:p>
            <a:pPr marL="0" indent="0">
              <a:lnSpc>
                <a:spcPts val="1200"/>
              </a:lnSpc>
              <a:buNone/>
            </a:pPr>
            <a:r>
              <a:rPr lang="en-US" sz="900" dirty="0">
                <a:solidFill>
                  <a:srgbClr val="3C5169"/>
                </a:solidFill>
                <a:latin typeface="Calibri" pitchFamily="34" charset="0"/>
                <a:ea typeface="Calibri" pitchFamily="34" charset="-122"/>
                <a:cs typeface="Calibri" pitchFamily="34" charset="-120"/>
              </a:rPr>
              <a:t>100% interval coverage on n = 24 is not evidence of calibration. The intervals average about ±250 W/m² wide; with 24 samples the expected number of exceedances at 90% is 2.4, so observing zero is unremarkable.</a:t>
            </a:r>
            <a:endParaRPr lang="en-US" sz="900" dirty="0"/>
          </a:p>
        </p:txBody>
      </p:sp>
      <p:sp>
        <p:nvSpPr>
          <p:cNvPr id="31" name="Text 28"/>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verification_log.csv (24 rows, all source = "measured"), produced by verify.py on 12–19 Aug 2026;  summary statistics computed for this defence.</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COMPUTATIONAL PERFORMANCE</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Computational cost and the engineering trade-offs</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5440680" cy="4288536"/>
        </p:xfrm>
        <a:graphic>
          <a:graphicData uri="http://schemas.openxmlformats.org/drawingml/2006/table">
            <a:tbl>
              <a:tblPr/>
              <a:tblGrid>
                <a:gridCol w="26974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06324">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Value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Total parameters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15,505,804</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Trainable while CNN frozen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1,100,680  (7.1%)</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Parameters in image encoders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14,405,124  (92.9%)</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Parameters in the physics gate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193</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Checkpoint size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62.9 MB  (+ 29.2 MB SwimSeg encoder)</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CNN forward passes per sample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4  (3 global frames + 1 RoI)</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Training, full model</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12.7 min · 46 epochs · RTX 4090</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Training, all four variants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 62 min total</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Epoch time, frozen → unfrozen</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10 s → 20 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9"/>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Image cache load (7,625 frames)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1.5 min → ≈ 4.6 GB RAM</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Optical flow, whole dataset</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8.0 s for 7,629 frames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11"/>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Inference, batch 32 (Apple M-series MPS)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37 ms / sample</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06324">
                <a:tc>
                  <a:txBody>
                    <a:bodyPr/>
                    <a:lstStyle/>
                    <a:p>
                      <a:pPr marL="0" indent="0" algn="l">
                        <a:buNone/>
                      </a:pPr>
                      <a:r>
                        <a:rPr lang="en-US" sz="1050" dirty="0">
                          <a:solidFill>
                            <a:srgbClr val="0B2545"/>
                          </a:solidFill>
                          <a:latin typeface="Calibri" pitchFamily="34" charset="0"/>
                          <a:ea typeface="Calibri" pitchFamily="34" charset="-122"/>
                          <a:cs typeface="Calibri" pitchFamily="34" charset="-120"/>
                        </a:rPr>
                        <a:t>Inference, batch 1 (MPS / CPU)</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1050" dirty="0">
                          <a:solidFill>
                            <a:srgbClr val="3C5169"/>
                          </a:solidFill>
                          <a:latin typeface="Calibri" pitchFamily="34" charset="0"/>
                          <a:ea typeface="Calibri" pitchFamily="34" charset="-122"/>
                          <a:cs typeface="Calibri" pitchFamily="34" charset="-120"/>
                        </a:rPr>
                        <a:t>64 ms  /  780 ms</a:t>
                      </a:r>
                      <a:endParaRPr lang="en-US" sz="10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13"/>
                  </a:ext>
                </a:extLst>
              </a:tr>
            </a:tbl>
          </a:graphicData>
        </a:graphic>
      </p:graphicFrame>
      <p:sp>
        <p:nvSpPr>
          <p:cNvPr id="5" name="Shape 2"/>
          <p:cNvSpPr/>
          <p:nvPr/>
        </p:nvSpPr>
        <p:spPr>
          <a:xfrm>
            <a:off x="6355080" y="1325880"/>
            <a:ext cx="5276088" cy="1078992"/>
          </a:xfrm>
          <a:prstGeom prst="roundRect">
            <a:avLst>
              <a:gd name="adj" fmla="val 4237"/>
            </a:avLst>
          </a:prstGeom>
          <a:solidFill>
            <a:srgbClr val="FCEEEC"/>
          </a:solidFill>
          <a:ln w="12700">
            <a:solidFill>
              <a:srgbClr val="B03A2E"/>
            </a:solidFill>
            <a:prstDash val="solid"/>
          </a:ln>
        </p:spPr>
        <p:txBody>
          <a:bodyPr/>
          <a:lstStyle/>
          <a:p>
            <a:endParaRPr lang="en-AE"/>
          </a:p>
        </p:txBody>
      </p:sp>
      <p:sp>
        <p:nvSpPr>
          <p:cNvPr id="6" name="Text 3"/>
          <p:cNvSpPr/>
          <p:nvPr/>
        </p:nvSpPr>
        <p:spPr>
          <a:xfrm>
            <a:off x="6574536" y="1417320"/>
            <a:ext cx="4846320" cy="256032"/>
          </a:xfrm>
          <a:prstGeom prst="rect">
            <a:avLst/>
          </a:prstGeom>
          <a:noFill/>
          <a:ln/>
        </p:spPr>
        <p:txBody>
          <a:bodyPr wrap="square" lIns="0" tIns="0" rIns="0" bIns="0" rtlCol="0" anchor="ctr"/>
          <a:lstStyle/>
          <a:p>
            <a:pPr marL="0" indent="0">
              <a:buNone/>
            </a:pPr>
            <a:r>
              <a:rPr lang="en-US" sz="1150" b="1" dirty="0">
                <a:solidFill>
                  <a:srgbClr val="B03A2E"/>
                </a:solidFill>
                <a:latin typeface="Calibri" pitchFamily="34" charset="0"/>
                <a:ea typeface="Calibri" pitchFamily="34" charset="-122"/>
                <a:cs typeface="Calibri" pitchFamily="34" charset="-120"/>
              </a:rPr>
              <a:t>Accuracy vs cost</a:t>
            </a:r>
            <a:endParaRPr lang="en-US" sz="1150" dirty="0"/>
          </a:p>
        </p:txBody>
      </p:sp>
      <p:sp>
        <p:nvSpPr>
          <p:cNvPr id="7" name="Text 4"/>
          <p:cNvSpPr/>
          <p:nvPr/>
        </p:nvSpPr>
        <p:spPr>
          <a:xfrm>
            <a:off x="6574536" y="1691640"/>
            <a:ext cx="4846320" cy="658368"/>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The full model costs 15.5 M parameters and four CNN forward passes per sample. LightGBM — 200 shallow trees, sub-millisecond inference, well under a megabyte — is more accurate on this data. On every axis that matters operationally, the deep model loses.</a:t>
            </a:r>
            <a:endParaRPr lang="en-US" sz="950" dirty="0"/>
          </a:p>
        </p:txBody>
      </p:sp>
      <p:sp>
        <p:nvSpPr>
          <p:cNvPr id="8" name="Shape 5"/>
          <p:cNvSpPr/>
          <p:nvPr/>
        </p:nvSpPr>
        <p:spPr>
          <a:xfrm>
            <a:off x="6355080" y="2514600"/>
            <a:ext cx="5276088" cy="1078992"/>
          </a:xfrm>
          <a:prstGeom prst="roundRect">
            <a:avLst>
              <a:gd name="adj" fmla="val 4237"/>
            </a:avLst>
          </a:prstGeom>
          <a:solidFill>
            <a:srgbClr val="EFF3F7"/>
          </a:solidFill>
          <a:ln w="7620">
            <a:solidFill>
              <a:srgbClr val="CFD9E2"/>
            </a:solidFill>
            <a:prstDash val="solid"/>
          </a:ln>
        </p:spPr>
        <p:txBody>
          <a:bodyPr/>
          <a:lstStyle/>
          <a:p>
            <a:endParaRPr lang="en-AE"/>
          </a:p>
        </p:txBody>
      </p:sp>
      <p:sp>
        <p:nvSpPr>
          <p:cNvPr id="9" name="Text 6"/>
          <p:cNvSpPr/>
          <p:nvPr/>
        </p:nvSpPr>
        <p:spPr>
          <a:xfrm>
            <a:off x="6574536" y="2606040"/>
            <a:ext cx="4846320" cy="25603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Memory vs batch size</a:t>
            </a:r>
            <a:endParaRPr lang="en-US" sz="1150" dirty="0"/>
          </a:p>
        </p:txBody>
      </p:sp>
      <p:sp>
        <p:nvSpPr>
          <p:cNvPr id="10" name="Text 7"/>
          <p:cNvSpPr/>
          <p:nvPr/>
        </p:nvSpPr>
        <p:spPr>
          <a:xfrm>
            <a:off x="6574536" y="2880360"/>
            <a:ext cx="4846320" cy="658368"/>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Batch 128 needs 128×9×224×224 float32 ≈ 231 MB for the multi-frame tensor alone before activations. The code therefore drops to batch 16 off CUDA — the same reason inference on Apple MPS runs at batch 32.</a:t>
            </a:r>
            <a:endParaRPr lang="en-US" sz="950" dirty="0"/>
          </a:p>
        </p:txBody>
      </p:sp>
      <p:sp>
        <p:nvSpPr>
          <p:cNvPr id="11" name="Shape 8"/>
          <p:cNvSpPr/>
          <p:nvPr/>
        </p:nvSpPr>
        <p:spPr>
          <a:xfrm>
            <a:off x="6355080" y="3703320"/>
            <a:ext cx="5276088" cy="1078992"/>
          </a:xfrm>
          <a:prstGeom prst="roundRect">
            <a:avLst>
              <a:gd name="adj" fmla="val 4237"/>
            </a:avLst>
          </a:prstGeom>
          <a:solidFill>
            <a:srgbClr val="EFF3F7"/>
          </a:solidFill>
          <a:ln w="7620">
            <a:solidFill>
              <a:srgbClr val="CFD9E2"/>
            </a:solidFill>
            <a:prstDash val="solid"/>
          </a:ln>
        </p:spPr>
        <p:txBody>
          <a:bodyPr/>
          <a:lstStyle/>
          <a:p>
            <a:endParaRPr lang="en-AE"/>
          </a:p>
        </p:txBody>
      </p:sp>
      <p:sp>
        <p:nvSpPr>
          <p:cNvPr id="12" name="Text 9"/>
          <p:cNvSpPr/>
          <p:nvPr/>
        </p:nvSpPr>
        <p:spPr>
          <a:xfrm>
            <a:off x="6574536" y="3794760"/>
            <a:ext cx="4846320" cy="256032"/>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Latency vs deployment target</a:t>
            </a:r>
            <a:endParaRPr lang="en-US" sz="1150" dirty="0"/>
          </a:p>
        </p:txBody>
      </p:sp>
      <p:sp>
        <p:nvSpPr>
          <p:cNvPr id="13" name="Text 10"/>
          <p:cNvSpPr/>
          <p:nvPr/>
        </p:nvSpPr>
        <p:spPr>
          <a:xfrm>
            <a:off x="6574536" y="4069080"/>
            <a:ext cx="4846320" cy="658368"/>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64 ms per forecast on consumer hardware is comfortably inside an hourly cadence. Latency is not the binding constraint; data freshness is — the satellite tile carries a 20–30 minute publication delay.</a:t>
            </a:r>
            <a:endParaRPr lang="en-US" sz="950" dirty="0"/>
          </a:p>
        </p:txBody>
      </p:sp>
      <p:sp>
        <p:nvSpPr>
          <p:cNvPr id="14" name="Shape 11"/>
          <p:cNvSpPr/>
          <p:nvPr/>
        </p:nvSpPr>
        <p:spPr>
          <a:xfrm>
            <a:off x="6355080" y="4892040"/>
            <a:ext cx="5276088" cy="1078992"/>
          </a:xfrm>
          <a:prstGeom prst="roundRect">
            <a:avLst>
              <a:gd name="adj" fmla="val 4237"/>
            </a:avLst>
          </a:prstGeom>
          <a:solidFill>
            <a:srgbClr val="EFF3F7"/>
          </a:solidFill>
          <a:ln w="7620">
            <a:solidFill>
              <a:srgbClr val="CFD9E2"/>
            </a:solidFill>
            <a:prstDash val="solid"/>
          </a:ln>
        </p:spPr>
        <p:txBody>
          <a:bodyPr/>
          <a:lstStyle/>
          <a:p>
            <a:endParaRPr lang="en-AE"/>
          </a:p>
        </p:txBody>
      </p:sp>
      <p:sp>
        <p:nvSpPr>
          <p:cNvPr id="15" name="Text 12"/>
          <p:cNvSpPr/>
          <p:nvPr/>
        </p:nvSpPr>
        <p:spPr>
          <a:xfrm>
            <a:off x="6574536" y="4983480"/>
            <a:ext cx="4846320" cy="25603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The RAM-cache decision</a:t>
            </a:r>
            <a:endParaRPr lang="en-US" sz="1150" dirty="0"/>
          </a:p>
        </p:txBody>
      </p:sp>
      <p:sp>
        <p:nvSpPr>
          <p:cNvPr id="16" name="Text 13"/>
          <p:cNvSpPr/>
          <p:nvPr/>
        </p:nvSpPr>
        <p:spPr>
          <a:xfrm>
            <a:off x="6574536" y="5257800"/>
            <a:ext cx="4846320" cy="658368"/>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Holding all 7,625 decoded frames in RAM removes disk I/O from the training loop entirely, which is why an epoch takes 10 seconds. It only works because the dataset is small — 4.6 GB. This design does not scale past roughly 50 k frames on typical hardware.</a:t>
            </a:r>
            <a:endParaRPr lang="en-US" sz="950" dirty="0"/>
          </a:p>
        </p:txBody>
      </p:sp>
      <p:sp>
        <p:nvSpPr>
          <p:cNvPr id="17" name="Text 14"/>
          <p:cNvSpPr/>
          <p:nvPr/>
        </p:nvSpPr>
        <p:spPr>
          <a:xfrm>
            <a:off x="566928" y="6327648"/>
            <a:ext cx="11064240" cy="274320"/>
          </a:xfrm>
          <a:prstGeom prst="rect">
            <a:avLst/>
          </a:prstGeom>
          <a:noFill/>
          <a:ln/>
        </p:spPr>
        <p:txBody>
          <a:bodyPr wrap="square" lIns="0" tIns="0" rIns="0" bIns="0" rtlCol="0" anchor="ctr"/>
          <a:lstStyle/>
          <a:p>
            <a:pPr marL="0" indent="0">
              <a:buNone/>
            </a:pPr>
            <a:r>
              <a:rPr lang="en-US" sz="950" i="1" dirty="0">
                <a:solidFill>
                  <a:srgbClr val="6E7F8F"/>
                </a:solidFill>
                <a:latin typeface="Calibri" pitchFamily="34" charset="0"/>
                <a:ea typeface="Calibri" pitchFamily="34" charset="-122"/>
                <a:cs typeface="Calibri" pitchFamily="34" charset="-120"/>
              </a:rPr>
              <a:t>Parameter counts recomputed by instantiating model.py classes. Training times from the executed notebook (commit 8196803). Inference latency measured on this machine for this defence — no FLOP count was computed.</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LIMITATIONS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Limitations — stated without softening</a:t>
            </a:r>
            <a:endParaRPr lang="en-US" sz="3000" dirty="0"/>
          </a:p>
        </p:txBody>
      </p:sp>
      <p:sp>
        <p:nvSpPr>
          <p:cNvPr id="4" name="Shape 2"/>
          <p:cNvSpPr/>
          <p:nvPr/>
        </p:nvSpPr>
        <p:spPr>
          <a:xfrm>
            <a:off x="566928" y="1353312"/>
            <a:ext cx="3520440" cy="1444752"/>
          </a:xfrm>
          <a:prstGeom prst="roundRect">
            <a:avLst>
              <a:gd name="adj" fmla="val 3165"/>
            </a:avLst>
          </a:prstGeom>
          <a:solidFill>
            <a:srgbClr val="FCEEEC"/>
          </a:solidFill>
          <a:ln w="12700">
            <a:solidFill>
              <a:srgbClr val="B03A2E"/>
            </a:solidFill>
            <a:prstDash val="solid"/>
          </a:ln>
        </p:spPr>
        <p:txBody>
          <a:bodyPr/>
          <a:lstStyle/>
          <a:p>
            <a:endParaRPr lang="en-AE"/>
          </a:p>
        </p:txBody>
      </p:sp>
      <p:sp>
        <p:nvSpPr>
          <p:cNvPr id="5" name="Shape 3"/>
          <p:cNvSpPr/>
          <p:nvPr/>
        </p:nvSpPr>
        <p:spPr>
          <a:xfrm>
            <a:off x="786384" y="1517904"/>
            <a:ext cx="310896" cy="310896"/>
          </a:xfrm>
          <a:prstGeom prst="ellipse">
            <a:avLst/>
          </a:prstGeom>
          <a:solidFill>
            <a:srgbClr val="B03A2E"/>
          </a:solidFill>
          <a:ln/>
        </p:spPr>
        <p:txBody>
          <a:bodyPr/>
          <a:lstStyle/>
          <a:p>
            <a:endParaRPr lang="en-AE"/>
          </a:p>
        </p:txBody>
      </p:sp>
      <p:sp>
        <p:nvSpPr>
          <p:cNvPr id="6" name="Text 4"/>
          <p:cNvSpPr/>
          <p:nvPr/>
        </p:nvSpPr>
        <p:spPr>
          <a:xfrm>
            <a:off x="786384" y="15179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70432" y="1499616"/>
            <a:ext cx="2697480" cy="347472"/>
          </a:xfrm>
          <a:prstGeom prst="rect">
            <a:avLst/>
          </a:prstGeom>
          <a:noFill/>
          <a:ln/>
        </p:spPr>
        <p:txBody>
          <a:bodyPr wrap="square" lIns="0" tIns="0" rIns="0" bIns="0" rtlCol="0" anchor="ctr"/>
          <a:lstStyle/>
          <a:p>
            <a:pPr marL="0" indent="0">
              <a:buNone/>
            </a:pPr>
            <a:r>
              <a:rPr lang="en-US" sz="1150" b="1" dirty="0">
                <a:solidFill>
                  <a:srgbClr val="B03A2E"/>
                </a:solidFill>
                <a:latin typeface="Calibri" pitchFamily="34" charset="0"/>
                <a:ea typeface="Calibri" pitchFamily="34" charset="-122"/>
                <a:cs typeface="Calibri" pitchFamily="34" charset="-120"/>
              </a:rPr>
              <a:t>Data scale</a:t>
            </a:r>
            <a:endParaRPr lang="en-US" sz="1150" dirty="0"/>
          </a:p>
        </p:txBody>
      </p:sp>
      <p:sp>
        <p:nvSpPr>
          <p:cNvPr id="8" name="Text 6"/>
          <p:cNvSpPr/>
          <p:nvPr/>
        </p:nvSpPr>
        <p:spPr>
          <a:xfrm>
            <a:off x="804672" y="1920240"/>
            <a:ext cx="3063240" cy="80467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5,312 training samples against 14.4 M image-branch parameters. This is the root cause of the negative result and it is not a subtlety — the training curves show it directly.</a:t>
            </a:r>
            <a:endParaRPr lang="en-US" sz="950" dirty="0"/>
          </a:p>
        </p:txBody>
      </p:sp>
      <p:sp>
        <p:nvSpPr>
          <p:cNvPr id="9" name="Shape 7"/>
          <p:cNvSpPr/>
          <p:nvPr/>
        </p:nvSpPr>
        <p:spPr>
          <a:xfrm>
            <a:off x="4270248" y="1353312"/>
            <a:ext cx="3520440" cy="1444752"/>
          </a:xfrm>
          <a:prstGeom prst="roundRect">
            <a:avLst>
              <a:gd name="adj" fmla="val 3165"/>
            </a:avLst>
          </a:prstGeom>
          <a:solidFill>
            <a:srgbClr val="FCEEEC"/>
          </a:solidFill>
          <a:ln w="12700">
            <a:solidFill>
              <a:srgbClr val="B03A2E"/>
            </a:solidFill>
            <a:prstDash val="solid"/>
          </a:ln>
        </p:spPr>
        <p:txBody>
          <a:bodyPr/>
          <a:lstStyle/>
          <a:p>
            <a:endParaRPr lang="en-AE"/>
          </a:p>
        </p:txBody>
      </p:sp>
      <p:sp>
        <p:nvSpPr>
          <p:cNvPr id="10" name="Shape 8"/>
          <p:cNvSpPr/>
          <p:nvPr/>
        </p:nvSpPr>
        <p:spPr>
          <a:xfrm>
            <a:off x="4489704" y="1517904"/>
            <a:ext cx="310896" cy="310896"/>
          </a:xfrm>
          <a:prstGeom prst="ellipse">
            <a:avLst/>
          </a:prstGeom>
          <a:solidFill>
            <a:srgbClr val="B03A2E"/>
          </a:solidFill>
          <a:ln/>
        </p:spPr>
        <p:txBody>
          <a:bodyPr/>
          <a:lstStyle/>
          <a:p>
            <a:endParaRPr lang="en-AE"/>
          </a:p>
        </p:txBody>
      </p:sp>
      <p:sp>
        <p:nvSpPr>
          <p:cNvPr id="11" name="Text 9"/>
          <p:cNvSpPr/>
          <p:nvPr/>
        </p:nvSpPr>
        <p:spPr>
          <a:xfrm>
            <a:off x="4489704" y="151790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873752" y="1499616"/>
            <a:ext cx="2697480" cy="347472"/>
          </a:xfrm>
          <a:prstGeom prst="rect">
            <a:avLst/>
          </a:prstGeom>
          <a:noFill/>
          <a:ln/>
        </p:spPr>
        <p:txBody>
          <a:bodyPr wrap="square" lIns="0" tIns="0" rIns="0" bIns="0" rtlCol="0" anchor="ctr"/>
          <a:lstStyle/>
          <a:p>
            <a:pPr marL="0" indent="0">
              <a:buNone/>
            </a:pPr>
            <a:r>
              <a:rPr lang="en-US" sz="1150" b="1" dirty="0">
                <a:solidFill>
                  <a:srgbClr val="B03A2E"/>
                </a:solidFill>
                <a:latin typeface="Calibri" pitchFamily="34" charset="0"/>
                <a:ea typeface="Calibri" pitchFamily="34" charset="-122"/>
                <a:cs typeface="Calibri" pitchFamily="34" charset="-120"/>
              </a:rPr>
              <a:t>Ground truth is reanalysis</a:t>
            </a:r>
            <a:endParaRPr lang="en-US" sz="1150" dirty="0"/>
          </a:p>
        </p:txBody>
      </p:sp>
      <p:sp>
        <p:nvSpPr>
          <p:cNvPr id="13" name="Text 11"/>
          <p:cNvSpPr/>
          <p:nvPr/>
        </p:nvSpPr>
        <p:spPr>
          <a:xfrm>
            <a:off x="4507992" y="1920240"/>
            <a:ext cx="3063240" cy="80467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The target is ERA5 shortwave radiation, not a measured pyranometer. Reanalysis is spatially and temporally smoothed, so true point variability is understated and every error figure is an error against a smoothed field.</a:t>
            </a:r>
            <a:endParaRPr lang="en-US" sz="950" dirty="0"/>
          </a:p>
        </p:txBody>
      </p:sp>
      <p:sp>
        <p:nvSpPr>
          <p:cNvPr id="14" name="Shape 12"/>
          <p:cNvSpPr/>
          <p:nvPr/>
        </p:nvSpPr>
        <p:spPr>
          <a:xfrm>
            <a:off x="7973568" y="1353312"/>
            <a:ext cx="3520440" cy="1444752"/>
          </a:xfrm>
          <a:prstGeom prst="roundRect">
            <a:avLst>
              <a:gd name="adj" fmla="val 3165"/>
            </a:avLst>
          </a:prstGeom>
          <a:solidFill>
            <a:srgbClr val="EFF3F7"/>
          </a:solidFill>
          <a:ln w="7620">
            <a:solidFill>
              <a:srgbClr val="CFD9E2"/>
            </a:solidFill>
            <a:prstDash val="solid"/>
          </a:ln>
        </p:spPr>
        <p:txBody>
          <a:bodyPr/>
          <a:lstStyle/>
          <a:p>
            <a:endParaRPr lang="en-AE"/>
          </a:p>
        </p:txBody>
      </p:sp>
      <p:sp>
        <p:nvSpPr>
          <p:cNvPr id="15" name="Shape 13"/>
          <p:cNvSpPr/>
          <p:nvPr/>
        </p:nvSpPr>
        <p:spPr>
          <a:xfrm>
            <a:off x="8193024" y="1517904"/>
            <a:ext cx="310896" cy="310896"/>
          </a:xfrm>
          <a:prstGeom prst="ellipse">
            <a:avLst/>
          </a:prstGeom>
          <a:solidFill>
            <a:srgbClr val="E8A33D"/>
          </a:solidFill>
          <a:ln/>
        </p:spPr>
        <p:txBody>
          <a:bodyPr/>
          <a:lstStyle/>
          <a:p>
            <a:endParaRPr lang="en-AE"/>
          </a:p>
        </p:txBody>
      </p:sp>
      <p:sp>
        <p:nvSpPr>
          <p:cNvPr id="16" name="Text 14"/>
          <p:cNvSpPr/>
          <p:nvPr/>
        </p:nvSpPr>
        <p:spPr>
          <a:xfrm>
            <a:off x="8193024" y="1517904"/>
            <a:ext cx="310896" cy="31089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577072" y="1499616"/>
            <a:ext cx="2697480" cy="347472"/>
          </a:xfrm>
          <a:prstGeom prst="rect">
            <a:avLst/>
          </a:prstGeom>
          <a:noFill/>
          <a:ln/>
        </p:spPr>
        <p:txBody>
          <a:bodyPr wrap="square" lIns="0" tIns="0" rIns="0" bIns="0" rtlCol="0" anchor="ctr"/>
          <a:lstStyle/>
          <a:p>
            <a:pPr marL="0" indent="0">
              <a:buNone/>
            </a:pPr>
            <a:r>
              <a:rPr lang="en-US" sz="1150" b="1" dirty="0">
                <a:solidFill>
                  <a:srgbClr val="B87A1B"/>
                </a:solidFill>
                <a:latin typeface="Calibri" pitchFamily="34" charset="0"/>
                <a:ea typeface="Calibri" pitchFamily="34" charset="-122"/>
                <a:cs typeface="Calibri" pitchFamily="34" charset="-120"/>
              </a:rPr>
              <a:t>Single visible band</a:t>
            </a:r>
            <a:endParaRPr lang="en-US" sz="1150" dirty="0"/>
          </a:p>
        </p:txBody>
      </p:sp>
      <p:sp>
        <p:nvSpPr>
          <p:cNvPr id="18" name="Text 16"/>
          <p:cNvSpPr/>
          <p:nvPr/>
        </p:nvSpPr>
        <p:spPr>
          <a:xfrm>
            <a:off x="8211312" y="1920240"/>
            <a:ext cx="3063240" cy="80467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The training imagery is an 8-bit RGB browse product converted to grayscale — effectively one visible channel. Infrared bands, which carry cloud-top temperature and therefore optical depth, are never used.</a:t>
            </a:r>
            <a:endParaRPr lang="en-US" sz="950" dirty="0"/>
          </a:p>
        </p:txBody>
      </p:sp>
      <p:sp>
        <p:nvSpPr>
          <p:cNvPr id="19" name="Shape 17"/>
          <p:cNvSpPr/>
          <p:nvPr/>
        </p:nvSpPr>
        <p:spPr>
          <a:xfrm>
            <a:off x="566928" y="2926080"/>
            <a:ext cx="3520440" cy="1444752"/>
          </a:xfrm>
          <a:prstGeom prst="roundRect">
            <a:avLst>
              <a:gd name="adj" fmla="val 3165"/>
            </a:avLst>
          </a:prstGeom>
          <a:solidFill>
            <a:srgbClr val="EFF3F7"/>
          </a:solidFill>
          <a:ln w="7620">
            <a:solidFill>
              <a:srgbClr val="CFD9E2"/>
            </a:solidFill>
            <a:prstDash val="solid"/>
          </a:ln>
        </p:spPr>
        <p:txBody>
          <a:bodyPr/>
          <a:lstStyle/>
          <a:p>
            <a:endParaRPr lang="en-AE"/>
          </a:p>
        </p:txBody>
      </p:sp>
      <p:sp>
        <p:nvSpPr>
          <p:cNvPr id="20" name="Shape 18"/>
          <p:cNvSpPr/>
          <p:nvPr/>
        </p:nvSpPr>
        <p:spPr>
          <a:xfrm>
            <a:off x="786384" y="3090672"/>
            <a:ext cx="310896" cy="310896"/>
          </a:xfrm>
          <a:prstGeom prst="ellipse">
            <a:avLst/>
          </a:prstGeom>
          <a:solidFill>
            <a:srgbClr val="E8A33D"/>
          </a:solidFill>
          <a:ln/>
        </p:spPr>
        <p:txBody>
          <a:bodyPr/>
          <a:lstStyle/>
          <a:p>
            <a:endParaRPr lang="en-AE"/>
          </a:p>
        </p:txBody>
      </p:sp>
      <p:sp>
        <p:nvSpPr>
          <p:cNvPr id="21" name="Text 19"/>
          <p:cNvSpPr/>
          <p:nvPr/>
        </p:nvSpPr>
        <p:spPr>
          <a:xfrm>
            <a:off x="786384" y="3090672"/>
            <a:ext cx="310896" cy="31089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170432" y="3072384"/>
            <a:ext cx="2697480" cy="347472"/>
          </a:xfrm>
          <a:prstGeom prst="rect">
            <a:avLst/>
          </a:prstGeom>
          <a:noFill/>
          <a:ln/>
        </p:spPr>
        <p:txBody>
          <a:bodyPr wrap="square" lIns="0" tIns="0" rIns="0" bIns="0" rtlCol="0" anchor="ctr"/>
          <a:lstStyle/>
          <a:p>
            <a:pPr marL="0" indent="0">
              <a:buNone/>
            </a:pPr>
            <a:r>
              <a:rPr lang="en-US" sz="1150" b="1" dirty="0">
                <a:solidFill>
                  <a:srgbClr val="B87A1B"/>
                </a:solidFill>
                <a:latin typeface="Calibri" pitchFamily="34" charset="0"/>
                <a:ea typeface="Calibri" pitchFamily="34" charset="-122"/>
                <a:cs typeface="Calibri" pitchFamily="34" charset="-120"/>
              </a:rPr>
              <a:t>Target-construction artefact</a:t>
            </a:r>
            <a:endParaRPr lang="en-US" sz="1150" dirty="0"/>
          </a:p>
        </p:txBody>
      </p:sp>
      <p:sp>
        <p:nvSpPr>
          <p:cNvPr id="23" name="Text 21"/>
          <p:cNvSpPr/>
          <p:nvPr/>
        </p:nvSpPr>
        <p:spPr>
          <a:xfrm>
            <a:off x="804672" y="3493008"/>
            <a:ext cx="3063240" cy="80467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30% of t+3h targets land on the next morning rather than three hours later (slide 31). Absolute MAEs are optimistic; the ranking is unaffected.</a:t>
            </a:r>
            <a:endParaRPr lang="en-US" sz="950" dirty="0"/>
          </a:p>
        </p:txBody>
      </p:sp>
      <p:sp>
        <p:nvSpPr>
          <p:cNvPr id="24" name="Shape 22"/>
          <p:cNvSpPr/>
          <p:nvPr/>
        </p:nvSpPr>
        <p:spPr>
          <a:xfrm>
            <a:off x="4270248" y="2926080"/>
            <a:ext cx="3520440" cy="1444752"/>
          </a:xfrm>
          <a:prstGeom prst="roundRect">
            <a:avLst>
              <a:gd name="adj" fmla="val 3165"/>
            </a:avLst>
          </a:prstGeom>
          <a:solidFill>
            <a:srgbClr val="EFF3F7"/>
          </a:solidFill>
          <a:ln w="7620">
            <a:solidFill>
              <a:srgbClr val="CFD9E2"/>
            </a:solidFill>
            <a:prstDash val="solid"/>
          </a:ln>
        </p:spPr>
        <p:txBody>
          <a:bodyPr/>
          <a:lstStyle/>
          <a:p>
            <a:endParaRPr lang="en-AE"/>
          </a:p>
        </p:txBody>
      </p:sp>
      <p:sp>
        <p:nvSpPr>
          <p:cNvPr id="25" name="Shape 23"/>
          <p:cNvSpPr/>
          <p:nvPr/>
        </p:nvSpPr>
        <p:spPr>
          <a:xfrm>
            <a:off x="4489704" y="3090672"/>
            <a:ext cx="310896" cy="310896"/>
          </a:xfrm>
          <a:prstGeom prst="ellipse">
            <a:avLst/>
          </a:prstGeom>
          <a:solidFill>
            <a:srgbClr val="E8A33D"/>
          </a:solidFill>
          <a:ln/>
        </p:spPr>
        <p:txBody>
          <a:bodyPr/>
          <a:lstStyle/>
          <a:p>
            <a:endParaRPr lang="en-AE"/>
          </a:p>
        </p:txBody>
      </p:sp>
      <p:sp>
        <p:nvSpPr>
          <p:cNvPr id="26" name="Text 24"/>
          <p:cNvSpPr/>
          <p:nvPr/>
        </p:nvSpPr>
        <p:spPr>
          <a:xfrm>
            <a:off x="4489704" y="3090672"/>
            <a:ext cx="310896" cy="31089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4873752" y="3072384"/>
            <a:ext cx="2697480" cy="347472"/>
          </a:xfrm>
          <a:prstGeom prst="rect">
            <a:avLst/>
          </a:prstGeom>
          <a:noFill/>
          <a:ln/>
        </p:spPr>
        <p:txBody>
          <a:bodyPr wrap="square" lIns="0" tIns="0" rIns="0" bIns="0" rtlCol="0" anchor="ctr"/>
          <a:lstStyle/>
          <a:p>
            <a:pPr marL="0" indent="0">
              <a:buNone/>
            </a:pPr>
            <a:r>
              <a:rPr lang="en-US" sz="1150" b="1" dirty="0">
                <a:solidFill>
                  <a:srgbClr val="B87A1B"/>
                </a:solidFill>
                <a:latin typeface="Calibri" pitchFamily="34" charset="0"/>
                <a:ea typeface="Calibri" pitchFamily="34" charset="-122"/>
                <a:cs typeface="Calibri" pitchFamily="34" charset="-120"/>
              </a:rPr>
              <a:t>Single split, single seed</a:t>
            </a:r>
            <a:endParaRPr lang="en-US" sz="1150" dirty="0"/>
          </a:p>
        </p:txBody>
      </p:sp>
      <p:sp>
        <p:nvSpPr>
          <p:cNvPr id="28" name="Text 26"/>
          <p:cNvSpPr/>
          <p:nvPr/>
        </p:nvSpPr>
        <p:spPr>
          <a:xfrm>
            <a:off x="4507992" y="3493008"/>
            <a:ext cx="3063240" cy="80467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One chronological hold-out, one seed, no repeats, no rolling-origin evaluation. I have no confidence interval on any metric and cannot test the significance of any gap.</a:t>
            </a:r>
            <a:endParaRPr lang="en-US" sz="950" dirty="0"/>
          </a:p>
        </p:txBody>
      </p:sp>
      <p:sp>
        <p:nvSpPr>
          <p:cNvPr id="29" name="Shape 27"/>
          <p:cNvSpPr/>
          <p:nvPr/>
        </p:nvSpPr>
        <p:spPr>
          <a:xfrm>
            <a:off x="7973568" y="2926080"/>
            <a:ext cx="3520440" cy="1444752"/>
          </a:xfrm>
          <a:prstGeom prst="roundRect">
            <a:avLst>
              <a:gd name="adj" fmla="val 3165"/>
            </a:avLst>
          </a:prstGeom>
          <a:solidFill>
            <a:srgbClr val="EFF3F7"/>
          </a:solidFill>
          <a:ln w="7620">
            <a:solidFill>
              <a:srgbClr val="CFD9E2"/>
            </a:solidFill>
            <a:prstDash val="solid"/>
          </a:ln>
        </p:spPr>
        <p:txBody>
          <a:bodyPr/>
          <a:lstStyle/>
          <a:p>
            <a:endParaRPr lang="en-AE"/>
          </a:p>
        </p:txBody>
      </p:sp>
      <p:sp>
        <p:nvSpPr>
          <p:cNvPr id="30" name="Shape 28"/>
          <p:cNvSpPr/>
          <p:nvPr/>
        </p:nvSpPr>
        <p:spPr>
          <a:xfrm>
            <a:off x="8193024" y="3090672"/>
            <a:ext cx="310896" cy="310896"/>
          </a:xfrm>
          <a:prstGeom prst="ellipse">
            <a:avLst/>
          </a:prstGeom>
          <a:solidFill>
            <a:srgbClr val="E8A33D"/>
          </a:solidFill>
          <a:ln/>
        </p:spPr>
        <p:txBody>
          <a:bodyPr/>
          <a:lstStyle/>
          <a:p>
            <a:endParaRPr lang="en-AE"/>
          </a:p>
        </p:txBody>
      </p:sp>
      <p:sp>
        <p:nvSpPr>
          <p:cNvPr id="31" name="Text 29"/>
          <p:cNvSpPr/>
          <p:nvPr/>
        </p:nvSpPr>
        <p:spPr>
          <a:xfrm>
            <a:off x="8193024" y="3090672"/>
            <a:ext cx="310896" cy="31089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8577072" y="3072384"/>
            <a:ext cx="2697480" cy="347472"/>
          </a:xfrm>
          <a:prstGeom prst="rect">
            <a:avLst/>
          </a:prstGeom>
          <a:noFill/>
          <a:ln/>
        </p:spPr>
        <p:txBody>
          <a:bodyPr wrap="square" lIns="0" tIns="0" rIns="0" bIns="0" rtlCol="0" anchor="ctr"/>
          <a:lstStyle/>
          <a:p>
            <a:pPr marL="0" indent="0">
              <a:buNone/>
            </a:pPr>
            <a:r>
              <a:rPr lang="en-US" sz="1150" b="1" dirty="0">
                <a:solidFill>
                  <a:srgbClr val="B87A1B"/>
                </a:solidFill>
                <a:latin typeface="Calibri" pitchFamily="34" charset="0"/>
                <a:ea typeface="Calibri" pitchFamily="34" charset="-122"/>
                <a:cs typeface="Calibri" pitchFamily="34" charset="-120"/>
              </a:rPr>
              <a:t>Unanswered research question</a:t>
            </a:r>
            <a:endParaRPr lang="en-US" sz="1150" dirty="0"/>
          </a:p>
        </p:txBody>
      </p:sp>
      <p:sp>
        <p:nvSpPr>
          <p:cNvPr id="33" name="Text 31"/>
          <p:cNvSpPr/>
          <p:nvPr/>
        </p:nvSpPr>
        <p:spPr>
          <a:xfrm>
            <a:off x="8211312" y="3493008"/>
            <a:ext cx="3063240" cy="80467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RQ3 — does cloud-segmentation pretraining beat ImageNet? — was never tested, because the control run was not performed. The pretrained encoder's own validation IoU is also not recoverable from the repository.</a:t>
            </a:r>
            <a:endParaRPr lang="en-US" sz="950" dirty="0"/>
          </a:p>
        </p:txBody>
      </p:sp>
      <p:sp>
        <p:nvSpPr>
          <p:cNvPr id="34" name="Shape 32"/>
          <p:cNvSpPr/>
          <p:nvPr/>
        </p:nvSpPr>
        <p:spPr>
          <a:xfrm>
            <a:off x="566928" y="4498848"/>
            <a:ext cx="3520440" cy="1444752"/>
          </a:xfrm>
          <a:prstGeom prst="roundRect">
            <a:avLst>
              <a:gd name="adj" fmla="val 3165"/>
            </a:avLst>
          </a:prstGeom>
          <a:solidFill>
            <a:srgbClr val="EFF3F7"/>
          </a:solidFill>
          <a:ln w="7620">
            <a:solidFill>
              <a:srgbClr val="CFD9E2"/>
            </a:solidFill>
            <a:prstDash val="solid"/>
          </a:ln>
        </p:spPr>
        <p:txBody>
          <a:bodyPr/>
          <a:lstStyle/>
          <a:p>
            <a:endParaRPr lang="en-AE"/>
          </a:p>
        </p:txBody>
      </p:sp>
      <p:sp>
        <p:nvSpPr>
          <p:cNvPr id="35" name="Shape 33"/>
          <p:cNvSpPr/>
          <p:nvPr/>
        </p:nvSpPr>
        <p:spPr>
          <a:xfrm>
            <a:off x="786384" y="4663440"/>
            <a:ext cx="310896" cy="310896"/>
          </a:xfrm>
          <a:prstGeom prst="ellipse">
            <a:avLst/>
          </a:prstGeom>
          <a:solidFill>
            <a:srgbClr val="E3EAF1"/>
          </a:solidFill>
          <a:ln/>
        </p:spPr>
        <p:txBody>
          <a:bodyPr/>
          <a:lstStyle/>
          <a:p>
            <a:endParaRPr lang="en-AE"/>
          </a:p>
        </p:txBody>
      </p:sp>
      <p:sp>
        <p:nvSpPr>
          <p:cNvPr id="36" name="Text 34"/>
          <p:cNvSpPr/>
          <p:nvPr/>
        </p:nvSpPr>
        <p:spPr>
          <a:xfrm>
            <a:off x="786384" y="4663440"/>
            <a:ext cx="310896" cy="31089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7</a:t>
            </a:r>
            <a:endParaRPr lang="en-US" sz="1200" dirty="0"/>
          </a:p>
        </p:txBody>
      </p:sp>
      <p:sp>
        <p:nvSpPr>
          <p:cNvPr id="37" name="Text 35"/>
          <p:cNvSpPr/>
          <p:nvPr/>
        </p:nvSpPr>
        <p:spPr>
          <a:xfrm>
            <a:off x="1170432" y="4645152"/>
            <a:ext cx="2697480" cy="34747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Site-specific</a:t>
            </a:r>
            <a:endParaRPr lang="en-US" sz="1150" dirty="0"/>
          </a:p>
        </p:txBody>
      </p:sp>
      <p:sp>
        <p:nvSpPr>
          <p:cNvPr id="38" name="Text 36"/>
          <p:cNvSpPr/>
          <p:nvPr/>
        </p:nvSpPr>
        <p:spPr>
          <a:xfrm>
            <a:off x="804672" y="5065776"/>
            <a:ext cx="3063240" cy="80467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Everything is hard-coded to one equatorial location, one satellite tile, and daylight hours 08:00–17:00. Nothing has been validated at another site or latitude.</a:t>
            </a:r>
            <a:endParaRPr lang="en-US" sz="950" dirty="0"/>
          </a:p>
        </p:txBody>
      </p:sp>
      <p:sp>
        <p:nvSpPr>
          <p:cNvPr id="39" name="Shape 37"/>
          <p:cNvSpPr/>
          <p:nvPr/>
        </p:nvSpPr>
        <p:spPr>
          <a:xfrm>
            <a:off x="4270248" y="4498848"/>
            <a:ext cx="3520440" cy="1444752"/>
          </a:xfrm>
          <a:prstGeom prst="roundRect">
            <a:avLst>
              <a:gd name="adj" fmla="val 3165"/>
            </a:avLst>
          </a:prstGeom>
          <a:solidFill>
            <a:srgbClr val="EFF3F7"/>
          </a:solidFill>
          <a:ln w="7620">
            <a:solidFill>
              <a:srgbClr val="CFD9E2"/>
            </a:solidFill>
            <a:prstDash val="solid"/>
          </a:ln>
        </p:spPr>
        <p:txBody>
          <a:bodyPr/>
          <a:lstStyle/>
          <a:p>
            <a:endParaRPr lang="en-AE"/>
          </a:p>
        </p:txBody>
      </p:sp>
      <p:sp>
        <p:nvSpPr>
          <p:cNvPr id="40" name="Shape 38"/>
          <p:cNvSpPr/>
          <p:nvPr/>
        </p:nvSpPr>
        <p:spPr>
          <a:xfrm>
            <a:off x="4489704" y="4663440"/>
            <a:ext cx="310896" cy="310896"/>
          </a:xfrm>
          <a:prstGeom prst="ellipse">
            <a:avLst/>
          </a:prstGeom>
          <a:solidFill>
            <a:srgbClr val="E3EAF1"/>
          </a:solidFill>
          <a:ln/>
        </p:spPr>
        <p:txBody>
          <a:bodyPr/>
          <a:lstStyle/>
          <a:p>
            <a:endParaRPr lang="en-AE"/>
          </a:p>
        </p:txBody>
      </p:sp>
      <p:sp>
        <p:nvSpPr>
          <p:cNvPr id="41" name="Text 39"/>
          <p:cNvSpPr/>
          <p:nvPr/>
        </p:nvSpPr>
        <p:spPr>
          <a:xfrm>
            <a:off x="4489704" y="4663440"/>
            <a:ext cx="310896" cy="31089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8</a:t>
            </a:r>
            <a:endParaRPr lang="en-US" sz="1200" dirty="0"/>
          </a:p>
        </p:txBody>
      </p:sp>
      <p:sp>
        <p:nvSpPr>
          <p:cNvPr id="42" name="Text 40"/>
          <p:cNvSpPr/>
          <p:nvPr/>
        </p:nvSpPr>
        <p:spPr>
          <a:xfrm>
            <a:off x="4873752" y="4645152"/>
            <a:ext cx="2697480" cy="34747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Live-path defects</a:t>
            </a:r>
            <a:endParaRPr lang="en-US" sz="1150" dirty="0"/>
          </a:p>
        </p:txBody>
      </p:sp>
      <p:sp>
        <p:nvSpPr>
          <p:cNvPr id="43" name="Text 41"/>
          <p:cNvSpPr/>
          <p:nvPr/>
        </p:nvSpPr>
        <p:spPr>
          <a:xfrm>
            <a:off x="4507992" y="5065776"/>
            <a:ext cx="3063240" cy="80467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Live cloud cover is always 0.0, and the data.gov.sg weather fetch never reaches the model input. Offline results are unaffected; the operational claim is weaker than it appears.</a:t>
            </a:r>
            <a:endParaRPr lang="en-US" sz="950" dirty="0"/>
          </a:p>
        </p:txBody>
      </p:sp>
      <p:sp>
        <p:nvSpPr>
          <p:cNvPr id="44" name="Shape 42"/>
          <p:cNvSpPr/>
          <p:nvPr/>
        </p:nvSpPr>
        <p:spPr>
          <a:xfrm>
            <a:off x="7973568" y="4498848"/>
            <a:ext cx="3520440" cy="1444752"/>
          </a:xfrm>
          <a:prstGeom prst="roundRect">
            <a:avLst>
              <a:gd name="adj" fmla="val 3165"/>
            </a:avLst>
          </a:prstGeom>
          <a:solidFill>
            <a:srgbClr val="EFF3F7"/>
          </a:solidFill>
          <a:ln w="7620">
            <a:solidFill>
              <a:srgbClr val="CFD9E2"/>
            </a:solidFill>
            <a:prstDash val="solid"/>
          </a:ln>
        </p:spPr>
        <p:txBody>
          <a:bodyPr/>
          <a:lstStyle/>
          <a:p>
            <a:endParaRPr lang="en-AE"/>
          </a:p>
        </p:txBody>
      </p:sp>
      <p:sp>
        <p:nvSpPr>
          <p:cNvPr id="45" name="Shape 43"/>
          <p:cNvSpPr/>
          <p:nvPr/>
        </p:nvSpPr>
        <p:spPr>
          <a:xfrm>
            <a:off x="8193024" y="4663440"/>
            <a:ext cx="310896" cy="310896"/>
          </a:xfrm>
          <a:prstGeom prst="ellipse">
            <a:avLst/>
          </a:prstGeom>
          <a:solidFill>
            <a:srgbClr val="E3EAF1"/>
          </a:solidFill>
          <a:ln/>
        </p:spPr>
        <p:txBody>
          <a:bodyPr/>
          <a:lstStyle/>
          <a:p>
            <a:endParaRPr lang="en-AE"/>
          </a:p>
        </p:txBody>
      </p:sp>
      <p:sp>
        <p:nvSpPr>
          <p:cNvPr id="46" name="Text 44"/>
          <p:cNvSpPr/>
          <p:nvPr/>
        </p:nvSpPr>
        <p:spPr>
          <a:xfrm>
            <a:off x="8193024" y="4663440"/>
            <a:ext cx="310896" cy="310896"/>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9</a:t>
            </a:r>
            <a:endParaRPr lang="en-US" sz="1200" dirty="0"/>
          </a:p>
        </p:txBody>
      </p:sp>
      <p:sp>
        <p:nvSpPr>
          <p:cNvPr id="47" name="Text 45"/>
          <p:cNvSpPr/>
          <p:nvPr/>
        </p:nvSpPr>
        <p:spPr>
          <a:xfrm>
            <a:off x="8577072" y="4645152"/>
            <a:ext cx="2697480" cy="347472"/>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No tuning</a:t>
            </a:r>
            <a:endParaRPr lang="en-US" sz="1150" dirty="0"/>
          </a:p>
        </p:txBody>
      </p:sp>
      <p:sp>
        <p:nvSpPr>
          <p:cNvPr id="48" name="Text 46"/>
          <p:cNvSpPr/>
          <p:nvPr/>
        </p:nvSpPr>
        <p:spPr>
          <a:xfrm>
            <a:off x="8211312" y="5065776"/>
            <a:ext cx="3063240" cy="80467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No hyper-parameter search of any kind. The fusion model cannot be said to have been given its best configuration — only the same configuration as its ablations.</a:t>
            </a:r>
            <a:endParaRPr lang="en-US" sz="950" dirty="0"/>
          </a:p>
        </p:txBody>
      </p:sp>
      <p:sp>
        <p:nvSpPr>
          <p:cNvPr id="49" name="Text 47"/>
          <p:cNvSpPr/>
          <p:nvPr/>
        </p:nvSpPr>
        <p:spPr>
          <a:xfrm>
            <a:off x="566928" y="6144768"/>
            <a:ext cx="11064240" cy="292608"/>
          </a:xfrm>
          <a:prstGeom prst="rect">
            <a:avLst/>
          </a:prstGeom>
          <a:noFill/>
          <a:ln/>
        </p:spPr>
        <p:txBody>
          <a:bodyPr wrap="square" lIns="0" tIns="0" rIns="0" bIns="0" rtlCol="0" anchor="ctr"/>
          <a:lstStyle/>
          <a:p>
            <a:pPr marL="0" indent="0">
              <a:buNone/>
            </a:pPr>
            <a:r>
              <a:rPr lang="en-US" sz="1100" i="1" dirty="0">
                <a:solidFill>
                  <a:srgbClr val="6E7F8F"/>
                </a:solidFill>
                <a:latin typeface="Calibri" pitchFamily="34" charset="0"/>
                <a:ea typeface="Calibri" pitchFamily="34" charset="-122"/>
                <a:cs typeface="Calibri" pitchFamily="34" charset="-120"/>
              </a:rPr>
              <a:t>Items 1 and 2 are the two that would most change the conclusions if fixed.</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CONTRIBUTIONS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What is mine, what is not</a:t>
            </a:r>
            <a:endParaRPr lang="en-US" sz="3000" dirty="0"/>
          </a:p>
        </p:txBody>
      </p:sp>
      <p:sp>
        <p:nvSpPr>
          <p:cNvPr id="4" name="Shape 2"/>
          <p:cNvSpPr/>
          <p:nvPr/>
        </p:nvSpPr>
        <p:spPr>
          <a:xfrm>
            <a:off x="566928" y="1325880"/>
            <a:ext cx="2615184" cy="402336"/>
          </a:xfrm>
          <a:prstGeom prst="roundRect">
            <a:avLst>
              <a:gd name="adj" fmla="val 11364"/>
            </a:avLst>
          </a:prstGeom>
          <a:solidFill>
            <a:srgbClr val="6E7F8F"/>
          </a:solidFill>
          <a:ln/>
        </p:spPr>
        <p:txBody>
          <a:bodyPr/>
          <a:lstStyle/>
          <a:p>
            <a:endParaRPr lang="en-AE"/>
          </a:p>
        </p:txBody>
      </p:sp>
      <p:sp>
        <p:nvSpPr>
          <p:cNvPr id="5" name="Text 3"/>
          <p:cNvSpPr/>
          <p:nvPr/>
        </p:nvSpPr>
        <p:spPr>
          <a:xfrm>
            <a:off x="566928" y="1325880"/>
            <a:ext cx="2615184" cy="402336"/>
          </a:xfrm>
          <a:prstGeom prst="rect">
            <a:avLst/>
          </a:prstGeom>
          <a:noFill/>
          <a:ln/>
        </p:spPr>
        <p:txBody>
          <a:bodyPr wrap="square" lIns="0" tIns="0" rIns="0" bIns="0" rtlCol="0" anchor="ctr"/>
          <a:lstStyle/>
          <a:p>
            <a:pPr marL="0" indent="0" algn="ctr">
              <a:buNone/>
            </a:pPr>
            <a:r>
              <a:rPr lang="en-US" sz="1150" b="1" kern="0" spc="140" dirty="0">
                <a:solidFill>
                  <a:srgbClr val="FFFFFF"/>
                </a:solidFill>
                <a:latin typeface="Calibri" pitchFamily="34" charset="0"/>
                <a:ea typeface="Calibri" pitchFamily="34" charset="-122"/>
                <a:cs typeface="Calibri" pitchFamily="34" charset="-120"/>
              </a:rPr>
              <a:t>EXISTING</a:t>
            </a:r>
            <a:endParaRPr lang="en-US" sz="1150" dirty="0"/>
          </a:p>
        </p:txBody>
      </p:sp>
      <p:sp>
        <p:nvSpPr>
          <p:cNvPr id="6" name="Shape 4"/>
          <p:cNvSpPr/>
          <p:nvPr/>
        </p:nvSpPr>
        <p:spPr>
          <a:xfrm>
            <a:off x="566928" y="1783080"/>
            <a:ext cx="2615184" cy="3218688"/>
          </a:xfrm>
          <a:prstGeom prst="roundRect">
            <a:avLst>
              <a:gd name="adj" fmla="val 1748"/>
            </a:avLst>
          </a:prstGeom>
          <a:solidFill>
            <a:srgbClr val="EFF3F7"/>
          </a:solidFill>
          <a:ln w="7620">
            <a:solidFill>
              <a:srgbClr val="CFD9E2"/>
            </a:solidFill>
            <a:prstDash val="solid"/>
          </a:ln>
        </p:spPr>
        <p:txBody>
          <a:bodyPr/>
          <a:lstStyle/>
          <a:p>
            <a:endParaRPr lang="en-AE"/>
          </a:p>
        </p:txBody>
      </p:sp>
      <p:sp>
        <p:nvSpPr>
          <p:cNvPr id="7" name="Text 5"/>
          <p:cNvSpPr/>
          <p:nvPr/>
        </p:nvSpPr>
        <p:spPr>
          <a:xfrm>
            <a:off x="731520" y="1920240"/>
            <a:ext cx="2286000" cy="3017520"/>
          </a:xfrm>
          <a:prstGeom prst="rect">
            <a:avLst/>
          </a:prstGeom>
          <a:noFill/>
          <a:ln/>
        </p:spPr>
        <p:txBody>
          <a:bodyPr wrap="square" lIns="0" tIns="0" rIns="0" bIns="0" rtlCol="0" anchor="ctr"/>
          <a:lstStyle/>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EfficientNet-B2 (Tan &amp; Le) via timm</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ImageNet pretrained weights</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PyTorch nn.LSTM, nn.MultiheadAttention</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pvlib Ineichen clear-sky model</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Farnebäck optical flow (OpenCV)</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SwimSeg dataset (NTU)</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Himawari-8/9, ERA5, PVGIS data</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LightGBM, scikit-learn</a:t>
            </a:r>
            <a:endParaRPr lang="en-US" sz="950" dirty="0"/>
          </a:p>
        </p:txBody>
      </p:sp>
      <p:sp>
        <p:nvSpPr>
          <p:cNvPr id="8" name="Shape 6"/>
          <p:cNvSpPr/>
          <p:nvPr/>
        </p:nvSpPr>
        <p:spPr>
          <a:xfrm>
            <a:off x="3355848" y="1325880"/>
            <a:ext cx="2615184" cy="402336"/>
          </a:xfrm>
          <a:prstGeom prst="roundRect">
            <a:avLst>
              <a:gd name="adj" fmla="val 11364"/>
            </a:avLst>
          </a:prstGeom>
          <a:solidFill>
            <a:srgbClr val="1C7293"/>
          </a:solidFill>
          <a:ln/>
        </p:spPr>
        <p:txBody>
          <a:bodyPr/>
          <a:lstStyle/>
          <a:p>
            <a:endParaRPr lang="en-AE"/>
          </a:p>
        </p:txBody>
      </p:sp>
      <p:sp>
        <p:nvSpPr>
          <p:cNvPr id="9" name="Text 7"/>
          <p:cNvSpPr/>
          <p:nvPr/>
        </p:nvSpPr>
        <p:spPr>
          <a:xfrm>
            <a:off x="3355848" y="1325880"/>
            <a:ext cx="2615184" cy="402336"/>
          </a:xfrm>
          <a:prstGeom prst="rect">
            <a:avLst/>
          </a:prstGeom>
          <a:noFill/>
          <a:ln/>
        </p:spPr>
        <p:txBody>
          <a:bodyPr wrap="square" lIns="0" tIns="0" rIns="0" bIns="0" rtlCol="0" anchor="ctr"/>
          <a:lstStyle/>
          <a:p>
            <a:pPr marL="0" indent="0" algn="ctr">
              <a:buNone/>
            </a:pPr>
            <a:r>
              <a:rPr lang="en-US" sz="1150" b="1" kern="0" spc="140" dirty="0">
                <a:solidFill>
                  <a:srgbClr val="FFFFFF"/>
                </a:solidFill>
                <a:latin typeface="Calibri" pitchFamily="34" charset="0"/>
                <a:ea typeface="Calibri" pitchFamily="34" charset="-122"/>
                <a:cs typeface="Calibri" pitchFamily="34" charset="-120"/>
              </a:rPr>
              <a:t>INTEGRATED</a:t>
            </a:r>
            <a:endParaRPr lang="en-US" sz="1150" dirty="0"/>
          </a:p>
        </p:txBody>
      </p:sp>
      <p:sp>
        <p:nvSpPr>
          <p:cNvPr id="10" name="Shape 8"/>
          <p:cNvSpPr/>
          <p:nvPr/>
        </p:nvSpPr>
        <p:spPr>
          <a:xfrm>
            <a:off x="3355848" y="1783080"/>
            <a:ext cx="2615184" cy="3218688"/>
          </a:xfrm>
          <a:prstGeom prst="roundRect">
            <a:avLst>
              <a:gd name="adj" fmla="val 1748"/>
            </a:avLst>
          </a:prstGeom>
          <a:solidFill>
            <a:srgbClr val="EFF3F7"/>
          </a:solidFill>
          <a:ln w="7620">
            <a:solidFill>
              <a:srgbClr val="CFD9E2"/>
            </a:solidFill>
            <a:prstDash val="solid"/>
          </a:ln>
        </p:spPr>
        <p:txBody>
          <a:bodyPr/>
          <a:lstStyle/>
          <a:p>
            <a:endParaRPr lang="en-AE"/>
          </a:p>
        </p:txBody>
      </p:sp>
      <p:sp>
        <p:nvSpPr>
          <p:cNvPr id="11" name="Text 9"/>
          <p:cNvSpPr/>
          <p:nvPr/>
        </p:nvSpPr>
        <p:spPr>
          <a:xfrm>
            <a:off x="3520440" y="1920240"/>
            <a:ext cx="2286000" cy="3017520"/>
          </a:xfrm>
          <a:prstGeom prst="rect">
            <a:avLst/>
          </a:prstGeom>
          <a:noFill/>
          <a:ln/>
        </p:spPr>
        <p:txBody>
          <a:bodyPr wrap="square" lIns="0" tIns="0" rIns="0" bIns="0" rtlCol="0" anchor="ctr"/>
          <a:lstStyle/>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Multi-source temporal alignment of satellite, reanalysis and geometry into one table</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SwimSeg encoder transplanted into a forecasting model</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Optical flow repurposed as a gate conditioning signal</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Shared model.py imported by training, prediction and verification</a:t>
            </a:r>
            <a:endParaRPr lang="en-US" sz="950" dirty="0"/>
          </a:p>
        </p:txBody>
      </p:sp>
      <p:sp>
        <p:nvSpPr>
          <p:cNvPr id="12" name="Shape 10"/>
          <p:cNvSpPr/>
          <p:nvPr/>
        </p:nvSpPr>
        <p:spPr>
          <a:xfrm>
            <a:off x="6144768" y="1325880"/>
            <a:ext cx="2615184" cy="402336"/>
          </a:xfrm>
          <a:prstGeom prst="roundRect">
            <a:avLst>
              <a:gd name="adj" fmla="val 11364"/>
            </a:avLst>
          </a:prstGeom>
          <a:solidFill>
            <a:srgbClr val="0B2545"/>
          </a:solidFill>
          <a:ln/>
        </p:spPr>
        <p:txBody>
          <a:bodyPr/>
          <a:lstStyle/>
          <a:p>
            <a:endParaRPr lang="en-AE"/>
          </a:p>
        </p:txBody>
      </p:sp>
      <p:sp>
        <p:nvSpPr>
          <p:cNvPr id="13" name="Text 11"/>
          <p:cNvSpPr/>
          <p:nvPr/>
        </p:nvSpPr>
        <p:spPr>
          <a:xfrm>
            <a:off x="6144768" y="1325880"/>
            <a:ext cx="2615184" cy="402336"/>
          </a:xfrm>
          <a:prstGeom prst="rect">
            <a:avLst/>
          </a:prstGeom>
          <a:noFill/>
          <a:ln/>
        </p:spPr>
        <p:txBody>
          <a:bodyPr wrap="square" lIns="0" tIns="0" rIns="0" bIns="0" rtlCol="0" anchor="ctr"/>
          <a:lstStyle/>
          <a:p>
            <a:pPr marL="0" indent="0" algn="ctr">
              <a:buNone/>
            </a:pPr>
            <a:r>
              <a:rPr lang="en-US" sz="1150" b="1" kern="0" spc="140" dirty="0">
                <a:solidFill>
                  <a:srgbClr val="FFFFFF"/>
                </a:solidFill>
                <a:latin typeface="Calibri" pitchFamily="34" charset="0"/>
                <a:ea typeface="Calibri" pitchFamily="34" charset="-122"/>
                <a:cs typeface="Calibri" pitchFamily="34" charset="-120"/>
              </a:rPr>
              <a:t>IMPLEMENTED</a:t>
            </a:r>
            <a:endParaRPr lang="en-US" sz="1150" dirty="0"/>
          </a:p>
        </p:txBody>
      </p:sp>
      <p:sp>
        <p:nvSpPr>
          <p:cNvPr id="14" name="Shape 12"/>
          <p:cNvSpPr/>
          <p:nvPr/>
        </p:nvSpPr>
        <p:spPr>
          <a:xfrm>
            <a:off x="6144768" y="1783080"/>
            <a:ext cx="2615184" cy="3218688"/>
          </a:xfrm>
          <a:prstGeom prst="roundRect">
            <a:avLst>
              <a:gd name="adj" fmla="val 1748"/>
            </a:avLst>
          </a:prstGeom>
          <a:solidFill>
            <a:srgbClr val="EFF3F7"/>
          </a:solidFill>
          <a:ln w="7620">
            <a:solidFill>
              <a:srgbClr val="CFD9E2"/>
            </a:solidFill>
            <a:prstDash val="solid"/>
          </a:ln>
        </p:spPr>
        <p:txBody>
          <a:bodyPr/>
          <a:lstStyle/>
          <a:p>
            <a:endParaRPr lang="en-AE"/>
          </a:p>
        </p:txBody>
      </p:sp>
      <p:sp>
        <p:nvSpPr>
          <p:cNvPr id="15" name="Text 13"/>
          <p:cNvSpPr/>
          <p:nvPr/>
        </p:nvSpPr>
        <p:spPr>
          <a:xfrm>
            <a:off x="6309360" y="1920240"/>
            <a:ext cx="2286000" cy="3017520"/>
          </a:xfrm>
          <a:prstGeom prst="rect">
            <a:avLst/>
          </a:prstGeom>
          <a:noFill/>
          <a:ln/>
        </p:spPr>
        <p:txBody>
          <a:bodyPr wrap="square" lIns="0" tIns="0" rIns="0" bIns="0" rtlCol="0" anchor="ctr"/>
          <a:lstStyle/>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PhysicsGatedFusionModelV2 and its three ablation paths</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FPN decoder + auxiliary cloud-ratio head for pretraining</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GHIForecastDataset — multi-frame, RoI, flow, leak-free normalisation</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Heteroscedastic NLL training loop with two-phase CNN schedule</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Deployment and self-verification service</a:t>
            </a:r>
            <a:endParaRPr lang="en-US" sz="950" dirty="0"/>
          </a:p>
        </p:txBody>
      </p:sp>
      <p:sp>
        <p:nvSpPr>
          <p:cNvPr id="16" name="Shape 14"/>
          <p:cNvSpPr/>
          <p:nvPr/>
        </p:nvSpPr>
        <p:spPr>
          <a:xfrm>
            <a:off x="8933688" y="1325880"/>
            <a:ext cx="2615184" cy="402336"/>
          </a:xfrm>
          <a:prstGeom prst="roundRect">
            <a:avLst>
              <a:gd name="adj" fmla="val 11364"/>
            </a:avLst>
          </a:prstGeom>
          <a:solidFill>
            <a:srgbClr val="B87A1B"/>
          </a:solidFill>
          <a:ln/>
        </p:spPr>
        <p:txBody>
          <a:bodyPr/>
          <a:lstStyle/>
          <a:p>
            <a:endParaRPr lang="en-AE"/>
          </a:p>
        </p:txBody>
      </p:sp>
      <p:sp>
        <p:nvSpPr>
          <p:cNvPr id="17" name="Text 15"/>
          <p:cNvSpPr/>
          <p:nvPr/>
        </p:nvSpPr>
        <p:spPr>
          <a:xfrm>
            <a:off x="8933688" y="1325880"/>
            <a:ext cx="2615184" cy="402336"/>
          </a:xfrm>
          <a:prstGeom prst="rect">
            <a:avLst/>
          </a:prstGeom>
          <a:noFill/>
          <a:ln/>
        </p:spPr>
        <p:txBody>
          <a:bodyPr wrap="square" lIns="0" tIns="0" rIns="0" bIns="0" rtlCol="0" anchor="ctr"/>
          <a:lstStyle/>
          <a:p>
            <a:pPr marL="0" indent="0" algn="ctr">
              <a:buNone/>
            </a:pPr>
            <a:r>
              <a:rPr lang="en-US" sz="1150" b="1" kern="0" spc="140" dirty="0">
                <a:solidFill>
                  <a:srgbClr val="FFFFFF"/>
                </a:solidFill>
                <a:latin typeface="Calibri" pitchFamily="34" charset="0"/>
                <a:ea typeface="Calibri" pitchFamily="34" charset="-122"/>
                <a:cs typeface="Calibri" pitchFamily="34" charset="-120"/>
              </a:rPr>
              <a:t>CONTRIBUTION</a:t>
            </a:r>
            <a:endParaRPr lang="en-US" sz="1150" dirty="0"/>
          </a:p>
        </p:txBody>
      </p:sp>
      <p:sp>
        <p:nvSpPr>
          <p:cNvPr id="18" name="Shape 16"/>
          <p:cNvSpPr/>
          <p:nvPr/>
        </p:nvSpPr>
        <p:spPr>
          <a:xfrm>
            <a:off x="8933688" y="1783080"/>
            <a:ext cx="2615184" cy="3218688"/>
          </a:xfrm>
          <a:prstGeom prst="roundRect">
            <a:avLst>
              <a:gd name="adj" fmla="val 1748"/>
            </a:avLst>
          </a:prstGeom>
          <a:solidFill>
            <a:srgbClr val="FBF3E4"/>
          </a:solidFill>
          <a:ln w="12700">
            <a:solidFill>
              <a:srgbClr val="E8A33D"/>
            </a:solidFill>
            <a:prstDash val="solid"/>
          </a:ln>
        </p:spPr>
        <p:txBody>
          <a:bodyPr/>
          <a:lstStyle/>
          <a:p>
            <a:endParaRPr lang="en-AE"/>
          </a:p>
        </p:txBody>
      </p:sp>
      <p:sp>
        <p:nvSpPr>
          <p:cNvPr id="19" name="Text 17"/>
          <p:cNvSpPr/>
          <p:nvPr/>
        </p:nvSpPr>
        <p:spPr>
          <a:xfrm>
            <a:off x="9098280" y="1920240"/>
            <a:ext cx="2286000" cy="3017520"/>
          </a:xfrm>
          <a:prstGeom prst="rect">
            <a:avLst/>
          </a:prstGeom>
          <a:noFill/>
          <a:ln/>
        </p:spPr>
        <p:txBody>
          <a:bodyPr wrap="square" lIns="0" tIns="0" rIns="0" bIns="0" rtlCol="0" anchor="ctr"/>
          <a:lstStyle/>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A controlled ablation isolating the fusion rule at fixed data and budget</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Empirical evidence that satellite fusion does not pay at ~5 k samples, with a mechanism</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Diagnosis of physics-gate collapse, with the gradient argument for why</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A calibrated probabilistic forecaster verified against measurements</a:t>
            </a:r>
            <a:endParaRPr lang="en-US" sz="950" dirty="0"/>
          </a:p>
          <a:p>
            <a:pPr marL="342900" indent="-342900">
              <a:lnSpc>
                <a:spcPts val="1250"/>
              </a:lnSpc>
              <a:spcAft>
                <a:spcPts val="600"/>
              </a:spcAft>
              <a:buSzPct val="100000"/>
              <a:buChar char="▪"/>
            </a:pPr>
            <a:r>
              <a:rPr lang="en-US" sz="950" dirty="0">
                <a:solidFill>
                  <a:srgbClr val="3C5169"/>
                </a:solidFill>
                <a:latin typeface="Calibri" pitchFamily="34" charset="0"/>
                <a:ea typeface="Calibri" pitchFamily="34" charset="-122"/>
                <a:cs typeface="Calibri" pitchFamily="34" charset="-120"/>
              </a:rPr>
              <a:t>Identification of a leaky target and a target-construction artefact</a:t>
            </a:r>
            <a:endParaRPr lang="en-US" sz="950" dirty="0"/>
          </a:p>
        </p:txBody>
      </p:sp>
      <p:sp>
        <p:nvSpPr>
          <p:cNvPr id="20" name="Shape 18"/>
          <p:cNvSpPr/>
          <p:nvPr/>
        </p:nvSpPr>
        <p:spPr>
          <a:xfrm>
            <a:off x="566928" y="5193792"/>
            <a:ext cx="11064240" cy="960120"/>
          </a:xfrm>
          <a:prstGeom prst="roundRect">
            <a:avLst>
              <a:gd name="adj" fmla="val 4762"/>
            </a:avLst>
          </a:prstGeom>
          <a:solidFill>
            <a:srgbClr val="0B2545"/>
          </a:solidFill>
          <a:ln/>
        </p:spPr>
        <p:txBody>
          <a:bodyPr/>
          <a:lstStyle/>
          <a:p>
            <a:endParaRPr lang="en-AE"/>
          </a:p>
        </p:txBody>
      </p:sp>
      <p:sp>
        <p:nvSpPr>
          <p:cNvPr id="21" name="Text 19"/>
          <p:cNvSpPr/>
          <p:nvPr/>
        </p:nvSpPr>
        <p:spPr>
          <a:xfrm>
            <a:off x="868680" y="5340096"/>
            <a:ext cx="10424160" cy="713232"/>
          </a:xfrm>
          <a:prstGeom prst="rect">
            <a:avLst/>
          </a:prstGeom>
          <a:noFill/>
          <a:ln/>
        </p:spPr>
        <p:txBody>
          <a:bodyPr wrap="square" lIns="0" tIns="0" rIns="0" bIns="0" rtlCol="0" anchor="ctr"/>
          <a:lstStyle/>
          <a:p>
            <a:pPr marL="0" indent="0">
              <a:lnSpc>
                <a:spcPts val="1750"/>
              </a:lnSpc>
              <a:buNone/>
            </a:pPr>
            <a:r>
              <a:rPr lang="en-US" sz="1200" b="1" dirty="0">
                <a:solidFill>
                  <a:srgbClr val="E8A33D"/>
                </a:solidFill>
                <a:latin typeface="Calibri" pitchFamily="34" charset="0"/>
                <a:ea typeface="Calibri" pitchFamily="34" charset="-122"/>
                <a:cs typeface="Calibri" pitchFamily="34" charset="-120"/>
              </a:rPr>
              <a:t>Stated plainly:  </a:t>
            </a:r>
            <a:r>
              <a:rPr lang="en-US" sz="1200" dirty="0">
                <a:solidFill>
                  <a:srgbClr val="C3D2E0"/>
                </a:solidFill>
                <a:latin typeface="Calibri" pitchFamily="34" charset="0"/>
                <a:ea typeface="Calibri" pitchFamily="34" charset="-122"/>
                <a:cs typeface="Calibri" pitchFamily="34" charset="-120"/>
              </a:rPr>
              <a:t>this project proposes no new algorithm. It composes existing components into a specific architecture, tests that architecture against controlled alternatives, and reports — with a mechanism — that the composition does not pay at this data scale. The contribution is experimental and analytical, not algorithmic, and I would not claim otherwise.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1109960" y="5806440"/>
            <a:ext cx="3657600" cy="3657600"/>
          </a:xfrm>
          <a:prstGeom prst="ellipse">
            <a:avLst/>
          </a:prstGeom>
          <a:solidFill>
            <a:srgbClr val="1C7293">
              <a:alpha val="12000"/>
            </a:srgbClr>
          </a:solidFill>
          <a:ln/>
        </p:spPr>
        <p:txBody>
          <a:bodyPr/>
          <a:lstStyle/>
          <a:p>
            <a:endParaRPr lang="en-AE"/>
          </a:p>
        </p:txBody>
      </p:sp>
      <p:sp>
        <p:nvSpPr>
          <p:cNvPr id="3" name="Shape 1"/>
          <p:cNvSpPr/>
          <p:nvPr/>
        </p:nvSpPr>
        <p:spPr>
          <a:xfrm>
            <a:off x="11384280" y="-1234440"/>
            <a:ext cx="2743200" cy="2743200"/>
          </a:xfrm>
          <a:prstGeom prst="ellipse">
            <a:avLst/>
          </a:prstGeom>
          <a:solidFill>
            <a:srgbClr val="E8A33D">
              <a:alpha val="14000"/>
            </a:srgbClr>
          </a:solidFill>
          <a:ln/>
        </p:spPr>
        <p:txBody>
          <a:bodyPr/>
          <a:lstStyle/>
          <a:p>
            <a:endParaRPr lang="en-AE"/>
          </a:p>
        </p:txBody>
      </p:sp>
      <p:sp>
        <p:nvSpPr>
          <p:cNvPr id="4" name="Text 2"/>
          <p:cNvSpPr/>
          <p:nvPr/>
        </p:nvSpPr>
        <p:spPr>
          <a:xfrm>
            <a:off x="777240" y="658368"/>
            <a:ext cx="10515600" cy="274320"/>
          </a:xfrm>
          <a:prstGeom prst="rect">
            <a:avLst/>
          </a:prstGeom>
          <a:noFill/>
          <a:ln/>
        </p:spPr>
        <p:txBody>
          <a:bodyPr wrap="square" lIns="0" tIns="0" rIns="0" bIns="0" rtlCol="0" anchor="ctr"/>
          <a:lstStyle/>
          <a:p>
            <a:pPr marL="0" indent="0">
              <a:buNone/>
            </a:pPr>
            <a:r>
              <a:rPr lang="en-US" sz="1150" b="1" kern="0" spc="240" dirty="0">
                <a:solidFill>
                  <a:srgbClr val="E8A33D"/>
                </a:solidFill>
                <a:latin typeface="Calibri" pitchFamily="34" charset="0"/>
                <a:ea typeface="Calibri" pitchFamily="34" charset="-122"/>
                <a:cs typeface="Calibri" pitchFamily="34" charset="-120"/>
              </a:rPr>
              <a:t>CONCLUSIONS</a:t>
            </a:r>
            <a:endParaRPr lang="en-US" sz="1150" dirty="0"/>
          </a:p>
        </p:txBody>
      </p:sp>
      <p:sp>
        <p:nvSpPr>
          <p:cNvPr id="5" name="Text 3"/>
          <p:cNvSpPr/>
          <p:nvPr/>
        </p:nvSpPr>
        <p:spPr>
          <a:xfrm>
            <a:off x="777240" y="987552"/>
            <a:ext cx="10515600" cy="5486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this project establishes</a:t>
            </a:r>
            <a:endParaRPr lang="en-US" sz="3200" dirty="0"/>
          </a:p>
        </p:txBody>
      </p:sp>
      <p:sp>
        <p:nvSpPr>
          <p:cNvPr id="6" name="Shape 4"/>
          <p:cNvSpPr/>
          <p:nvPr/>
        </p:nvSpPr>
        <p:spPr>
          <a:xfrm>
            <a:off x="777240" y="1856232"/>
            <a:ext cx="384048" cy="384048"/>
          </a:xfrm>
          <a:prstGeom prst="ellipse">
            <a:avLst/>
          </a:prstGeom>
          <a:solidFill>
            <a:srgbClr val="E8A33D"/>
          </a:solidFill>
          <a:ln/>
        </p:spPr>
        <p:txBody>
          <a:bodyPr/>
          <a:lstStyle/>
          <a:p>
            <a:endParaRPr lang="en-AE"/>
          </a:p>
        </p:txBody>
      </p:sp>
      <p:sp>
        <p:nvSpPr>
          <p:cNvPr id="7" name="Text 5"/>
          <p:cNvSpPr/>
          <p:nvPr/>
        </p:nvSpPr>
        <p:spPr>
          <a:xfrm>
            <a:off x="777240" y="1856232"/>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53312" y="1783080"/>
            <a:ext cx="9784080" cy="329184"/>
          </a:xfrm>
          <a:prstGeom prst="rect">
            <a:avLst/>
          </a:prstGeom>
          <a:noFill/>
          <a:ln/>
        </p:spPr>
        <p:txBody>
          <a:bodyPr wrap="square" lIns="0" tIns="0" rIns="0" bIns="0" rtlCol="0" anchor="ctr"/>
          <a:lstStyle/>
          <a:p>
            <a:pPr marL="0" indent="0">
              <a:buNone/>
            </a:pPr>
            <a:r>
              <a:rPr lang="en-US" sz="1450" b="1" dirty="0">
                <a:solidFill>
                  <a:srgbClr val="E8A33D"/>
                </a:solidFill>
                <a:latin typeface="Calibri" pitchFamily="34" charset="0"/>
                <a:ea typeface="Calibri" pitchFamily="34" charset="-122"/>
                <a:cs typeface="Calibri" pitchFamily="34" charset="-120"/>
              </a:rPr>
              <a:t>At this data scale, satellite fusion does not pay</a:t>
            </a:r>
            <a:endParaRPr lang="en-US" sz="1450" dirty="0"/>
          </a:p>
        </p:txBody>
      </p:sp>
      <p:sp>
        <p:nvSpPr>
          <p:cNvPr id="9" name="Text 7"/>
          <p:cNvSpPr/>
          <p:nvPr/>
        </p:nvSpPr>
        <p:spPr>
          <a:xfrm>
            <a:off x="1353312" y="2130552"/>
            <a:ext cx="9784080" cy="749808"/>
          </a:xfrm>
          <a:prstGeom prst="rect">
            <a:avLst/>
          </a:prstGeom>
          <a:noFill/>
          <a:ln/>
        </p:spPr>
        <p:txBody>
          <a:bodyPr wrap="square" lIns="0" tIns="0" rIns="0" bIns="0" rtlCol="0" anchor="ctr"/>
          <a:lstStyle/>
          <a:p>
            <a:pPr marL="0" indent="0">
              <a:lnSpc>
                <a:spcPts val="1600"/>
              </a:lnSpc>
              <a:buNone/>
            </a:pPr>
            <a:r>
              <a:rPr lang="en-US" sz="1150" dirty="0">
                <a:solidFill>
                  <a:srgbClr val="C3D2E0"/>
                </a:solidFill>
                <a:latin typeface="Calibri" pitchFamily="34" charset="0"/>
                <a:ea typeface="Calibri" pitchFamily="34" charset="-122"/>
                <a:cs typeface="Calibri" pitchFamily="34" charset="-120"/>
              </a:rPr>
              <a:t>Removing the image branch improves test MAE by 12.9 W/m² under an otherwise identical setup, and the four deep variants order monotonically by how much image information reaches the output. Gradient-boosted trees on eleven tabular features beat all of them, at 78.9 versus 97.6 W/m².</a:t>
            </a:r>
            <a:endParaRPr lang="en-US" sz="1150" dirty="0"/>
          </a:p>
        </p:txBody>
      </p:sp>
      <p:sp>
        <p:nvSpPr>
          <p:cNvPr id="10" name="Shape 8"/>
          <p:cNvSpPr/>
          <p:nvPr/>
        </p:nvSpPr>
        <p:spPr>
          <a:xfrm>
            <a:off x="777240" y="3026664"/>
            <a:ext cx="384048" cy="384048"/>
          </a:xfrm>
          <a:prstGeom prst="ellipse">
            <a:avLst/>
          </a:prstGeom>
          <a:solidFill>
            <a:srgbClr val="E8A33D"/>
          </a:solidFill>
          <a:ln/>
        </p:spPr>
        <p:txBody>
          <a:bodyPr/>
          <a:lstStyle/>
          <a:p>
            <a:endParaRPr lang="en-AE"/>
          </a:p>
        </p:txBody>
      </p:sp>
      <p:sp>
        <p:nvSpPr>
          <p:cNvPr id="11" name="Text 9"/>
          <p:cNvSpPr/>
          <p:nvPr/>
        </p:nvSpPr>
        <p:spPr>
          <a:xfrm>
            <a:off x="777240" y="3026664"/>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353312" y="2953512"/>
            <a:ext cx="9784080" cy="329184"/>
          </a:xfrm>
          <a:prstGeom prst="rect">
            <a:avLst/>
          </a:prstGeom>
          <a:noFill/>
          <a:ln/>
        </p:spPr>
        <p:txBody>
          <a:bodyPr wrap="square" lIns="0" tIns="0" rIns="0" bIns="0" rtlCol="0" anchor="ctr"/>
          <a:lstStyle/>
          <a:p>
            <a:pPr marL="0" indent="0">
              <a:buNone/>
            </a:pPr>
            <a:r>
              <a:rPr lang="en-US" sz="1450" b="1" dirty="0">
                <a:solidFill>
                  <a:srgbClr val="E8A33D"/>
                </a:solidFill>
                <a:latin typeface="Calibri" pitchFamily="34" charset="0"/>
                <a:ea typeface="Calibri" pitchFamily="34" charset="-122"/>
                <a:cs typeface="Calibri" pitchFamily="34" charset="-120"/>
              </a:rPr>
              <a:t>The physics gate collapsed, and the reason is understood</a:t>
            </a:r>
            <a:endParaRPr lang="en-US" sz="1450" dirty="0"/>
          </a:p>
        </p:txBody>
      </p:sp>
      <p:sp>
        <p:nvSpPr>
          <p:cNvPr id="13" name="Text 11"/>
          <p:cNvSpPr/>
          <p:nvPr/>
        </p:nvSpPr>
        <p:spPr>
          <a:xfrm>
            <a:off x="1353312" y="3300984"/>
            <a:ext cx="9784080" cy="749808"/>
          </a:xfrm>
          <a:prstGeom prst="rect">
            <a:avLst/>
          </a:prstGeom>
          <a:noFill/>
          <a:ln/>
        </p:spPr>
        <p:txBody>
          <a:bodyPr wrap="square" lIns="0" tIns="0" rIns="0" bIns="0" rtlCol="0" anchor="ctr"/>
          <a:lstStyle/>
          <a:p>
            <a:pPr marL="0" indent="0">
              <a:lnSpc>
                <a:spcPts val="1600"/>
              </a:lnSpc>
              <a:buNone/>
            </a:pPr>
            <a:r>
              <a:rPr lang="en-US" sz="1150" dirty="0">
                <a:solidFill>
                  <a:srgbClr val="C3D2E0"/>
                </a:solidFill>
                <a:latin typeface="Calibri" pitchFamily="34" charset="0"/>
                <a:ea typeface="Calibri" pitchFamily="34" charset="-122"/>
                <a:cs typeface="Calibri" pitchFamily="34" charset="-120"/>
              </a:rPr>
              <a:t>α spans 0.425–0.477 across every test sample. It retains the correct sign against cloudiness but no usable magnitude, because a weak image branch leaves the loss nearly flat in α. The gate then costs 2.8 W/m² relative to plain concatenation by imposing a bottleneck for no conditioning benefit.</a:t>
            </a:r>
            <a:endParaRPr lang="en-US" sz="1150" dirty="0"/>
          </a:p>
        </p:txBody>
      </p:sp>
      <p:sp>
        <p:nvSpPr>
          <p:cNvPr id="14" name="Shape 12"/>
          <p:cNvSpPr/>
          <p:nvPr/>
        </p:nvSpPr>
        <p:spPr>
          <a:xfrm>
            <a:off x="777240" y="4197096"/>
            <a:ext cx="384048" cy="384048"/>
          </a:xfrm>
          <a:prstGeom prst="ellipse">
            <a:avLst/>
          </a:prstGeom>
          <a:solidFill>
            <a:srgbClr val="E8A33D"/>
          </a:solidFill>
          <a:ln/>
        </p:spPr>
        <p:txBody>
          <a:bodyPr/>
          <a:lstStyle/>
          <a:p>
            <a:endParaRPr lang="en-AE"/>
          </a:p>
        </p:txBody>
      </p:sp>
      <p:sp>
        <p:nvSpPr>
          <p:cNvPr id="15" name="Text 13"/>
          <p:cNvSpPr/>
          <p:nvPr/>
        </p:nvSpPr>
        <p:spPr>
          <a:xfrm>
            <a:off x="777240" y="4197096"/>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353312" y="4123944"/>
            <a:ext cx="9784080" cy="329184"/>
          </a:xfrm>
          <a:prstGeom prst="rect">
            <a:avLst/>
          </a:prstGeom>
          <a:noFill/>
          <a:ln/>
        </p:spPr>
        <p:txBody>
          <a:bodyPr wrap="square" lIns="0" tIns="0" rIns="0" bIns="0" rtlCol="0" anchor="ctr"/>
          <a:lstStyle/>
          <a:p>
            <a:pPr marL="0" indent="0">
              <a:buNone/>
            </a:pPr>
            <a:r>
              <a:rPr lang="en-US" sz="1450" b="1" dirty="0">
                <a:solidFill>
                  <a:srgbClr val="E8A33D"/>
                </a:solidFill>
                <a:latin typeface="Calibri" pitchFamily="34" charset="0"/>
                <a:ea typeface="Calibri" pitchFamily="34" charset="-122"/>
                <a:cs typeface="Calibri" pitchFamily="34" charset="-120"/>
              </a:rPr>
              <a:t>The probabilistic head is the clear success</a:t>
            </a:r>
            <a:endParaRPr lang="en-US" sz="1450" dirty="0"/>
          </a:p>
        </p:txBody>
      </p:sp>
      <p:sp>
        <p:nvSpPr>
          <p:cNvPr id="17" name="Text 15"/>
          <p:cNvSpPr/>
          <p:nvPr/>
        </p:nvSpPr>
        <p:spPr>
          <a:xfrm>
            <a:off x="1353312" y="4471416"/>
            <a:ext cx="9784080" cy="749808"/>
          </a:xfrm>
          <a:prstGeom prst="rect">
            <a:avLst/>
          </a:prstGeom>
          <a:noFill/>
          <a:ln/>
        </p:spPr>
        <p:txBody>
          <a:bodyPr wrap="square" lIns="0" tIns="0" rIns="0" bIns="0" rtlCol="0" anchor="ctr"/>
          <a:lstStyle/>
          <a:p>
            <a:pPr marL="0" indent="0">
              <a:lnSpc>
                <a:spcPts val="1600"/>
              </a:lnSpc>
              <a:buNone/>
            </a:pPr>
            <a:r>
              <a:rPr lang="en-US" sz="1150" dirty="0">
                <a:solidFill>
                  <a:srgbClr val="C3D2E0"/>
                </a:solidFill>
                <a:latin typeface="Calibri" pitchFamily="34" charset="0"/>
                <a:ea typeface="Calibri" pitchFamily="34" charset="-122"/>
                <a:cs typeface="Calibri" pitchFamily="34" charset="-120"/>
              </a:rPr>
              <a:t>Empirical coverage is 91.8% and 90.2% at a nominal 90% level, with standardised residuals of mean ≈ 0 and standard deviation within 7% of one. RQ4 is answered positively and the intervals are operationally usable.</a:t>
            </a:r>
            <a:endParaRPr lang="en-US" sz="1150" dirty="0"/>
          </a:p>
        </p:txBody>
      </p:sp>
      <p:sp>
        <p:nvSpPr>
          <p:cNvPr id="18" name="Shape 16"/>
          <p:cNvSpPr/>
          <p:nvPr/>
        </p:nvSpPr>
        <p:spPr>
          <a:xfrm>
            <a:off x="777240" y="5367528"/>
            <a:ext cx="384048" cy="384048"/>
          </a:xfrm>
          <a:prstGeom prst="ellipse">
            <a:avLst/>
          </a:prstGeom>
          <a:solidFill>
            <a:srgbClr val="E8A33D"/>
          </a:solidFill>
          <a:ln/>
        </p:spPr>
        <p:txBody>
          <a:bodyPr/>
          <a:lstStyle/>
          <a:p>
            <a:endParaRPr lang="en-AE"/>
          </a:p>
        </p:txBody>
      </p:sp>
      <p:sp>
        <p:nvSpPr>
          <p:cNvPr id="19" name="Text 17"/>
          <p:cNvSpPr/>
          <p:nvPr/>
        </p:nvSpPr>
        <p:spPr>
          <a:xfrm>
            <a:off x="777240" y="5367528"/>
            <a:ext cx="384048" cy="384048"/>
          </a:xfrm>
          <a:prstGeom prst="rect">
            <a:avLst/>
          </a:prstGeom>
          <a:noFill/>
          <a:ln/>
        </p:spPr>
        <p:txBody>
          <a:bodyPr wrap="square" lIns="0" tIns="0" rIns="0" bIns="0" rtlCol="0" anchor="ctr"/>
          <a:lstStyle/>
          <a:p>
            <a:pPr marL="0" indent="0" algn="ctr">
              <a:buNone/>
            </a:pPr>
            <a:r>
              <a:rPr lang="en-US" sz="1200" b="1" dirty="0">
                <a:solidFill>
                  <a:srgbClr val="0B2545"/>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1353312" y="5294376"/>
            <a:ext cx="9784080" cy="329184"/>
          </a:xfrm>
          <a:prstGeom prst="rect">
            <a:avLst/>
          </a:prstGeom>
          <a:noFill/>
          <a:ln/>
        </p:spPr>
        <p:txBody>
          <a:bodyPr wrap="square" lIns="0" tIns="0" rIns="0" bIns="0" rtlCol="0" anchor="ctr"/>
          <a:lstStyle/>
          <a:p>
            <a:pPr marL="0" indent="0">
              <a:buNone/>
            </a:pPr>
            <a:r>
              <a:rPr lang="en-US" sz="1450" b="1" dirty="0">
                <a:solidFill>
                  <a:srgbClr val="E8A33D"/>
                </a:solidFill>
                <a:latin typeface="Calibri" pitchFamily="34" charset="0"/>
                <a:ea typeface="Calibri" pitchFamily="34" charset="-122"/>
                <a:cs typeface="Calibri" pitchFamily="34" charset="-120"/>
              </a:rPr>
              <a:t>The image branch is not worthless — it is mis-deployed</a:t>
            </a:r>
            <a:endParaRPr lang="en-US" sz="1450" dirty="0"/>
          </a:p>
        </p:txBody>
      </p:sp>
      <p:sp>
        <p:nvSpPr>
          <p:cNvPr id="21" name="Text 19"/>
          <p:cNvSpPr/>
          <p:nvPr/>
        </p:nvSpPr>
        <p:spPr>
          <a:xfrm>
            <a:off x="1353312" y="5641848"/>
            <a:ext cx="9784080" cy="749808"/>
          </a:xfrm>
          <a:prstGeom prst="rect">
            <a:avLst/>
          </a:prstGeom>
          <a:noFill/>
          <a:ln/>
        </p:spPr>
        <p:txBody>
          <a:bodyPr wrap="square" lIns="0" tIns="0" rIns="0" bIns="0" rtlCol="0" anchor="ctr"/>
          <a:lstStyle/>
          <a:p>
            <a:pPr marL="0" indent="0">
              <a:lnSpc>
                <a:spcPts val="1600"/>
              </a:lnSpc>
              <a:buNone/>
            </a:pPr>
            <a:r>
              <a:rPr lang="en-US" sz="1150" dirty="0">
                <a:solidFill>
                  <a:srgbClr val="C3D2E0"/>
                </a:solidFill>
                <a:latin typeface="Calibri" pitchFamily="34" charset="0"/>
                <a:ea typeface="Calibri" pitchFamily="34" charset="-122"/>
                <a:cs typeface="Calibri" pitchFamily="34" charset="-120"/>
              </a:rPr>
              <a:t>On the 9.5% of hours with GHI ramps above 300 W/m², the fusion model is the best method tested. The information exists; a blended architecture is the wrong way to access it.</a:t>
            </a:r>
            <a:endParaRPr lang="en-US" sz="1150" dirty="0"/>
          </a:p>
        </p:txBody>
      </p:sp>
      <p:sp>
        <p:nvSpPr>
          <p:cNvPr id="22" name="Text 20"/>
          <p:cNvSpPr/>
          <p:nvPr/>
        </p:nvSpPr>
        <p:spPr>
          <a:xfrm>
            <a:off x="777240" y="6419088"/>
            <a:ext cx="10515600" cy="292608"/>
          </a:xfrm>
          <a:prstGeom prst="rect">
            <a:avLst/>
          </a:prstGeom>
          <a:noFill/>
          <a:ln/>
        </p:spPr>
        <p:txBody>
          <a:bodyPr wrap="square" lIns="0" tIns="0" rIns="0" bIns="0" rtlCol="0" anchor="ctr"/>
          <a:lstStyle/>
          <a:p>
            <a:pPr marL="0" indent="0">
              <a:buNone/>
            </a:pPr>
            <a:r>
              <a:rPr lang="en-US" sz="1050" i="1" dirty="0">
                <a:solidFill>
                  <a:srgbClr val="8FA8C0"/>
                </a:solidFill>
                <a:latin typeface="Calibri" pitchFamily="34" charset="0"/>
                <a:ea typeface="Calibri" pitchFamily="34" charset="-122"/>
                <a:cs typeface="Calibri" pitchFamily="34" charset="-120"/>
              </a:rPr>
              <a:t>Scope of the claim: one equatorial site, 7,640 hourly records, one satellite tile in one visible band, one seed, one chronological split.</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FUTURE WORK</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What I would do next, in priority order</a:t>
            </a:r>
            <a:endParaRPr lang="en-US" sz="3000" dirty="0"/>
          </a:p>
        </p:txBody>
      </p:sp>
      <p:sp>
        <p:nvSpPr>
          <p:cNvPr id="4" name="Shape 2"/>
          <p:cNvSpPr/>
          <p:nvPr/>
        </p:nvSpPr>
        <p:spPr>
          <a:xfrm>
            <a:off x="566928" y="1325880"/>
            <a:ext cx="11064240" cy="621792"/>
          </a:xfrm>
          <a:prstGeom prst="roundRect">
            <a:avLst>
              <a:gd name="adj" fmla="val 5882"/>
            </a:avLst>
          </a:prstGeom>
          <a:solidFill>
            <a:srgbClr val="FCEEEC"/>
          </a:solidFill>
          <a:ln w="12700">
            <a:solidFill>
              <a:srgbClr val="B03A2E"/>
            </a:solidFill>
            <a:prstDash val="solid"/>
          </a:ln>
        </p:spPr>
        <p:txBody>
          <a:bodyPr/>
          <a:lstStyle/>
          <a:p>
            <a:endParaRPr lang="en-AE"/>
          </a:p>
        </p:txBody>
      </p:sp>
      <p:sp>
        <p:nvSpPr>
          <p:cNvPr id="5" name="Shape 3"/>
          <p:cNvSpPr/>
          <p:nvPr/>
        </p:nvSpPr>
        <p:spPr>
          <a:xfrm>
            <a:off x="749808" y="1453896"/>
            <a:ext cx="365760" cy="365760"/>
          </a:xfrm>
          <a:prstGeom prst="ellipse">
            <a:avLst/>
          </a:prstGeom>
          <a:solidFill>
            <a:srgbClr val="B03A2E"/>
          </a:solidFill>
          <a:ln/>
        </p:spPr>
        <p:txBody>
          <a:bodyPr/>
          <a:lstStyle/>
          <a:p>
            <a:endParaRPr lang="en-AE"/>
          </a:p>
        </p:txBody>
      </p:sp>
      <p:sp>
        <p:nvSpPr>
          <p:cNvPr id="6" name="Text 4"/>
          <p:cNvSpPr/>
          <p:nvPr/>
        </p:nvSpPr>
        <p:spPr>
          <a:xfrm>
            <a:off x="749808" y="14538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380744"/>
            <a:ext cx="3063240" cy="512064"/>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Run the two missing control experiments</a:t>
            </a:r>
            <a:endParaRPr lang="en-US" sz="1150" dirty="0"/>
          </a:p>
        </p:txBody>
      </p:sp>
      <p:sp>
        <p:nvSpPr>
          <p:cNvPr id="8" name="Text 6"/>
          <p:cNvSpPr/>
          <p:nvPr/>
        </p:nvSpPr>
        <p:spPr>
          <a:xfrm>
            <a:off x="4434840" y="1371600"/>
            <a:ext cx="5989320" cy="53035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ImageNet-initialised encoder (answers RQ3) and CNN-frozen-throughout (tests the overfitting hypothesis directly). Both are single-flag changes; roughly 25 minutes of GPU time for the pair.</a:t>
            </a:r>
            <a:endParaRPr lang="en-US" sz="950" dirty="0"/>
          </a:p>
        </p:txBody>
      </p:sp>
      <p:sp>
        <p:nvSpPr>
          <p:cNvPr id="9" name="Text 7"/>
          <p:cNvSpPr/>
          <p:nvPr/>
        </p:nvSpPr>
        <p:spPr>
          <a:xfrm>
            <a:off x="10561320" y="1380744"/>
            <a:ext cx="914400" cy="512064"/>
          </a:xfrm>
          <a:prstGeom prst="rect">
            <a:avLst/>
          </a:prstGeom>
          <a:noFill/>
          <a:ln/>
        </p:spPr>
        <p:txBody>
          <a:bodyPr wrap="square" lIns="0" tIns="0" rIns="0" bIns="0" rtlCol="0" anchor="ctr"/>
          <a:lstStyle/>
          <a:p>
            <a:pPr marL="0" indent="0" algn="r">
              <a:buNone/>
            </a:pPr>
            <a:r>
              <a:rPr lang="en-US" sz="900" i="1" dirty="0">
                <a:solidFill>
                  <a:srgbClr val="6E7F8F"/>
                </a:solidFill>
                <a:latin typeface="Calibri" pitchFamily="34" charset="0"/>
                <a:ea typeface="Calibri" pitchFamily="34" charset="-122"/>
                <a:cs typeface="Calibri" pitchFamily="34" charset="-120"/>
              </a:rPr>
              <a:t>cost: hours</a:t>
            </a:r>
            <a:endParaRPr lang="en-US" sz="900" dirty="0"/>
          </a:p>
        </p:txBody>
      </p:sp>
      <p:sp>
        <p:nvSpPr>
          <p:cNvPr id="10" name="Shape 8"/>
          <p:cNvSpPr/>
          <p:nvPr/>
        </p:nvSpPr>
        <p:spPr>
          <a:xfrm>
            <a:off x="566928" y="2002536"/>
            <a:ext cx="11064240" cy="621792"/>
          </a:xfrm>
          <a:prstGeom prst="roundRect">
            <a:avLst>
              <a:gd name="adj" fmla="val 5882"/>
            </a:avLst>
          </a:prstGeom>
          <a:solidFill>
            <a:srgbClr val="FBF3E4"/>
          </a:solidFill>
          <a:ln w="7620">
            <a:solidFill>
              <a:srgbClr val="CFD9E2"/>
            </a:solidFill>
            <a:prstDash val="solid"/>
          </a:ln>
        </p:spPr>
        <p:txBody>
          <a:bodyPr/>
          <a:lstStyle/>
          <a:p>
            <a:endParaRPr lang="en-AE"/>
          </a:p>
        </p:txBody>
      </p:sp>
      <p:sp>
        <p:nvSpPr>
          <p:cNvPr id="11" name="Shape 9"/>
          <p:cNvSpPr/>
          <p:nvPr/>
        </p:nvSpPr>
        <p:spPr>
          <a:xfrm>
            <a:off x="749808" y="2130552"/>
            <a:ext cx="365760" cy="365760"/>
          </a:xfrm>
          <a:prstGeom prst="ellipse">
            <a:avLst/>
          </a:prstGeom>
          <a:solidFill>
            <a:srgbClr val="B87A1B"/>
          </a:solidFill>
          <a:ln/>
        </p:spPr>
        <p:txBody>
          <a:bodyPr/>
          <a:lstStyle/>
          <a:p>
            <a:endParaRPr lang="en-AE"/>
          </a:p>
        </p:txBody>
      </p:sp>
      <p:sp>
        <p:nvSpPr>
          <p:cNvPr id="12" name="Text 10"/>
          <p:cNvSpPr/>
          <p:nvPr/>
        </p:nvSpPr>
        <p:spPr>
          <a:xfrm>
            <a:off x="749808" y="213055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261872" y="2057400"/>
            <a:ext cx="3063240" cy="512064"/>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Predict k_t instead of GHI</a:t>
            </a:r>
            <a:endParaRPr lang="en-US" sz="1150" dirty="0"/>
          </a:p>
        </p:txBody>
      </p:sp>
      <p:sp>
        <p:nvSpPr>
          <p:cNvPr id="14" name="Text 12"/>
          <p:cNvSpPr/>
          <p:nvPr/>
        </p:nvSpPr>
        <p:spPr>
          <a:xfrm>
            <a:off x="4434840" y="2048256"/>
            <a:ext cx="5989320" cy="53035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Reformulate the target as the clear-sky index and multiply by the known clear-sky curve. Removes the diurnal scale from the target, so the loss stops being dominated by midday hours and normalisation becomes uniform.</a:t>
            </a:r>
            <a:endParaRPr lang="en-US" sz="950" dirty="0"/>
          </a:p>
        </p:txBody>
      </p:sp>
      <p:sp>
        <p:nvSpPr>
          <p:cNvPr id="15" name="Text 13"/>
          <p:cNvSpPr/>
          <p:nvPr/>
        </p:nvSpPr>
        <p:spPr>
          <a:xfrm>
            <a:off x="10561320" y="2057400"/>
            <a:ext cx="914400" cy="512064"/>
          </a:xfrm>
          <a:prstGeom prst="rect">
            <a:avLst/>
          </a:prstGeom>
          <a:noFill/>
          <a:ln/>
        </p:spPr>
        <p:txBody>
          <a:bodyPr wrap="square" lIns="0" tIns="0" rIns="0" bIns="0" rtlCol="0" anchor="ctr"/>
          <a:lstStyle/>
          <a:p>
            <a:pPr marL="0" indent="0" algn="r">
              <a:buNone/>
            </a:pPr>
            <a:r>
              <a:rPr lang="en-US" sz="900" i="1" dirty="0">
                <a:solidFill>
                  <a:srgbClr val="6E7F8F"/>
                </a:solidFill>
                <a:latin typeface="Calibri" pitchFamily="34" charset="0"/>
                <a:ea typeface="Calibri" pitchFamily="34" charset="-122"/>
                <a:cs typeface="Calibri" pitchFamily="34" charset="-120"/>
              </a:rPr>
              <a:t>cost: days</a:t>
            </a:r>
            <a:endParaRPr lang="en-US" sz="900" dirty="0"/>
          </a:p>
        </p:txBody>
      </p:sp>
      <p:sp>
        <p:nvSpPr>
          <p:cNvPr id="16" name="Shape 14"/>
          <p:cNvSpPr/>
          <p:nvPr/>
        </p:nvSpPr>
        <p:spPr>
          <a:xfrm>
            <a:off x="566928" y="2679192"/>
            <a:ext cx="11064240" cy="621792"/>
          </a:xfrm>
          <a:prstGeom prst="roundRect">
            <a:avLst>
              <a:gd name="adj" fmla="val 5882"/>
            </a:avLst>
          </a:prstGeom>
          <a:solidFill>
            <a:srgbClr val="FBF3E4"/>
          </a:solidFill>
          <a:ln w="7620">
            <a:solidFill>
              <a:srgbClr val="CFD9E2"/>
            </a:solidFill>
            <a:prstDash val="solid"/>
          </a:ln>
        </p:spPr>
        <p:txBody>
          <a:bodyPr/>
          <a:lstStyle/>
          <a:p>
            <a:endParaRPr lang="en-AE"/>
          </a:p>
        </p:txBody>
      </p:sp>
      <p:sp>
        <p:nvSpPr>
          <p:cNvPr id="17" name="Shape 15"/>
          <p:cNvSpPr/>
          <p:nvPr/>
        </p:nvSpPr>
        <p:spPr>
          <a:xfrm>
            <a:off x="749808" y="2807208"/>
            <a:ext cx="365760" cy="365760"/>
          </a:xfrm>
          <a:prstGeom prst="ellipse">
            <a:avLst/>
          </a:prstGeom>
          <a:solidFill>
            <a:srgbClr val="B87A1B"/>
          </a:solidFill>
          <a:ln/>
        </p:spPr>
        <p:txBody>
          <a:bodyPr/>
          <a:lstStyle/>
          <a:p>
            <a:endParaRPr lang="en-AE"/>
          </a:p>
        </p:txBody>
      </p:sp>
      <p:sp>
        <p:nvSpPr>
          <p:cNvPr id="18" name="Text 16"/>
          <p:cNvSpPr/>
          <p:nvPr/>
        </p:nvSpPr>
        <p:spPr>
          <a:xfrm>
            <a:off x="749808" y="280720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261872" y="2734056"/>
            <a:ext cx="3063240" cy="512064"/>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Fix the target construction</a:t>
            </a:r>
            <a:endParaRPr lang="en-US" sz="1150" dirty="0"/>
          </a:p>
        </p:txBody>
      </p:sp>
      <p:sp>
        <p:nvSpPr>
          <p:cNvPr id="20" name="Text 18"/>
          <p:cNvSpPr/>
          <p:nvPr/>
        </p:nvSpPr>
        <p:spPr>
          <a:xfrm>
            <a:off x="4434840" y="2724912"/>
            <a:ext cx="5989320" cy="53035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Build targets on a continuous hourly index and drop the ~30% of samples whose window crosses the overnight gap. Costs test-set size but makes every reported number mean what it says.</a:t>
            </a:r>
            <a:endParaRPr lang="en-US" sz="950" dirty="0"/>
          </a:p>
        </p:txBody>
      </p:sp>
      <p:sp>
        <p:nvSpPr>
          <p:cNvPr id="21" name="Text 19"/>
          <p:cNvSpPr/>
          <p:nvPr/>
        </p:nvSpPr>
        <p:spPr>
          <a:xfrm>
            <a:off x="10561320" y="2734056"/>
            <a:ext cx="914400" cy="512064"/>
          </a:xfrm>
          <a:prstGeom prst="rect">
            <a:avLst/>
          </a:prstGeom>
          <a:noFill/>
          <a:ln/>
        </p:spPr>
        <p:txBody>
          <a:bodyPr wrap="square" lIns="0" tIns="0" rIns="0" bIns="0" rtlCol="0" anchor="ctr"/>
          <a:lstStyle/>
          <a:p>
            <a:pPr marL="0" indent="0" algn="r">
              <a:buNone/>
            </a:pPr>
            <a:r>
              <a:rPr lang="en-US" sz="900" i="1" dirty="0">
                <a:solidFill>
                  <a:srgbClr val="6E7F8F"/>
                </a:solidFill>
                <a:latin typeface="Calibri" pitchFamily="34" charset="0"/>
                <a:ea typeface="Calibri" pitchFamily="34" charset="-122"/>
                <a:cs typeface="Calibri" pitchFamily="34" charset="-120"/>
              </a:rPr>
              <a:t>cost: days</a:t>
            </a:r>
            <a:endParaRPr lang="en-US" sz="900" dirty="0"/>
          </a:p>
        </p:txBody>
      </p:sp>
      <p:sp>
        <p:nvSpPr>
          <p:cNvPr id="22" name="Shape 20"/>
          <p:cNvSpPr/>
          <p:nvPr/>
        </p:nvSpPr>
        <p:spPr>
          <a:xfrm>
            <a:off x="566928" y="3355848"/>
            <a:ext cx="11064240" cy="621792"/>
          </a:xfrm>
          <a:prstGeom prst="roundRect">
            <a:avLst>
              <a:gd name="adj" fmla="val 5882"/>
            </a:avLst>
          </a:prstGeom>
          <a:solidFill>
            <a:srgbClr val="EFF3F7"/>
          </a:solidFill>
          <a:ln w="7620">
            <a:solidFill>
              <a:srgbClr val="CFD9E2"/>
            </a:solidFill>
            <a:prstDash val="solid"/>
          </a:ln>
        </p:spPr>
        <p:txBody>
          <a:bodyPr/>
          <a:lstStyle/>
          <a:p>
            <a:endParaRPr lang="en-AE"/>
          </a:p>
        </p:txBody>
      </p:sp>
      <p:sp>
        <p:nvSpPr>
          <p:cNvPr id="23" name="Shape 21"/>
          <p:cNvSpPr/>
          <p:nvPr/>
        </p:nvSpPr>
        <p:spPr>
          <a:xfrm>
            <a:off x="749808" y="3483864"/>
            <a:ext cx="365760" cy="365760"/>
          </a:xfrm>
          <a:prstGeom prst="ellipse">
            <a:avLst/>
          </a:prstGeom>
          <a:solidFill>
            <a:srgbClr val="1C7293"/>
          </a:solidFill>
          <a:ln/>
        </p:spPr>
        <p:txBody>
          <a:bodyPr/>
          <a:lstStyle/>
          <a:p>
            <a:endParaRPr lang="en-AE"/>
          </a:p>
        </p:txBody>
      </p:sp>
      <p:sp>
        <p:nvSpPr>
          <p:cNvPr id="24" name="Text 22"/>
          <p:cNvSpPr/>
          <p:nvPr/>
        </p:nvSpPr>
        <p:spPr>
          <a:xfrm>
            <a:off x="749808" y="34838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261872" y="3410712"/>
            <a:ext cx="3063240" cy="512064"/>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Replace the scalar gate</a:t>
            </a:r>
            <a:endParaRPr lang="en-US" sz="1150" dirty="0"/>
          </a:p>
        </p:txBody>
      </p:sp>
      <p:sp>
        <p:nvSpPr>
          <p:cNvPr id="26" name="Text 24"/>
          <p:cNvSpPr/>
          <p:nvPr/>
        </p:nvSpPr>
        <p:spPr>
          <a:xfrm>
            <a:off x="4434840" y="3401568"/>
            <a:ext cx="5989320" cy="53035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A 256-dimensional gate vector with an entropy regulariser on its distribution, plus standardised gate inputs — the optical-flow components currently enter at 1/200th the scale of k_t.</a:t>
            </a:r>
            <a:endParaRPr lang="en-US" sz="950" dirty="0"/>
          </a:p>
        </p:txBody>
      </p:sp>
      <p:sp>
        <p:nvSpPr>
          <p:cNvPr id="27" name="Text 25"/>
          <p:cNvSpPr/>
          <p:nvPr/>
        </p:nvSpPr>
        <p:spPr>
          <a:xfrm>
            <a:off x="10561320" y="3410712"/>
            <a:ext cx="914400" cy="512064"/>
          </a:xfrm>
          <a:prstGeom prst="rect">
            <a:avLst/>
          </a:prstGeom>
          <a:noFill/>
          <a:ln/>
        </p:spPr>
        <p:txBody>
          <a:bodyPr wrap="square" lIns="0" tIns="0" rIns="0" bIns="0" rtlCol="0" anchor="ctr"/>
          <a:lstStyle/>
          <a:p>
            <a:pPr marL="0" indent="0" algn="r">
              <a:buNone/>
            </a:pPr>
            <a:r>
              <a:rPr lang="en-US" sz="900" i="1" dirty="0">
                <a:solidFill>
                  <a:srgbClr val="6E7F8F"/>
                </a:solidFill>
                <a:latin typeface="Calibri" pitchFamily="34" charset="0"/>
                <a:ea typeface="Calibri" pitchFamily="34" charset="-122"/>
                <a:cs typeface="Calibri" pitchFamily="34" charset="-120"/>
              </a:rPr>
              <a:t>cost: days</a:t>
            </a:r>
            <a:endParaRPr lang="en-US" sz="900" dirty="0"/>
          </a:p>
        </p:txBody>
      </p:sp>
      <p:sp>
        <p:nvSpPr>
          <p:cNvPr id="28" name="Shape 26"/>
          <p:cNvSpPr/>
          <p:nvPr/>
        </p:nvSpPr>
        <p:spPr>
          <a:xfrm>
            <a:off x="566928" y="4032504"/>
            <a:ext cx="11064240" cy="621792"/>
          </a:xfrm>
          <a:prstGeom prst="roundRect">
            <a:avLst>
              <a:gd name="adj" fmla="val 5882"/>
            </a:avLst>
          </a:prstGeom>
          <a:solidFill>
            <a:srgbClr val="EFF3F7"/>
          </a:solidFill>
          <a:ln w="7620">
            <a:solidFill>
              <a:srgbClr val="CFD9E2"/>
            </a:solidFill>
            <a:prstDash val="solid"/>
          </a:ln>
        </p:spPr>
        <p:txBody>
          <a:bodyPr/>
          <a:lstStyle/>
          <a:p>
            <a:endParaRPr lang="en-AE"/>
          </a:p>
        </p:txBody>
      </p:sp>
      <p:sp>
        <p:nvSpPr>
          <p:cNvPr id="29" name="Shape 27"/>
          <p:cNvSpPr/>
          <p:nvPr/>
        </p:nvSpPr>
        <p:spPr>
          <a:xfrm>
            <a:off x="749808" y="4160520"/>
            <a:ext cx="365760" cy="365760"/>
          </a:xfrm>
          <a:prstGeom prst="ellipse">
            <a:avLst/>
          </a:prstGeom>
          <a:solidFill>
            <a:srgbClr val="1C7293"/>
          </a:solidFill>
          <a:ln/>
        </p:spPr>
        <p:txBody>
          <a:bodyPr/>
          <a:lstStyle/>
          <a:p>
            <a:endParaRPr lang="en-AE"/>
          </a:p>
        </p:txBody>
      </p:sp>
      <p:sp>
        <p:nvSpPr>
          <p:cNvPr id="30" name="Text 28"/>
          <p:cNvSpPr/>
          <p:nvPr/>
        </p:nvSpPr>
        <p:spPr>
          <a:xfrm>
            <a:off x="749808" y="41605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1261872" y="4087368"/>
            <a:ext cx="3063240" cy="512064"/>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Use more of the satellite</a:t>
            </a:r>
            <a:endParaRPr lang="en-US" sz="1150" dirty="0"/>
          </a:p>
        </p:txBody>
      </p:sp>
      <p:sp>
        <p:nvSpPr>
          <p:cNvPr id="32" name="Text 30"/>
          <p:cNvSpPr/>
          <p:nvPr/>
        </p:nvSpPr>
        <p:spPr>
          <a:xfrm>
            <a:off x="4434840" y="4078224"/>
            <a:ext cx="5989320" cy="53035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Multi-band Himawari via the JAXA NetCDF path already implemented as a fallback — infrared bands give cloud-top temperature and therefore optical depth, which is what actually determines attenuation.</a:t>
            </a:r>
            <a:endParaRPr lang="en-US" sz="950" dirty="0"/>
          </a:p>
        </p:txBody>
      </p:sp>
      <p:sp>
        <p:nvSpPr>
          <p:cNvPr id="33" name="Text 31"/>
          <p:cNvSpPr/>
          <p:nvPr/>
        </p:nvSpPr>
        <p:spPr>
          <a:xfrm>
            <a:off x="10561320" y="4087368"/>
            <a:ext cx="914400" cy="512064"/>
          </a:xfrm>
          <a:prstGeom prst="rect">
            <a:avLst/>
          </a:prstGeom>
          <a:noFill/>
          <a:ln/>
        </p:spPr>
        <p:txBody>
          <a:bodyPr wrap="square" lIns="0" tIns="0" rIns="0" bIns="0" rtlCol="0" anchor="ctr"/>
          <a:lstStyle/>
          <a:p>
            <a:pPr marL="0" indent="0" algn="r">
              <a:buNone/>
            </a:pPr>
            <a:r>
              <a:rPr lang="en-US" sz="900" i="1" dirty="0">
                <a:solidFill>
                  <a:srgbClr val="6E7F8F"/>
                </a:solidFill>
                <a:latin typeface="Calibri" pitchFamily="34" charset="0"/>
                <a:ea typeface="Calibri" pitchFamily="34" charset="-122"/>
                <a:cs typeface="Calibri" pitchFamily="34" charset="-120"/>
              </a:rPr>
              <a:t>cost: weeks</a:t>
            </a:r>
            <a:endParaRPr lang="en-US" sz="900" dirty="0"/>
          </a:p>
        </p:txBody>
      </p:sp>
      <p:sp>
        <p:nvSpPr>
          <p:cNvPr id="34" name="Shape 32"/>
          <p:cNvSpPr/>
          <p:nvPr/>
        </p:nvSpPr>
        <p:spPr>
          <a:xfrm>
            <a:off x="566928" y="4709160"/>
            <a:ext cx="11064240" cy="621792"/>
          </a:xfrm>
          <a:prstGeom prst="roundRect">
            <a:avLst>
              <a:gd name="adj" fmla="val 5882"/>
            </a:avLst>
          </a:prstGeom>
          <a:solidFill>
            <a:srgbClr val="EFF3F7"/>
          </a:solidFill>
          <a:ln w="7620">
            <a:solidFill>
              <a:srgbClr val="CFD9E2"/>
            </a:solidFill>
            <a:prstDash val="solid"/>
          </a:ln>
        </p:spPr>
        <p:txBody>
          <a:bodyPr/>
          <a:lstStyle/>
          <a:p>
            <a:endParaRPr lang="en-AE"/>
          </a:p>
        </p:txBody>
      </p:sp>
      <p:sp>
        <p:nvSpPr>
          <p:cNvPr id="35" name="Shape 33"/>
          <p:cNvSpPr/>
          <p:nvPr/>
        </p:nvSpPr>
        <p:spPr>
          <a:xfrm>
            <a:off x="749808" y="4837176"/>
            <a:ext cx="365760" cy="365760"/>
          </a:xfrm>
          <a:prstGeom prst="ellipse">
            <a:avLst/>
          </a:prstGeom>
          <a:solidFill>
            <a:srgbClr val="0B2545"/>
          </a:solidFill>
          <a:ln/>
        </p:spPr>
        <p:txBody>
          <a:bodyPr/>
          <a:lstStyle/>
          <a:p>
            <a:endParaRPr lang="en-AE"/>
          </a:p>
        </p:txBody>
      </p:sp>
      <p:sp>
        <p:nvSpPr>
          <p:cNvPr id="36" name="Text 34"/>
          <p:cNvSpPr/>
          <p:nvPr/>
        </p:nvSpPr>
        <p:spPr>
          <a:xfrm>
            <a:off x="749808" y="48371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1261872" y="4764024"/>
            <a:ext cx="3063240" cy="512064"/>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Rolling-origin evaluation and seed repeats</a:t>
            </a:r>
            <a:endParaRPr lang="en-US" sz="1150" dirty="0"/>
          </a:p>
        </p:txBody>
      </p:sp>
      <p:sp>
        <p:nvSpPr>
          <p:cNvPr id="38" name="Text 36"/>
          <p:cNvSpPr/>
          <p:nvPr/>
        </p:nvSpPr>
        <p:spPr>
          <a:xfrm>
            <a:off x="4434840" y="4754880"/>
            <a:ext cx="5989320" cy="53035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Multiple expanding-window folds and several seeds, so every metric carries a confidence interval and gaps can be significance-tested (Diebold–Mariano on paired errors).</a:t>
            </a:r>
            <a:endParaRPr lang="en-US" sz="950" dirty="0"/>
          </a:p>
        </p:txBody>
      </p:sp>
      <p:sp>
        <p:nvSpPr>
          <p:cNvPr id="39" name="Text 37"/>
          <p:cNvSpPr/>
          <p:nvPr/>
        </p:nvSpPr>
        <p:spPr>
          <a:xfrm>
            <a:off x="10561320" y="4764024"/>
            <a:ext cx="914400" cy="512064"/>
          </a:xfrm>
          <a:prstGeom prst="rect">
            <a:avLst/>
          </a:prstGeom>
          <a:noFill/>
          <a:ln/>
        </p:spPr>
        <p:txBody>
          <a:bodyPr wrap="square" lIns="0" tIns="0" rIns="0" bIns="0" rtlCol="0" anchor="ctr"/>
          <a:lstStyle/>
          <a:p>
            <a:pPr marL="0" indent="0" algn="r">
              <a:buNone/>
            </a:pPr>
            <a:r>
              <a:rPr lang="en-US" sz="900" i="1" dirty="0">
                <a:solidFill>
                  <a:srgbClr val="6E7F8F"/>
                </a:solidFill>
                <a:latin typeface="Calibri" pitchFamily="34" charset="0"/>
                <a:ea typeface="Calibri" pitchFamily="34" charset="-122"/>
                <a:cs typeface="Calibri" pitchFamily="34" charset="-120"/>
              </a:rPr>
              <a:t>cost: weeks</a:t>
            </a:r>
            <a:endParaRPr lang="en-US" sz="900" dirty="0"/>
          </a:p>
        </p:txBody>
      </p:sp>
      <p:sp>
        <p:nvSpPr>
          <p:cNvPr id="40" name="Shape 38"/>
          <p:cNvSpPr/>
          <p:nvPr/>
        </p:nvSpPr>
        <p:spPr>
          <a:xfrm>
            <a:off x="566928" y="5385816"/>
            <a:ext cx="11064240" cy="621792"/>
          </a:xfrm>
          <a:prstGeom prst="roundRect">
            <a:avLst>
              <a:gd name="adj" fmla="val 5882"/>
            </a:avLst>
          </a:prstGeom>
          <a:solidFill>
            <a:srgbClr val="EFF3F7"/>
          </a:solidFill>
          <a:ln w="7620">
            <a:solidFill>
              <a:srgbClr val="CFD9E2"/>
            </a:solidFill>
            <a:prstDash val="solid"/>
          </a:ln>
        </p:spPr>
        <p:txBody>
          <a:bodyPr/>
          <a:lstStyle/>
          <a:p>
            <a:endParaRPr lang="en-AE"/>
          </a:p>
        </p:txBody>
      </p:sp>
      <p:sp>
        <p:nvSpPr>
          <p:cNvPr id="41" name="Shape 39"/>
          <p:cNvSpPr/>
          <p:nvPr/>
        </p:nvSpPr>
        <p:spPr>
          <a:xfrm>
            <a:off x="749808" y="5513832"/>
            <a:ext cx="365760" cy="365760"/>
          </a:xfrm>
          <a:prstGeom prst="ellipse">
            <a:avLst/>
          </a:prstGeom>
          <a:solidFill>
            <a:srgbClr val="0B2545"/>
          </a:solidFill>
          <a:ln/>
        </p:spPr>
        <p:txBody>
          <a:bodyPr/>
          <a:lstStyle/>
          <a:p>
            <a:endParaRPr lang="en-AE"/>
          </a:p>
        </p:txBody>
      </p:sp>
      <p:sp>
        <p:nvSpPr>
          <p:cNvPr id="42" name="Text 40"/>
          <p:cNvSpPr/>
          <p:nvPr/>
        </p:nvSpPr>
        <p:spPr>
          <a:xfrm>
            <a:off x="749808" y="55138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3" name="Text 41"/>
          <p:cNvSpPr/>
          <p:nvPr/>
        </p:nvSpPr>
        <p:spPr>
          <a:xfrm>
            <a:off x="1261872" y="5440680"/>
            <a:ext cx="3063240" cy="512064"/>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Scale the data</a:t>
            </a:r>
            <a:endParaRPr lang="en-US" sz="1150" dirty="0"/>
          </a:p>
        </p:txBody>
      </p:sp>
      <p:sp>
        <p:nvSpPr>
          <p:cNvPr id="44" name="Text 42"/>
          <p:cNvSpPr/>
          <p:nvPr/>
        </p:nvSpPr>
        <p:spPr>
          <a:xfrm>
            <a:off x="4434840" y="5431536"/>
            <a:ext cx="5989320" cy="530352"/>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Extend to several years and several sites sharing one satellite tile, computing patch embeddings once per tile. This is the direct test of whether the negative result is about the architecture or about the sample size.</a:t>
            </a:r>
            <a:endParaRPr lang="en-US" sz="950" dirty="0"/>
          </a:p>
        </p:txBody>
      </p:sp>
      <p:sp>
        <p:nvSpPr>
          <p:cNvPr id="45" name="Text 43"/>
          <p:cNvSpPr/>
          <p:nvPr/>
        </p:nvSpPr>
        <p:spPr>
          <a:xfrm>
            <a:off x="10561320" y="5440680"/>
            <a:ext cx="914400" cy="512064"/>
          </a:xfrm>
          <a:prstGeom prst="rect">
            <a:avLst/>
          </a:prstGeom>
          <a:noFill/>
          <a:ln/>
        </p:spPr>
        <p:txBody>
          <a:bodyPr wrap="square" lIns="0" tIns="0" rIns="0" bIns="0" rtlCol="0" anchor="ctr"/>
          <a:lstStyle/>
          <a:p>
            <a:pPr marL="0" indent="0" algn="r">
              <a:buNone/>
            </a:pPr>
            <a:r>
              <a:rPr lang="en-US" sz="900" i="1" dirty="0">
                <a:solidFill>
                  <a:srgbClr val="6E7F8F"/>
                </a:solidFill>
                <a:latin typeface="Calibri" pitchFamily="34" charset="0"/>
                <a:ea typeface="Calibri" pitchFamily="34" charset="-122"/>
                <a:cs typeface="Calibri" pitchFamily="34" charset="-120"/>
              </a:rPr>
              <a:t>cost: months</a:t>
            </a:r>
            <a:endParaRPr lang="en-US" sz="900" dirty="0"/>
          </a:p>
        </p:txBody>
      </p:sp>
      <p:sp>
        <p:nvSpPr>
          <p:cNvPr id="46" name="Text 44"/>
          <p:cNvSpPr/>
          <p:nvPr/>
        </p:nvSpPr>
        <p:spPr>
          <a:xfrm>
            <a:off x="566928" y="6144768"/>
            <a:ext cx="11064240" cy="292608"/>
          </a:xfrm>
          <a:prstGeom prst="rect">
            <a:avLst/>
          </a:prstGeom>
          <a:noFill/>
          <a:ln/>
        </p:spPr>
        <p:txBody>
          <a:bodyPr wrap="square" lIns="0" tIns="0" rIns="0" bIns="0" rtlCol="0" anchor="ctr"/>
          <a:lstStyle/>
          <a:p>
            <a:pPr marL="0" indent="0">
              <a:buNone/>
            </a:pPr>
            <a:r>
              <a:rPr lang="en-US" sz="1100" i="1" dirty="0">
                <a:solidFill>
                  <a:srgbClr val="6E7F8F"/>
                </a:solidFill>
                <a:latin typeface="Calibri" pitchFamily="34" charset="0"/>
                <a:ea typeface="Calibri" pitchFamily="34" charset="-122"/>
                <a:cs typeface="Calibri" pitchFamily="34" charset="-120"/>
              </a:rPr>
              <a:t>Items 1–3 would materially change what I can claim; items 5 and 7 are the ones that could plausibly reverse the headline result.</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REFERENCES</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Data, software and datasets used</a:t>
            </a:r>
            <a:endParaRPr lang="en-US" sz="3000" dirty="0"/>
          </a:p>
        </p:txBody>
      </p:sp>
      <p:sp>
        <p:nvSpPr>
          <p:cNvPr id="4" name="Text 2"/>
          <p:cNvSpPr/>
          <p:nvPr/>
        </p:nvSpPr>
        <p:spPr>
          <a:xfrm>
            <a:off x="566928" y="1325880"/>
            <a:ext cx="5394960" cy="256032"/>
          </a:xfrm>
          <a:prstGeom prst="rect">
            <a:avLst/>
          </a:prstGeom>
          <a:noFill/>
          <a:ln/>
        </p:spPr>
        <p:txBody>
          <a:bodyPr wrap="square" lIns="0" tIns="0" rIns="0" bIns="0" rtlCol="0" anchor="ctr"/>
          <a:lstStyle/>
          <a:p>
            <a:pPr marL="0" indent="0">
              <a:buNone/>
            </a:pPr>
            <a:r>
              <a:rPr lang="en-US" sz="1000" b="1" kern="0" spc="160" dirty="0">
                <a:solidFill>
                  <a:srgbClr val="1C7293"/>
                </a:solidFill>
                <a:latin typeface="Calibri" pitchFamily="34" charset="0"/>
                <a:ea typeface="Calibri" pitchFamily="34" charset="-122"/>
                <a:cs typeface="Calibri" pitchFamily="34" charset="-120"/>
              </a:rPr>
              <a:t>DATA SOURCES</a:t>
            </a:r>
            <a:endParaRPr lang="en-US" sz="1000" dirty="0"/>
          </a:p>
        </p:txBody>
      </p:sp>
      <p:sp>
        <p:nvSpPr>
          <p:cNvPr id="5" name="Text 3"/>
          <p:cNvSpPr/>
          <p:nvPr/>
        </p:nvSpPr>
        <p:spPr>
          <a:xfrm>
            <a:off x="566928" y="1627632"/>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Open-Meteo Historical Weather API</a:t>
            </a:r>
            <a:endParaRPr lang="en-US" sz="1100" dirty="0"/>
          </a:p>
        </p:txBody>
      </p:sp>
      <p:sp>
        <p:nvSpPr>
          <p:cNvPr id="6" name="Text 4"/>
          <p:cNvSpPr/>
          <p:nvPr/>
        </p:nvSpPr>
        <p:spPr>
          <a:xfrm>
            <a:off x="566928" y="1865376"/>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ERA5 reanalysis, hourly. archive-api.open-meteo.com — target GHI and six input features.</a:t>
            </a:r>
            <a:endParaRPr lang="en-US" sz="950" dirty="0"/>
          </a:p>
        </p:txBody>
      </p:sp>
      <p:sp>
        <p:nvSpPr>
          <p:cNvPr id="7" name="Text 5"/>
          <p:cNvSpPr/>
          <p:nvPr/>
        </p:nvSpPr>
        <p:spPr>
          <a:xfrm>
            <a:off x="566928" y="2231136"/>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Open-Meteo Forecast API</a:t>
            </a:r>
            <a:endParaRPr lang="en-US" sz="1100" dirty="0"/>
          </a:p>
        </p:txBody>
      </p:sp>
      <p:sp>
        <p:nvSpPr>
          <p:cNvPr id="8" name="Text 6"/>
          <p:cNvSpPr/>
          <p:nvPr/>
        </p:nvSpPr>
        <p:spPr>
          <a:xfrm>
            <a:off x="566928" y="2468880"/>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past_days analysis values — live lookback top-up and verification actuals.</a:t>
            </a:r>
            <a:endParaRPr lang="en-US" sz="950" dirty="0"/>
          </a:p>
        </p:txBody>
      </p:sp>
      <p:sp>
        <p:nvSpPr>
          <p:cNvPr id="9" name="Text 7"/>
          <p:cNvSpPr/>
          <p:nvPr/>
        </p:nvSpPr>
        <p:spPr>
          <a:xfrm>
            <a:off x="566928" y="2834640"/>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Himawari-8/9 real-time imagery, NICT</a:t>
            </a:r>
            <a:endParaRPr lang="en-US" sz="1100" dirty="0"/>
          </a:p>
        </p:txBody>
      </p:sp>
      <p:sp>
        <p:nvSpPr>
          <p:cNvPr id="10" name="Text 8"/>
          <p:cNvSpPr/>
          <p:nvPr/>
        </p:nvSpPr>
        <p:spPr>
          <a:xfrm>
            <a:off x="566928" y="3072384"/>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himawari8-dl.nict.go.jp — D531106 level 4d, tile 1_1, 550 px.</a:t>
            </a:r>
            <a:endParaRPr lang="en-US" sz="950" dirty="0"/>
          </a:p>
        </p:txBody>
      </p:sp>
      <p:sp>
        <p:nvSpPr>
          <p:cNvPr id="11" name="Text 9"/>
          <p:cNvSpPr/>
          <p:nvPr/>
        </p:nvSpPr>
        <p:spPr>
          <a:xfrm>
            <a:off x="566928" y="3438144"/>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JAXA P-Tree (Himawari Monitor)</a:t>
            </a:r>
            <a:endParaRPr lang="en-US" sz="1100" dirty="0"/>
          </a:p>
        </p:txBody>
      </p:sp>
      <p:sp>
        <p:nvSpPr>
          <p:cNvPr id="12" name="Text 10"/>
          <p:cNvSpPr/>
          <p:nvPr/>
        </p:nvSpPr>
        <p:spPr>
          <a:xfrm>
            <a:off x="566928" y="3675888"/>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ftp.ptree.jaxa.jp — NetCDF albedo_03, implemented as the fallback source.</a:t>
            </a:r>
            <a:endParaRPr lang="en-US" sz="950" dirty="0"/>
          </a:p>
        </p:txBody>
      </p:sp>
      <p:sp>
        <p:nvSpPr>
          <p:cNvPr id="13" name="Text 11"/>
          <p:cNvSpPr/>
          <p:nvPr/>
        </p:nvSpPr>
        <p:spPr>
          <a:xfrm>
            <a:off x="566928" y="4041648"/>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PVGIS 5.3, EU JRC</a:t>
            </a:r>
            <a:endParaRPr lang="en-US" sz="1100" dirty="0"/>
          </a:p>
        </p:txBody>
      </p:sp>
      <p:sp>
        <p:nvSpPr>
          <p:cNvPr id="14" name="Text 12"/>
          <p:cNvSpPr/>
          <p:nvPr/>
        </p:nvSpPr>
        <p:spPr>
          <a:xfrm>
            <a:off x="566928" y="4279392"/>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re.jrc.ec.europa.eu — PV reference series (fetched, then excluded as leaky).</a:t>
            </a:r>
            <a:endParaRPr lang="en-US" sz="950" dirty="0"/>
          </a:p>
        </p:txBody>
      </p:sp>
      <p:sp>
        <p:nvSpPr>
          <p:cNvPr id="15" name="Text 13"/>
          <p:cNvSpPr/>
          <p:nvPr/>
        </p:nvSpPr>
        <p:spPr>
          <a:xfrm>
            <a:off x="566928" y="4645152"/>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data.gov.sg real-time environment API</a:t>
            </a:r>
            <a:endParaRPr lang="en-US" sz="1100" dirty="0"/>
          </a:p>
        </p:txBody>
      </p:sp>
      <p:sp>
        <p:nvSpPr>
          <p:cNvPr id="16" name="Text 14"/>
          <p:cNvSpPr/>
          <p:nvPr/>
        </p:nvSpPr>
        <p:spPr>
          <a:xfrm>
            <a:off x="566928" y="4882896"/>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station air temperature, rainfall, humidity, wind.</a:t>
            </a:r>
            <a:endParaRPr lang="en-US" sz="950" dirty="0"/>
          </a:p>
        </p:txBody>
      </p:sp>
      <p:sp>
        <p:nvSpPr>
          <p:cNvPr id="17" name="Text 15"/>
          <p:cNvSpPr/>
          <p:nvPr/>
        </p:nvSpPr>
        <p:spPr>
          <a:xfrm>
            <a:off x="6236208" y="1325880"/>
            <a:ext cx="5394960" cy="256032"/>
          </a:xfrm>
          <a:prstGeom prst="rect">
            <a:avLst/>
          </a:prstGeom>
          <a:noFill/>
          <a:ln/>
        </p:spPr>
        <p:txBody>
          <a:bodyPr wrap="square" lIns="0" tIns="0" rIns="0" bIns="0" rtlCol="0" anchor="ctr"/>
          <a:lstStyle/>
          <a:p>
            <a:pPr marL="0" indent="0">
              <a:buNone/>
            </a:pPr>
            <a:r>
              <a:rPr lang="en-US" sz="1000" b="1" kern="0" spc="160" dirty="0">
                <a:solidFill>
                  <a:srgbClr val="1C7293"/>
                </a:solidFill>
                <a:latin typeface="Calibri" pitchFamily="34" charset="0"/>
                <a:ea typeface="Calibri" pitchFamily="34" charset="-122"/>
                <a:cs typeface="Calibri" pitchFamily="34" charset="-120"/>
              </a:rPr>
              <a:t>SOFTWARE AND MODELS</a:t>
            </a:r>
            <a:endParaRPr lang="en-US" sz="1000" dirty="0"/>
          </a:p>
        </p:txBody>
      </p:sp>
      <p:sp>
        <p:nvSpPr>
          <p:cNvPr id="18" name="Text 16"/>
          <p:cNvSpPr/>
          <p:nvPr/>
        </p:nvSpPr>
        <p:spPr>
          <a:xfrm>
            <a:off x="6236208" y="1627632"/>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timm — EfficientNet-B2</a:t>
            </a:r>
            <a:endParaRPr lang="en-US" sz="1100" dirty="0"/>
          </a:p>
        </p:txBody>
      </p:sp>
      <p:sp>
        <p:nvSpPr>
          <p:cNvPr id="19" name="Text 17"/>
          <p:cNvSpPr/>
          <p:nvPr/>
        </p:nvSpPr>
        <p:spPr>
          <a:xfrm>
            <a:off x="6236208" y="1865376"/>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Tan &amp; Le, EfficientNet: Rethinking Model Scaling for CNNs, ICML 2019. Backbone and ImageNet weights.</a:t>
            </a:r>
            <a:endParaRPr lang="en-US" sz="950" dirty="0"/>
          </a:p>
        </p:txBody>
      </p:sp>
      <p:sp>
        <p:nvSpPr>
          <p:cNvPr id="20" name="Text 18"/>
          <p:cNvSpPr/>
          <p:nvPr/>
        </p:nvSpPr>
        <p:spPr>
          <a:xfrm>
            <a:off x="6236208" y="2231136"/>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PyTorch 2.x</a:t>
            </a:r>
            <a:endParaRPr lang="en-US" sz="1100" dirty="0"/>
          </a:p>
        </p:txBody>
      </p:sp>
      <p:sp>
        <p:nvSpPr>
          <p:cNvPr id="21" name="Text 19"/>
          <p:cNvSpPr/>
          <p:nvPr/>
        </p:nvSpPr>
        <p:spPr>
          <a:xfrm>
            <a:off x="6236208" y="2468880"/>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nn.LSTM, nn.MultiheadAttention (Vaswani et al., 2017), AdamW (Loshchilov &amp; Hutter, 2019).</a:t>
            </a:r>
            <a:endParaRPr lang="en-US" sz="950" dirty="0"/>
          </a:p>
        </p:txBody>
      </p:sp>
      <p:sp>
        <p:nvSpPr>
          <p:cNvPr id="22" name="Text 20"/>
          <p:cNvSpPr/>
          <p:nvPr/>
        </p:nvSpPr>
        <p:spPr>
          <a:xfrm>
            <a:off x="6236208" y="2834640"/>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pvlib-python</a:t>
            </a:r>
            <a:endParaRPr lang="en-US" sz="1100" dirty="0"/>
          </a:p>
        </p:txBody>
      </p:sp>
      <p:sp>
        <p:nvSpPr>
          <p:cNvPr id="23" name="Text 21"/>
          <p:cNvSpPr/>
          <p:nvPr/>
        </p:nvSpPr>
        <p:spPr>
          <a:xfrm>
            <a:off x="6236208" y="3072384"/>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Ineichen &amp; Perez clear-sky model; Location.get_clearsky.</a:t>
            </a:r>
            <a:endParaRPr lang="en-US" sz="950" dirty="0"/>
          </a:p>
        </p:txBody>
      </p:sp>
      <p:sp>
        <p:nvSpPr>
          <p:cNvPr id="24" name="Text 22"/>
          <p:cNvSpPr/>
          <p:nvPr/>
        </p:nvSpPr>
        <p:spPr>
          <a:xfrm>
            <a:off x="6236208" y="3438144"/>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OpenCV</a:t>
            </a:r>
            <a:endParaRPr lang="en-US" sz="1100" dirty="0"/>
          </a:p>
        </p:txBody>
      </p:sp>
      <p:sp>
        <p:nvSpPr>
          <p:cNvPr id="25" name="Text 23"/>
          <p:cNvSpPr/>
          <p:nvPr/>
        </p:nvSpPr>
        <p:spPr>
          <a:xfrm>
            <a:off x="6236208" y="3675888"/>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Farnebäck, Two-Frame Motion Estimation Based on Polynomial Expansion, SCIA 2003.</a:t>
            </a:r>
            <a:endParaRPr lang="en-US" sz="950" dirty="0"/>
          </a:p>
        </p:txBody>
      </p:sp>
      <p:sp>
        <p:nvSpPr>
          <p:cNvPr id="26" name="Text 24"/>
          <p:cNvSpPr/>
          <p:nvPr/>
        </p:nvSpPr>
        <p:spPr>
          <a:xfrm>
            <a:off x="6236208" y="4041648"/>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LightGBM / scikit-learn</a:t>
            </a:r>
            <a:endParaRPr lang="en-US" sz="1100" dirty="0"/>
          </a:p>
        </p:txBody>
      </p:sp>
      <p:sp>
        <p:nvSpPr>
          <p:cNvPr id="27" name="Text 25"/>
          <p:cNvSpPr/>
          <p:nvPr/>
        </p:nvSpPr>
        <p:spPr>
          <a:xfrm>
            <a:off x="6236208" y="4279392"/>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Ke et al., LightGBM, NeurIPS 2017. Tabular baselines.</a:t>
            </a:r>
            <a:endParaRPr lang="en-US" sz="950" dirty="0"/>
          </a:p>
        </p:txBody>
      </p:sp>
      <p:sp>
        <p:nvSpPr>
          <p:cNvPr id="28" name="Text 26"/>
          <p:cNvSpPr/>
          <p:nvPr/>
        </p:nvSpPr>
        <p:spPr>
          <a:xfrm>
            <a:off x="6236208" y="4645152"/>
            <a:ext cx="5394960" cy="256032"/>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SwimSeg — SWIMSEG dataset</a:t>
            </a:r>
            <a:endParaRPr lang="en-US" sz="1100" dirty="0"/>
          </a:p>
        </p:txBody>
      </p:sp>
      <p:sp>
        <p:nvSpPr>
          <p:cNvPr id="29" name="Text 27"/>
          <p:cNvSpPr/>
          <p:nvPr/>
        </p:nvSpPr>
        <p:spPr>
          <a:xfrm>
            <a:off x="6236208" y="4882896"/>
            <a:ext cx="5394960" cy="329184"/>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Dev, Lee &amp; Winkler, Nanyang Technological University. 1,013 whole-sky images with cloud masks, Singapore.</a:t>
            </a:r>
            <a:endParaRPr lang="en-US" sz="950" dirty="0"/>
          </a:p>
        </p:txBody>
      </p:sp>
      <p:sp>
        <p:nvSpPr>
          <p:cNvPr id="30" name="Shape 28"/>
          <p:cNvSpPr/>
          <p:nvPr/>
        </p:nvSpPr>
        <p:spPr>
          <a:xfrm>
            <a:off x="566928" y="5321808"/>
            <a:ext cx="11064240" cy="868680"/>
          </a:xfrm>
          <a:prstGeom prst="roundRect">
            <a:avLst>
              <a:gd name="adj" fmla="val 5263"/>
            </a:avLst>
          </a:prstGeom>
          <a:solidFill>
            <a:srgbClr val="FCEEEC"/>
          </a:solidFill>
          <a:ln w="12700">
            <a:solidFill>
              <a:srgbClr val="B03A2E"/>
            </a:solidFill>
            <a:prstDash val="solid"/>
          </a:ln>
        </p:spPr>
        <p:txBody>
          <a:bodyPr/>
          <a:lstStyle/>
          <a:p>
            <a:endParaRPr lang="en-AE"/>
          </a:p>
        </p:txBody>
      </p:sp>
      <p:sp>
        <p:nvSpPr>
          <p:cNvPr id="31" name="Text 29"/>
          <p:cNvSpPr/>
          <p:nvPr/>
        </p:nvSpPr>
        <p:spPr>
          <a:xfrm>
            <a:off x="868680" y="5468112"/>
            <a:ext cx="10424160" cy="621792"/>
          </a:xfrm>
          <a:prstGeom prst="rect">
            <a:avLst/>
          </a:prstGeom>
          <a:noFill/>
          <a:ln/>
        </p:spPr>
        <p:txBody>
          <a:bodyPr wrap="square" lIns="0" tIns="0" rIns="0" bIns="0" rtlCol="0" anchor="ctr"/>
          <a:lstStyle/>
          <a:p>
            <a:pPr marL="0" indent="0">
              <a:lnSpc>
                <a:spcPts val="1650"/>
              </a:lnSpc>
              <a:buNone/>
            </a:pPr>
            <a:r>
              <a:rPr lang="en-US" sz="1150" b="1" dirty="0">
                <a:solidFill>
                  <a:srgbClr val="B03A2E"/>
                </a:solidFill>
                <a:latin typeface="Calibri" pitchFamily="34" charset="0"/>
                <a:ea typeface="Calibri" pitchFamily="34" charset="-122"/>
                <a:cs typeface="Calibri" pitchFamily="34" charset="-120"/>
              </a:rPr>
              <a:t>Disclosure:  </a:t>
            </a:r>
            <a:r>
              <a:rPr lang="en-US" sz="1150" dirty="0">
                <a:solidFill>
                  <a:srgbClr val="3C5169"/>
                </a:solidFill>
                <a:latin typeface="Calibri" pitchFamily="34" charset="0"/>
                <a:ea typeface="Calibri" pitchFamily="34" charset="-122"/>
                <a:cs typeface="Calibri" pitchFamily="34" charset="-120"/>
              </a:rPr>
              <a:t>the repository contains no bibliography. Method attributions above identify the standard sources for components the code demonstrably uses (timm model name, pvlib function, OpenCV call, library imports). No claim is made that any specific published forecasting method was reimplemented — the architecture is composed, not replicated.</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966960" y="4160520"/>
            <a:ext cx="4572000" cy="4572000"/>
          </a:xfrm>
          <a:prstGeom prst="ellipse">
            <a:avLst/>
          </a:prstGeom>
          <a:solidFill>
            <a:srgbClr val="1C7293">
              <a:alpha val="14000"/>
            </a:srgbClr>
          </a:solidFill>
          <a:ln/>
        </p:spPr>
        <p:txBody>
          <a:bodyPr/>
          <a:lstStyle/>
          <a:p>
            <a:endParaRPr lang="en-AE"/>
          </a:p>
        </p:txBody>
      </p:sp>
      <p:sp>
        <p:nvSpPr>
          <p:cNvPr id="3" name="Text 1"/>
          <p:cNvSpPr/>
          <p:nvPr/>
        </p:nvSpPr>
        <p:spPr>
          <a:xfrm>
            <a:off x="777240" y="2331720"/>
            <a:ext cx="10515600" cy="292608"/>
          </a:xfrm>
          <a:prstGeom prst="rect">
            <a:avLst/>
          </a:prstGeom>
          <a:noFill/>
          <a:ln/>
        </p:spPr>
        <p:txBody>
          <a:bodyPr wrap="square" lIns="0" tIns="0" rIns="0" bIns="0" rtlCol="0" anchor="ctr"/>
          <a:lstStyle/>
          <a:p>
            <a:pPr marL="0" indent="0">
              <a:buNone/>
            </a:pPr>
            <a:r>
              <a:rPr lang="en-US" sz="1200" b="1" kern="0" spc="260" dirty="0">
                <a:solidFill>
                  <a:srgbClr val="E8A33D"/>
                </a:solidFill>
                <a:latin typeface="Calibri" pitchFamily="34" charset="0"/>
                <a:ea typeface="Calibri" pitchFamily="34" charset="-122"/>
                <a:cs typeface="Calibri" pitchFamily="34" charset="-120"/>
              </a:rPr>
              <a:t>APPENDIX</a:t>
            </a:r>
            <a:endParaRPr lang="en-US" sz="1200" dirty="0"/>
          </a:p>
        </p:txBody>
      </p:sp>
      <p:sp>
        <p:nvSpPr>
          <p:cNvPr id="4" name="Text 2"/>
          <p:cNvSpPr/>
          <p:nvPr/>
        </p:nvSpPr>
        <p:spPr>
          <a:xfrm>
            <a:off x="777240" y="2697480"/>
            <a:ext cx="10058400" cy="1371600"/>
          </a:xfrm>
          <a:prstGeom prst="rect">
            <a:avLst/>
          </a:prstGeom>
          <a:noFill/>
          <a:ln/>
        </p:spPr>
        <p:txBody>
          <a:bodyPr wrap="square" lIns="0" tIns="0" rIns="0" bIns="0" rtlCol="0" anchor="ctr"/>
          <a:lstStyle/>
          <a:p>
            <a:pPr marL="0" indent="0">
              <a:lnSpc>
                <a:spcPts val="4200"/>
              </a:lnSpc>
              <a:buNone/>
            </a:pPr>
            <a:r>
              <a:rPr lang="en-US" sz="3400" b="1" dirty="0">
                <a:solidFill>
                  <a:srgbClr val="FFFFFF"/>
                </a:solidFill>
                <a:latin typeface="Cambria" pitchFamily="34" charset="0"/>
                <a:ea typeface="Cambria" pitchFamily="34" charset="-122"/>
                <a:cs typeface="Cambria" pitchFamily="34" charset="-120"/>
              </a:rPr>
              <a:t>Traceability, reproducibility</a:t>
            </a:r>
            <a:endParaRPr lang="en-US" sz="3400" dirty="0"/>
          </a:p>
          <a:p>
            <a:pPr marL="0" indent="0">
              <a:lnSpc>
                <a:spcPts val="4200"/>
              </a:lnSpc>
              <a:buNone/>
            </a:pPr>
            <a:r>
              <a:rPr lang="en-US" sz="3400" b="1" dirty="0">
                <a:solidFill>
                  <a:srgbClr val="FFFFFF"/>
                </a:solidFill>
                <a:latin typeface="Cambria" pitchFamily="34" charset="0"/>
                <a:ea typeface="Cambria" pitchFamily="34" charset="-122"/>
                <a:cs typeface="Cambria" pitchFamily="34" charset="-120"/>
              </a:rPr>
              <a:t>and defence preparation</a:t>
            </a:r>
            <a:endParaRPr lang="en-US" sz="3400" dirty="0"/>
          </a:p>
        </p:txBody>
      </p:sp>
      <p:sp>
        <p:nvSpPr>
          <p:cNvPr id="5" name="Text 3"/>
          <p:cNvSpPr/>
          <p:nvPr/>
        </p:nvSpPr>
        <p:spPr>
          <a:xfrm>
            <a:off x="777240" y="4315968"/>
            <a:ext cx="9144000" cy="1554480"/>
          </a:xfrm>
          <a:prstGeom prst="rect">
            <a:avLst/>
          </a:prstGeom>
          <a:noFill/>
          <a:ln/>
        </p:spPr>
        <p:txBody>
          <a:bodyPr wrap="square" lIns="0" tIns="0" rIns="0" bIns="0" rtlCol="0" anchor="ctr"/>
          <a:lstStyle/>
          <a:p>
            <a:pPr marL="342900" indent="-342900">
              <a:lnSpc>
                <a:spcPts val="2000"/>
              </a:lnSpc>
              <a:spcAft>
                <a:spcPts val="900"/>
              </a:spcAft>
              <a:buSzPct val="100000"/>
              <a:buChar char="▪"/>
            </a:pPr>
            <a:r>
              <a:rPr lang="en-US" sz="1300" dirty="0">
                <a:solidFill>
                  <a:srgbClr val="C3D2E0"/>
                </a:solidFill>
                <a:latin typeface="Calibri" pitchFamily="34" charset="0"/>
                <a:ea typeface="Calibri" pitchFamily="34" charset="-122"/>
                <a:cs typeface="Calibri" pitchFamily="34" charset="-120"/>
              </a:rPr>
              <a:t>A1–A2  Implementation reference map — every claim to its file and symbol</a:t>
            </a:r>
            <a:endParaRPr lang="en-US" sz="1300" dirty="0"/>
          </a:p>
          <a:p>
            <a:pPr marL="342900" indent="-342900">
              <a:lnSpc>
                <a:spcPts val="2000"/>
              </a:lnSpc>
              <a:spcAft>
                <a:spcPts val="900"/>
              </a:spcAft>
              <a:buSzPct val="100000"/>
              <a:buChar char="▪"/>
            </a:pPr>
            <a:r>
              <a:rPr lang="en-US" sz="1300" dirty="0">
                <a:solidFill>
                  <a:srgbClr val="C3D2E0"/>
                </a:solidFill>
                <a:latin typeface="Calibri" pitchFamily="34" charset="0"/>
                <a:ea typeface="Calibri" pitchFamily="34" charset="-122"/>
                <a:cs typeface="Calibri" pitchFamily="34" charset="-120"/>
              </a:rPr>
              <a:t>A3  Reproducibility — environment, commands, expected outputs</a:t>
            </a:r>
            <a:endParaRPr lang="en-US" sz="1300" dirty="0"/>
          </a:p>
          <a:p>
            <a:pPr marL="342900" indent="-342900">
              <a:lnSpc>
                <a:spcPts val="2000"/>
              </a:lnSpc>
              <a:spcAft>
                <a:spcPts val="900"/>
              </a:spcAft>
              <a:buSzPct val="100000"/>
              <a:buChar char="▪"/>
            </a:pPr>
            <a:r>
              <a:rPr lang="en-US" sz="1300" dirty="0">
                <a:solidFill>
                  <a:srgbClr val="C3D2E0"/>
                </a:solidFill>
                <a:latin typeface="Calibri" pitchFamily="34" charset="0"/>
                <a:ea typeface="Calibri" pitchFamily="34" charset="-122"/>
                <a:cs typeface="Calibri" pitchFamily="34" charset="-120"/>
              </a:rPr>
              <a:t>A4  Documentation-versus-code discrepancies found during the audit</a:t>
            </a:r>
            <a:endParaRPr lang="en-US" sz="1300" dirty="0"/>
          </a:p>
          <a:p>
            <a:pPr marL="342900" indent="-342900">
              <a:lnSpc>
                <a:spcPts val="2000"/>
              </a:lnSpc>
              <a:spcAft>
                <a:spcPts val="900"/>
              </a:spcAft>
              <a:buSzPct val="100000"/>
              <a:buChar char="▪"/>
            </a:pPr>
            <a:r>
              <a:rPr lang="en-US" sz="1300" dirty="0">
                <a:solidFill>
                  <a:srgbClr val="C3D2E0"/>
                </a:solidFill>
                <a:latin typeface="Calibri" pitchFamily="34" charset="0"/>
                <a:ea typeface="Calibri" pitchFamily="34" charset="-122"/>
                <a:cs typeface="Calibri" pitchFamily="34" charset="-120"/>
              </a:rPr>
              <a:t>A5–A9  Anticipated examination questions and prepared answers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APPENDIX A1 — TRACEABILITY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Implementation reference map (1 of 2)</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4933188"/>
        </p:xfrm>
        <a:graphic>
          <a:graphicData uri="http://schemas.openxmlformats.org/drawingml/2006/table">
            <a:tbl>
              <a:tblPr/>
              <a:tblGrid>
                <a:gridCol w="77724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tblGrid>
              <a:tr h="379476">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Slide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Claim</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File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Symbol / line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8, 32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model.py is the single source of truth for architecture and features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model.py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module docstring; TABULAR_COLS:38</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9, 10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ERA5 weather + GHI acquisition, pvlib clear-sky, PV derating</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historical_data.py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HistoricalDataCollector.fetch_data:13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Himawari tile acquisition, level 4d tile 1_1, daylight only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himawari_data.py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SatelliteCollector.fetch_image:47, fetch_hourly_range:89</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pv_actual construction — PVGIS + pvlib simulation (excluded as leaky)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fetch_solcast.py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fetch_pvgis_range:88, simulate_pv_pvlib:144</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Hour-floor, daylight filter 08–17 SGT, ±60 min image match</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combined_dataset.py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build_combined_dataset:100; filter:163; match_images:61</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Chronological 70/15/15 split; per-split Dataset prevents window leakage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§5 — n·0.70 / n·0.85 index cuts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11 tabular features; train-only normalisation persisted to JSON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model.py / notebook</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TABULAR_COLS:38; §5 GHIForecastDataset; §9 dump</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Grayscale conversion for JAXA/NICT consistency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§3 save_images_as_npy; cell 8 conversion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Sample construction: multi-frame, RoI crop, flow, targets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§5 GHIForecastDataset.__getitem__</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9"/>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13, 32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Same sample construction mirrored at inference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model.py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load_satellite_inputs:526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SwimSeg pretraining: FPN decoder, Dice+BCE, aux head, date split</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§3.5 cells 13–14; _FPNDecoder, _dice_bce, _iou</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11"/>
                  </a:ext>
                </a:extLst>
              </a:tr>
              <a:tr h="379476">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15–18</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Architecture, gate, cross-attention, ablation switch</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model.py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PhysicsGatedFusionModelV2:225; forward:294; gate:257</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APPENDIX A2 — TRACEABILITY</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Implementation reference map (2 of 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64240" cy="5181600"/>
        </p:xfrm>
        <a:graphic>
          <a:graphicData uri="http://schemas.openxmlformats.org/drawingml/2006/table">
            <a:tbl>
              <a:tblPr/>
              <a:tblGrid>
                <a:gridCol w="77724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42900">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Slide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Claim</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File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Symbol / line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Gaussian NLL objective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§7 gaussian_nll_loss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19, 32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De-normalisation and 90% interval; physics clamp</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model.py / predict.py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denormalise_forecast:587; predict.py:130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AdamW 3e-5, wd 0.1, ReduceLROnPlateau, clip 1.0, AMP, patience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§7 train_model</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CNN freeze until epoch 20, then unfreeze at lr/10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model.py / notebook</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freeze_cnn:272, unfreeze_cnn:277; §7 epoch==20</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21</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Training curves and epoch-by-epoch logs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results/plots/training_curves.png</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executed notebook, commit 8196803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22–26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Four ablation variants and their evaluation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§8 evaluate_model; ablation list</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Tabular baselines LR / RF / LightGBM on 14 features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solar_pv_main.ipynb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§2 BASELINE_FEATURES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24, 26</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Reported deep-model metrics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results/fusion_ghi_comparison.csv</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committed CSV</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Reported baseline metrics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results/baseline_ghi_comparison.csv</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committed CSV</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9"/>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Physics gate α diagnostics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solar_pv_main.ipynb / results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§9d; results/plots/gate_analysis.png</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Live acquisition; NICT primary, JAXA FTP fallback</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current_data.py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SatelliteCollector.fetch_image:96 / fetch_image_nict / fetch_image_jaxa</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11"/>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Refuses to verify a future hour; de-duplicates the log</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verify.py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fetch_actual_ghi:56 cutoff; main:247 de-dup</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33</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Live verification results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verification_log.csv</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24 rows, all source = "measured"</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13"/>
                  </a:ext>
                </a:extLst>
              </a:tr>
              <a:tr h="342900">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Scheduled operation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daily_run.sh</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cron: 10:00 predict, 13:30 verify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APPENDIX A3</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Reproducibility</a:t>
            </a:r>
            <a:endParaRPr lang="en-US" sz="3000" dirty="0"/>
          </a:p>
        </p:txBody>
      </p:sp>
      <p:sp>
        <p:nvSpPr>
          <p:cNvPr id="4" name="Text 2"/>
          <p:cNvSpPr/>
          <p:nvPr/>
        </p:nvSpPr>
        <p:spPr>
          <a:xfrm>
            <a:off x="566928" y="1298448"/>
            <a:ext cx="5394960" cy="237744"/>
          </a:xfrm>
          <a:prstGeom prst="rect">
            <a:avLst/>
          </a:prstGeom>
          <a:noFill/>
          <a:ln/>
        </p:spPr>
        <p:txBody>
          <a:bodyPr wrap="square" lIns="0" tIns="0" rIns="0" bIns="0" rtlCol="0" anchor="ctr"/>
          <a:lstStyle/>
          <a:p>
            <a:pPr marL="0" indent="0">
              <a:buNone/>
            </a:pPr>
            <a:r>
              <a:rPr lang="en-US" sz="1000" b="1" kern="0" spc="160" dirty="0">
                <a:solidFill>
                  <a:srgbClr val="1C7293"/>
                </a:solidFill>
                <a:latin typeface="Calibri" pitchFamily="34" charset="0"/>
                <a:ea typeface="Calibri" pitchFamily="34" charset="-122"/>
                <a:cs typeface="Calibri" pitchFamily="34" charset="-120"/>
              </a:rPr>
              <a:t>ENVIRONMENT</a:t>
            </a:r>
            <a:endParaRPr lang="en-US" sz="1000" dirty="0"/>
          </a:p>
        </p:txBody>
      </p:sp>
      <p:sp>
        <p:nvSpPr>
          <p:cNvPr id="5" name="Text 3"/>
          <p:cNvSpPr/>
          <p:nvPr/>
        </p:nvSpPr>
        <p:spPr>
          <a:xfrm>
            <a:off x="566928" y="1591056"/>
            <a:ext cx="1417320" cy="329184"/>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Training</a:t>
            </a:r>
            <a:endParaRPr lang="en-US" sz="1050" dirty="0"/>
          </a:p>
        </p:txBody>
      </p:sp>
      <p:sp>
        <p:nvSpPr>
          <p:cNvPr id="6" name="Text 4"/>
          <p:cNvSpPr/>
          <p:nvPr/>
        </p:nvSpPr>
        <p:spPr>
          <a:xfrm>
            <a:off x="1984248" y="1591056"/>
            <a:ext cx="3977640" cy="329184"/>
          </a:xfrm>
          <a:prstGeom prst="rect">
            <a:avLst/>
          </a:prstGeom>
          <a:noFill/>
          <a:ln/>
        </p:spPr>
        <p:txBody>
          <a:bodyPr wrap="square" lIns="0" tIns="0" rIns="0" bIns="0" rtlCol="0" anchor="ctr"/>
          <a:lstStyle/>
          <a:p>
            <a:pPr marL="0" indent="0">
              <a:buNone/>
            </a:pPr>
            <a:r>
              <a:rPr lang="en-US" sz="1050" dirty="0">
                <a:solidFill>
                  <a:srgbClr val="3C5169"/>
                </a:solidFill>
                <a:latin typeface="Calibri" pitchFamily="34" charset="0"/>
                <a:ea typeface="Calibri" pitchFamily="34" charset="-122"/>
                <a:cs typeface="Calibri" pitchFamily="34" charset="-120"/>
              </a:rPr>
              <a:t>Python 3.11, RunPod, NVIDIA RTX 4090</a:t>
            </a:r>
            <a:endParaRPr lang="en-US" sz="1050" dirty="0"/>
          </a:p>
        </p:txBody>
      </p:sp>
      <p:sp>
        <p:nvSpPr>
          <p:cNvPr id="7" name="Text 5"/>
          <p:cNvSpPr/>
          <p:nvPr/>
        </p:nvSpPr>
        <p:spPr>
          <a:xfrm>
            <a:off x="566928" y="1920240"/>
            <a:ext cx="1417320" cy="329184"/>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Inference / audit</a:t>
            </a:r>
            <a:endParaRPr lang="en-US" sz="1050" dirty="0"/>
          </a:p>
        </p:txBody>
      </p:sp>
      <p:sp>
        <p:nvSpPr>
          <p:cNvPr id="8" name="Text 6"/>
          <p:cNvSpPr/>
          <p:nvPr/>
        </p:nvSpPr>
        <p:spPr>
          <a:xfrm>
            <a:off x="1984248" y="1920240"/>
            <a:ext cx="3977640" cy="329184"/>
          </a:xfrm>
          <a:prstGeom prst="rect">
            <a:avLst/>
          </a:prstGeom>
          <a:noFill/>
          <a:ln/>
        </p:spPr>
        <p:txBody>
          <a:bodyPr wrap="square" lIns="0" tIns="0" rIns="0" bIns="0" rtlCol="0" anchor="ctr"/>
          <a:lstStyle/>
          <a:p>
            <a:pPr marL="0" indent="0">
              <a:buNone/>
            </a:pPr>
            <a:r>
              <a:rPr lang="en-US" sz="1050" dirty="0">
                <a:solidFill>
                  <a:srgbClr val="3C5169"/>
                </a:solidFill>
                <a:latin typeface="Calibri" pitchFamily="34" charset="0"/>
                <a:ea typeface="Calibri" pitchFamily="34" charset="-122"/>
                <a:cs typeface="Calibri" pitchFamily="34" charset="-120"/>
              </a:rPr>
              <a:t>Python 3.14, macOS, Apple MPS</a:t>
            </a:r>
            <a:endParaRPr lang="en-US" sz="1050" dirty="0"/>
          </a:p>
        </p:txBody>
      </p:sp>
      <p:sp>
        <p:nvSpPr>
          <p:cNvPr id="9" name="Text 7"/>
          <p:cNvSpPr/>
          <p:nvPr/>
        </p:nvSpPr>
        <p:spPr>
          <a:xfrm>
            <a:off x="566928" y="2249424"/>
            <a:ext cx="1417320" cy="329184"/>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Core</a:t>
            </a:r>
            <a:endParaRPr lang="en-US" sz="1050" dirty="0"/>
          </a:p>
        </p:txBody>
      </p:sp>
      <p:sp>
        <p:nvSpPr>
          <p:cNvPr id="10" name="Text 8"/>
          <p:cNvSpPr/>
          <p:nvPr/>
        </p:nvSpPr>
        <p:spPr>
          <a:xfrm>
            <a:off x="1984248" y="2249424"/>
            <a:ext cx="3977640" cy="329184"/>
          </a:xfrm>
          <a:prstGeom prst="rect">
            <a:avLst/>
          </a:prstGeom>
          <a:noFill/>
          <a:ln/>
        </p:spPr>
        <p:txBody>
          <a:bodyPr wrap="square" lIns="0" tIns="0" rIns="0" bIns="0" rtlCol="0" anchor="ctr"/>
          <a:lstStyle/>
          <a:p>
            <a:pPr marL="0" indent="0">
              <a:buNone/>
            </a:pPr>
            <a:r>
              <a:rPr lang="en-US" sz="1050" dirty="0">
                <a:solidFill>
                  <a:srgbClr val="3C5169"/>
                </a:solidFill>
                <a:latin typeface="Calibri" pitchFamily="34" charset="0"/>
                <a:ea typeface="Calibri" pitchFamily="34" charset="-122"/>
                <a:cs typeface="Calibri" pitchFamily="34" charset="-120"/>
              </a:rPr>
              <a:t>torch, timm, pvlib, pandas, numpy, scikit-learn</a:t>
            </a:r>
            <a:endParaRPr lang="en-US" sz="1050" dirty="0"/>
          </a:p>
        </p:txBody>
      </p:sp>
      <p:sp>
        <p:nvSpPr>
          <p:cNvPr id="11" name="Text 9"/>
          <p:cNvSpPr/>
          <p:nvPr/>
        </p:nvSpPr>
        <p:spPr>
          <a:xfrm>
            <a:off x="566928" y="2578608"/>
            <a:ext cx="1417320" cy="329184"/>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Also</a:t>
            </a:r>
            <a:endParaRPr lang="en-US" sz="1050" dirty="0"/>
          </a:p>
        </p:txBody>
      </p:sp>
      <p:sp>
        <p:nvSpPr>
          <p:cNvPr id="12" name="Text 10"/>
          <p:cNvSpPr/>
          <p:nvPr/>
        </p:nvSpPr>
        <p:spPr>
          <a:xfrm>
            <a:off x="1984248" y="2578608"/>
            <a:ext cx="3977640" cy="329184"/>
          </a:xfrm>
          <a:prstGeom prst="rect">
            <a:avLst/>
          </a:prstGeom>
          <a:noFill/>
          <a:ln/>
        </p:spPr>
        <p:txBody>
          <a:bodyPr wrap="square" lIns="0" tIns="0" rIns="0" bIns="0" rtlCol="0" anchor="ctr"/>
          <a:lstStyle/>
          <a:p>
            <a:pPr marL="0" indent="0">
              <a:buNone/>
            </a:pPr>
            <a:r>
              <a:rPr lang="en-US" sz="1050" dirty="0">
                <a:solidFill>
                  <a:srgbClr val="3C5169"/>
                </a:solidFill>
                <a:latin typeface="Calibri" pitchFamily="34" charset="0"/>
                <a:ea typeface="Calibri" pitchFamily="34" charset="-122"/>
                <a:cs typeface="Calibri" pitchFamily="34" charset="-120"/>
              </a:rPr>
              <a:t>lightgbm, opencv-python-headless, matplotlib, seaborn, psutil, pytz, requests, Pillow</a:t>
            </a:r>
            <a:endParaRPr lang="en-US" sz="1050" dirty="0"/>
          </a:p>
        </p:txBody>
      </p:sp>
      <p:sp>
        <p:nvSpPr>
          <p:cNvPr id="13" name="Text 11"/>
          <p:cNvSpPr/>
          <p:nvPr/>
        </p:nvSpPr>
        <p:spPr>
          <a:xfrm>
            <a:off x="566928" y="2907792"/>
            <a:ext cx="1417320" cy="329184"/>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Secrets</a:t>
            </a:r>
            <a:endParaRPr lang="en-US" sz="1050" dirty="0"/>
          </a:p>
        </p:txBody>
      </p:sp>
      <p:sp>
        <p:nvSpPr>
          <p:cNvPr id="14" name="Text 12"/>
          <p:cNvSpPr/>
          <p:nvPr/>
        </p:nvSpPr>
        <p:spPr>
          <a:xfrm>
            <a:off x="1984248" y="2907792"/>
            <a:ext cx="3977640" cy="329184"/>
          </a:xfrm>
          <a:prstGeom prst="rect">
            <a:avLst/>
          </a:prstGeom>
          <a:noFill/>
          <a:ln/>
        </p:spPr>
        <p:txBody>
          <a:bodyPr wrap="square" lIns="0" tIns="0" rIns="0" bIns="0" rtlCol="0" anchor="ctr"/>
          <a:lstStyle/>
          <a:p>
            <a:pPr marL="0" indent="0">
              <a:buNone/>
            </a:pPr>
            <a:r>
              <a:rPr lang="en-US" sz="1050" dirty="0">
                <a:solidFill>
                  <a:srgbClr val="3C5169"/>
                </a:solidFill>
                <a:latin typeface="Calibri" pitchFamily="34" charset="0"/>
                <a:ea typeface="Calibri" pitchFamily="34" charset="-122"/>
                <a:cs typeface="Calibri" pitchFamily="34" charset="-120"/>
              </a:rPr>
              <a:t>JAXA_FTP_USER / JAXA_FTP_PASS in .env (see .env.example)</a:t>
            </a:r>
            <a:endParaRPr lang="en-US" sz="1050" dirty="0"/>
          </a:p>
        </p:txBody>
      </p:sp>
      <p:sp>
        <p:nvSpPr>
          <p:cNvPr id="15" name="Text 13"/>
          <p:cNvSpPr/>
          <p:nvPr/>
        </p:nvSpPr>
        <p:spPr>
          <a:xfrm>
            <a:off x="566928" y="3236976"/>
            <a:ext cx="1417320" cy="329184"/>
          </a:xfrm>
          <a:prstGeom prst="rect">
            <a:avLst/>
          </a:prstGeom>
          <a:noFill/>
          <a:ln/>
        </p:spPr>
        <p:txBody>
          <a:bodyPr wrap="square" lIns="0" tIns="0" rIns="0" bIns="0" rtlCol="0" anchor="ctr"/>
          <a:lstStyle/>
          <a:p>
            <a:pPr marL="0" indent="0">
              <a:buNone/>
            </a:pPr>
            <a:r>
              <a:rPr lang="en-US" sz="1050" b="1" dirty="0">
                <a:solidFill>
                  <a:srgbClr val="0B2545"/>
                </a:solidFill>
                <a:latin typeface="Calibri" pitchFamily="34" charset="0"/>
                <a:ea typeface="Calibri" pitchFamily="34" charset="-122"/>
                <a:cs typeface="Calibri" pitchFamily="34" charset="-120"/>
              </a:rPr>
              <a:t>Seeds</a:t>
            </a:r>
            <a:endParaRPr lang="en-US" sz="1050" dirty="0"/>
          </a:p>
        </p:txBody>
      </p:sp>
      <p:sp>
        <p:nvSpPr>
          <p:cNvPr id="16" name="Text 14"/>
          <p:cNvSpPr/>
          <p:nvPr/>
        </p:nvSpPr>
        <p:spPr>
          <a:xfrm>
            <a:off x="1984248" y="3236976"/>
            <a:ext cx="3977640" cy="329184"/>
          </a:xfrm>
          <a:prstGeom prst="rect">
            <a:avLst/>
          </a:prstGeom>
          <a:noFill/>
          <a:ln/>
        </p:spPr>
        <p:txBody>
          <a:bodyPr wrap="square" lIns="0" tIns="0" rIns="0" bIns="0" rtlCol="0" anchor="ctr"/>
          <a:lstStyle/>
          <a:p>
            <a:pPr marL="0" indent="0">
              <a:buNone/>
            </a:pPr>
            <a:r>
              <a:rPr lang="en-US" sz="1050" dirty="0">
                <a:solidFill>
                  <a:srgbClr val="3C5169"/>
                </a:solidFill>
                <a:latin typeface="Calibri" pitchFamily="34" charset="0"/>
                <a:ea typeface="Calibri" pitchFamily="34" charset="-122"/>
                <a:cs typeface="Calibri" pitchFamily="34" charset="-120"/>
              </a:rPr>
              <a:t>torch.manual_seed(42), np.random.seed(42)</a:t>
            </a:r>
            <a:endParaRPr lang="en-US" sz="1050" dirty="0"/>
          </a:p>
        </p:txBody>
      </p:sp>
      <p:sp>
        <p:nvSpPr>
          <p:cNvPr id="17" name="Text 15"/>
          <p:cNvSpPr/>
          <p:nvPr/>
        </p:nvSpPr>
        <p:spPr>
          <a:xfrm>
            <a:off x="566928" y="3749040"/>
            <a:ext cx="5394960" cy="237744"/>
          </a:xfrm>
          <a:prstGeom prst="rect">
            <a:avLst/>
          </a:prstGeom>
          <a:noFill/>
          <a:ln/>
        </p:spPr>
        <p:txBody>
          <a:bodyPr wrap="square" lIns="0" tIns="0" rIns="0" bIns="0" rtlCol="0" anchor="ctr"/>
          <a:lstStyle/>
          <a:p>
            <a:pPr marL="0" indent="0">
              <a:buNone/>
            </a:pPr>
            <a:r>
              <a:rPr lang="en-US" sz="1000" b="1" kern="0" spc="160" dirty="0">
                <a:solidFill>
                  <a:srgbClr val="1C7293"/>
                </a:solidFill>
                <a:latin typeface="Calibri" pitchFamily="34" charset="0"/>
                <a:ea typeface="Calibri" pitchFamily="34" charset="-122"/>
                <a:cs typeface="Calibri" pitchFamily="34" charset="-120"/>
              </a:rPr>
              <a:t>PIPELINE — in order</a:t>
            </a:r>
            <a:endParaRPr lang="en-US" sz="1000" dirty="0"/>
          </a:p>
        </p:txBody>
      </p:sp>
      <p:sp>
        <p:nvSpPr>
          <p:cNvPr id="18" name="Shape 16"/>
          <p:cNvSpPr/>
          <p:nvPr/>
        </p:nvSpPr>
        <p:spPr>
          <a:xfrm>
            <a:off x="566928" y="4041648"/>
            <a:ext cx="5394960" cy="1993392"/>
          </a:xfrm>
          <a:prstGeom prst="roundRect">
            <a:avLst>
              <a:gd name="adj" fmla="val 2294"/>
            </a:avLst>
          </a:prstGeom>
          <a:solidFill>
            <a:srgbClr val="E3EAF1"/>
          </a:solidFill>
          <a:ln w="7620">
            <a:solidFill>
              <a:srgbClr val="CFD9E2"/>
            </a:solidFill>
            <a:prstDash val="solid"/>
          </a:ln>
        </p:spPr>
        <p:txBody>
          <a:bodyPr/>
          <a:lstStyle/>
          <a:p>
            <a:endParaRPr lang="en-AE"/>
          </a:p>
        </p:txBody>
      </p:sp>
      <p:sp>
        <p:nvSpPr>
          <p:cNvPr id="19" name="Text 17"/>
          <p:cNvSpPr/>
          <p:nvPr/>
        </p:nvSpPr>
        <p:spPr>
          <a:xfrm>
            <a:off x="749808" y="4151376"/>
            <a:ext cx="5120640" cy="1792224"/>
          </a:xfrm>
          <a:prstGeom prst="rect">
            <a:avLst/>
          </a:prstGeom>
          <a:noFill/>
          <a:ln/>
        </p:spPr>
        <p:txBody>
          <a:bodyPr wrap="square" lIns="0" tIns="0" rIns="0" bIns="0" rtlCol="0" anchor="ctr"/>
          <a:lstStyle/>
          <a:p>
            <a:pPr marL="0" indent="0">
              <a:lnSpc>
                <a:spcPts val="1250"/>
              </a:lnSpc>
              <a:buNone/>
            </a:pPr>
            <a:r>
              <a:rPr lang="en-US" sz="850" dirty="0">
                <a:solidFill>
                  <a:srgbClr val="0B2545"/>
                </a:solidFill>
                <a:latin typeface="Courier New" pitchFamily="34" charset="0"/>
                <a:ea typeface="Courier New" pitchFamily="34" charset="-122"/>
                <a:cs typeface="Courier New" pitchFamily="34" charset="-120"/>
              </a:rPr>
              <a:t>pip install opencv-python-headless pandas matplotlib seaborn \</a:t>
            </a:r>
            <a:endParaRPr lang="en-US" sz="850" dirty="0"/>
          </a:p>
          <a:p>
            <a:pPr marL="0" indent="0">
              <a:lnSpc>
                <a:spcPts val="1250"/>
              </a:lnSpc>
              <a:buNone/>
            </a:pPr>
            <a:r>
              <a:rPr lang="en-US" sz="850" dirty="0">
                <a:solidFill>
                  <a:srgbClr val="0B2545"/>
                </a:solidFill>
                <a:latin typeface="Courier New" pitchFamily="34" charset="0"/>
                <a:ea typeface="Courier New" pitchFamily="34" charset="-122"/>
                <a:cs typeface="Courier New" pitchFamily="34" charset="-120"/>
              </a:rPr>
              <a:t>    scikit-learn lightgbm timm pvlib psutil pytz</a:t>
            </a:r>
            <a:endParaRPr lang="en-US" sz="850" dirty="0"/>
          </a:p>
          <a:p>
            <a:pPr marL="0" indent="0">
              <a:lnSpc>
                <a:spcPts val="1250"/>
              </a:lnSpc>
              <a:buNone/>
            </a:pPr>
            <a:r>
              <a:rPr lang="en-US" sz="850" dirty="0">
                <a:solidFill>
                  <a:srgbClr val="0B2545"/>
                </a:solidFill>
                <a:latin typeface="Courier New" pitchFamily="34" charset="0"/>
                <a:ea typeface="Courier New" pitchFamily="34" charset="-122"/>
                <a:cs typeface="Courier New" pitchFamily="34" charset="-120"/>
              </a:rPr>
              <a:t>python historical_data.py        # ERA5 weather + GHI + clear-sky</a:t>
            </a:r>
            <a:endParaRPr lang="en-US" sz="850" dirty="0"/>
          </a:p>
          <a:p>
            <a:pPr marL="0" indent="0">
              <a:lnSpc>
                <a:spcPts val="1250"/>
              </a:lnSpc>
              <a:buNone/>
            </a:pPr>
            <a:r>
              <a:rPr lang="en-US" sz="850" dirty="0">
                <a:solidFill>
                  <a:srgbClr val="0B2545"/>
                </a:solidFill>
                <a:latin typeface="Courier New" pitchFamily="34" charset="0"/>
                <a:ea typeface="Courier New" pitchFamily="34" charset="-122"/>
                <a:cs typeface="Courier New" pitchFamily="34" charset="-120"/>
              </a:rPr>
              <a:t>python himawari_data.py          # satellite tiles, 2024-01-01 →</a:t>
            </a:r>
            <a:endParaRPr lang="en-US" sz="850" dirty="0"/>
          </a:p>
          <a:p>
            <a:pPr marL="0" indent="0">
              <a:lnSpc>
                <a:spcPts val="1250"/>
              </a:lnSpc>
              <a:buNone/>
            </a:pPr>
            <a:r>
              <a:rPr lang="en-US" sz="850" dirty="0">
                <a:solidFill>
                  <a:srgbClr val="0B2545"/>
                </a:solidFill>
                <a:latin typeface="Courier New" pitchFamily="34" charset="0"/>
                <a:ea typeface="Courier New" pitchFamily="34" charset="-122"/>
                <a:cs typeface="Courier New" pitchFamily="34" charset="-120"/>
              </a:rPr>
              <a:t>python fetch_solcast.py          # PV reference (kept, not used)</a:t>
            </a:r>
            <a:endParaRPr lang="en-US" sz="850" dirty="0"/>
          </a:p>
          <a:p>
            <a:pPr marL="0" indent="0">
              <a:lnSpc>
                <a:spcPts val="1250"/>
              </a:lnSpc>
              <a:buNone/>
            </a:pPr>
            <a:r>
              <a:rPr lang="en-US" sz="850" dirty="0">
                <a:solidFill>
                  <a:srgbClr val="0B2545"/>
                </a:solidFill>
                <a:latin typeface="Courier New" pitchFamily="34" charset="0"/>
                <a:ea typeface="Courier New" pitchFamily="34" charset="-122"/>
                <a:cs typeface="Courier New" pitchFamily="34" charset="-120"/>
              </a:rPr>
              <a:t>python combined_dataset.py       # → data/combined_dataset.csv</a:t>
            </a:r>
            <a:endParaRPr lang="en-US" sz="850" dirty="0"/>
          </a:p>
          <a:p>
            <a:pPr marL="0" indent="0">
              <a:lnSpc>
                <a:spcPts val="1250"/>
              </a:lnSpc>
              <a:buNone/>
            </a:pPr>
            <a:r>
              <a:rPr lang="en-US" sz="850" dirty="0">
                <a:solidFill>
                  <a:srgbClr val="0B2545"/>
                </a:solidFill>
                <a:latin typeface="Courier New" pitchFamily="34" charset="0"/>
                <a:ea typeface="Courier New" pitchFamily="34" charset="-122"/>
                <a:cs typeface="Courier New" pitchFamily="34" charset="-120"/>
              </a:rPr>
              <a:t>jupyter execute solar_pv_main.ipynb   # train + evaluate</a:t>
            </a:r>
            <a:endParaRPr lang="en-US" sz="850" dirty="0"/>
          </a:p>
          <a:p>
            <a:pPr marL="0" indent="0">
              <a:lnSpc>
                <a:spcPts val="1250"/>
              </a:lnSpc>
              <a:buNone/>
            </a:pPr>
            <a:r>
              <a:rPr lang="en-US" sz="850" dirty="0">
                <a:solidFill>
                  <a:srgbClr val="0B2545"/>
                </a:solidFill>
                <a:latin typeface="Courier New" pitchFamily="34" charset="0"/>
                <a:ea typeface="Courier New" pitchFamily="34" charset="-122"/>
                <a:cs typeface="Courier New" pitchFamily="34" charset="-120"/>
              </a:rPr>
              <a:t>python predict.py                # live forecast</a:t>
            </a:r>
            <a:endParaRPr lang="en-US" sz="850" dirty="0"/>
          </a:p>
          <a:p>
            <a:pPr marL="0" indent="0">
              <a:lnSpc>
                <a:spcPts val="1250"/>
              </a:lnSpc>
              <a:buNone/>
            </a:pPr>
            <a:r>
              <a:rPr lang="en-US" sz="850" dirty="0">
                <a:solidFill>
                  <a:srgbClr val="0B2545"/>
                </a:solidFill>
                <a:latin typeface="Courier New" pitchFamily="34" charset="0"/>
                <a:ea typeface="Courier New" pitchFamily="34" charset="-122"/>
                <a:cs typeface="Courier New" pitchFamily="34" charset="-120"/>
              </a:rPr>
              <a:t>python verify.py                 # score it once the hours pass</a:t>
            </a:r>
            <a:endParaRPr lang="en-US" sz="850" dirty="0"/>
          </a:p>
        </p:txBody>
      </p:sp>
      <p:sp>
        <p:nvSpPr>
          <p:cNvPr id="20" name="Text 18"/>
          <p:cNvSpPr/>
          <p:nvPr/>
        </p:nvSpPr>
        <p:spPr>
          <a:xfrm>
            <a:off x="6236208" y="1298448"/>
            <a:ext cx="5394960" cy="237744"/>
          </a:xfrm>
          <a:prstGeom prst="rect">
            <a:avLst/>
          </a:prstGeom>
          <a:noFill/>
          <a:ln/>
        </p:spPr>
        <p:txBody>
          <a:bodyPr wrap="square" lIns="0" tIns="0" rIns="0" bIns="0" rtlCol="0" anchor="ctr"/>
          <a:lstStyle/>
          <a:p>
            <a:pPr marL="0" indent="0">
              <a:buNone/>
            </a:pPr>
            <a:r>
              <a:rPr lang="en-US" sz="1000" b="1" kern="0" spc="160" dirty="0">
                <a:solidFill>
                  <a:srgbClr val="1C7293"/>
                </a:solidFill>
                <a:latin typeface="Calibri" pitchFamily="34" charset="0"/>
                <a:ea typeface="Calibri" pitchFamily="34" charset="-122"/>
                <a:cs typeface="Calibri" pitchFamily="34" charset="-120"/>
              </a:rPr>
              <a:t>WHAT THE NOTEBOOK PRODUCES</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236208" y="1591056"/>
          <a:ext cx="5349240" cy="2304288"/>
        </p:xfrm>
        <a:graphic>
          <a:graphicData uri="http://schemas.openxmlformats.org/drawingml/2006/table">
            <a:tbl>
              <a:tblPr/>
              <a:tblGrid>
                <a:gridCol w="24231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29184">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Artefact</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Content</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29184">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best_model.pt</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full fusion checkpoint, 62.9 MB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329184">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best_model_{lstm,cnn,concat}.pt</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the three ablations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swimseg_encoder.pt</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pretrained backbone, 29.2 MB</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329184">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train_stats.json</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normalisation vectors — required by predict.py</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results/*.csv</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baseline and fusion metric tables</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329184">
                <a:tc>
                  <a:txBody>
                    <a:bodyPr/>
                    <a:lstStyle/>
                    <a:p>
                      <a:pPr marL="0" indent="0" algn="l">
                        <a:buNone/>
                      </a:pPr>
                      <a:r>
                        <a:rPr lang="en-US" sz="950" dirty="0">
                          <a:solidFill>
                            <a:srgbClr val="0B2545"/>
                          </a:solidFill>
                          <a:latin typeface="Calibri" pitchFamily="34" charset="0"/>
                          <a:ea typeface="Calibri" pitchFamily="34" charset="-122"/>
                          <a:cs typeface="Calibri" pitchFamily="34" charset="-120"/>
                        </a:rPr>
                        <a:t>results/plots/*.png</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50" dirty="0">
                          <a:solidFill>
                            <a:srgbClr val="3C5169"/>
                          </a:solidFill>
                          <a:latin typeface="Calibri" pitchFamily="34" charset="0"/>
                          <a:ea typeface="Calibri" pitchFamily="34" charset="-122"/>
                          <a:cs typeface="Calibri" pitchFamily="34" charset="-120"/>
                        </a:rPr>
                        <a:t>EDA, training curves, forecast, horizon, gate</a:t>
                      </a:r>
                      <a:endParaRPr lang="en-US" sz="95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2" name="Shape 19"/>
          <p:cNvSpPr/>
          <p:nvPr/>
        </p:nvSpPr>
        <p:spPr>
          <a:xfrm>
            <a:off x="6236208" y="3931920"/>
            <a:ext cx="5394960" cy="2103120"/>
          </a:xfrm>
          <a:prstGeom prst="roundRect">
            <a:avLst>
              <a:gd name="adj" fmla="val 2174"/>
            </a:avLst>
          </a:prstGeom>
          <a:solidFill>
            <a:srgbClr val="EDF5EF"/>
          </a:solidFill>
          <a:ln w="12700">
            <a:solidFill>
              <a:srgbClr val="2C6E49"/>
            </a:solidFill>
            <a:prstDash val="solid"/>
          </a:ln>
        </p:spPr>
        <p:txBody>
          <a:bodyPr/>
          <a:lstStyle/>
          <a:p>
            <a:endParaRPr lang="en-AE"/>
          </a:p>
        </p:txBody>
      </p:sp>
      <p:sp>
        <p:nvSpPr>
          <p:cNvPr id="23" name="Text 20"/>
          <p:cNvSpPr/>
          <p:nvPr/>
        </p:nvSpPr>
        <p:spPr>
          <a:xfrm>
            <a:off x="6473952" y="4041648"/>
            <a:ext cx="4937760" cy="274320"/>
          </a:xfrm>
          <a:prstGeom prst="rect">
            <a:avLst/>
          </a:prstGeom>
          <a:noFill/>
          <a:ln/>
        </p:spPr>
        <p:txBody>
          <a:bodyPr wrap="square" lIns="0" tIns="0" rIns="0" bIns="0" rtlCol="0" anchor="ctr"/>
          <a:lstStyle/>
          <a:p>
            <a:pPr marL="0" indent="0">
              <a:buNone/>
            </a:pPr>
            <a:r>
              <a:rPr lang="en-US" sz="1200" b="1" dirty="0">
                <a:solidFill>
                  <a:srgbClr val="2C6E49"/>
                </a:solidFill>
                <a:latin typeface="Calibri" pitchFamily="34" charset="0"/>
                <a:ea typeface="Calibri" pitchFamily="34" charset="-122"/>
                <a:cs typeface="Calibri" pitchFamily="34" charset="-120"/>
              </a:rPr>
              <a:t>Verification performed for this defence</a:t>
            </a:r>
            <a:endParaRPr lang="en-US" sz="1200" dirty="0"/>
          </a:p>
        </p:txBody>
      </p:sp>
      <p:sp>
        <p:nvSpPr>
          <p:cNvPr id="24" name="Text 21"/>
          <p:cNvSpPr/>
          <p:nvPr/>
        </p:nvSpPr>
        <p:spPr>
          <a:xfrm>
            <a:off x="6473952" y="4352544"/>
            <a:ext cx="4937760" cy="1645920"/>
          </a:xfrm>
          <a:prstGeom prst="rect">
            <a:avLst/>
          </a:prstGeom>
          <a:noFill/>
          <a:ln/>
        </p:spPr>
        <p:txBody>
          <a:bodyPr wrap="square" lIns="0" tIns="0" rIns="0" bIns="0" rtlCol="0" anchor="ctr"/>
          <a:lstStyle/>
          <a:p>
            <a:pPr marL="0" indent="0">
              <a:lnSpc>
                <a:spcPts val="1250"/>
              </a:lnSpc>
              <a:buNone/>
            </a:pPr>
            <a:r>
              <a:rPr lang="en-US" sz="950" dirty="0">
                <a:solidFill>
                  <a:srgbClr val="3C5169"/>
                </a:solidFill>
                <a:latin typeface="Calibri" pitchFamily="34" charset="0"/>
                <a:ea typeface="Calibri" pitchFamily="34" charset="-122"/>
                <a:cs typeface="Calibri" pitchFamily="34" charset="-120"/>
              </a:rPr>
              <a:t>All four checkpoints were re-loaded and re-evaluated on the committed dataset, on different hardware, in a different Python version, with a different OpenCV build.
</a:t>
            </a:r>
            <a:r>
              <a:rPr lang="en-US" sz="950" dirty="0">
                <a:solidFill>
                  <a:srgbClr val="0B2545"/>
                </a:solidFill>
                <a:latin typeface="Calibri" pitchFamily="34" charset="0"/>
                <a:ea typeface="Calibri" pitchFamily="34" charset="-122"/>
                <a:cs typeface="Calibri" pitchFamily="34" charset="-120"/>
              </a:rPr>
              <a:t>Reproduced MAE (reported → reproduced): 84.68 → 84.70 · 91.16 → 91.73 · 93.45 → 94.84 · 97.00 → 97.61.  All three tabular baselines reproduced exactly.
</a:t>
            </a:r>
            <a:r>
              <a:rPr lang="en-US" sz="950" i="1" dirty="0">
                <a:solidFill>
                  <a:srgbClr val="3C5169"/>
                </a:solidFill>
                <a:latin typeface="Calibri" pitchFamily="34" charset="0"/>
                <a:ea typeface="Calibri" pitchFamily="34" charset="-122"/>
                <a:cs typeface="Calibri" pitchFamily="34" charset="-120"/>
              </a:rPr>
              <a:t>Caveat: cuDNN benchmark mode and TF32 were enabled during training, so runs are not bitwise deterministic even with fixed seeds.</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APPENDIX A4 — AUDIT</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Where the repository's documentation contradicts its code</a:t>
            </a:r>
            <a:endParaRPr lang="en-US" sz="3000" dirty="0"/>
          </a:p>
        </p:txBody>
      </p:sp>
      <p:sp>
        <p:nvSpPr>
          <p:cNvPr id="4" name="Text 2"/>
          <p:cNvSpPr/>
          <p:nvPr/>
        </p:nvSpPr>
        <p:spPr>
          <a:xfrm>
            <a:off x="566928" y="1280160"/>
            <a:ext cx="11064240" cy="274320"/>
          </a:xfrm>
          <a:prstGeom prst="rect">
            <a:avLst/>
          </a:prstGeom>
          <a:noFill/>
          <a:ln/>
        </p:spPr>
        <p:txBody>
          <a:bodyPr wrap="square" lIns="0" tIns="0" rIns="0" bIns="0" rtlCol="0" anchor="ctr"/>
          <a:lstStyle/>
          <a:p>
            <a:pPr marL="0" indent="0">
              <a:buNone/>
            </a:pPr>
            <a:r>
              <a:rPr lang="en-US" sz="1200" dirty="0">
                <a:solidFill>
                  <a:srgbClr val="3C5169"/>
                </a:solidFill>
                <a:latin typeface="Calibri" pitchFamily="34" charset="0"/>
                <a:ea typeface="Calibri" pitchFamily="34" charset="-122"/>
                <a:cs typeface="Calibri" pitchFamily="34" charset="-120"/>
              </a:rPr>
              <a:t>Found during the audit. In every case the implementation was treated as the source of truth for this presentation.</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64240" cy="4462272"/>
        </p:xfrm>
        <a:graphic>
          <a:graphicData uri="http://schemas.openxmlformats.org/drawingml/2006/table">
            <a:tbl>
              <a:tblPr/>
              <a:tblGrid>
                <a:gridCol w="16916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tblGrid>
              <a:tr h="557784">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Where</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What it says</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What the code does</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Resolution</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57784">
                <a:tc>
                  <a:txBody>
                    <a:bodyPr/>
                    <a:lstStyle/>
                    <a:p>
                      <a:pPr marL="0" indent="0" algn="l">
                        <a:buNone/>
                      </a:pPr>
                      <a:r>
                        <a:rPr lang="en-US" sz="900" dirty="0">
                          <a:solidFill>
                            <a:srgbClr val="0B2545"/>
                          </a:solidFill>
                          <a:latin typeface="Calibri" pitchFamily="34" charset="0"/>
                          <a:ea typeface="Calibri" pitchFamily="34" charset="-122"/>
                          <a:cs typeface="Calibri" pitchFamily="34" charset="-120"/>
                        </a:rPr>
                        <a:t>model.py docstring, lines 9–11</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v1 PhysicsGatedFusionModel is "DEPLOYED" and "matches the trained checkpoints on disk"</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All four checkpoints contain global_enc.* keys — they are v2, 15,635,444 tensor elements, 62.9 MB. v1 would be 8.1 M parameters.</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Deck describes v2 throughout. load_model auto-detects, so nothing breaks at runtime.</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1"/>
                  </a:ext>
                </a:extLst>
              </a:tr>
              <a:tr h="557784">
                <a:tc>
                  <a:txBody>
                    <a:bodyPr/>
                    <a:lstStyle/>
                    <a:p>
                      <a:pPr marL="0" indent="0" algn="l">
                        <a:buNone/>
                      </a:pPr>
                      <a:r>
                        <a:rPr lang="en-US" sz="900" dirty="0">
                          <a:solidFill>
                            <a:srgbClr val="0B2545"/>
                          </a:solidFill>
                          <a:latin typeface="Calibri" pitchFamily="34" charset="0"/>
                          <a:ea typeface="Calibri" pitchFamily="34" charset="-122"/>
                          <a:cs typeface="Calibri" pitchFamily="34" charset="-120"/>
                        </a:rPr>
                        <a:t>predict.py docstring, line 7</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"Runs Physics-Gated Fusion model (v1, from model.py)"</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load_model sniffs the checkpoint and instantiates v2.</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Same as above — stale comment only.</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7784">
                <a:tc>
                  <a:txBody>
                    <a:bodyPr/>
                    <a:lstStyle/>
                    <a:p>
                      <a:pPr marL="0" indent="0" algn="l">
                        <a:buNone/>
                      </a:pPr>
                      <a:r>
                        <a:rPr lang="en-US" sz="900" dirty="0">
                          <a:solidFill>
                            <a:srgbClr val="0B2545"/>
                          </a:solidFill>
                          <a:latin typeface="Calibri" pitchFamily="34" charset="0"/>
                          <a:ea typeface="Calibri" pitchFamily="34" charset="-122"/>
                          <a:cs typeface="Calibri" pitchFamily="34" charset="-120"/>
                        </a:rPr>
                        <a:t>model.py, line 201</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v2 is "experimental, no trained checkpoint yet"</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v2 is the only architecture with trained checkpoints in the repository.</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Comment predates the RunPod training run.</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3"/>
                  </a:ext>
                </a:extLst>
              </a:tr>
              <a:tr h="557784">
                <a:tc>
                  <a:txBody>
                    <a:bodyPr/>
                    <a:lstStyle/>
                    <a:p>
                      <a:pPr marL="0" indent="0" algn="l">
                        <a:buNone/>
                      </a:pPr>
                      <a:r>
                        <a:rPr lang="en-US" sz="900" dirty="0">
                          <a:solidFill>
                            <a:srgbClr val="0B2545"/>
                          </a:solidFill>
                          <a:latin typeface="Calibri" pitchFamily="34" charset="0"/>
                          <a:ea typeface="Calibri" pitchFamily="34" charset="-122"/>
                          <a:cs typeface="Calibri" pitchFamily="34" charset="-120"/>
                        </a:rPr>
                        <a:t>model.py:340 vs current_data.py:30</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load_weather_from_json averages a "cloud-cover" endpoint</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WeatherCollector registers five endpoints and cloud-cover is not one of them, so the lookup returns 0.0 every time.</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Live cloud cover is always 0.0 — visible in forecast_latest.json. Disclosed on slide 32.</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7784">
                <a:tc>
                  <a:txBody>
                    <a:bodyPr/>
                    <a:lstStyle/>
                    <a:p>
                      <a:pPr marL="0" indent="0" algn="l">
                        <a:buNone/>
                      </a:pPr>
                      <a:r>
                        <a:rPr lang="en-US" sz="900" dirty="0">
                          <a:solidFill>
                            <a:srgbClr val="0B2545"/>
                          </a:solidFill>
                          <a:latin typeface="Calibri" pitchFamily="34" charset="0"/>
                          <a:ea typeface="Calibri" pitchFamily="34" charset="-122"/>
                          <a:cs typeface="Calibri" pitchFamily="34" charset="-120"/>
                        </a:rPr>
                        <a:t>predict.py, steps 5–8</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Weather is loaded "from datanow/weather" as if it feeds the model</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The returned dict is printed and written to the output JSON but never enters build_lookback_window. Model input comes from the CSV plus the live Open-Meteo top-up.</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Disclosed on slide 32. Arguably the correct behaviour, but it should be explicit.</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5"/>
                  </a:ext>
                </a:extLst>
              </a:tr>
              <a:tr h="557784">
                <a:tc>
                  <a:txBody>
                    <a:bodyPr/>
                    <a:lstStyle/>
                    <a:p>
                      <a:pPr marL="0" indent="0" algn="l">
                        <a:buNone/>
                      </a:pPr>
                      <a:r>
                        <a:rPr lang="en-US" sz="900" dirty="0">
                          <a:solidFill>
                            <a:srgbClr val="0B2545"/>
                          </a:solidFill>
                          <a:latin typeface="Calibri" pitchFamily="34" charset="0"/>
                          <a:ea typeface="Calibri" pitchFamily="34" charset="-122"/>
                          <a:cs typeface="Calibri" pitchFamily="34" charset="-120"/>
                        </a:rPr>
                        <a:t>combined_dataset.py:196</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pv_actual is "PVGIS/Open-Meteo ground truth — use as training target"</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Notebook §1 marks it leaky and excludes it; the target is GHI.</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The exclusion is correct; the comment is stale.</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57784">
                <a:tc>
                  <a:txBody>
                    <a:bodyPr/>
                    <a:lstStyle/>
                    <a:p>
                      <a:pPr marL="0" indent="0" algn="l">
                        <a:buNone/>
                      </a:pPr>
                      <a:r>
                        <a:rPr lang="en-US" sz="900" dirty="0">
                          <a:solidFill>
                            <a:srgbClr val="0B2545"/>
                          </a:solidFill>
                          <a:latin typeface="Calibri" pitchFamily="34" charset="0"/>
                          <a:ea typeface="Calibri" pitchFamily="34" charset="-122"/>
                          <a:cs typeface="Calibri" pitchFamily="34" charset="-120"/>
                        </a:rPr>
                        <a:t>verify.py:42</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CSV_PATH hard-coded to ./data/combined_dataset.csv</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predict.py falls back to ./combined_dataset.csv when data/ is absent.</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tc>
                  <a:txBody>
                    <a:bodyPr/>
                    <a:lstStyle/>
                    <a:p>
                      <a:pPr marL="0" indent="0" algn="l">
                        <a:buNone/>
                      </a:pPr>
                      <a:r>
                        <a:rPr lang="en-US" sz="900" dirty="0">
                          <a:solidFill>
                            <a:srgbClr val="3C5169"/>
                          </a:solidFill>
                          <a:latin typeface="Calibri" pitchFamily="34" charset="0"/>
                          <a:ea typeface="Calibri" pitchFamily="34" charset="-122"/>
                          <a:cs typeface="Calibri" pitchFamily="34" charset="-120"/>
                        </a:rPr>
                        <a:t>verify.py fails on a RunPod-style layout where data/ is gitignored.</a:t>
                      </a:r>
                      <a:endParaRPr lang="en-US" sz="900" dirty="0">
                        <a:latin typeface="Calibri" charset="0"/>
                        <a:ea typeface="Calibri" charset="0"/>
                        <a:cs typeface="Calibri" charset="0"/>
                      </a:endParaRPr>
                    </a:p>
                  </a:txBody>
                  <a:tcPr anchor="ctr">
                    <a:lnL w="6350" cap="flat" cmpd="sng" algn="ctr">
                      <a:solidFill>
                        <a:srgbClr val="CFD9E2"/>
                      </a:solidFill>
                      <a:prstDash val="solid"/>
                      <a:round/>
                      <a:headEnd type="none" w="med" len="med"/>
                      <a:tailEnd type="none" w="med" len="med"/>
                    </a:lnL>
                    <a:lnR w="6350" cap="flat" cmpd="sng" algn="ctr">
                      <a:solidFill>
                        <a:srgbClr val="CFD9E2"/>
                      </a:solidFill>
                      <a:prstDash val="solid"/>
                      <a:round/>
                      <a:headEnd type="none" w="med" len="med"/>
                      <a:tailEnd type="none" w="med" len="med"/>
                    </a:lnR>
                    <a:lnT w="6350" cap="flat" cmpd="sng" algn="ctr">
                      <a:solidFill>
                        <a:srgbClr val="CFD9E2"/>
                      </a:solidFill>
                      <a:prstDash val="solid"/>
                      <a:round/>
                      <a:headEnd type="none" w="med" len="med"/>
                      <a:tailEnd type="none" w="med" len="med"/>
                    </a:lnT>
                    <a:lnB w="6350" cap="flat" cmpd="sng" algn="ctr">
                      <a:solidFill>
                        <a:srgbClr val="CFD9E2"/>
                      </a:solidFill>
                      <a:prstDash val="solid"/>
                      <a:round/>
                      <a:headEnd type="none" w="med" len="med"/>
                      <a:tailEnd type="none" w="med" len="med"/>
                    </a:lnB>
                    <a:solidFill>
                      <a:srgbClr val="EFF3F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APPENDIX A5</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Anticipated questions — architecture</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5" name="Shape 3"/>
          <p:cNvSpPr/>
          <p:nvPr/>
        </p:nvSpPr>
        <p:spPr>
          <a:xfrm>
            <a:off x="768096" y="1399032"/>
            <a:ext cx="292608" cy="292608"/>
          </a:xfrm>
          <a:prstGeom prst="ellipse">
            <a:avLst/>
          </a:prstGeom>
          <a:solidFill>
            <a:srgbClr val="0B2545"/>
          </a:solidFill>
          <a:ln/>
        </p:spPr>
        <p:txBody>
          <a:bodyPr/>
          <a:lstStyle/>
          <a:p>
            <a:endParaRPr lang="en-AE"/>
          </a:p>
        </p:txBody>
      </p:sp>
      <p:sp>
        <p:nvSpPr>
          <p:cNvPr id="6" name="Text 4"/>
          <p:cNvSpPr/>
          <p:nvPr/>
        </p:nvSpPr>
        <p:spPr>
          <a:xfrm>
            <a:off x="768096" y="13990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Why EfficientNet-B2 rather than a ResNet or a Vision Transformer?</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B2 is a compound-scaled CNN with a good accuracy-per-parameter ratio at 224×224 — 7.2 M parameters versus 25 M for ResNet-50. With 5,312 training samples, parameter efficiency was the binding constraint. A ViT would be strictly worse: it lacks the convolutional locality prior and is markedly more data-hungry. In hindsight even B2 was too large — B0, or a small custom CNN, would have been the better choice.</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10" name="Shape 8"/>
          <p:cNvSpPr/>
          <p:nvPr/>
        </p:nvSpPr>
        <p:spPr>
          <a:xfrm>
            <a:off x="768096" y="2441448"/>
            <a:ext cx="292608" cy="292608"/>
          </a:xfrm>
          <a:prstGeom prst="ellipse">
            <a:avLst/>
          </a:prstGeom>
          <a:solidFill>
            <a:srgbClr val="0B2545"/>
          </a:solidFill>
          <a:ln/>
        </p:spPr>
        <p:txBody>
          <a:bodyPr/>
          <a:lstStyle/>
          <a:p>
            <a:endParaRPr lang="en-AE"/>
          </a:p>
        </p:txBody>
      </p:sp>
      <p:sp>
        <p:nvSpPr>
          <p:cNvPr id="11" name="Text 9"/>
          <p:cNvSpPr/>
          <p:nvPr/>
        </p:nvSpPr>
        <p:spPr>
          <a:xfrm>
            <a:off x="768096" y="244144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Why is the cross-attention query length 1? Isn't that wasting the mechanism?</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It reduces the attention to a learned pooling over the 196 image patches, weighted by the temporal state. That is deliberate — I want one image summary conditioned on where the weather sequence currently sits. A longer query, for example one token per forecast horizon, would let each horizon attend to different sky regions, and that is a sensible extension I did not try.</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15" name="Shape 13"/>
          <p:cNvSpPr/>
          <p:nvPr/>
        </p:nvSpPr>
        <p:spPr>
          <a:xfrm>
            <a:off x="768096" y="3483864"/>
            <a:ext cx="292608" cy="292608"/>
          </a:xfrm>
          <a:prstGeom prst="ellipse">
            <a:avLst/>
          </a:prstGeom>
          <a:solidFill>
            <a:srgbClr val="0B2545"/>
          </a:solidFill>
          <a:ln/>
        </p:spPr>
        <p:txBody>
          <a:bodyPr/>
          <a:lstStyle/>
          <a:p>
            <a:endParaRPr lang="en-AE"/>
          </a:p>
        </p:txBody>
      </p:sp>
      <p:sp>
        <p:nvSpPr>
          <p:cNvPr id="16" name="Text 14"/>
          <p:cNvSpPr/>
          <p:nvPr/>
        </p:nvSpPr>
        <p:spPr>
          <a:xfrm>
            <a:off x="768096" y="34838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What are the exact input and output dimensions at every stage?</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(B,24,11) → BiLSTM → (B,24,256) → attention pool → (B,256). Images: 4 × (B,3,224,224) → EfficientNet stage 5 → (B,352,7,7) → flatten → (B,196,352) → kv_proj → (B,196,256). Cross-attention: Q (B,1,256), K/V (B,196,256) → (B,256). Fusion → concat (B,256) with (B,3) → (B,259) → enrich → (B,256) → head → (B,6) → μ (B,3), σ (B,3).</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20" name="Shape 18"/>
          <p:cNvSpPr/>
          <p:nvPr/>
        </p:nvSpPr>
        <p:spPr>
          <a:xfrm>
            <a:off x="768096" y="4526280"/>
            <a:ext cx="292608" cy="292608"/>
          </a:xfrm>
          <a:prstGeom prst="ellipse">
            <a:avLst/>
          </a:prstGeom>
          <a:solidFill>
            <a:srgbClr val="0B2545"/>
          </a:solidFill>
          <a:ln/>
        </p:spPr>
        <p:txBody>
          <a:bodyPr/>
          <a:lstStyle/>
          <a:p>
            <a:endParaRPr lang="en-AE"/>
          </a:p>
        </p:txBody>
      </p:sp>
      <p:sp>
        <p:nvSpPr>
          <p:cNvPr id="21" name="Text 19"/>
          <p:cNvSpPr/>
          <p:nvPr/>
        </p:nvSpPr>
        <p:spPr>
          <a:xfrm>
            <a:off x="768096" y="45262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What is the computational complexity?</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Dominated by four EfficientNet-B2 forward passes at 224×224 — I did not compute FLOPs, which I should have. The attention is O(N·d) = O(196 × 256) per head, negligible. The BiLSTM is O(T·d²) = O(24 × 128²). Measured end-to-end: 64 ms per single-sample forecast on Apple MPS, 37 ms per sample at batch 32.</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25" name="Shape 23"/>
          <p:cNvSpPr/>
          <p:nvPr/>
        </p:nvSpPr>
        <p:spPr>
          <a:xfrm>
            <a:off x="768096" y="5568696"/>
            <a:ext cx="292608" cy="292608"/>
          </a:xfrm>
          <a:prstGeom prst="ellipse">
            <a:avLst/>
          </a:prstGeom>
          <a:solidFill>
            <a:srgbClr val="0B2545"/>
          </a:solidFill>
          <a:ln/>
        </p:spPr>
        <p:txBody>
          <a:bodyPr/>
          <a:lstStyle/>
          <a:p>
            <a:endParaRPr lang="en-AE"/>
          </a:p>
        </p:txBody>
      </p:sp>
      <p:sp>
        <p:nvSpPr>
          <p:cNvPr id="26" name="Text 24"/>
          <p:cNvSpPr/>
          <p:nvPr/>
        </p:nvSpPr>
        <p:spPr>
          <a:xfrm>
            <a:off x="768096" y="556869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Why not a ConvLSTM or a 3D CNN over the frame stack?</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Both model spatio-temporal structure far more directly than channel-stacking, which forces a 2D encoder to see three frames as nine unordered channels. I chose channel-stacking to reuse a pretrained 2D backbone unchanged, and compensated weakly by feeding optical flow into the gate. Given that the image branch failed on capacity grounds, a heavier spatio-temporal model would likely have failed harder — but at scale it is the right architecture.</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APPENDIX A6</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Anticipated questions — data</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5" name="Shape 3"/>
          <p:cNvSpPr/>
          <p:nvPr/>
        </p:nvSpPr>
        <p:spPr>
          <a:xfrm>
            <a:off x="768096" y="1399032"/>
            <a:ext cx="292608" cy="292608"/>
          </a:xfrm>
          <a:prstGeom prst="ellipse">
            <a:avLst/>
          </a:prstGeom>
          <a:solidFill>
            <a:srgbClr val="0B2545"/>
          </a:solidFill>
          <a:ln/>
        </p:spPr>
        <p:txBody>
          <a:bodyPr/>
          <a:lstStyle/>
          <a:p>
            <a:endParaRPr lang="en-AE"/>
          </a:p>
        </p:txBody>
      </p:sp>
      <p:sp>
        <p:nvSpPr>
          <p:cNvPr id="6" name="Text 4"/>
          <p:cNvSpPr/>
          <p:nvPr/>
        </p:nvSpPr>
        <p:spPr>
          <a:xfrm>
            <a:off x="768096" y="13990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How do you know there is no data leakage?</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Four independent controls. The split is a strict chronological cut with no shuffling. Each split is wrapped in its own Dataset, so a lookback window cannot cross the boundary — which is why 5,343 rows yields 5,312 samples. Normalisation statistics come from the training split only and are persisted to train_stats.json. And pv_actual, which correlates 0.99994 with GHI because it is a simulation of GHI, is excluded from every feature list.</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10" name="Shape 8"/>
          <p:cNvSpPr/>
          <p:nvPr/>
        </p:nvSpPr>
        <p:spPr>
          <a:xfrm>
            <a:off x="768096" y="2441448"/>
            <a:ext cx="292608" cy="292608"/>
          </a:xfrm>
          <a:prstGeom prst="ellipse">
            <a:avLst/>
          </a:prstGeom>
          <a:solidFill>
            <a:srgbClr val="0B2545"/>
          </a:solidFill>
          <a:ln/>
        </p:spPr>
        <p:txBody>
          <a:bodyPr/>
          <a:lstStyle/>
          <a:p>
            <a:endParaRPr lang="en-AE"/>
          </a:p>
        </p:txBody>
      </p:sp>
      <p:sp>
        <p:nvSpPr>
          <p:cNvPr id="11" name="Text 9"/>
          <p:cNvSpPr/>
          <p:nvPr/>
        </p:nvSpPr>
        <p:spPr>
          <a:xfrm>
            <a:off x="768096" y="244144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Is future clear-sky GHI not a form of leakage?</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No. Clear-sky GHI is a closed-form function of solar zenith angle, air mass and a climatological turbidity coefficient. It depends only on the ephemeris and the site latitude, so pvlib can evaluate it for any date decades ahead. Nothing about the future weather enters it. It is the astronomical envelope, and giving it to the model is what frees the network from re-learning the diurnal and seasonal cycles.</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15" name="Shape 13"/>
          <p:cNvSpPr/>
          <p:nvPr/>
        </p:nvSpPr>
        <p:spPr>
          <a:xfrm>
            <a:off x="768096" y="3483864"/>
            <a:ext cx="292608" cy="292608"/>
          </a:xfrm>
          <a:prstGeom prst="ellipse">
            <a:avLst/>
          </a:prstGeom>
          <a:solidFill>
            <a:srgbClr val="0B2545"/>
          </a:solidFill>
          <a:ln/>
        </p:spPr>
        <p:txBody>
          <a:bodyPr/>
          <a:lstStyle/>
          <a:p>
            <a:endParaRPr lang="en-AE"/>
          </a:p>
        </p:txBody>
      </p:sp>
      <p:sp>
        <p:nvSpPr>
          <p:cNvPr id="16" name="Text 14"/>
          <p:cNvSpPr/>
          <p:nvPr/>
        </p:nvSpPr>
        <p:spPr>
          <a:xfrm>
            <a:off x="768096" y="34838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How representative is 7,640 hours of one location?</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Two full annual cycles at one equatorial site, so seasonal coverage is complete but spatial and climatic coverage is nil. Nothing here has been validated at another latitude, and the whole 08:00–17:00 daylight window is Singapore-specific. Extrapolating any of these results to a mid-latitude site would be unjustified.</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20" name="Shape 18"/>
          <p:cNvSpPr/>
          <p:nvPr/>
        </p:nvSpPr>
        <p:spPr>
          <a:xfrm>
            <a:off x="768096" y="4526280"/>
            <a:ext cx="292608" cy="292608"/>
          </a:xfrm>
          <a:prstGeom prst="ellipse">
            <a:avLst/>
          </a:prstGeom>
          <a:solidFill>
            <a:srgbClr val="0B2545"/>
          </a:solidFill>
          <a:ln/>
        </p:spPr>
        <p:txBody>
          <a:bodyPr/>
          <a:lstStyle/>
          <a:p>
            <a:endParaRPr lang="en-AE"/>
          </a:p>
        </p:txBody>
      </p:sp>
      <p:sp>
        <p:nvSpPr>
          <p:cNvPr id="21" name="Text 19"/>
          <p:cNvSpPr/>
          <p:nvPr/>
        </p:nvSpPr>
        <p:spPr>
          <a:xfrm>
            <a:off x="768096" y="45262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Your ground truth is reanalysis, not measurement. Does that invalidate the results?</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It bounds them. ERA5 is a model-assimilated product on roughly a 30 km grid; true point irradiance fluctuates more. So the task I solved is smoother than the real task, and my absolute error figures are not comparable to studies using pyranometers. The internal comparison between models is unaffected, since every model faces the identical target. It is a validity limitation, not a fairness one.</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25" name="Shape 23"/>
          <p:cNvSpPr/>
          <p:nvPr/>
        </p:nvSpPr>
        <p:spPr>
          <a:xfrm>
            <a:off x="768096" y="5568696"/>
            <a:ext cx="292608" cy="292608"/>
          </a:xfrm>
          <a:prstGeom prst="ellipse">
            <a:avLst/>
          </a:prstGeom>
          <a:solidFill>
            <a:srgbClr val="0B2545"/>
          </a:solidFill>
          <a:ln/>
        </p:spPr>
        <p:txBody>
          <a:bodyPr/>
          <a:lstStyle/>
          <a:p>
            <a:endParaRPr lang="en-AE"/>
          </a:p>
        </p:txBody>
      </p:sp>
      <p:sp>
        <p:nvSpPr>
          <p:cNvPr id="26" name="Text 24"/>
          <p:cNvSpPr/>
          <p:nvPr/>
        </p:nvSpPr>
        <p:spPr>
          <a:xfrm>
            <a:off x="768096" y="556869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Why filter to 08:00–17:00, and what did that cost you?</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Night hours have GHI ≈ 0, so keeping them would let a trivially zero-predicting model score a superb MAE while learning nothing. The cost is the discontinuity I document on slide 31: consecutive rows are 1 h apart within a day and 15 h apart across the night, so 30% of t+3h targets land the next morning and 10% of multi-frame stacks contain a 15-hour-old "previous" frame.</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APPENDIX A7</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Anticipated questions — training and optimisation</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5" name="Shape 3"/>
          <p:cNvSpPr/>
          <p:nvPr/>
        </p:nvSpPr>
        <p:spPr>
          <a:xfrm>
            <a:off x="768096" y="1399032"/>
            <a:ext cx="292608" cy="292608"/>
          </a:xfrm>
          <a:prstGeom prst="ellipse">
            <a:avLst/>
          </a:prstGeom>
          <a:solidFill>
            <a:srgbClr val="0B2545"/>
          </a:solidFill>
          <a:ln/>
        </p:spPr>
        <p:txBody>
          <a:bodyPr/>
          <a:lstStyle/>
          <a:p>
            <a:endParaRPr lang="en-AE"/>
          </a:p>
        </p:txBody>
      </p:sp>
      <p:sp>
        <p:nvSpPr>
          <p:cNvPr id="6" name="Text 4"/>
          <p:cNvSpPr/>
          <p:nvPr/>
        </p:nvSpPr>
        <p:spPr>
          <a:xfrm>
            <a:off x="768096" y="13990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Why Gaussian NLL rather than MSE or MAE?</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Because a reserve-sizing decision needs an interval, not a point. NLL makes the model report its own uncertainty and, per the calibration slide, it does so well — 91.8% empirical coverage at nominal 90%. The cost is real: the 1/2σ² factor lets the model reduce loss by becoming uncertain instead of accurate, and because I checkpoint on validation NLL I select for calibration over point accuracy. That makes my MAE comparison against LightGBM, which optimises squared error directly, not entirely like-for-like.</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10" name="Shape 8"/>
          <p:cNvSpPr/>
          <p:nvPr/>
        </p:nvSpPr>
        <p:spPr>
          <a:xfrm>
            <a:off x="768096" y="2441448"/>
            <a:ext cx="292608" cy="292608"/>
          </a:xfrm>
          <a:prstGeom prst="ellipse">
            <a:avLst/>
          </a:prstGeom>
          <a:solidFill>
            <a:srgbClr val="0B2545"/>
          </a:solidFill>
          <a:ln/>
        </p:spPr>
        <p:txBody>
          <a:bodyPr/>
          <a:lstStyle/>
          <a:p>
            <a:endParaRPr lang="en-AE"/>
          </a:p>
        </p:txBody>
      </p:sp>
      <p:sp>
        <p:nvSpPr>
          <p:cNvPr id="11" name="Text 9"/>
          <p:cNvSpPr/>
          <p:nvPr/>
        </p:nvSpPr>
        <p:spPr>
          <a:xfrm>
            <a:off x="768096" y="244144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How were the hyper-parameters selected?</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They were not searched. Learning rate 3e-5 is a conventional fine-tuning rate for a pretrained CNN; weight decay 0.1 was chosen deliberately high because I anticipated overfitting; batch 128, 2 LSTM layers and 128 hidden units are conventional defaults. No search was run for any of them. This is a genuine limitation — I can claim the fusion model got the same configuration as its ablations, not that it got its best configuration.</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15" name="Shape 13"/>
          <p:cNvSpPr/>
          <p:nvPr/>
        </p:nvSpPr>
        <p:spPr>
          <a:xfrm>
            <a:off x="768096" y="3483864"/>
            <a:ext cx="292608" cy="292608"/>
          </a:xfrm>
          <a:prstGeom prst="ellipse">
            <a:avLst/>
          </a:prstGeom>
          <a:solidFill>
            <a:srgbClr val="0B2545"/>
          </a:solidFill>
          <a:ln/>
        </p:spPr>
        <p:txBody>
          <a:bodyPr/>
          <a:lstStyle/>
          <a:p>
            <a:endParaRPr lang="en-AE"/>
          </a:p>
        </p:txBody>
      </p:sp>
      <p:sp>
        <p:nvSpPr>
          <p:cNvPr id="16" name="Text 14"/>
          <p:cNvSpPr/>
          <p:nvPr/>
        </p:nvSpPr>
        <p:spPr>
          <a:xfrm>
            <a:off x="768096" y="34838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How did you try to prevent overfitting, and why did it happen anyway?</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Five mechanisms: weight decay 0.1, dropout 0.15 in the head and enrich layers plus 0.1 in the LSTM and attention, gradient clipping at norm 1.0, early stopping on validation NLL, and a 20-epoch CNN freeze. It happened anyway because releasing 14.4 M parameters onto 5,312 samples at epoch 20 raised the parameters-per-sample ratio from about 207 to about 2,900 in a single step. The training curves show the divergence beginning immediately at that epoch.</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20" name="Shape 18"/>
          <p:cNvSpPr/>
          <p:nvPr/>
        </p:nvSpPr>
        <p:spPr>
          <a:xfrm>
            <a:off x="768096" y="4526280"/>
            <a:ext cx="292608" cy="292608"/>
          </a:xfrm>
          <a:prstGeom prst="ellipse">
            <a:avLst/>
          </a:prstGeom>
          <a:solidFill>
            <a:srgbClr val="0B2545"/>
          </a:solidFill>
          <a:ln/>
        </p:spPr>
        <p:txBody>
          <a:bodyPr/>
          <a:lstStyle/>
          <a:p>
            <a:endParaRPr lang="en-AE"/>
          </a:p>
        </p:txBody>
      </p:sp>
      <p:sp>
        <p:nvSpPr>
          <p:cNvPr id="21" name="Text 19"/>
          <p:cNvSpPr/>
          <p:nvPr/>
        </p:nvSpPr>
        <p:spPr>
          <a:xfrm>
            <a:off x="768096" y="45262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Why unfreeze at epoch 20 specifically?</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It is a round number, not a tuned one, chosen so the randomly initialised head would have stabilised before gradients reached the pretrained backbone — otherwise the first few large-loss steps destroy the SwimSeg features. The training log shows validation NLL was still improving at epoch 20, so the head had not converged; a criterion based on validation plateau rather than a fixed epoch would have been better, and never unfreezing at all is the experiment I most want to run.</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25" name="Shape 23"/>
          <p:cNvSpPr/>
          <p:nvPr/>
        </p:nvSpPr>
        <p:spPr>
          <a:xfrm>
            <a:off x="768096" y="5568696"/>
            <a:ext cx="292608" cy="292608"/>
          </a:xfrm>
          <a:prstGeom prst="ellipse">
            <a:avLst/>
          </a:prstGeom>
          <a:solidFill>
            <a:srgbClr val="0B2545"/>
          </a:solidFill>
          <a:ln/>
        </p:spPr>
        <p:txBody>
          <a:bodyPr/>
          <a:lstStyle/>
          <a:p>
            <a:endParaRPr lang="en-AE"/>
          </a:p>
        </p:txBody>
      </p:sp>
      <p:sp>
        <p:nvSpPr>
          <p:cNvPr id="26" name="Text 24"/>
          <p:cNvSpPr/>
          <p:nvPr/>
        </p:nvSpPr>
        <p:spPr>
          <a:xfrm>
            <a:off x="768096" y="556869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Are your results reproducible?</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Seeds are fixed for torch and numpy, but cuDNN benchmark mode and TF32 matmuls are enabled, so training is not bitwise deterministic. What I can demonstrate is that re-evaluating the committed checkpoints on different hardware, a different Python version and a different OpenCV build reproduces every reported metric to within 1.5 W/m², and the tabular baselines exactly.</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APPENDIX A8</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Anticipated questions — evaluation and results</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5" name="Shape 3"/>
          <p:cNvSpPr/>
          <p:nvPr/>
        </p:nvSpPr>
        <p:spPr>
          <a:xfrm>
            <a:off x="768096" y="1399032"/>
            <a:ext cx="292608" cy="292608"/>
          </a:xfrm>
          <a:prstGeom prst="ellipse">
            <a:avLst/>
          </a:prstGeom>
          <a:solidFill>
            <a:srgbClr val="0B2545"/>
          </a:solidFill>
          <a:ln/>
        </p:spPr>
        <p:txBody>
          <a:bodyPr/>
          <a:lstStyle/>
          <a:p>
            <a:endParaRPr lang="en-AE"/>
          </a:p>
        </p:txBody>
      </p:sp>
      <p:sp>
        <p:nvSpPr>
          <p:cNvPr id="6" name="Text 4"/>
          <p:cNvSpPr/>
          <p:nvPr/>
        </p:nvSpPr>
        <p:spPr>
          <a:xfrm>
            <a:off x="768096" y="13990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Why MAE as the headline metric rather than RMSE?</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MAE is in W/m², directly interpretable, and less dominated by a handful of catastrophic overcast-day errors — which slide 30 shows can exceed 500 W/m². I report RMSE and R² alongside it in every table, and the model ranking is identical under all three. For the probabilistic side I report PICP and interval width; CRPS would be the proper scoring rule and I should have included it.</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10" name="Shape 8"/>
          <p:cNvSpPr/>
          <p:nvPr/>
        </p:nvSpPr>
        <p:spPr>
          <a:xfrm>
            <a:off x="768096" y="2441448"/>
            <a:ext cx="292608" cy="292608"/>
          </a:xfrm>
          <a:prstGeom prst="ellipse">
            <a:avLst/>
          </a:prstGeom>
          <a:solidFill>
            <a:srgbClr val="0B2545"/>
          </a:solidFill>
          <a:ln/>
        </p:spPr>
        <p:txBody>
          <a:bodyPr/>
          <a:lstStyle/>
          <a:p>
            <a:endParaRPr lang="en-AE"/>
          </a:p>
        </p:txBody>
      </p:sp>
      <p:sp>
        <p:nvSpPr>
          <p:cNvPr id="11" name="Text 9"/>
          <p:cNvSpPr/>
          <p:nvPr/>
        </p:nvSpPr>
        <p:spPr>
          <a:xfrm>
            <a:off x="768096" y="244144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Is the LightGBM-versus-Fusion gap statistically significant?</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I did not test it, and I should have — a Diebold–Mariano test on the paired forecast errors is the standard instrument. What I can say is that the gap is 18.7 W/m² over 1,120 paired samples, is consistent in sign across all three horizons, and persists across every cloudiness stratum. I would not, however, defend the 3 W/m² ordering between CNN-only and naive-concat as significant.</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15" name="Shape 13"/>
          <p:cNvSpPr/>
          <p:nvPr/>
        </p:nvSpPr>
        <p:spPr>
          <a:xfrm>
            <a:off x="768096" y="3483864"/>
            <a:ext cx="292608" cy="292608"/>
          </a:xfrm>
          <a:prstGeom prst="ellipse">
            <a:avLst/>
          </a:prstGeom>
          <a:solidFill>
            <a:srgbClr val="0B2545"/>
          </a:solidFill>
          <a:ln/>
        </p:spPr>
        <p:txBody>
          <a:bodyPr/>
          <a:lstStyle/>
          <a:p>
            <a:endParaRPr lang="en-AE"/>
          </a:p>
        </p:txBody>
      </p:sp>
      <p:sp>
        <p:nvSpPr>
          <p:cNvPr id="16" name="Text 14"/>
          <p:cNvSpPr/>
          <p:nvPr/>
        </p:nvSpPr>
        <p:spPr>
          <a:xfrm>
            <a:off x="768096" y="34838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Could the fusion model win with more data or better tuning?</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Plausibly, and my training curves point that way — but I have not tested it, so it is a hypothesis. The direct experiment is a learning-curve study: retrain on 25%, 50%, 75% and 100% of the data and see whether the fusion penalty shrinks. That is cheap and it is the first thing I would run to convert this speculation into evidence.</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20" name="Shape 18"/>
          <p:cNvSpPr/>
          <p:nvPr/>
        </p:nvSpPr>
        <p:spPr>
          <a:xfrm>
            <a:off x="768096" y="4526280"/>
            <a:ext cx="292608" cy="292608"/>
          </a:xfrm>
          <a:prstGeom prst="ellipse">
            <a:avLst/>
          </a:prstGeom>
          <a:solidFill>
            <a:srgbClr val="0B2545"/>
          </a:solidFill>
          <a:ln/>
        </p:spPr>
        <p:txBody>
          <a:bodyPr/>
          <a:lstStyle/>
          <a:p>
            <a:endParaRPr lang="en-AE"/>
          </a:p>
        </p:txBody>
      </p:sp>
      <p:sp>
        <p:nvSpPr>
          <p:cNvPr id="21" name="Text 19"/>
          <p:cNvSpPr/>
          <p:nvPr/>
        </p:nvSpPr>
        <p:spPr>
          <a:xfrm>
            <a:off x="768096" y="45262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Your live MAE of 79.4 beats your offline 97.6. Doesn't that contradict your conclusion?</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No, and I would resist reading it as a positive. Twenty-four forecast-hours from eight August days is a small, clear-biased sample — mean actual GHI was 727 W/m², well above the annual mean. Remove one outlier day and MAE drops further to 62.1, which shows how unstable the estimate is. What it does establish is that the deployed model has not degraded relative to its test performance.</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25" name="Shape 23"/>
          <p:cNvSpPr/>
          <p:nvPr/>
        </p:nvSpPr>
        <p:spPr>
          <a:xfrm>
            <a:off x="768096" y="5568696"/>
            <a:ext cx="292608" cy="292608"/>
          </a:xfrm>
          <a:prstGeom prst="ellipse">
            <a:avLst/>
          </a:prstGeom>
          <a:solidFill>
            <a:srgbClr val="0B2545"/>
          </a:solidFill>
          <a:ln/>
        </p:spPr>
        <p:txBody>
          <a:bodyPr/>
          <a:lstStyle/>
          <a:p>
            <a:endParaRPr lang="en-AE"/>
          </a:p>
        </p:txBody>
      </p:sp>
      <p:sp>
        <p:nvSpPr>
          <p:cNvPr id="26" name="Text 24"/>
          <p:cNvSpPr/>
          <p:nvPr/>
        </p:nvSpPr>
        <p:spPr>
          <a:xfrm>
            <a:off x="768096" y="556869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What single result would you defend most strongly?</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The monotone ordering of the four ablations by how much image information reaches the output: 84.7, 91.7, 94.8, 97.6. It is a dose-response relationship under an otherwise identical setup, it is reproducible on different hardware, and it is corroborated independently by the gate collapse and by the stratified error analysis showing the fusion penalty is largest under overcast conditions.</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37744"/>
          </a:xfrm>
          <a:prstGeom prst="rect">
            <a:avLst/>
          </a:prstGeom>
          <a:noFill/>
          <a:ln/>
        </p:spPr>
        <p:txBody>
          <a:bodyPr wrap="square" lIns="0" tIns="0" rIns="0" bIns="0" rtlCol="0" anchor="ctr"/>
          <a:lstStyle/>
          <a:p>
            <a:pPr marL="0" indent="0">
              <a:buNone/>
            </a:pPr>
            <a:r>
              <a:rPr lang="en-US" sz="1100" b="1" kern="0" spc="220" dirty="0">
                <a:solidFill>
                  <a:srgbClr val="1C7293"/>
                </a:solidFill>
                <a:latin typeface="Calibri" pitchFamily="34" charset="0"/>
                <a:ea typeface="Calibri" pitchFamily="34" charset="-122"/>
                <a:cs typeface="Calibri" pitchFamily="34" charset="-120"/>
              </a:rPr>
              <a:t>APPENDIX A9</a:t>
            </a:r>
            <a:endParaRPr lang="en-US" sz="1100" dirty="0"/>
          </a:p>
        </p:txBody>
      </p:sp>
      <p:sp>
        <p:nvSpPr>
          <p:cNvPr id="3" name="Text 1"/>
          <p:cNvSpPr/>
          <p:nvPr/>
        </p:nvSpPr>
        <p:spPr>
          <a:xfrm>
            <a:off x="566928" y="566928"/>
            <a:ext cx="11064240" cy="658368"/>
          </a:xfrm>
          <a:prstGeom prst="rect">
            <a:avLst/>
          </a:prstGeom>
          <a:noFill/>
          <a:ln/>
        </p:spPr>
        <p:txBody>
          <a:bodyPr wrap="square" lIns="0" tIns="0" rIns="0" bIns="0" rtlCol="0" anchor="t"/>
          <a:lstStyle/>
          <a:p>
            <a:pPr marL="0" indent="0">
              <a:buNone/>
            </a:pPr>
            <a:r>
              <a:rPr lang="en-US" sz="3000" b="1" dirty="0">
                <a:solidFill>
                  <a:srgbClr val="0B2545"/>
                </a:solidFill>
                <a:latin typeface="Cambria" pitchFamily="34" charset="0"/>
                <a:ea typeface="Cambria" pitchFamily="34" charset="-122"/>
                <a:cs typeface="Cambria" pitchFamily="34" charset="-120"/>
              </a:rPr>
              <a:t>Anticipated questions — engineering and research</a:t>
            </a:r>
            <a:endParaRPr lang="en-US" sz="3000" dirty="0"/>
          </a:p>
        </p:txBody>
      </p:sp>
      <p:sp>
        <p:nvSpPr>
          <p:cNvPr id="4" name="Shape 2"/>
          <p:cNvSpPr/>
          <p:nvPr/>
        </p:nvSpPr>
        <p:spPr>
          <a:xfrm>
            <a:off x="566928" y="1280160"/>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5" name="Shape 3"/>
          <p:cNvSpPr/>
          <p:nvPr/>
        </p:nvSpPr>
        <p:spPr>
          <a:xfrm>
            <a:off x="768096" y="1399032"/>
            <a:ext cx="292608" cy="292608"/>
          </a:xfrm>
          <a:prstGeom prst="ellipse">
            <a:avLst/>
          </a:prstGeom>
          <a:solidFill>
            <a:srgbClr val="0B2545"/>
          </a:solidFill>
          <a:ln/>
        </p:spPr>
        <p:txBody>
          <a:bodyPr/>
          <a:lstStyle/>
          <a:p>
            <a:endParaRPr lang="en-AE"/>
          </a:p>
        </p:txBody>
      </p:sp>
      <p:sp>
        <p:nvSpPr>
          <p:cNvPr id="6" name="Text 4"/>
          <p:cNvSpPr/>
          <p:nvPr/>
        </p:nvSpPr>
        <p:spPr>
          <a:xfrm>
            <a:off x="768096" y="13990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7" name="Text 5"/>
          <p:cNvSpPr/>
          <p:nvPr/>
        </p:nvSpPr>
        <p:spPr>
          <a:xfrm>
            <a:off x="1152144" y="1362456"/>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What is computationally expensive, and how would you deploy this at scale?</a:t>
            </a:r>
            <a:endParaRPr lang="en-US" sz="1150" dirty="0"/>
          </a:p>
        </p:txBody>
      </p:sp>
      <p:sp>
        <p:nvSpPr>
          <p:cNvPr id="8" name="Text 6"/>
          <p:cNvSpPr/>
          <p:nvPr/>
        </p:nvSpPr>
        <p:spPr>
          <a:xfrm>
            <a:off x="1152144" y="1664208"/>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Four EfficientNet-B2 forward passes per sample dominate everything else. At scale the key insight is that one satellite tile covers many sites, so I would compute the patch embeddings once per tile per timestep and share them across every site inside it, letting each site's temporal query attend to its own neighbourhood. Per-site marginal cost then collapses to roughly the BiLSTM cost. Latency is not the constraint — 64 ms against an hourly cadence — the constraint is the satellite's 20–30 minute publication delay.</a:t>
            </a:r>
            <a:endParaRPr lang="en-US" sz="1000" dirty="0"/>
          </a:p>
        </p:txBody>
      </p:sp>
      <p:sp>
        <p:nvSpPr>
          <p:cNvPr id="9" name="Shape 7"/>
          <p:cNvSpPr/>
          <p:nvPr/>
        </p:nvSpPr>
        <p:spPr>
          <a:xfrm>
            <a:off x="566928" y="2322576"/>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10" name="Shape 8"/>
          <p:cNvSpPr/>
          <p:nvPr/>
        </p:nvSpPr>
        <p:spPr>
          <a:xfrm>
            <a:off x="768096" y="2441448"/>
            <a:ext cx="292608" cy="292608"/>
          </a:xfrm>
          <a:prstGeom prst="ellipse">
            <a:avLst/>
          </a:prstGeom>
          <a:solidFill>
            <a:srgbClr val="0B2545"/>
          </a:solidFill>
          <a:ln/>
        </p:spPr>
        <p:txBody>
          <a:bodyPr/>
          <a:lstStyle/>
          <a:p>
            <a:endParaRPr lang="en-AE"/>
          </a:p>
        </p:txBody>
      </p:sp>
      <p:sp>
        <p:nvSpPr>
          <p:cNvPr id="11" name="Text 9"/>
          <p:cNvSpPr/>
          <p:nvPr/>
        </p:nvSpPr>
        <p:spPr>
          <a:xfrm>
            <a:off x="768096" y="244144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2" name="Text 10"/>
          <p:cNvSpPr/>
          <p:nvPr/>
        </p:nvSpPr>
        <p:spPr>
          <a:xfrm>
            <a:off x="1152144" y="2404872"/>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What are the memory requirements?</a:t>
            </a:r>
            <a:endParaRPr lang="en-US" sz="1150" dirty="0"/>
          </a:p>
        </p:txBody>
      </p:sp>
      <p:sp>
        <p:nvSpPr>
          <p:cNvPr id="13" name="Text 11"/>
          <p:cNvSpPr/>
          <p:nvPr/>
        </p:nvSpPr>
        <p:spPr>
          <a:xfrm>
            <a:off x="1152144" y="2706624"/>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Training: the RAM image cache is about 4.6 GB for 7,625 frames, and at batch 128 the multi-frame tensor alone is 128×9×224×224 float32 ≈ 231 MB before activations, which is why the code drops to batch 16 off CUDA. Inference: a 62.9 MB checkpoint plus a single sample — it runs comfortably on a laptop. The RAM-cache design stops scaling somewhere around 50,000 frames.</a:t>
            </a:r>
            <a:endParaRPr lang="en-US" sz="1000" dirty="0"/>
          </a:p>
        </p:txBody>
      </p:sp>
      <p:sp>
        <p:nvSpPr>
          <p:cNvPr id="14" name="Shape 12"/>
          <p:cNvSpPr/>
          <p:nvPr/>
        </p:nvSpPr>
        <p:spPr>
          <a:xfrm>
            <a:off x="566928" y="3364992"/>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15" name="Shape 13"/>
          <p:cNvSpPr/>
          <p:nvPr/>
        </p:nvSpPr>
        <p:spPr>
          <a:xfrm>
            <a:off x="768096" y="3483864"/>
            <a:ext cx="292608" cy="292608"/>
          </a:xfrm>
          <a:prstGeom prst="ellipse">
            <a:avLst/>
          </a:prstGeom>
          <a:solidFill>
            <a:srgbClr val="0B2545"/>
          </a:solidFill>
          <a:ln/>
        </p:spPr>
        <p:txBody>
          <a:bodyPr/>
          <a:lstStyle/>
          <a:p>
            <a:endParaRPr lang="en-AE"/>
          </a:p>
        </p:txBody>
      </p:sp>
      <p:sp>
        <p:nvSpPr>
          <p:cNvPr id="16" name="Text 14"/>
          <p:cNvSpPr/>
          <p:nvPr/>
        </p:nvSpPr>
        <p:spPr>
          <a:xfrm>
            <a:off x="768096" y="34838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17" name="Text 15"/>
          <p:cNvSpPr/>
          <p:nvPr/>
        </p:nvSpPr>
        <p:spPr>
          <a:xfrm>
            <a:off x="1152144" y="3447288"/>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What would you change if you started again?</a:t>
            </a:r>
            <a:endParaRPr lang="en-US" sz="1150" dirty="0"/>
          </a:p>
        </p:txBody>
      </p:sp>
      <p:sp>
        <p:nvSpPr>
          <p:cNvPr id="18" name="Text 16"/>
          <p:cNvSpPr/>
          <p:nvPr/>
        </p:nvSpPr>
        <p:spPr>
          <a:xfrm>
            <a:off x="1152144" y="3749040"/>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Four things, in order. Predict the clear-sky index rather than GHI. Use a much smaller image encoder — B0 or a purpose-built CNN — matched to 5,000 samples. Build targets on a continuous hourly index so a "t+3h" target is genuinely three hours ahead. And design the study as a learning curve from the outset, so the data-efficiency question is answered directly rather than inferred.</a:t>
            </a:r>
            <a:endParaRPr lang="en-US" sz="1000" dirty="0"/>
          </a:p>
        </p:txBody>
      </p:sp>
      <p:sp>
        <p:nvSpPr>
          <p:cNvPr id="19" name="Shape 17"/>
          <p:cNvSpPr/>
          <p:nvPr/>
        </p:nvSpPr>
        <p:spPr>
          <a:xfrm>
            <a:off x="566928" y="4407408"/>
            <a:ext cx="11064240" cy="969264"/>
          </a:xfrm>
          <a:prstGeom prst="roundRect">
            <a:avLst>
              <a:gd name="adj" fmla="val 4717"/>
            </a:avLst>
          </a:prstGeom>
          <a:solidFill>
            <a:srgbClr val="FFFFFF"/>
          </a:solidFill>
          <a:ln w="7620">
            <a:solidFill>
              <a:srgbClr val="CFD9E2"/>
            </a:solidFill>
            <a:prstDash val="solid"/>
          </a:ln>
        </p:spPr>
        <p:txBody>
          <a:bodyPr/>
          <a:lstStyle/>
          <a:p>
            <a:endParaRPr lang="en-AE"/>
          </a:p>
        </p:txBody>
      </p:sp>
      <p:sp>
        <p:nvSpPr>
          <p:cNvPr id="20" name="Shape 18"/>
          <p:cNvSpPr/>
          <p:nvPr/>
        </p:nvSpPr>
        <p:spPr>
          <a:xfrm>
            <a:off x="768096" y="4526280"/>
            <a:ext cx="292608" cy="292608"/>
          </a:xfrm>
          <a:prstGeom prst="ellipse">
            <a:avLst/>
          </a:prstGeom>
          <a:solidFill>
            <a:srgbClr val="0B2545"/>
          </a:solidFill>
          <a:ln/>
        </p:spPr>
        <p:txBody>
          <a:bodyPr/>
          <a:lstStyle/>
          <a:p>
            <a:endParaRPr lang="en-AE"/>
          </a:p>
        </p:txBody>
      </p:sp>
      <p:sp>
        <p:nvSpPr>
          <p:cNvPr id="21" name="Text 19"/>
          <p:cNvSpPr/>
          <p:nvPr/>
        </p:nvSpPr>
        <p:spPr>
          <a:xfrm>
            <a:off x="768096" y="452628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Text 20"/>
          <p:cNvSpPr/>
          <p:nvPr/>
        </p:nvSpPr>
        <p:spPr>
          <a:xfrm>
            <a:off x="1152144" y="4489704"/>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What is your actual contribution, given that you invented no new algorithm?</a:t>
            </a:r>
            <a:endParaRPr lang="en-US" sz="1150" dirty="0"/>
          </a:p>
        </p:txBody>
      </p:sp>
      <p:sp>
        <p:nvSpPr>
          <p:cNvPr id="23" name="Text 21"/>
          <p:cNvSpPr/>
          <p:nvPr/>
        </p:nvSpPr>
        <p:spPr>
          <a:xfrm>
            <a:off x="1152144" y="4791456"/>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It is experimental and analytical, not algorithmic. A controlled ablation that isolates the fusion rule at fixed data and budget; empirical evidence with a mechanism that satellite fusion does not pay at roughly 5,000 samples; a diagnosis of gate collapse including the gradient argument for why it occurs; a calibrated probabilistic forecaster verified against measurements over eight days; and the identification of a leaky target and a target-construction artefact that would each have distorted the results.</a:t>
            </a:r>
            <a:endParaRPr lang="en-US" sz="1000" dirty="0"/>
          </a:p>
        </p:txBody>
      </p:sp>
      <p:sp>
        <p:nvSpPr>
          <p:cNvPr id="24" name="Shape 22"/>
          <p:cNvSpPr/>
          <p:nvPr/>
        </p:nvSpPr>
        <p:spPr>
          <a:xfrm>
            <a:off x="566928" y="5449824"/>
            <a:ext cx="11064240" cy="969264"/>
          </a:xfrm>
          <a:prstGeom prst="roundRect">
            <a:avLst>
              <a:gd name="adj" fmla="val 4717"/>
            </a:avLst>
          </a:prstGeom>
          <a:solidFill>
            <a:srgbClr val="EFF3F7"/>
          </a:solidFill>
          <a:ln w="7620">
            <a:solidFill>
              <a:srgbClr val="CFD9E2"/>
            </a:solidFill>
            <a:prstDash val="solid"/>
          </a:ln>
        </p:spPr>
        <p:txBody>
          <a:bodyPr/>
          <a:lstStyle/>
          <a:p>
            <a:endParaRPr lang="en-AE"/>
          </a:p>
        </p:txBody>
      </p:sp>
      <p:sp>
        <p:nvSpPr>
          <p:cNvPr id="25" name="Shape 23"/>
          <p:cNvSpPr/>
          <p:nvPr/>
        </p:nvSpPr>
        <p:spPr>
          <a:xfrm>
            <a:off x="768096" y="5568696"/>
            <a:ext cx="292608" cy="292608"/>
          </a:xfrm>
          <a:prstGeom prst="ellipse">
            <a:avLst/>
          </a:prstGeom>
          <a:solidFill>
            <a:srgbClr val="0B2545"/>
          </a:solidFill>
          <a:ln/>
        </p:spPr>
        <p:txBody>
          <a:bodyPr/>
          <a:lstStyle/>
          <a:p>
            <a:endParaRPr lang="en-AE"/>
          </a:p>
        </p:txBody>
      </p:sp>
      <p:sp>
        <p:nvSpPr>
          <p:cNvPr id="26" name="Text 24"/>
          <p:cNvSpPr/>
          <p:nvPr/>
        </p:nvSpPr>
        <p:spPr>
          <a:xfrm>
            <a:off x="768096" y="5568696"/>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7" name="Text 25"/>
          <p:cNvSpPr/>
          <p:nvPr/>
        </p:nvSpPr>
        <p:spPr>
          <a:xfrm>
            <a:off x="1152144" y="5532120"/>
            <a:ext cx="10287000" cy="292608"/>
          </a:xfrm>
          <a:prstGeom prst="rect">
            <a:avLst/>
          </a:prstGeom>
          <a:noFill/>
          <a:ln/>
        </p:spPr>
        <p:txBody>
          <a:bodyPr wrap="square" lIns="0" tIns="0" rIns="0" bIns="0" rtlCol="0" anchor="ctr"/>
          <a:lstStyle/>
          <a:p>
            <a:pPr marL="0" indent="0">
              <a:buNone/>
            </a:pPr>
            <a:r>
              <a:rPr lang="en-US" sz="1150" b="1" dirty="0">
                <a:solidFill>
                  <a:srgbClr val="0B2545"/>
                </a:solidFill>
                <a:latin typeface="Calibri" pitchFamily="34" charset="0"/>
                <a:ea typeface="Calibri" pitchFamily="34" charset="-122"/>
                <a:cs typeface="Calibri" pitchFamily="34" charset="-120"/>
              </a:rPr>
              <a:t>Given another six months, what would you do?</a:t>
            </a:r>
            <a:endParaRPr lang="en-US" sz="1150" dirty="0"/>
          </a:p>
        </p:txBody>
      </p:sp>
      <p:sp>
        <p:nvSpPr>
          <p:cNvPr id="28" name="Text 26"/>
          <p:cNvSpPr/>
          <p:nvPr/>
        </p:nvSpPr>
        <p:spPr>
          <a:xfrm>
            <a:off x="1152144" y="5833872"/>
            <a:ext cx="10287000" cy="566928"/>
          </a:xfrm>
          <a:prstGeom prst="rect">
            <a:avLst/>
          </a:prstGeom>
          <a:noFill/>
          <a:ln/>
        </p:spPr>
        <p:txBody>
          <a:bodyPr wrap="square" lIns="0" tIns="0" rIns="0" bIns="0" rtlCol="0" anchor="ctr"/>
          <a:lstStyle/>
          <a:p>
            <a:pPr marL="0" indent="0">
              <a:lnSpc>
                <a:spcPts val="1300"/>
              </a:lnSpc>
              <a:buNone/>
            </a:pPr>
            <a:r>
              <a:rPr lang="en-US" sz="1000" dirty="0">
                <a:solidFill>
                  <a:srgbClr val="3C5169"/>
                </a:solidFill>
                <a:latin typeface="Calibri" pitchFamily="34" charset="0"/>
                <a:ea typeface="Calibri" pitchFamily="34" charset="-122"/>
                <a:cs typeface="Calibri" pitchFamily="34" charset="-120"/>
              </a:rPr>
              <a:t>Two things that could plausibly reverse the headline result. First, multi-band Himawari through the JAXA NetCDF path already implemented as a fallback — infrared brightness temperature constrains cloud optical depth, which visible reflectance alone cannot. Second, multi-site multi-year data sharing one tile, which turns 5,000 samples into hundreds of thousands at modest additional compute. Together they attack the two root causes: an information-poor input and an insufficient sample.</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8229600" y="-1828800"/>
            <a:ext cx="6400800" cy="6400800"/>
          </a:xfrm>
          <a:prstGeom prst="ellipse">
            <a:avLst/>
          </a:prstGeom>
          <a:solidFill>
            <a:srgbClr val="1C7293">
              <a:alpha val="16000"/>
            </a:srgbClr>
          </a:solidFill>
          <a:ln/>
        </p:spPr>
        <p:txBody>
          <a:bodyPr/>
          <a:lstStyle/>
          <a:p>
            <a:endParaRPr lang="en-AE"/>
          </a:p>
        </p:txBody>
      </p:sp>
      <p:sp>
        <p:nvSpPr>
          <p:cNvPr id="3" name="Shape 1"/>
          <p:cNvSpPr/>
          <p:nvPr/>
        </p:nvSpPr>
        <p:spPr>
          <a:xfrm>
            <a:off x="10241280" y="914400"/>
            <a:ext cx="2926080" cy="2926080"/>
          </a:xfrm>
          <a:prstGeom prst="ellipse">
            <a:avLst/>
          </a:prstGeom>
          <a:solidFill>
            <a:srgbClr val="E8A33D">
              <a:alpha val="20000"/>
            </a:srgbClr>
          </a:solidFill>
          <a:ln/>
        </p:spPr>
        <p:txBody>
          <a:bodyPr/>
          <a:lstStyle/>
          <a:p>
            <a:endParaRPr lang="en-AE"/>
          </a:p>
        </p:txBody>
      </p:sp>
      <p:sp>
        <p:nvSpPr>
          <p:cNvPr id="4" name="Text 2"/>
          <p:cNvSpPr/>
          <p:nvPr/>
        </p:nvSpPr>
        <p:spPr>
          <a:xfrm>
            <a:off x="777240" y="2331720"/>
            <a:ext cx="7772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p:nvPr/>
        </p:nvSpPr>
        <p:spPr>
          <a:xfrm>
            <a:off x="777240" y="3310128"/>
            <a:ext cx="7589520" cy="685800"/>
          </a:xfrm>
          <a:prstGeom prst="rect">
            <a:avLst/>
          </a:prstGeom>
          <a:noFill/>
          <a:ln/>
        </p:spPr>
        <p:txBody>
          <a:bodyPr wrap="square" lIns="0" tIns="0" rIns="0" bIns="0" rtlCol="0" anchor="ctr"/>
          <a:lstStyle/>
          <a:p>
            <a:pPr marL="0" indent="0">
              <a:lnSpc>
                <a:spcPts val="2300"/>
              </a:lnSpc>
              <a:buNone/>
            </a:pPr>
            <a:r>
              <a:rPr lang="en-US" sz="1500" dirty="0">
                <a:solidFill>
                  <a:srgbClr val="CADCFC"/>
                </a:solidFill>
                <a:latin typeface="Calibri" pitchFamily="34" charset="0"/>
                <a:ea typeface="Calibri" pitchFamily="34" charset="-122"/>
                <a:cs typeface="Calibri" pitchFamily="34" charset="-120"/>
              </a:rPr>
              <a:t>Physics-Gated Cross-Modal Fusion for Short-Horizon Solar Irradiance Forecasting</a:t>
            </a:r>
            <a:endParaRPr lang="en-US" sz="1500" dirty="0"/>
          </a:p>
        </p:txBody>
      </p:sp>
      <p:sp>
        <p:nvSpPr>
          <p:cNvPr id="6" name="Shape 4"/>
          <p:cNvSpPr/>
          <p:nvPr/>
        </p:nvSpPr>
        <p:spPr>
          <a:xfrm>
            <a:off x="777240" y="4224528"/>
            <a:ext cx="2194560" cy="0"/>
          </a:xfrm>
          <a:prstGeom prst="line">
            <a:avLst/>
          </a:prstGeom>
          <a:noFill/>
          <a:ln w="25400">
            <a:solidFill>
              <a:srgbClr val="E8A33D"/>
            </a:solidFill>
            <a:prstDash val="solid"/>
          </a:ln>
        </p:spPr>
        <p:txBody>
          <a:bodyPr/>
          <a:lstStyle/>
          <a:p>
            <a:endParaRPr lang="en-AE"/>
          </a:p>
        </p:txBody>
      </p:sp>
      <p:sp>
        <p:nvSpPr>
          <p:cNvPr id="7" name="Text 5"/>
          <p:cNvSpPr/>
          <p:nvPr/>
        </p:nvSpPr>
        <p:spPr>
          <a:xfrm>
            <a:off x="777240" y="4480560"/>
            <a:ext cx="7589520" cy="365760"/>
          </a:xfrm>
          <a:prstGeom prst="rect">
            <a:avLst/>
          </a:prstGeom>
          <a:noFill/>
          <a:ln/>
        </p:spPr>
        <p:txBody>
          <a:bodyPr wrap="square" lIns="0" tIns="0" rIns="0" bIns="0" rtlCol="0" anchor="ctr"/>
          <a:lstStyle/>
          <a:p>
            <a:pPr marL="0" indent="0">
              <a:buNone/>
            </a:pPr>
            <a:r>
              <a:rPr lang="en-US" sz="1600" b="1" dirty="0">
                <a:solidFill>
                  <a:srgbClr val="E8A33D"/>
                </a:solidFill>
                <a:latin typeface="Calibri" pitchFamily="34" charset="0"/>
                <a:ea typeface="Calibri" pitchFamily="34" charset="-122"/>
                <a:cs typeface="Calibri" pitchFamily="34" charset="-120"/>
              </a:rPr>
              <a:t>Questions</a:t>
            </a:r>
            <a:endParaRPr lang="en-US" sz="1600" dirty="0"/>
          </a:p>
        </p:txBody>
      </p:sp>
      <p:sp>
        <p:nvSpPr>
          <p:cNvPr id="8" name="Text 6"/>
          <p:cNvSpPr/>
          <p:nvPr/>
        </p:nvSpPr>
        <p:spPr>
          <a:xfrm>
            <a:off x="777240" y="4937760"/>
            <a:ext cx="7589520" cy="365760"/>
          </a:xfrm>
          <a:prstGeom prst="rect">
            <a:avLst/>
          </a:prstGeom>
          <a:noFill/>
          <a:ln/>
        </p:spPr>
        <p:txBody>
          <a:bodyPr wrap="square" lIns="0" tIns="0" rIns="0" bIns="0" rtlCol="0" anchor="ctr"/>
          <a:lstStyle/>
          <a:p>
            <a:pPr marL="0" indent="0">
              <a:buNone/>
            </a:pPr>
            <a:r>
              <a:rPr lang="en-US" sz="1200" dirty="0">
                <a:solidFill>
                  <a:srgbClr val="8FA8C0"/>
                </a:solidFill>
                <a:latin typeface="Calibri" pitchFamily="34" charset="0"/>
                <a:ea typeface="Calibri" pitchFamily="34" charset="-122"/>
                <a:cs typeface="Calibri" pitchFamily="34" charset="-120"/>
              </a:rPr>
              <a:t>Appendix A1–A2 maps every technical claim in this deck to its file and symbol in the repository.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33512</Words>
  <Application>Microsoft Macintosh PowerPoint</Application>
  <PresentationFormat>Widescreen</PresentationFormat>
  <Paragraphs>1588</Paragraphs>
  <Slides>50</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M.Tech Computer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Physics-Gated Cross-Modal Fusion for Short-Horizon Solar Irradiance Forecasting</dc:title>
  <dc:subject>PptxGenJS Presentation</dc:subject>
  <dc:creator>Qasim Nalawala</dc:creator>
  <cp:lastModifiedBy>Nalawala Qasim Fakharuddin</cp:lastModifiedBy>
  <cp:revision>2</cp:revision>
  <dcterms:created xsi:type="dcterms:W3CDTF">2026-08-20T08:17:28Z</dcterms:created>
  <dcterms:modified xsi:type="dcterms:W3CDTF">2026-08-20T08:24:36Z</dcterms:modified>
</cp:coreProperties>
</file>